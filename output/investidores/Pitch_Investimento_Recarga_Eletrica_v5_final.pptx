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9d2ac41a434d0e" /><Relationship Type="http://schemas.openxmlformats.org/officeDocument/2006/relationships/extended-properties" Target="/docProps/app.xml" Id="R84b6ca54e551411e" /><Relationship Type="http://schemas.openxmlformats.org/officeDocument/2006/relationships/officeDocument" Target="/ppt/presentation.xml" Id="Re74618f0945f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dd3e283e8497a"/>
  </p:sldMasterIdLst>
  <p:notesMasterIdLst>
    <p:notesMasterId xmlns:r="http://schemas.openxmlformats.org/officeDocument/2006/relationships" r:id="R612c0ac569cf42be"/>
  </p:notesMasterIdLst>
  <p:sldIdLst>
    <p:sldId xmlns:r="http://schemas.openxmlformats.org/officeDocument/2006/relationships" id="256" r:id="R8109c5ed49d84f46"/>
    <p:sldId xmlns:r="http://schemas.openxmlformats.org/officeDocument/2006/relationships" id="257" r:id="Rbe2db7838d1e490d"/>
    <p:sldId xmlns:r="http://schemas.openxmlformats.org/officeDocument/2006/relationships" id="258" r:id="R4f779803343b48ba"/>
    <p:sldId xmlns:r="http://schemas.openxmlformats.org/officeDocument/2006/relationships" id="259" r:id="Rcc6d57026499471c"/>
    <p:sldId xmlns:r="http://schemas.openxmlformats.org/officeDocument/2006/relationships" id="260" r:id="Ra10ac8a110a94666"/>
    <p:sldId xmlns:r="http://schemas.openxmlformats.org/officeDocument/2006/relationships" id="261" r:id="R8dd690b09a0e4b94"/>
    <p:sldId xmlns:r="http://schemas.openxmlformats.org/officeDocument/2006/relationships" id="262" r:id="Rd835adea3dc04599"/>
    <p:sldId xmlns:r="http://schemas.openxmlformats.org/officeDocument/2006/relationships" id="263" r:id="Reb488b0a12c94b8a"/>
    <p:sldId xmlns:r="http://schemas.openxmlformats.org/officeDocument/2006/relationships" id="264" r:id="R720bf79dc4a749af"/>
    <p:sldId xmlns:r="http://schemas.openxmlformats.org/officeDocument/2006/relationships" id="265" r:id="Re893a23b41394974"/>
    <p:sldId xmlns:r="http://schemas.openxmlformats.org/officeDocument/2006/relationships" id="266" r:id="R57a82e6f75a24057"/>
    <p:sldId xmlns:r="http://schemas.openxmlformats.org/officeDocument/2006/relationships" id="267" r:id="R4effdde007e0492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dd3e283e8497a" /><Relationship Type="http://schemas.openxmlformats.org/officeDocument/2006/relationships/theme" Target="/ppt/theme/theme1.xml" Id="R5b3e767b55c24fce" /><Relationship Type="http://schemas.openxmlformats.org/officeDocument/2006/relationships/notesMaster" Target="/ppt/notesMasters/notesMaster1.xml" Id="R612c0ac569cf42be" /><Relationship Type="http://schemas.openxmlformats.org/officeDocument/2006/relationships/presProps" Target="/ppt/presProps.xml" Id="R4a2086c80b7b4fdd" /><Relationship Type="http://schemas.openxmlformats.org/officeDocument/2006/relationships/viewProps" Target="/ppt/viewProps.xml" Id="R494603f65f0e4a79" /><Relationship Type="http://schemas.openxmlformats.org/officeDocument/2006/relationships/tableStyles" Target="/ppt/tableStyles.xml" Id="R22b5ea7dff4a4867" /><Relationship Type="http://schemas.openxmlformats.org/officeDocument/2006/relationships/slide" Target="/ppt/slides/slide1.xml" Id="R8109c5ed49d84f46" /><Relationship Type="http://schemas.openxmlformats.org/officeDocument/2006/relationships/slide" Target="/ppt/slides/slide2.xml" Id="Rbe2db7838d1e490d" /><Relationship Type="http://schemas.openxmlformats.org/officeDocument/2006/relationships/slide" Target="/ppt/slides/slide3.xml" Id="R4f779803343b48ba" /><Relationship Type="http://schemas.openxmlformats.org/officeDocument/2006/relationships/slide" Target="/ppt/slides/slide4.xml" Id="Rcc6d57026499471c" /><Relationship Type="http://schemas.openxmlformats.org/officeDocument/2006/relationships/slide" Target="/ppt/slides/slide5.xml" Id="Ra10ac8a110a94666" /><Relationship Type="http://schemas.openxmlformats.org/officeDocument/2006/relationships/slide" Target="/ppt/slides/slide6.xml" Id="R8dd690b09a0e4b94" /><Relationship Type="http://schemas.openxmlformats.org/officeDocument/2006/relationships/slide" Target="/ppt/slides/slide7.xml" Id="Rd835adea3dc04599" /><Relationship Type="http://schemas.openxmlformats.org/officeDocument/2006/relationships/slide" Target="/ppt/slides/slide8.xml" Id="Reb488b0a12c94b8a" /><Relationship Type="http://schemas.openxmlformats.org/officeDocument/2006/relationships/slide" Target="/ppt/slides/slide9.xml" Id="R720bf79dc4a749af" /><Relationship Type="http://schemas.openxmlformats.org/officeDocument/2006/relationships/slide" Target="/ppt/slides/slide10.xml" Id="Re893a23b41394974" /><Relationship Type="http://schemas.openxmlformats.org/officeDocument/2006/relationships/slide" Target="/ppt/slides/slide11.xml" Id="R57a82e6f75a24057" /><Relationship Type="http://schemas.openxmlformats.org/officeDocument/2006/relationships/slide" Target="/ppt/slides/slide12.xml" Id="R4effdde007e0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0353dd4cff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1ef0fd6fa54a11" /><Relationship Type="http://schemas.openxmlformats.org/officeDocument/2006/relationships/notesMaster" Target="/ppt/notesMasters/notesMaster1.xml" Id="Rbf9c04f313d041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1cf80a6934f00" /><Relationship Type="http://schemas.openxmlformats.org/officeDocument/2006/relationships/notesMaster" Target="/ppt/notesMasters/notesMaster1.xml" Id="R281c4949afde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629a4aadd949b5" /><Relationship Type="http://schemas.openxmlformats.org/officeDocument/2006/relationships/notesMaster" Target="/ppt/notesMasters/notesMaster1.xml" Id="Refbaca8953b44d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6c199fc6ad4eff" /><Relationship Type="http://schemas.openxmlformats.org/officeDocument/2006/relationships/notesMaster" Target="/ppt/notesMasters/notesMaster1.xml" Id="R0eb22eb7c0e44d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f3a7b5c9046b9" /><Relationship Type="http://schemas.openxmlformats.org/officeDocument/2006/relationships/notesMaster" Target="/ppt/notesMasters/notesMaster1.xml" Id="R66672140ed7f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7f21d8e1394da0" /><Relationship Type="http://schemas.openxmlformats.org/officeDocument/2006/relationships/notesMaster" Target="/ppt/notesMasters/notesMaster1.xml" Id="R2a0f6d89be0f47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9e3736a6d4f84" /><Relationship Type="http://schemas.openxmlformats.org/officeDocument/2006/relationships/notesMaster" Target="/ppt/notesMasters/notesMaster1.xml" Id="R0141ba5fc3a5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12558478364368" /><Relationship Type="http://schemas.openxmlformats.org/officeDocument/2006/relationships/notesMaster" Target="/ppt/notesMasters/notesMaster1.xml" Id="R1780888056b047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0a5fdfa4f1458f" /><Relationship Type="http://schemas.openxmlformats.org/officeDocument/2006/relationships/notesMaster" Target="/ppt/notesMasters/notesMaster1.xml" Id="Rf1741c436ecf40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4f91ba35c24685" /><Relationship Type="http://schemas.openxmlformats.org/officeDocument/2006/relationships/notesMaster" Target="/ppt/notesMasters/notesMaster1.xml" Id="R0e3136458c1542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db39f8249744d4" /><Relationship Type="http://schemas.openxmlformats.org/officeDocument/2006/relationships/notesMaster" Target="/ppt/notesMasters/notesMaster1.xml" Id="Rb56ea2d2c19d42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8721cfd48f4ee1" /><Relationship Type="http://schemas.openxmlformats.org/officeDocument/2006/relationships/notesMaster" Target="/ppt/notesMasters/notesMaster1.xml" Id="R4769fccc1db44c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1f5c608c449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b647bc22a747b6" /><Relationship Type="http://schemas.openxmlformats.org/officeDocument/2006/relationships/slideLayout" Target="/ppt/slideLayouts/slideLayout2.xml" Id="R8458798905914a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58798905914a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2321ce2ef94853" /><Relationship Type="http://schemas.openxmlformats.org/officeDocument/2006/relationships/notesSlide" Target="/ppt/notesSlides/notesSlide1.xml" Id="Rb39065193656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f279aa22ad4858" /><Relationship Type="http://schemas.openxmlformats.org/officeDocument/2006/relationships/notesSlide" Target="/ppt/notesSlides/notesSlide2.xml" Id="R1d72df59e1344f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4c1f7432574a58" /><Relationship Type="http://schemas.openxmlformats.org/officeDocument/2006/relationships/notesSlide" Target="/ppt/notesSlides/notesSlide3.xml" Id="Re8393111aca7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6dd4b93be4a63" /><Relationship Type="http://schemas.openxmlformats.org/officeDocument/2006/relationships/notesSlide" Target="/ppt/notesSlides/notesSlide4.xml" Id="R8d53e3ea65b24d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d633ea34b4583" /><Relationship Type="http://schemas.openxmlformats.org/officeDocument/2006/relationships/notesSlide" Target="/ppt/notesSlides/notesSlide5.xml" Id="R146c46f46ac645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cb2e268354544" /><Relationship Type="http://schemas.openxmlformats.org/officeDocument/2006/relationships/notesSlide" Target="/ppt/notesSlides/notesSlide6.xml" Id="Ra57e7111d00548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d705439ee4983" /><Relationship Type="http://schemas.openxmlformats.org/officeDocument/2006/relationships/notesSlide" Target="/ppt/notesSlides/notesSlide7.xml" Id="Rc6ba6eb43aa44f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62494e45543fe" /><Relationship Type="http://schemas.openxmlformats.org/officeDocument/2006/relationships/notesSlide" Target="/ppt/notesSlides/notesSlide8.xml" Id="R2f08eeee568a40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3890caef7f4b2a" /><Relationship Type="http://schemas.openxmlformats.org/officeDocument/2006/relationships/notesSlide" Target="/ppt/notesSlides/notesSlide9.xml" Id="Rd8b8bff5e6be4b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41ed27ad6407f" /><Relationship Type="http://schemas.openxmlformats.org/officeDocument/2006/relationships/notesSlide" Target="/ppt/notesSlides/notesSlide10.xml" Id="Re32ce48b74a844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29ce820004444b" /><Relationship Type="http://schemas.openxmlformats.org/officeDocument/2006/relationships/notesSlide" Target="/ppt/notesSlides/notesSlide11.xml" Id="R4f085caca68f48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15d45afe043b4" /><Relationship Type="http://schemas.openxmlformats.org/officeDocument/2006/relationships/notesSlide" Target="/ppt/notesSlides/notesSlide12.xml" Id="Rfe107ff0a9dd4f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7AB6E8-7CFB-4CC3-BA25-EACA387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6C040-2E97-40AA-B775-B75187D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533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B2D41-B8F4-400D-AB18-8BACD51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04AC4-A603-49D6-A9CA-B65E13D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296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 para investidores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A82C3-89BE-4271-AC5F-7F46767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8667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Tese, escala, rentabilidade e upside do portfólio em um único material executivo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AAC62-3085-4154-B326-DA622A5B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8560"/>
            <a:ext cx="10756106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16274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5816A-2127-493B-ACAD-72EEE0E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03060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Mensagem-chave: a operação foi desenhada com 06 produtos, mas a modelagem atual considera apenas 03. Isso torna a tese financeira conservadora e preserva upside relevante.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E0519-A40C-4BBD-82A6-520EECAE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781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23C3F-1627-4B38-8C5C-848FDF4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52D6A-85EB-43B9-ACBE-C8EC1D7D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7810"/>
            <a:ext cx="3619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58557-5931-416A-B309-B39303AA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86400"/>
            <a:ext cx="331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R$ 11,0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97040-26E0-480F-A2D5-0B2FB33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781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793B6-62D1-42C5-835A-64BB568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Payback-base: até 18 meses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04A12-DF4E-407E-A675-F517B203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Versão final para investidores | Base: relatório detalhado de implantação | maio/2026</a:t>
            </a:r>
          </a:p>
        </p:txBody>
      </p:sp>
    </p:spTree>
    <p:extLst>
      <p:ext uri="{BB962C8B-B14F-4D97-AF65-F5344CB8AC3E}">
        <p14:creationId xmlns:p14="http://schemas.microsoft.com/office/powerpoint/2010/main" val="1248114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00471-5E0A-4CBE-9C4F-234B79F3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CC832-D641-4065-8CDC-1EC33C53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6753C-8121-4AD9-BEF1-B774B88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1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do núcleo societário, valores e objetivos financeiros presentes no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90168-2BEC-4EF9-9609-5B39689E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DEBE2-0A21-4EBF-A6BC-F6A21951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Sócios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7F78F-C40A-4618-8818-551360A0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 sócios mapeados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3CE1D-1BF5-4402-A471-9E7994E2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8D583-3074-410D-B70B-6656B1F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631DD-59A9-4F84-AA0E-AE5323A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4972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CEO César Lisboa na condução estratégica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9C4CF-88C1-46EC-9C06-D648AE1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A9C4D-7261-4DA0-8678-F071A6F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9905C-1736-4015-B5B1-E2DBB98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00AFE-2AF0-498F-9924-8282403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0119B-0B3F-46F2-90DC-972923BF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6F3FD-552B-44FF-8A88-61B396F1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B7AC2-AE60-4C9E-B41E-53FEFAF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2AB0A-40D6-4C6C-968F-D000AE6B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C2EBE-8E52-423F-B41D-E5D69BC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56834-C9B8-4449-A361-2228F09A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16643-A60D-44ED-A7A8-AA47309B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estimado em até 18 meses.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A07BC-79E2-4D01-9496-61620ED6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E6C78-0125-4562-A1ED-3BB2E287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293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16782562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56E4B7-7CDC-49C7-ADFF-4FEC565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AB877-35FB-47D1-8AB6-C5DED4F2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AA929-1277-4769-BB6C-66A3744F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72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67941-5DBA-4B51-8422-843784B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632F7-E578-47FB-8161-BD9AF99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2C375-31E4-4A1B-90A7-9F260A50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23B34-5DE3-40AA-84CF-9CBDE981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1578D-2E1E-4FE6-97B5-D9883D9E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9C437-2BB6-42E1-A069-6E32647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92E6C-7D92-4C85-9D56-FC90D6A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13A5A-416E-40DC-B126-CDBDD4D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E948B-F666-4D25-8EBD-A5ABB7D3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40E44-4DC7-4079-B2E0-18201ADF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5208B-35C2-4B46-BACF-D32523C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B8D0E-5288-41C3-9592-898C7D9A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F93AB-B18E-4D5E-A534-DCA42DF2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BAC5D-1B41-4B77-96ED-5CC10BD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C7A55-2719-43DA-9D80-503CD620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6799B-FADB-4067-B600-47EC1CF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BA64E-DBE9-4181-A5AD-5317C50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BEF07-2D98-4452-84CF-A31F9211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D7F55-3ED5-4416-A109-F21E6CD0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E6D54-9EA4-48CA-B373-6C69E3E5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A6BEE-F506-4961-9E60-C49ABF9B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28558-1F0F-4E2B-9685-F3EE580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3C319-29CC-4936-A701-CE75B9E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6F6E2-7B1B-4616-A4BE-051017E9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DD63B-9ED3-4B44-BFE1-7DB892C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391FF-471E-4249-AFA1-EE55219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76C7C-B41B-4920-8BA2-244EF67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84530-5773-441B-9815-9AD2F30F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D5A0F-9DD4-4983-97AC-4136A5B2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1AA95-307F-4038-9093-FFCA6878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61B68-C6C4-4276-B805-EB8CC5CF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09CF-73BE-4674-AE66-C79CBD2A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DCD59C-F618-4CF8-83FC-70B648F1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68D902-108A-4CD6-9C3C-C70C0920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0E22F3-0DE4-443E-AC28-B2D4AB32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9F6F77-43D4-413E-83C0-042A40B9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R$ 40.000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35FD86-E951-492E-A2C0-FF949511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858056-8DDF-43A5-8315-0EE853E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35,3%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3BEEA3-C098-470A-9046-9A55267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AEAA35-F68A-434E-82C7-F82FB9A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R$ 14.120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B6E028-9ACE-4557-8B3B-B6F35B86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4B9E94-B46A-4BA7-8E4F-5D01E19E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R$ 4.236.000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CEDCF1-AB41-433B-B74E-5A2049D9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7758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E92E5B-5BDA-4E1C-8D34-A774078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2F9EBC-BD63-46AE-BE07-A84B3BC2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917758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11B318-F759-41E6-A425-A3BC2211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59C8DA-B773-4451-9EB8-310FD9DD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917758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BEC2C5-D4D8-4DFC-BBBA-4E110E5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3C4D19-22FB-4A04-A1BC-91910B5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917758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497752-9A8A-4F59-A0C5-BE8501C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8FDCEB-66AE-4C26-AC61-087447E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917758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69D81F-617D-4C45-93EC-88B0072E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292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70,0%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67988F-1E1C-4CA2-81DB-6D8B656E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917758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3CD5EE-AD8B-4CFE-99DF-070B0742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R$ 1.120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A5F3C0-F20C-4BAE-89B6-2840AA2B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917758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F86FF4-6BD4-44A6-A413-691DC8D2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029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R$ 4.480.000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525313-3786-4E66-B466-ABB4F94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DD368B-6A22-4152-AB8A-B9F7EB01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anual pós ramp-up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4A2609-F0E5-4581-A290-9B0E1FD8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R$ 42.400.000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F70B16-E09D-49C7-8BC2-0AA438E2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ED1530-87B1-4B05-AA51-018B0F6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MC total anual dos ativados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1DC08B-AE4A-48C8-8784-0E938459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R$ 16.736.800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DFFF97-7908-49D0-BEAC-E1612FD1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6E7723-939F-4666-9B58-8ECC6A9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ativados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634029-411B-4577-8790-3375ADA3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3A17BA-733D-4F09-96A5-89AC2CD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64930"/>
            <a:ext cx="17106900" cy="807720"/>
          </a:xfrm>
          <a:prstGeom xmlns:a="http://schemas.openxmlformats.org/drawingml/2006/main" prst="roundRect">
            <a:avLst>
              <a:gd name="adj" fmla="val 21226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8A065A-6185-48EF-9885-D1A2399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249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Leitura de investidores: a operação já possui base suficiente para explicar receita e margem com os 3 produtos ativados. Os demais produtos representam expansão do mix e não dependência da tese-base.</a:t>
            </a:r>
          </a:p>
        </p:txBody>
      </p:sp>
    </p:spTree>
    <p:extLst>
      <p:ext uri="{BB962C8B-B14F-4D97-AF65-F5344CB8AC3E}">
        <p14:creationId xmlns:p14="http://schemas.microsoft.com/office/powerpoint/2010/main" val="2112852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DB693-3414-40DF-9A80-F1236263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85494-9F92-4CF0-B9E6-FFADCF4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99400-0269-452D-B39D-C30AE391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8058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Itens previstos no portfólio, mas ainda fora da modelagem de receita e margem do plano atual.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B5669-F6D2-4727-A595-E0E2D40A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CE5FF-16AF-4913-850A-276ED4F8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70AFF-C820-4FBD-96B1-10982ACF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66562-CFC2-43D1-BAD7-BA00C2CB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10196-B8DF-4067-9234-C2D570A1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CDFB7-F905-44F5-9D9C-DB04074D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63C19-AD99-4EE9-9000-2E6C13E5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FC00A-B1FA-4C77-9937-48A6D86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AC133-7A22-460B-B9DB-7ED99E7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FD96C-1789-49FC-A63E-4C4F24FF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A20CC-8A7D-4051-BE50-66C0843D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B55B3-2182-40DF-918F-B53A1C7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6B9AA-EAD0-41F2-91D3-DC078552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FCF39-25FA-4169-9799-66AD66D5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88BC7-FF3E-42D4-B1E5-6649587F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3702F-815E-438D-84EB-CB1B71A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21773-DEC6-46E1-A900-8799377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FB6D8-B09D-4442-B4D8-5EC1ECA7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DF566-61FE-4AA7-B754-3E9C54E4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37FA9-8409-4819-B02D-51C8BAE6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A3CD1-49AE-4EC0-B53F-343D0486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3FD90-4945-467A-94D7-C9609A3A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875DA-58BE-4227-B507-6575A869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A3C04-8E63-4A75-B718-C33B263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DCEE66-6E51-467D-B577-C823059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06BBF-7913-4108-B84E-4790A27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82960-CF29-4F50-8BAA-87661286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B4AEB-E6B0-438D-9A2C-6DF3B66D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91353-EA83-4BB5-8819-F2AA30F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98D06-2B30-45EC-B06B-43F3D14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0AA17-17DC-4447-A020-1A8FE7C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DADF1E-B69B-47CB-B943-3A5399F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B5E8D3-03B0-49FF-97CD-02EC146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FC0AC4-0AB6-49A1-A712-DE763EA1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74DB28-AF87-491E-94C2-5CCBFE82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C9D26F-B5B9-45EB-A94E-6F98E405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754F00-8C49-436B-9144-AEAB79AD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A0D61F-4834-40E5-BAAA-F7F374CE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80F6FE-1590-4B46-96EB-9322642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932DFF-CFC7-4E0F-B74A-1B987D6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703EA4-C607-47F0-A9BB-4BD8679F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9C9516-FD0E-45F6-8B6B-6FDC3D1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B035B5-83B1-46E4-B5FB-966C8B66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7758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8D200B-AE2A-4E28-A95F-B1AB0D0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9AD293-8678-4B74-882B-56C310B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917758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2036DA-987B-4C43-9F4D-3B84461C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C6378E-063D-4BC7-8C81-68CE688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917758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B13547-F93D-4562-8480-8BB4F2F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2F70CE-3107-416D-A453-350FA811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917758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19611-1904-457A-8DA8-9870627E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979317-98ED-44CF-B94C-9D11464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917758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885F78-E7F2-4733-8DA7-85B0EF0F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292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C4BCDC-5BAD-48A2-94E8-340805D0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917758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92FC63-C61A-466A-B4B0-FE787601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FB88D9-DB33-45B9-A490-D4304914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917758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B4E2FA-566A-4971-B08B-19E1F89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029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D93287-437B-42BF-A617-863B1600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8467725" cy="3754755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04D671-9016-416A-9DE4-F08B731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7DA471-909B-4CF0-853E-F0F4788D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0B6054-C10F-4C65-BD8F-D98283FA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44C174-6503-4577-BDB1-12CA1FD8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014C96-0892-4135-B5D3-E5BF9DA7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017895"/>
            <a:ext cx="8467725" cy="3754755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7609CF-D873-4931-BF07-B73A55AA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0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16CEBE-B300-4F67-B51D-DF3E6F2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91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Esses produtos ainda não entraram na conta.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9C9917-BEC2-4DEF-8A5B-C8BB84E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9342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32A17B-3864-483F-B9E3-C2A4ABB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2771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3675026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6E87B-5CAC-4C99-8676-3BC1D28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Demanda do mercado / market 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FF6B6-9810-4067-8112-CEAD9716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49EFE-908E-40B0-82EE-209113E6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297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 adotada para este material: mercado Brasil com 5.000 kits e 5.000 instalações vendidos por mês, durante todo o período do estudo (60 meses).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08BCA-35E7-42EE-9A99-9206074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87AEC-13DF-44C1-9284-F008BA81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anual Brasil (proxy)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B17B-8438-479B-9929-63E2CAF3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R$ 7.200.000.000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1CE0C-565C-4735-A382-856F369C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0D050-C4C9-4894-977F-F72E51F7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total do estudo (60 meses)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D4DAA-0454-4E97-86DC-3C47053C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R$ 36.000.000.000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63E2F-26CD-4976-AAB0-0602C451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5E2D7-3203-4202-A947-55EC228F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Share do plano por receita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5F161-A530-439D-B5A4-6591B55C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0,6%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72C76-0B53-49C5-B774-9706235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9085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B31C7-FF2E-42C5-AF9E-15780C49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Linha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AAB32-F29A-443C-B001-09B109A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09085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9512F-6B53-4C4E-B324-73E1ABA7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Unidades do plano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15E67-DD27-42BF-AE3F-FF416E2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4109085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0229A-0F7A-44B6-8101-796ACD8E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2910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Mercado Brasil no estudo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F728D-AA2D-4193-BA82-0F8465F4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4109085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52F13-0CB7-43DE-A66B-D3A7FE8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2291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6441C-31DD-4439-A9FC-1AA0434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023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F2E74-784E-488E-B2C9-3E59C97E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Kits / equipamentos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19D9D-EE84-4B6A-9DAB-EBF40C6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5133023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385A9-71D2-4323-86AA-800BF87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2392B-CFD0-4658-AA88-1EECBE92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5133023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9323D-C7AE-42A6-AE38-734FBDE2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387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300.000 kits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BF465-92A4-4477-83B4-9B145885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5133023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75943-4077-4B3D-AEF5-EF0DDC81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2387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0,1%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D952E-F33C-4056-B700-6306995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6960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A9B820-95C8-4601-B910-434F28B5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674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Implantações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8077E-3EF5-4AF3-96A3-CE1708F1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6156960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1A3508-7F1A-4623-AEC0-6CCB89E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674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6643C-741B-4325-B5D2-96CA82C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6156960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93E5C8-7304-45A3-AD97-96B2C6B6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674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300.000 instalações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5FAF48-084F-4F24-99A3-802A1B3D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6156960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4C058-FF20-4586-BC0B-DFC8DCC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2674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0,1%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539F7-8B7F-46D0-8FA3-DDB8F4D8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80898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9B70CC-68AF-4951-B987-E2989A0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96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Software / base 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BB1FAD-54BD-4949-84B4-9884B206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180898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374B79-964B-4798-919A-D3EC53DF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2961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4.000 ativos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9845D7-9E79-4F7C-8B9A-651B666A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7180898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9494B3-08B5-41AB-A260-D675684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296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Não aplicável nesta premissa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F37D57-0CBE-407A-A911-47B5BA76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7180898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DB75E6-D0DB-4B14-9934-22FD59F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72961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7D5893-5BC4-4690-94BE-E27326AF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439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nesta versão, o market share foi recalculado a partir da premissa informada pelo usuário para kits e instalações no mercado nacional ao longo de todo o período do estudo.</a:t>
            </a:r>
          </a:p>
        </p:txBody>
      </p:sp>
    </p:spTree>
    <p:extLst>
      <p:ext uri="{BB962C8B-B14F-4D97-AF65-F5344CB8AC3E}">
        <p14:creationId xmlns:p14="http://schemas.microsoft.com/office/powerpoint/2010/main" val="12867738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756D5-D714-4208-9AC9-275ED21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Estrutura: Comercial, Operacional e Adm-Fin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C008-3595-426C-81DA-89E7969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654B2-E7A6-4CD8-8006-5683CDC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96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D742C-2BB1-48E4-8663-3CA2A90C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68263-2AC5-4549-8B10-E1A513F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F24F8-7BDA-4472-A1B5-0A5F2D6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R$ 723.500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3E087-03C6-4208-9A7D-4E19438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B903B-0E55-4DEE-A0E4-156EF053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6E88B-3FE9-4F69-BFA4-5FD7D560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R$ 249.000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1CF71-724B-44AE-828A-456485D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76101-907E-46DB-86C4-C44025DF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62A24-7112-4FAB-87AA-7200B48D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R$ 2.988.000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6B005-2D0A-489B-85D7-B2B989D6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F412A-D969-481E-9687-6F93A55F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0AAB8-339B-415C-B638-7AE0FB18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42652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8E007-3773-4BF7-8890-722F6835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42EE6-DC91-41D4-B879-4FEC7DB5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E54F5-D82D-4D8B-9E46-26596444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 (rateio)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0FB4E-3B32-4F7F-8005-BC2471D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42652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3BFDF-549D-49AC-88B9-DC2A0B6C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815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8EEE1-79A2-4476-B658-713FC47E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78319-16EF-4F28-BEEF-D6592351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AB925-212B-4CE6-93E7-160D9DEA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1225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95538-369A-4C00-B6DA-EC31D8C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6CD18-E9C6-4BD5-AE3B-538C5CB8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58655-8255-411C-A108-2A416AF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R$ 117.083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70D6D-5F80-4A2E-B89B-25987EF9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1225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A1245B-1372-41B1-AE04-5BCCA6F7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387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E89DA-2F89-47EB-AD5B-4459E43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27FF43-E3D3-4954-99B8-1BC0661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A8F35-4D74-47B8-98A1-97B7A8C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9797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F993A-D83B-44FA-A47B-F98D3EF8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11F0BE-1F82-4143-BE8B-4E71A952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4B3869-7F71-4CE0-B613-D8724B3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R$ 113.983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E2D4EA-8436-4310-ACAE-C4C1445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9797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946A3-F5D6-4700-B284-2B93711A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96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9681D7-50C7-4E60-837E-67C458D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D0155D-AED1-41B2-8AF7-8F1F52B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Adm-Fin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BE9ABB-C795-4B43-AC25-DB46890D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68370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D9C4DB-4889-437C-A115-1A10DE3D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R$ 52.500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FA3BEC-6D38-4EF1-84D5-DF6724A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B60053-B7EC-4416-B37C-6C1812D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R$ 17.934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27669C-93C9-4C4B-B60B-91D8EFD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68370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2B6766-4549-4CE6-A372-F1115812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532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86D407-2B90-43F5-A172-11CD5C0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29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Premissa de rateio: o custo fixo mensal de R$ 249 mil foi distribuído proporcionalmente aos valores planejados por frente de estrutura.</a:t>
            </a:r>
          </a:p>
        </p:txBody>
      </p:sp>
    </p:spTree>
    <p:extLst>
      <p:ext uri="{BB962C8B-B14F-4D97-AF65-F5344CB8AC3E}">
        <p14:creationId xmlns:p14="http://schemas.microsoft.com/office/powerpoint/2010/main" val="672769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B33C2-FFF8-4F3C-A9CA-BDF604C9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Resultado líquido: 20%, 50% e 100% das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1EA05-C704-481F-B58C-FAB9A67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9B6B4-E788-449C-A75D-68837E2C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887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mantendo a mesma base de custo fixo anual e a mesma estrutura de margem do modelo atual.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67879-EE1C-469A-B23A-BCF1BD81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2145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324D5-45E1-4C75-B4C6-678B65EE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FB4B1-8DFE-4118-82E7-68B97F4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2145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5B8C-E526-405E-9218-D8A8F5AE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0C76E-FA30-4B63-8E6C-7FE95C3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192214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935E2-32AB-458A-AD91-DF506CF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90ABC-B5A7-4688-B20D-CA6E07A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1922145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B33BB-D4D3-4E4F-8BD4-29BB434A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383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1FC6E-8394-488F-9D99-EAC9262A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192214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724F7-E086-4837-863D-A3E96282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0383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estimado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5250E-E5AC-4DCE-BF32-4C0ADCF5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3208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96C8F-BA34-49DD-B992-91ACA35E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9839F-B303-4592-9B82-14E90BB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3208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2D6AA-D959-4CE4-B2CD-956D5AB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R$ 8.480.000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FE663-733A-4A67-A450-299D689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280320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905BE-ED55-479B-B066-A35AAEFB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R$ 3.895.160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F1346-142C-42F8-92BE-76F8785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2803208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A9C80-40DE-4520-BAE9-FA89BBF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146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19931-FCF6-44C6-A579-7507CB6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280320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F2393-1F85-4CC1-8543-EC63BC4B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9146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R$ 907.160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EAF04-2479-4883-94D4-AAD332B5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4270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96BEC-F6CC-42D3-ADF8-19CD617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22E9F-4AA8-47A7-A2C1-75DB3217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84270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27185-3DC2-4F7B-9D49-A647A4B9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R$ 21.200.000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9F811-80B8-4E2C-BFE9-5BAE7329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368427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E5A71-9072-4610-A339-A0BCB84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R$ 9.737.900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3A2921-CFCF-4A2D-BAC5-87FCDD0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3684270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E1F687-9349-4EC0-958F-BE2AE43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B5E07-8C79-41D7-8D6E-BADC45F1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368427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CED109-40D6-4F4E-9657-89A32BFF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7909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R$ 6.749.900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7BD329-BB52-44C9-81D2-6112B029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5333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53EBD-2E85-4DDC-A33E-EED6DF3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23F3C7-F5A5-4C31-B53A-CC13DF61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65333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D7629-099E-4F58-9E84-B7B83672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R$ 42.400.000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4862B4-B57D-41AB-8ADC-D12620C5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456533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141C5-263E-46C8-B0B3-D537D26C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R$ 19.475.800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000A2E-D56D-4729-AED4-17422868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4565333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D20028-F9F8-4F5C-978B-AA9145D8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863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F1CE0D-3255-4B99-99A7-7F528642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456533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0393E6-A201-4D67-9CCF-60E61C7F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686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R$ 16.487.800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B8F776-8973-4C35-A750-050B54A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0695"/>
            <a:ext cx="8296275" cy="4173855"/>
          </a:xfrm>
          <a:prstGeom xmlns:a="http://schemas.openxmlformats.org/drawingml/2006/main" prst="roundRect">
            <a:avLst>
              <a:gd name="adj" fmla="val 50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5A3267-EC37-40EB-BC2F-5A7B8FEE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538730-5731-45D5-8710-1570F40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03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plano-base.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E26176-EE62-438C-B708-A5249A4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estimado já supera R$ 6,7 milhões/ano.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81B2DC-B1C7-4B01-B47A-42FB64A7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51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anual estimado alcança R$ 16,49 milhões.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3B7503-857A-4AE4-BE6F-63FF8D69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60695"/>
            <a:ext cx="8296275" cy="4173855"/>
          </a:xfrm>
          <a:prstGeom xmlns:a="http://schemas.openxmlformats.org/drawingml/2006/main" prst="roundRect">
            <a:avLst>
              <a:gd name="adj" fmla="val 50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E36637-54A5-422D-BDA8-85C49E8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721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1709B9-BE38-4028-A692-F8D5D4DA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2103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Receita-base de R$ 42,4 milhões em regime.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FE20DF-3433-4AB7-8D30-183B9F4E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553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anual de R$ 2,988 milhões.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B44911-9A8F-4774-B2BF-3C6A704A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9151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de contribuição implícita na modelagem atual.</a:t>
            </a:r>
          </a:p>
        </p:txBody>
      </p:sp>
    </p:spTree>
    <p:extLst>
      <p:ext uri="{BB962C8B-B14F-4D97-AF65-F5344CB8AC3E}">
        <p14:creationId xmlns:p14="http://schemas.microsoft.com/office/powerpoint/2010/main" val="4885405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8F06E-05AA-4F75-843B-B3BE1A6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Investimento necessário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9CA12-2BD6-4B30-A9AA-5470B261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53B82-A0E4-460F-9C42-42FC99F6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4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relatório e leitura prática para o investidor.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38BB8-52BE-4C59-890E-7BCD3F93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C6131-DCAB-4D5D-A272-93E10F10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 de giro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5F45-745A-4040-B31E-65A66BD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R$ 1.500.000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F7EDF-1D71-4611-AC61-8C9765B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0DC6C-0027-4C86-B9BE-3EB8C236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 / containers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896EC-9727-4D00-91A7-2B05B4A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345A0-1E4F-4ABE-82B8-631D56B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2BEE5-1248-44BE-A81D-30AAF455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 total do plano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FBCCD-0B9B-43C5-B577-1592646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R$ 11.000.000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1DC22-5406-48B4-809A-72BE25B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E4C48-D24C-49EB-9A5F-C606E0B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DB874-E1AC-4EE7-A945-8EBEB2F4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R$ 1,5 milhão.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A8A87-4623-4B36-B36D-9B664E4F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BAEF1-21F0-4930-82B2-A8C40BF0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EC293-6DBF-42F7-9A49-33712A49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150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12059-BAEE-4DC4-9326-8840BFB6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Saldo implícito de estrutura/contingência até o aporte total: aproximadamente R$ 680 mil.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0ADEC-C1D7-4F63-9CF2-3CBD1BDF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F1C0E-D8B5-424D-9CC7-A76B2E86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72B3C-F5D7-4C40-B418-6306324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EFD2C-55EF-4E0F-81F0-B148096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2F5BF-F810-48D1-B83B-154DAAF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19108594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CC194-7615-44BE-8D96-ED27DB2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Premissas financeiras do investidor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AF5B8-6BA2-48E8-AE21-29907373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85E9A-DC80-4677-8C97-4ED01AC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934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explícitas do relatório combinadas com métricas calculadas em regime estável para apoiar a conversa de investimento.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5CA97-5132-420B-9E1C-778BA66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76CD2-7310-4666-8B46-13CD1B7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89AA9-6496-4E32-A814-1B155BA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4B423-4DA7-4992-8796-0AAF69A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42769-3697-4057-9A08-C4758B1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2762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 (assumido)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CA59F-2FC7-43A8-9B2A-D945C6E0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94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15% a.a.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C5CF6-A744-41FE-AF2F-7B99BC1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1A1F0-C4DB-48E0-A9BC-008FAD8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4F9FE-9188-44C2-A739-CAF7FFF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25,4% a.a.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AE148-78BC-416C-9D31-5B680F3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B5527-89B8-4B40-BF41-7534DF0D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9CAC7-5732-41BC-B8A1-3EE4C5A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R$ 2.817.416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1B28C-B1E7-4F0F-AA52-F4D5BB35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ED7A3-CB9C-4879-BE6F-5AAE5251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CD93B-D94D-4888-A390-C9FB3EC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2,67 anos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AC2A1-5C57-43C7-957D-AECEFCEB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1045"/>
            <a:ext cx="8201025" cy="5088255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0F90F-2DC2-44DF-B68A-E77DF0A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487D9-F7E6-44BD-9A81-FEFFBA6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relatório explicita distribuição de 25% a partir de nov/2026 para “Outras”, aqui tratada como base do investidor.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7FF7E-1D5B-4964-90C7-2A374C4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que os 3 produtos a ativar tenham sido considerados no fluxo-base.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7CCA5-3FD7-4217-AEBD-2FE00ED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B01E2-572C-4BC3-8CBF-D00F2A21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51045"/>
            <a:ext cx="8201025" cy="5088255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C712F-1C61-40B5-A960-93F13087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815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C963F-7964-492B-B19C-3CD9CE8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3875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TIR, VPL e payback calculados sobre fluxo anual simplificado de 5 anos, sem valor terminal.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C9CF4-12E4-4C1A-9A00-C299BE6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848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assumido de 15% a.a.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271DE-1893-4C05-8A1F-C71859D3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103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13312249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EB71B-6554-46A0-8B88-DD49B3F9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Fluxo de caixa do negócio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BCCD4-FF43-4FAA-B20A-55250D8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108DB-363A-4CD6-99EA-DB0BA5D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37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Corte resumido para set/2027, um mês após o fim do ramp-up, e para o ano cheio de 2028 em regime estável.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C9322-5657-4199-9EF8-E9C313FA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53FE8-3B47-4F6A-B90C-213A985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04489-B0F6-4164-B4DD-23098213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R$ 3.533.333,3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98344-2850-473E-AB5A-4BA000D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R$ 1.622.983,3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E4E0C-23E6-42AE-9048-4FA82BBD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R$ 249.000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BA73-365E-4638-8832-E99CA314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R$ 1.373.983,3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E77A5-4840-4457-8383-EE90DBB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8498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268AF-30B4-46A7-B790-0659EF6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7D4BE-CEF3-4989-8CF3-73F55251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R$ 42.400.000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BD94C-3FEC-46F3-A49F-6BC02D0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19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anual: R$ 19.475.800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8FDA9-DB0A-442D-A1BE-8D6D6F22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R$ 2.988.000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2FD9B-C914-4C6F-B9EF-9F05A27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anual: R$ 16.487.800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34F14-32AC-4BD4-A1C9-18D51CC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0585"/>
            <a:ext cx="16611600" cy="4958715"/>
          </a:xfrm>
          <a:prstGeom xmlns:a="http://schemas.openxmlformats.org/drawingml/2006/main" prst="roundRect">
            <a:avLst>
              <a:gd name="adj" fmla="val 422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7998-125C-4ADF-AA31-74E5EF9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F076C-0A00-4F55-A174-ACEF6D70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regime, o negócio gera aproximadamente R$ 1,37 milhão de resultado líquido por mês.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49333-A2A9-4185-A233-B89D311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Se houver distribuição total de 50% do resultado, a retenção anual estimada na companhia seria de cerca de R$ 8,24 milhões.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E5C0F-8AE4-4F6E-9B67-D9E0197A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Essa retenção cria espaço para reforço de capital de giro, expansão e ativação dos produtos remanescentes.</a:t>
            </a:r>
          </a:p>
        </p:txBody>
      </p:sp>
    </p:spTree>
    <p:extLst>
      <p:ext uri="{BB962C8B-B14F-4D97-AF65-F5344CB8AC3E}">
        <p14:creationId xmlns:p14="http://schemas.microsoft.com/office/powerpoint/2010/main" val="9456908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FC10E-C5B3-4D8D-A09C-CA9B726E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investidor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50218-1E31-43C6-96B9-09EF5CD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3DCF7-ECBD-46DB-8D3E-8914A424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96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Fluxo de distribuição em regime estável, assumindo participação de 25% sobre o resultado distribuível do plano-base.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AE18-AC65-4DCE-847E-2E1A5E3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D3F5B-4CAA-4166-A34D-DF0E001D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1958E-BC9F-4158-9AE8-3BEA44A1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93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3139F-C58A-4AB0-98C2-4B28095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2FD1C-6DCC-4432-98FE-C604EEE4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3644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38C6F-8016-47A9-8FF6-9310FDF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6B512-3AF9-44DB-BE23-37FB9F5E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R$ 343.495,8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E990C-EBBA-462D-ACE6-ADC2A82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8C4A2-5E4D-412F-9CA8-1A7404A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3644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5F903-6A54-473E-B867-9361DA4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266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446CF-A247-4A39-9CC6-05B0DD9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860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 estimada: R$ 4.121.950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B0074-589D-40FC-BD2F-5614B3B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05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R$ 343.495,8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F7B8C-A572-4824-90A1-DD5E465A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1545"/>
            <a:ext cx="16611600" cy="4897755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210DC-6B61-46F4-972F-2B5F785B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87D85-7317-411C-969C-0390E074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no cenário de 3 produtos modelados.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20FCC-F607-4904-8567-D62433A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adicional associado aos produtos a ativar funciona como upside opcional, não como condição para a tese-base fechar.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61819-EEFD-4457-A59E-4F9B2A8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341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10701395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8883A-0CEB-4F3E-9140-65B26C28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4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76B40-7B59-448F-94D5-3A7256D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10.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9178C-634B-4333-9EDC-6328B3F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36017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fecha com os 3 produtos modelados e ganha potência adicional quando o portfólio de 6 produtos estiver completo.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7552B-3409-4EED-BC06-43F00B7E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8540"/>
            <a:ext cx="14329791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365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0EF07-345B-43D5-89FE-BA5927B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3792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com mercado em formação, produto/serviço integrado, resultado positivo mesmo abaixo do volume total do plano e upside relevante ainda não refletido na modelagem atual.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8B66B-5F13-482E-AECB-AA90503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0140"/>
            <a:ext cx="371475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C8025-6374-4E0E-82E2-F967FA99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340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8CE8D-3AEE-44CD-A7AE-1BC33E97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014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F56DD-1168-4472-90FE-4CC8B41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8F3CF-F7C7-467C-B8FA-DD57DBC9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0140"/>
            <a:ext cx="4762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8B4B3-171D-451D-B181-78253A7A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9D469-B45F-4E9B-9041-2BDFBA20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Base conservadora, não teto de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E2402-D7DA-4424-8386-28254D91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08A47-64E8-4F78-8763-CAB97EF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Case atrativo para investidor que busca retorno com assimetria positiva.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08959-ECDA-43AB-98F1-DCDF6F43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Versão final para investidores | premissas complementares explicitadas no material</a:t>
            </a:r>
          </a:p>
        </p:txBody>
      </p:sp>
    </p:spTree>
    <p:extLst>
      <p:ext uri="{BB962C8B-B14F-4D97-AF65-F5344CB8AC3E}">
        <p14:creationId xmlns:p14="http://schemas.microsoft.com/office/powerpoint/2010/main" val="1726009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2026-05-08T15:02:37.3900000Z</dcterms:created>
  <dcterms:modified xsi:type="dcterms:W3CDTF">2026-05-08T15:02:37.3900000Z</dcterms:modified>
</coreProperties>
</file>