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de74580a1d4f7b" /><Relationship Type="http://schemas.openxmlformats.org/officeDocument/2006/relationships/extended-properties" Target="/docProps/app.xml" Id="R19c09e76912b43a4" /><Relationship Type="http://schemas.openxmlformats.org/officeDocument/2006/relationships/officeDocument" Target="/ppt/presentation.xml" Id="R9ad5a1366e1d41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84cb7d88294d0e"/>
  </p:sldMasterIdLst>
  <p:notesMasterIdLst>
    <p:notesMasterId xmlns:r="http://schemas.openxmlformats.org/officeDocument/2006/relationships" r:id="R5116349354cb4dc4"/>
  </p:notesMasterIdLst>
  <p:sldIdLst>
    <p:sldId xmlns:r="http://schemas.openxmlformats.org/officeDocument/2006/relationships" id="256" r:id="Rcd6dd2959af644a7"/>
    <p:sldId xmlns:r="http://schemas.openxmlformats.org/officeDocument/2006/relationships" id="257" r:id="Rc6332c3e450c42b7"/>
    <p:sldId xmlns:r="http://schemas.openxmlformats.org/officeDocument/2006/relationships" id="258" r:id="R243c1120ad75482d"/>
    <p:sldId xmlns:r="http://schemas.openxmlformats.org/officeDocument/2006/relationships" id="259" r:id="Rd5294058df0841de"/>
    <p:sldId xmlns:r="http://schemas.openxmlformats.org/officeDocument/2006/relationships" id="260" r:id="R1e48d9114ee447a6"/>
    <p:sldId xmlns:r="http://schemas.openxmlformats.org/officeDocument/2006/relationships" id="261" r:id="R1c2f7110c3704165"/>
    <p:sldId xmlns:r="http://schemas.openxmlformats.org/officeDocument/2006/relationships" id="262" r:id="R2d0ed78e380c4372"/>
    <p:sldId xmlns:r="http://schemas.openxmlformats.org/officeDocument/2006/relationships" id="263" r:id="Re62eacccc2574ab9"/>
    <p:sldId xmlns:r="http://schemas.openxmlformats.org/officeDocument/2006/relationships" id="264" r:id="R35a7fbabc50a4a7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4cb7d88294d0e" /><Relationship Type="http://schemas.openxmlformats.org/officeDocument/2006/relationships/theme" Target="/ppt/theme/theme1.xml" Id="R8a308038fa2a4c2f" /><Relationship Type="http://schemas.openxmlformats.org/officeDocument/2006/relationships/notesMaster" Target="/ppt/notesMasters/notesMaster1.xml" Id="R5116349354cb4dc4" /><Relationship Type="http://schemas.openxmlformats.org/officeDocument/2006/relationships/presProps" Target="/ppt/presProps.xml" Id="R5d2864f0d0844787" /><Relationship Type="http://schemas.openxmlformats.org/officeDocument/2006/relationships/viewProps" Target="/ppt/viewProps.xml" Id="Rb98fa83ee1bb4802" /><Relationship Type="http://schemas.openxmlformats.org/officeDocument/2006/relationships/tableStyles" Target="/ppt/tableStyles.xml" Id="Re08e0be4dca94b7a" /><Relationship Type="http://schemas.openxmlformats.org/officeDocument/2006/relationships/slide" Target="/ppt/slides/slide1.xml" Id="Rcd6dd2959af644a7" /><Relationship Type="http://schemas.openxmlformats.org/officeDocument/2006/relationships/slide" Target="/ppt/slides/slide2.xml" Id="Rc6332c3e450c42b7" /><Relationship Type="http://schemas.openxmlformats.org/officeDocument/2006/relationships/slide" Target="/ppt/slides/slide3.xml" Id="R243c1120ad75482d" /><Relationship Type="http://schemas.openxmlformats.org/officeDocument/2006/relationships/slide" Target="/ppt/slides/slide4.xml" Id="Rd5294058df0841de" /><Relationship Type="http://schemas.openxmlformats.org/officeDocument/2006/relationships/slide" Target="/ppt/slides/slide5.xml" Id="R1e48d9114ee447a6" /><Relationship Type="http://schemas.openxmlformats.org/officeDocument/2006/relationships/slide" Target="/ppt/slides/slide6.xml" Id="R1c2f7110c3704165" /><Relationship Type="http://schemas.openxmlformats.org/officeDocument/2006/relationships/slide" Target="/ppt/slides/slide7.xml" Id="R2d0ed78e380c4372" /><Relationship Type="http://schemas.openxmlformats.org/officeDocument/2006/relationships/slide" Target="/ppt/slides/slide8.xml" Id="Re62eacccc2574ab9" /><Relationship Type="http://schemas.openxmlformats.org/officeDocument/2006/relationships/slide" Target="/ppt/slides/slide9.xml" Id="R35a7fbabc50a4a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ada44a17ba748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eeb6983b0441fb" /><Relationship Type="http://schemas.openxmlformats.org/officeDocument/2006/relationships/notesMaster" Target="/ppt/notesMasters/notesMaster1.xml" Id="Rc4e7763c83b24b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f3b9303c1d4941" /><Relationship Type="http://schemas.openxmlformats.org/officeDocument/2006/relationships/notesMaster" Target="/ppt/notesMasters/notesMaster1.xml" Id="R62cf35711bac4b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384bae3d414ff9" /><Relationship Type="http://schemas.openxmlformats.org/officeDocument/2006/relationships/notesMaster" Target="/ppt/notesMasters/notesMaster1.xml" Id="R7ec61c376dc640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4d320abdd84e31" /><Relationship Type="http://schemas.openxmlformats.org/officeDocument/2006/relationships/notesMaster" Target="/ppt/notesMasters/notesMaster1.xml" Id="Reaae41556c9248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304ea5eddf4ac7" /><Relationship Type="http://schemas.openxmlformats.org/officeDocument/2006/relationships/notesMaster" Target="/ppt/notesMasters/notesMaster1.xml" Id="R597ad2b0525a45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20be918774417e" /><Relationship Type="http://schemas.openxmlformats.org/officeDocument/2006/relationships/notesMaster" Target="/ppt/notesMasters/notesMaster1.xml" Id="Rffce6eb897fd4d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1cff6333d64b8c" /><Relationship Type="http://schemas.openxmlformats.org/officeDocument/2006/relationships/notesMaster" Target="/ppt/notesMasters/notesMaster1.xml" Id="R0748b1c763f149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4458bb67cb45a6" /><Relationship Type="http://schemas.openxmlformats.org/officeDocument/2006/relationships/notesMaster" Target="/ppt/notesMasters/notesMaster1.xml" Id="R3a049fb55c494a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59a695d81e4f65" /><Relationship Type="http://schemas.openxmlformats.org/officeDocument/2006/relationships/notesMaster" Target="/ppt/notesMasters/notesMaster1.xml" Id="R226ccbdb09ec4a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a353a023c434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c2affee93cc49e8" /><Relationship Type="http://schemas.openxmlformats.org/officeDocument/2006/relationships/slideLayout" Target="/ppt/slideLayouts/slideLayout2.xml" Id="Rc49c2ebd04b54c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9c2ebd04b54c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33ea14a8514445" /><Relationship Type="http://schemas.openxmlformats.org/officeDocument/2006/relationships/notesSlide" Target="/ppt/notesSlides/notesSlide1.xml" Id="R4fd1d7b61463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046eed47054187" /><Relationship Type="http://schemas.openxmlformats.org/officeDocument/2006/relationships/notesSlide" Target="/ppt/notesSlides/notesSlide2.xml" Id="Rd539a7f5ed8548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28d5ffdebd40fa" /><Relationship Type="http://schemas.openxmlformats.org/officeDocument/2006/relationships/notesSlide" Target="/ppt/notesSlides/notesSlide3.xml" Id="R802acf65c36145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723e0c17424d64" /><Relationship Type="http://schemas.openxmlformats.org/officeDocument/2006/relationships/notesSlide" Target="/ppt/notesSlides/notesSlide4.xml" Id="R39703fc45aa942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09b09d44dc4192" /><Relationship Type="http://schemas.openxmlformats.org/officeDocument/2006/relationships/notesSlide" Target="/ppt/notesSlides/notesSlide5.xml" Id="R3bb4e60ced8a4b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b63f0397bb4da4" /><Relationship Type="http://schemas.openxmlformats.org/officeDocument/2006/relationships/chart" Target="/ppt/slides/charts/chart1.xml" Id="R6af0ddfb9c68470e" /><Relationship Type="http://schemas.openxmlformats.org/officeDocument/2006/relationships/notesSlide" Target="/ppt/notesSlides/notesSlide6.xml" Id="R41c8b5cc9b144f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0715b187204f65" /><Relationship Type="http://schemas.openxmlformats.org/officeDocument/2006/relationships/notesSlide" Target="/ppt/notesSlides/notesSlide7.xml" Id="R4722826061f043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f7bbf82a6a403f" /><Relationship Type="http://schemas.openxmlformats.org/officeDocument/2006/relationships/notesSlide" Target="/ppt/notesSlides/notesSlide8.xml" Id="Rd9b90a27f80a46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8b0730c2344c59" /><Relationship Type="http://schemas.openxmlformats.org/officeDocument/2006/relationships/notesSlide" Target="/ppt/notesSlides/notesSlide9.xml" Id="R332a7ba0986f4d24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Margem estimada por produto modelado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Margem %</c:v>
          </c:tx>
          <c:cat>
            <c:strLit>
              <c:ptCount val="3"/>
              <c:pt idx="0">
                <c:v>Kit</c:v>
              </c:pt>
              <c:pt idx="1">
                <c:v>Implantação</c:v>
              </c:pt>
              <c:pt idx="2">
                <c:v>Software</c:v>
              </c:pt>
            </c:strLit>
          </c:cat>
          <c:val>
            <c:numLit>
              <c:formatCode/>
              <c:ptCount val="3"/>
              <c:pt idx="0">
                <c:v>33.4</c:v>
              </c:pt>
              <c:pt idx="1">
                <c:v>35.3</c:v>
              </c:pt>
              <c:pt idx="2">
                <c:v>70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2FB341-8FBE-43C2-AF72-D74C6925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90856-6995-4A38-A59A-294B6921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495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55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47A1F-26E4-4550-920C-B9948584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4B8A6"/>
                </a:solidFill>
              </a:defRPr>
            </a:pPr>
            <a:r>
              <a:rPr sz="1650" b="1" i="0">
                <a:solidFill>
                  <a:srgbClr val="14B8A6"/>
                </a:solidFill>
              </a:rPr>
              <a:t>PIT DE INVESTIMENTO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AE4B2-6590-4BC8-8080-73EBA76A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036320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Infraestrutura de recarga elétrica com portfólio escalável e upside não capturado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E9309-D020-4111-99E0-4E80805F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7029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BD5E1"/>
                </a:solidFill>
              </a:defRPr>
            </a:pPr>
            <a:r>
              <a:rPr sz="2100" b="0" i="0">
                <a:solidFill>
                  <a:srgbClr val="CBD5E1"/>
                </a:solidFill>
              </a:rPr>
              <a:t>Síntese executiva baseada no relatório detalhado de implantação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E6A15-AEC0-4EE3-B3C6-EEC1F2F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8620"/>
            <a:ext cx="9692640" cy="1059180"/>
          </a:xfrm>
          <a:prstGeom xmlns:a="http://schemas.openxmlformats.org/drawingml/2006/main" prst="roundRect">
            <a:avLst>
              <a:gd name="adj" fmla="val 21583"/>
            </a:avLst>
          </a:prstGeom>
          <a:solidFill xmlns:a="http://schemas.openxmlformats.org/drawingml/2006/main">
            <a:srgbClr val="13233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F4BFF-BA97-401C-B74B-16C55FF4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923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Tese central: mercado em expansão + modelo integrado + projeção financeira conservadora, pois apenas 3 dos 6 produtos foram modelados.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452E9-1032-42A3-9CEF-71136392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4198620"/>
            <a:ext cx="6461760" cy="5044440"/>
          </a:xfrm>
          <a:prstGeom xmlns:a="http://schemas.openxmlformats.org/drawingml/2006/main" prst="roundRect">
            <a:avLst>
              <a:gd name="adj" fmla="val 5287"/>
            </a:avLst>
          </a:prstGeom>
          <a:solidFill xmlns:a="http://schemas.openxmlformats.org/drawingml/2006/main">
            <a:srgbClr val="0F1B3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CB890-79C6-468B-B0BD-95BD9BEE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457700"/>
            <a:ext cx="5924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B8A6"/>
                </a:solidFill>
              </a:defRPr>
            </a:pPr>
            <a:r>
              <a:rPr sz="1800" b="1" i="0">
                <a:solidFill>
                  <a:srgbClr val="14B8A6"/>
                </a:solidFill>
              </a:rPr>
              <a:t>Destaques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29CFA-40D0-4532-8C16-048F782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914900"/>
            <a:ext cx="50673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E2E8F0"/>
                </a:solidFill>
              </a:defRPr>
            </a:pPr>
            <a:r>
              <a:rPr sz="1950" b="0" i="0">
                <a:solidFill>
                  <a:srgbClr val="E2E8F0"/>
                </a:solidFill>
              </a:rPr>
              <a:t>• Payback estimado em até 18 meses</a:t>
            </a:r>
          </a:p>
          <a:p xmlns:a="http://schemas.openxmlformats.org/drawingml/2006/main">
            <a:pPr>
              <a:defRPr sz="1950" b="0" i="0">
                <a:solidFill>
                  <a:srgbClr val="E2E8F0"/>
                </a:solidFill>
              </a:defRPr>
            </a:pPr>
            <a:r>
              <a:rPr sz="1950" b="0" i="0">
                <a:solidFill>
                  <a:srgbClr val="E2E8F0"/>
                </a:solidFill>
              </a:rPr>
              <a:t>• Aporte próprio planejado de R$ 11 milhões</a:t>
            </a:r>
          </a:p>
          <a:p xmlns:a="http://schemas.openxmlformats.org/drawingml/2006/main">
            <a:pPr>
              <a:defRPr sz="1950" b="0" i="0">
                <a:solidFill>
                  <a:srgbClr val="E2E8F0"/>
                </a:solidFill>
              </a:defRPr>
            </a:pPr>
            <a:r>
              <a:rPr sz="1950" b="0" i="0">
                <a:solidFill>
                  <a:srgbClr val="E2E8F0"/>
                </a:solidFill>
              </a:rPr>
              <a:t>• Ramp-up a partir de jul/2026</a:t>
            </a:r>
          </a:p>
          <a:p xmlns:a="http://schemas.openxmlformats.org/drawingml/2006/main">
            <a:pPr>
              <a:defRPr sz="1950" b="0" i="0">
                <a:solidFill>
                  <a:srgbClr val="E2E8F0"/>
                </a:solidFill>
              </a:defRPr>
            </a:pPr>
            <a:r>
              <a:rPr sz="1950" b="0" i="0">
                <a:solidFill>
                  <a:srgbClr val="E2E8F0"/>
                </a:solidFill>
              </a:rPr>
              <a:t>• Receita acumulada projetada de R$ 42,4 milhões no patamar estabilizado do recorte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E6EF1-8D99-4F42-A72F-36626440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Documento para investidores | maio/2026</a:t>
            </a:r>
          </a:p>
        </p:txBody>
      </p:sp>
    </p:spTree>
    <p:extLst>
      <p:ext uri="{BB962C8B-B14F-4D97-AF65-F5344CB8AC3E}">
        <p14:creationId xmlns:p14="http://schemas.microsoft.com/office/powerpoint/2010/main" val="10778357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53F228-75A4-4D14-856B-8C965767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0B1324"/>
                </a:solidFill>
              </a:defRPr>
            </a:pPr>
            <a:r>
              <a:rPr sz="3150" b="1" i="0">
                <a:solidFill>
                  <a:srgbClr val="0B1324"/>
                </a:solidFill>
              </a:rPr>
              <a:t>1. Snapshot do investimento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5D059-895B-40B4-A737-2E46302D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6B8D5-48A9-45A2-B2A3-F5A41BC5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8610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75569"/>
                </a:solidFill>
              </a:defRPr>
            </a:pPr>
            <a:r>
              <a:rPr sz="1800" b="0" i="0">
                <a:solidFill>
                  <a:srgbClr val="475569"/>
                </a:solidFill>
              </a:rPr>
              <a:t>O plano combina execução faseada, capital próprio e foco em retorno operacional acelerado.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0CADE-179A-48F9-BFDD-F776A4F4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39814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3A327-E76D-4512-A79C-D1542F70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475569"/>
                </a:solidFill>
              </a:defRPr>
            </a:pPr>
            <a:r>
              <a:rPr sz="1650" b="1" i="0">
                <a:solidFill>
                  <a:srgbClr val="475569"/>
                </a:solidFill>
              </a:rPr>
              <a:t>Payback estimado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4008C-83BF-4BE4-9182-712742C9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B1324"/>
                </a:solidFill>
              </a:defRPr>
            </a:pPr>
            <a:r>
              <a:rPr sz="3000" b="1" i="0">
                <a:solidFill>
                  <a:srgbClr val="0B1324"/>
                </a:solidFill>
              </a:rPr>
              <a:t>até 18 meses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3DDD5-F4A4-4A2D-866D-093CC4C2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57425"/>
            <a:ext cx="39814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2849C-D140-4790-A608-B2AD9768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9555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475569"/>
                </a:solidFill>
              </a:defRPr>
            </a:pPr>
            <a:r>
              <a:rPr sz="1650" b="1" i="0">
                <a:solidFill>
                  <a:srgbClr val="475569"/>
                </a:solidFill>
              </a:rPr>
              <a:t>Aporte planejado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8D200-A8AF-4968-8354-A49F673D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384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B1324"/>
                </a:solidFill>
              </a:defRPr>
            </a:pPr>
            <a:r>
              <a:rPr sz="3000" b="1" i="0">
                <a:solidFill>
                  <a:srgbClr val="0B1324"/>
                </a:solidFill>
              </a:rPr>
              <a:t>R$ 11,0 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1CEFF-FF5B-4538-B99D-25AFAE8E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57425"/>
            <a:ext cx="39814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7957A-6D87-4B5F-8863-BB6F52D7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475569"/>
                </a:solidFill>
              </a:defRPr>
            </a:pPr>
            <a:r>
              <a:rPr sz="1650" b="1" i="0">
                <a:solidFill>
                  <a:srgbClr val="475569"/>
                </a:solidFill>
              </a:rPr>
              <a:t>Início do ramp-up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5DCB9-277F-4921-9EC5-ECD2D5CE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B1324"/>
                </a:solidFill>
              </a:defRPr>
            </a:pPr>
            <a:r>
              <a:rPr sz="3000" b="1" i="0">
                <a:solidFill>
                  <a:srgbClr val="0B1324"/>
                </a:solidFill>
              </a:rPr>
              <a:t>jul/2026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D431E-FE23-4714-8647-DD26DF43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257425"/>
            <a:ext cx="39814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AC6E4-5242-4EF4-ACE2-BFA9BEA1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249555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475569"/>
                </a:solidFill>
              </a:defRPr>
            </a:pPr>
            <a:r>
              <a:rPr sz="1650" b="1" i="0">
                <a:solidFill>
                  <a:srgbClr val="475569"/>
                </a:solidFill>
              </a:rPr>
              <a:t>Capital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0E80B-1E06-40E4-B8F0-D10CC28B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28384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B1324"/>
                </a:solidFill>
              </a:defRPr>
            </a:pPr>
            <a:r>
              <a:rPr sz="3000" b="1" i="0">
                <a:solidFill>
                  <a:srgbClr val="0B1324"/>
                </a:solidFill>
              </a:rPr>
              <a:t>100% próprio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2EAC2-BE76-454B-A200-DFD01E5A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2525"/>
            <a:ext cx="8162925" cy="465772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F5A6C-B6C8-44E4-923E-9AF66432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7639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1324"/>
                </a:solidFill>
              </a:defRPr>
            </a:pPr>
            <a:r>
              <a:rPr sz="2100" b="1" i="0">
                <a:solidFill>
                  <a:srgbClr val="0B1324"/>
                </a:solidFill>
              </a:rPr>
              <a:t>Por que este projeto chama atenção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5C6B1-05CD-4C15-9B9A-1090028A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15000"/>
            <a:ext cx="7639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Atua em uma barreira crítica da eletromobilidade: disponibilidade de recarga.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BBB28-1761-426F-AD0E-663CF008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39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Entrega uma solução integrada: equipamento, implantação, software e serviços.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9EB8E-F467-4788-921D-82FF3FBA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143750"/>
            <a:ext cx="7639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Atende desde grandes contratos até modelos padronizados para PMEs.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74FD0-8590-47FF-BE69-CA3BB723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43800"/>
            <a:ext cx="7639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Preserva upside relevante fora da projeção atual.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E79FA-7AB9-4843-99E5-8903C273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962525"/>
            <a:ext cx="8162925" cy="465772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4E802-827A-445F-BBDB-2DA3979B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38750"/>
            <a:ext cx="7639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1324"/>
                </a:solidFill>
              </a:defRPr>
            </a:pPr>
            <a:r>
              <a:rPr sz="2100" b="1" i="0">
                <a:solidFill>
                  <a:srgbClr val="0B1324"/>
                </a:solidFill>
              </a:rPr>
              <a:t>Premissas estruturantes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29A74-5EC3-42AD-AD81-74480DA2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15000"/>
            <a:ext cx="7639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Execução e investimentos em etapas, disparados pela evolução das vendas.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0CD80-0AD8-43D5-81DF-5B8064B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438900"/>
            <a:ext cx="7639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Modelo considera o investimento consolidado a partir de 07/2026.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A2A6AC-A9AA-492A-9A70-443E5D39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838950"/>
            <a:ext cx="7639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Governança concentrada na liderança executiva para velocidade de decisão.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D29FC2-30BD-4D38-9F10-6A3CB6C6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543800"/>
            <a:ext cx="7639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Prioridade em segurança do capital, operação e visão de longo prazo.</a:t>
            </a:r>
          </a:p>
        </p:txBody>
      </p:sp>
    </p:spTree>
    <p:extLst>
      <p:ext uri="{BB962C8B-B14F-4D97-AF65-F5344CB8AC3E}">
        <p14:creationId xmlns:p14="http://schemas.microsoft.com/office/powerpoint/2010/main" val="12548093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F68CA2-B52D-4512-835A-FF19E8E4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0B1324"/>
                </a:solidFill>
              </a:defRPr>
            </a:pPr>
            <a:r>
              <a:rPr sz="3150" b="1" i="0">
                <a:solidFill>
                  <a:srgbClr val="0B1324"/>
                </a:solidFill>
              </a:rPr>
              <a:t>2. Mercado e segmentos-alvo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9BE72-9DD5-4E7C-A761-D5E8DDBD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DF71E-5D20-483B-8F8B-D9C4D873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11239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75569"/>
                </a:solidFill>
              </a:defRPr>
            </a:pPr>
            <a:r>
              <a:rPr sz="1800" b="0" i="0">
                <a:solidFill>
                  <a:srgbClr val="475569"/>
                </a:solidFill>
              </a:rPr>
              <a:t>A tese comercial foi construída sobre segmentos com necessidade clara de infraestrutura, conveniência e monetização da recarga.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97CD2-F3F0-42E4-A843-A4B43689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5397500" cy="3605213"/>
          </a:xfrm>
          <a:prstGeom xmlns:a="http://schemas.openxmlformats.org/drawingml/2006/main" prst="roundRect">
            <a:avLst>
              <a:gd name="adj" fmla="val 5812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1159D-179E-45D2-82DA-48DC863D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324"/>
                </a:solidFill>
              </a:defRPr>
            </a:pPr>
            <a:r>
              <a:rPr sz="1950" b="1" i="0">
                <a:solidFill>
                  <a:srgbClr val="0B1324"/>
                </a:solidFill>
              </a:rPr>
              <a:t>Rodovias e concessionárias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B3B0F-9CAE-4FB1-9E67-8AEFB07C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75569"/>
                </a:solidFill>
              </a:defRPr>
            </a:pPr>
            <a:r>
              <a:rPr sz="1650" b="0" i="0">
                <a:solidFill>
                  <a:srgbClr val="475569"/>
                </a:solidFill>
              </a:rPr>
              <a:t>Demanda por pontos de recarga rápida em rotas de média e longa distância.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E4E42-8BEA-4C77-B6F0-B3312217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200275"/>
            <a:ext cx="5397500" cy="3605213"/>
          </a:xfrm>
          <a:prstGeom xmlns:a="http://schemas.openxmlformats.org/drawingml/2006/main" prst="roundRect">
            <a:avLst>
              <a:gd name="adj" fmla="val 5812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9376D-D91D-4E70-AAA3-4AE8DA5C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324"/>
                </a:solidFill>
              </a:defRPr>
            </a:pPr>
            <a:r>
              <a:rPr sz="1950" b="1" i="0">
                <a:solidFill>
                  <a:srgbClr val="0B1324"/>
                </a:solidFill>
              </a:rPr>
              <a:t>Postos e eletropostos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4F0D2-FF57-43E5-A511-D5E153D5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75569"/>
                </a:solidFill>
              </a:defRPr>
            </a:pPr>
            <a:r>
              <a:rPr sz="1650" b="0" i="0">
                <a:solidFill>
                  <a:srgbClr val="475569"/>
                </a:solidFill>
              </a:rPr>
              <a:t>Transição estrutural do posto tradicional para operação elétrica e novos empreendedores do segmento.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2CF42-DA83-4E03-966B-F72A3F73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200275"/>
            <a:ext cx="5397500" cy="3605213"/>
          </a:xfrm>
          <a:prstGeom xmlns:a="http://schemas.openxmlformats.org/drawingml/2006/main" prst="roundRect">
            <a:avLst>
              <a:gd name="adj" fmla="val 5812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40027-09DC-49FE-80EB-1684D6F7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384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324"/>
                </a:solidFill>
              </a:defRPr>
            </a:pPr>
            <a:r>
              <a:rPr sz="1950" b="1" i="0">
                <a:solidFill>
                  <a:srgbClr val="0B1324"/>
                </a:solidFill>
              </a:rPr>
              <a:t>PMEs e pontos estratégicos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3B741-55C1-43D4-A714-11CE1D6B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3845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75569"/>
                </a:solidFill>
              </a:defRPr>
            </a:pPr>
            <a:r>
              <a:rPr sz="1650" b="0" i="0">
                <a:solidFill>
                  <a:srgbClr val="475569"/>
                </a:solidFill>
              </a:rPr>
              <a:t>Restaurantes, hotéis, shoppings e centros comerciais usando recarga para atrair fluxo e receita adicional.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BAA9D-335F-4581-8E59-ECB8E234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5038"/>
            <a:ext cx="5397500" cy="3605213"/>
          </a:xfrm>
          <a:prstGeom xmlns:a="http://schemas.openxmlformats.org/drawingml/2006/main" prst="roundRect">
            <a:avLst>
              <a:gd name="adj" fmla="val 5812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14D3D-952D-435A-83E9-E24FB6F1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484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324"/>
                </a:solidFill>
              </a:defRPr>
            </a:pPr>
            <a:r>
              <a:rPr sz="1950" b="1" i="0">
                <a:solidFill>
                  <a:srgbClr val="0B1324"/>
                </a:solidFill>
              </a:rPr>
              <a:t>Imobiliário e incorporadoras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B94A9-081C-4B3E-882B-32F3802A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4845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75569"/>
                </a:solidFill>
              </a:defRPr>
            </a:pPr>
            <a:r>
              <a:rPr sz="1650" b="0" i="0">
                <a:solidFill>
                  <a:srgbClr val="475569"/>
                </a:solidFill>
              </a:rPr>
              <a:t>Infraestrutura de recarga como diferencial de projeto, valorização e preparação regulatória.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E8D46-3D9C-44B6-B2DE-3C466EEA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6015038"/>
            <a:ext cx="5397500" cy="3605213"/>
          </a:xfrm>
          <a:prstGeom xmlns:a="http://schemas.openxmlformats.org/drawingml/2006/main" prst="roundRect">
            <a:avLst>
              <a:gd name="adj" fmla="val 5812"/>
            </a:avLst>
          </a:prstGeom>
          <a:solidFill xmlns:a="http://schemas.openxmlformats.org/drawingml/2006/main">
            <a:srgbClr val="FCE7F3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A404F-D9C3-432C-8DF0-BAD002B8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2484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324"/>
                </a:solidFill>
              </a:defRPr>
            </a:pPr>
            <a:r>
              <a:rPr sz="1950" b="1" i="0">
                <a:solidFill>
                  <a:srgbClr val="0B1324"/>
                </a:solidFill>
              </a:rPr>
              <a:t>Estacionamentos e condomínios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AFE64-AA26-4B66-9A87-3A7E87F9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4845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75569"/>
                </a:solidFill>
              </a:defRPr>
            </a:pPr>
            <a:r>
              <a:rPr sz="1650" b="0" i="0">
                <a:solidFill>
                  <a:srgbClr val="475569"/>
                </a:solidFill>
              </a:rPr>
              <a:t>Nova fonte de receita, diferenciação competitiva e conveniência para permanência prolongada do veículo.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DD618-7158-473F-B373-6C218D56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6015038"/>
            <a:ext cx="5397500" cy="3605213"/>
          </a:xfrm>
          <a:prstGeom xmlns:a="http://schemas.openxmlformats.org/drawingml/2006/main" prst="roundRect">
            <a:avLst>
              <a:gd name="adj" fmla="val 5812"/>
            </a:avLst>
          </a:prstGeom>
          <a:solidFill xmlns:a="http://schemas.openxmlformats.org/drawingml/2006/main">
            <a:srgbClr val="E2E8F0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D4024-2719-4777-BE76-379F7E3D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2484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324"/>
                </a:solidFill>
              </a:defRPr>
            </a:pPr>
            <a:r>
              <a:rPr sz="1950" b="1" i="0">
                <a:solidFill>
                  <a:srgbClr val="0B1324"/>
                </a:solidFill>
              </a:rPr>
              <a:t>Revendedores e instaladores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83CCA-5DFA-43BF-8E27-18F6F49B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64845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75569"/>
                </a:solidFill>
              </a:defRPr>
            </a:pPr>
            <a:r>
              <a:rPr sz="1650" b="0" i="0">
                <a:solidFill>
                  <a:srgbClr val="475569"/>
                </a:solidFill>
              </a:rPr>
              <a:t>Canal de distribuição com capilaridade nacional e suporte comercial/técnico como diferencial.</a:t>
            </a:r>
          </a:p>
        </p:txBody>
      </p:sp>
    </p:spTree>
    <p:extLst>
      <p:ext uri="{BB962C8B-B14F-4D97-AF65-F5344CB8AC3E}">
        <p14:creationId xmlns:p14="http://schemas.microsoft.com/office/powerpoint/2010/main" val="13209337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E05783-8045-481C-9952-2EDC0552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0B1324"/>
                </a:solidFill>
              </a:defRPr>
            </a:pPr>
            <a:r>
              <a:rPr sz="3150" b="1" i="0">
                <a:solidFill>
                  <a:srgbClr val="0B1324"/>
                </a:solidFill>
              </a:rPr>
              <a:t>3. Proposta de valor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37699-1B59-4E58-AFFE-5EB99FB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9B66C-336C-4BCA-AB71-86E6D6C2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10896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75569"/>
                </a:solidFill>
              </a:defRPr>
            </a:pPr>
            <a:r>
              <a:rPr sz="1800" b="0" i="0">
                <a:solidFill>
                  <a:srgbClr val="475569"/>
                </a:solidFill>
              </a:rPr>
              <a:t>A empresa se posiciona como parceira técnica, comercial e operacional para implantação, operação e monetização da recarga elétrica.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E05EE-4851-4A3D-83EF-53BC8BDF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8191500" cy="7362825"/>
          </a:xfrm>
          <a:prstGeom xmlns:a="http://schemas.openxmlformats.org/drawingml/2006/main" prst="roundRect">
            <a:avLst>
              <a:gd name="adj" fmla="val 336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7EF1D-DEB0-4486-8E12-8DD1FD0F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7658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B1324"/>
                </a:solidFill>
              </a:defRPr>
            </a:pPr>
            <a:r>
              <a:rPr sz="2250" b="1" i="0">
                <a:solidFill>
                  <a:srgbClr val="0B1324"/>
                </a:solidFill>
              </a:rPr>
              <a:t>Oferta integrada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1A302-1F28-426C-8C8E-644F71A8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Projeto e viabilidade técnica/comercial/financeira.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0AF94-5FE3-4960-BF79-23B2E27C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Fornecimento de equipamentos e kits completos.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C92A6-C1B2-490D-BB01-5DE9DE3A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Implantação com comissionamento e garantia operacional.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81675-FF58-45F1-9FA9-8E9E99D4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Software de gestão e monitoramento da operação.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48239-0760-411E-86C9-76F6894C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Peças, upgrades e manutenção especializada.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738C9-4752-42D1-BE9C-E4C7FFF1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57425"/>
            <a:ext cx="8191500" cy="7362825"/>
          </a:xfrm>
          <a:prstGeom xmlns:a="http://schemas.openxmlformats.org/drawingml/2006/main" prst="roundRect">
            <a:avLst>
              <a:gd name="adj" fmla="val 336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30FB2-B69B-4A4B-B9DB-6A402E9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7658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B1324"/>
                </a:solidFill>
              </a:defRPr>
            </a:pPr>
            <a:r>
              <a:rPr sz="2250" b="1" i="0">
                <a:solidFill>
                  <a:srgbClr val="0B1324"/>
                </a:solidFill>
              </a:rPr>
              <a:t>Diferenciais percebidos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ACC67-1000-4D3C-ABE7-409B6DCA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7658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Modelo consultivo para projetos complexos e recorrência para base instalada.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4A77F-3529-468D-B59B-73391051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52850"/>
            <a:ext cx="7658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Capacidade de atender grandes volumes e também PMEs com oferta padronizada.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230CD-DD94-4D3D-B72B-C059D75A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Integração entre hardware, software e serviços pós-venda.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C510B-50D2-4A9B-BEC3-414CAA80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577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Menor risco para o cliente e aceleração da decisão de investimento.</a:t>
            </a:r>
          </a:p>
        </p:txBody>
      </p:sp>
    </p:spTree>
    <p:extLst>
      <p:ext uri="{BB962C8B-B14F-4D97-AF65-F5344CB8AC3E}">
        <p14:creationId xmlns:p14="http://schemas.microsoft.com/office/powerpoint/2010/main" val="802357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AE82D7-67CC-44D2-B811-D2EBE799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0B1324"/>
                </a:solidFill>
              </a:defRPr>
            </a:pPr>
            <a:r>
              <a:rPr sz="3150" b="1" i="0">
                <a:solidFill>
                  <a:srgbClr val="0B1324"/>
                </a:solidFill>
              </a:rPr>
              <a:t>4. Portfólio: 6 produtos, mas só 3 entraram na conta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BD70C-C45E-47EB-B6B6-812415EA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EA306-271E-4EC6-9608-11759752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11029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75569"/>
                </a:solidFill>
              </a:defRPr>
            </a:pPr>
            <a:r>
              <a:rPr sz="1800" b="0" i="0">
                <a:solidFill>
                  <a:srgbClr val="475569"/>
                </a:solidFill>
              </a:rPr>
              <a:t>Este é o principal ponto para investidores: a modelagem financeira atual reflete apenas metade do portfólio concebido.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4223D-C640-4F05-AB82-8EE5DD5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733806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35E82-5863-42F9-BE37-64A862E7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503DF-4B69-42D3-9241-EC0530F1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2200275"/>
            <a:ext cx="489204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146C5-88B7-417E-B1CA-6B51A2B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455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Status atual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69D48-A6E9-47C7-8E41-E5AE43D7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2200275"/>
            <a:ext cx="40767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4245B-19CD-46AD-8C16-553F3D32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343150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Modelagem financeira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73837-90B7-482A-AC16-FF5EF832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733806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60D51-D3B0-49DE-948E-70F772DC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Estudo de viabilidade / assessoria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17019-7AE3-4E49-8A4D-66B068B3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2924175"/>
            <a:ext cx="489204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1449E-704D-43A6-BAB0-D302249F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455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Portfólio definido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922EB-E53F-454C-B59B-244921F3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2924175"/>
            <a:ext cx="40767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96341-F350-4D7D-8663-CD1AB4EE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3067050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9E0B"/>
                </a:solidFill>
              </a:defRPr>
            </a:pPr>
            <a:r>
              <a:rPr sz="1650" b="1" i="0">
                <a:solidFill>
                  <a:srgbClr val="F59E0B"/>
                </a:solidFill>
              </a:rPr>
              <a:t>Não modelado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F71BB-6408-4687-81EA-74B55E0E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733806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58490-776E-448A-BF70-7D3D5476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Kit / equipamento principal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994DD-9862-4F4E-B37B-E2C2FA08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3648075"/>
            <a:ext cx="489204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87D25-20F9-4E21-8A35-E940B6F0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90950"/>
            <a:ext cx="455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72A"/>
                </a:solidFill>
              </a:defRPr>
            </a:pPr>
            <a:r>
              <a:rPr sz="1650" b="1" i="0">
                <a:solidFill>
                  <a:srgbClr val="0F172A"/>
                </a:solidFill>
              </a:rPr>
              <a:t>Modelado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DED46-FD7B-4D19-8233-F039A64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648075"/>
            <a:ext cx="40767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3D346-722F-4E86-87B7-6A188A39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3790950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B981"/>
                </a:solidFill>
              </a:defRPr>
            </a:pPr>
            <a:r>
              <a:rPr sz="1650" b="1" i="0">
                <a:solidFill>
                  <a:srgbClr val="10B981"/>
                </a:solidFill>
              </a:rPr>
              <a:t>Sim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2A8CB-3C3F-438D-A62C-CC8B99F6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733806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4B599-7D6B-49FE-8600-AE45884E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Implantação / instalação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74959-326E-4EC1-A689-F19DC70B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4371975"/>
            <a:ext cx="489204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3A5A8-E933-4C56-BC9F-B78C9EA7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455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72A"/>
                </a:solidFill>
              </a:defRPr>
            </a:pPr>
            <a:r>
              <a:rPr sz="1650" b="1" i="0">
                <a:solidFill>
                  <a:srgbClr val="0F172A"/>
                </a:solidFill>
              </a:rPr>
              <a:t>Modelado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9CEC1-AB23-4A3A-8CA0-C6B93740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371975"/>
            <a:ext cx="40767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E57F76-B69B-4AEE-8DAA-A5AD54C8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514850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B981"/>
                </a:solidFill>
              </a:defRPr>
            </a:pPr>
            <a:r>
              <a:rPr sz="1650" b="1" i="0">
                <a:solidFill>
                  <a:srgbClr val="10B981"/>
                </a:solidFill>
              </a:rPr>
              <a:t>Sim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846137-39B8-4B6A-8262-2C3CB4E5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733806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D70DA-2C94-4B2C-A770-7E38BD49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3875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Software de gestão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BF112A-4DF1-4BDB-AABD-92B4CD2E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5095875"/>
            <a:ext cx="489204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E86211-86C7-48DB-B50C-2773F31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38750"/>
            <a:ext cx="455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72A"/>
                </a:solidFill>
              </a:defRPr>
            </a:pPr>
            <a:r>
              <a:rPr sz="1650" b="1" i="0">
                <a:solidFill>
                  <a:srgbClr val="0F172A"/>
                </a:solidFill>
              </a:rPr>
              <a:t>Modelado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6BD6E9-1BB8-4965-BDA2-06FB047C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5095875"/>
            <a:ext cx="40767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001606-E386-48D5-A9B4-AA7162EE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5238750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B981"/>
                </a:solidFill>
              </a:defRPr>
            </a:pPr>
            <a:r>
              <a:rPr sz="1650" b="1" i="0">
                <a:solidFill>
                  <a:srgbClr val="10B981"/>
                </a:solidFill>
              </a:rPr>
              <a:t>Sim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9B680D-A627-4658-9784-2B0EE374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733806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169170-0516-4CA7-B8D8-0AC258EA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6265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Peças e upgrades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C508E-E046-4343-A5FC-184D1273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5819775"/>
            <a:ext cx="489204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64499B-087C-4118-9B8A-48EF0A4D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962650"/>
            <a:ext cx="455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A desenvolver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11AF8B-42B3-411F-9349-6FFB6B28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5819775"/>
            <a:ext cx="40767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5C9900-4E42-48F7-9C10-CB467DED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5962650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9E0B"/>
                </a:solidFill>
              </a:defRPr>
            </a:pPr>
            <a:r>
              <a:rPr sz="1650" b="1" i="0">
                <a:solidFill>
                  <a:srgbClr val="F59E0B"/>
                </a:solidFill>
              </a:rPr>
              <a:t>Não modelado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BAA423-A224-4356-8BB0-3A05B352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43675"/>
            <a:ext cx="733806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8CCCFB-DA24-4801-A61D-EF3CAF79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8655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Manutenção especializada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14005B-875D-40BF-98F4-CD8F5B9B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60" y="6543675"/>
            <a:ext cx="489204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47ED1C-369D-4E26-A6FB-D2A910FA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686550"/>
            <a:ext cx="455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A desenvolver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392FC9-67B8-4F97-BD49-661D7C1C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6543675"/>
            <a:ext cx="40767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091137-E241-4B5D-AF3B-0FDB88AA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686550"/>
            <a:ext cx="373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9E0B"/>
                </a:solidFill>
              </a:defRPr>
            </a:pPr>
            <a:r>
              <a:rPr sz="1650" b="1" i="0">
                <a:solidFill>
                  <a:srgbClr val="F59E0B"/>
                </a:solidFill>
              </a:rPr>
              <a:t>Não modelado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DBFB61-95A4-4AAD-8263-CB62F397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19975"/>
            <a:ext cx="16611600" cy="1013460"/>
          </a:xfrm>
          <a:prstGeom xmlns:a="http://schemas.openxmlformats.org/drawingml/2006/main" prst="roundRect">
            <a:avLst>
              <a:gd name="adj" fmla="val 20677"/>
            </a:avLst>
          </a:prstGeom>
          <a:solidFill xmlns:a="http://schemas.openxmlformats.org/drawingml/2006/main">
            <a:srgbClr val="ECFDF5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92345D-9F33-41B6-8A3E-990D5511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39050"/>
            <a:ext cx="1619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65F46"/>
                </a:solidFill>
              </a:defRPr>
            </a:pPr>
            <a:r>
              <a:rPr sz="1950" b="1" i="0">
                <a:solidFill>
                  <a:srgbClr val="065F46"/>
                </a:solidFill>
              </a:rPr>
              <a:t>Leitura de board: o resultado projetado é conservador. A monetização futura de assessoria, peças/upgrades e manutenção tende a elevar receita, margem, recorrência e lifetime value.</a:t>
            </a:r>
          </a:p>
        </p:txBody>
      </p:sp>
    </p:spTree>
    <p:extLst>
      <p:ext uri="{BB962C8B-B14F-4D97-AF65-F5344CB8AC3E}">
        <p14:creationId xmlns:p14="http://schemas.microsoft.com/office/powerpoint/2010/main" val="6340551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DFE2D9-36F4-4AE1-963C-856B5BE3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8343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0B1324"/>
                </a:solidFill>
              </a:defRPr>
            </a:pPr>
            <a:r>
              <a:rPr sz="3150" b="1" i="0">
                <a:solidFill>
                  <a:srgbClr val="0B1324"/>
                </a:solidFill>
              </a:rPr>
              <a:t>5. Economia dos 3 produtos modelados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A8AEB-6F57-44B4-8475-B369B848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DE15B-B15B-40D5-BDA7-DEB537FC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7829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75569"/>
                </a:solidFill>
              </a:defRPr>
            </a:pPr>
            <a:r>
              <a:rPr sz="1800" b="0" i="0">
                <a:solidFill>
                  <a:srgbClr val="475569"/>
                </a:solidFill>
              </a:rPr>
              <a:t>Os itens já precificados mostram boa margem e formam a base da viabilidade inicial.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643C8-E124-48F7-8C56-9E38D5C9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66750"/>
            <a:ext cx="80010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3F145-49BC-4F0B-B26D-9AEA98C1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6905"/>
            <a:ext cx="8335899" cy="7713345"/>
          </a:xfrm>
          <a:prstGeom xmlns:a="http://schemas.openxmlformats.org/drawingml/2006/main" prst="roundRect">
            <a:avLst>
              <a:gd name="adj" fmla="val 296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81266-0BCC-41DE-8910-169FE512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781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1324"/>
                </a:solidFill>
              </a:defRPr>
            </a:pPr>
            <a:r>
              <a:rPr sz="2100" b="1" i="0">
                <a:solidFill>
                  <a:srgbClr val="0B1324"/>
                </a:solidFill>
              </a:rPr>
              <a:t>Indicadores principais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3CC2E-473B-45CE-AB5C-EC77678B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569"/>
                </a:solidFill>
              </a:defRPr>
            </a:pPr>
            <a:r>
              <a:rPr sz="1875" b="0" i="0">
                <a:solidFill>
                  <a:srgbClr val="475569"/>
                </a:solidFill>
              </a:rPr>
              <a:t>• Kit / equipamento principal: preço de venda de R$ 80 mil e margem estimada de 33,4%.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43995-A5CB-43EC-9045-BEFC2DA5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569"/>
                </a:solidFill>
              </a:defRPr>
            </a:pPr>
            <a:r>
              <a:rPr sz="1875" b="0" i="0">
                <a:solidFill>
                  <a:srgbClr val="475569"/>
                </a:solidFill>
              </a:rPr>
              <a:t>• Implantação / instalação: ticket de R$ 40 mil e margem estimada de 35,3%.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32ED9-846D-4EFA-8202-03B2FFDF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569"/>
                </a:solidFill>
              </a:defRPr>
            </a:pPr>
            <a:r>
              <a:rPr sz="1875" b="0" i="0">
                <a:solidFill>
                  <a:srgbClr val="475569"/>
                </a:solidFill>
              </a:rPr>
              <a:t>• Software de gestão: mensalidade média de R$ 1,6 mil por wallbox e margem estimada de 70,0%.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D4994-4B55-4A49-AE35-28277DC3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569"/>
                </a:solidFill>
              </a:defRPr>
            </a:pPr>
            <a:r>
              <a:rPr sz="1875" b="0" i="0">
                <a:solidFill>
                  <a:srgbClr val="475569"/>
                </a:solidFill>
              </a:rPr>
              <a:t>• Modelo combina receita transacional com receita recorrente de software.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47AA5-C335-46E4-8202-3C0E9918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3945"/>
            <a:ext cx="7802499" cy="61722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62A49-716E-47E3-929C-15E39705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67300"/>
            <a:ext cx="746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C4A6E"/>
                </a:solidFill>
              </a:defRPr>
            </a:pPr>
            <a:r>
              <a:rPr sz="1800" b="1" i="0">
                <a:solidFill>
                  <a:srgbClr val="0C4A6E"/>
                </a:solidFill>
              </a:rPr>
              <a:t>Upside: peças, upgrades e manutenção ainda não entraram nesta equação.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079D6-405B-4E8F-9397-EF77C91A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799" y="1906905"/>
            <a:ext cx="8009001" cy="7713345"/>
          </a:xfrm>
          <a:prstGeom xmlns:a="http://schemas.openxmlformats.org/drawingml/2006/main" prst="roundRect">
            <a:avLst>
              <a:gd name="adj" fmla="val 2964"/>
            </a:avLst>
          </a:prstGeom>
          <a:solidFill xmlns:a="http://schemas.openxmlformats.org/drawingml/2006/main">
            <a:srgbClr val="F8FAFC"/>
          </a:solidFill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9650349" y="2116455"/>
          <a:ext xmlns:a="http://schemas.openxmlformats.org/drawingml/2006/main" cx="7589901" cy="729424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f0ddfb9c68470e"/>
          </a:graphicData>
        </a:graphic>
      </p:graphicFrame>
    </p:spTree>
    <p:extLst>
      <p:ext uri="{BB962C8B-B14F-4D97-AF65-F5344CB8AC3E}">
        <p14:creationId xmlns:p14="http://schemas.microsoft.com/office/powerpoint/2010/main" val="7792100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47F316-44CB-4435-9A2F-20969CE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0B1324"/>
                </a:solidFill>
              </a:defRPr>
            </a:pPr>
            <a:r>
              <a:rPr sz="3150" b="1" i="0">
                <a:solidFill>
                  <a:srgbClr val="0B1324"/>
                </a:solidFill>
              </a:rPr>
              <a:t>6. Plano de capital e implantação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C7C32-7B77-43D7-A7DC-4C064E89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44B4C-321A-4C78-A8DA-701DA025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10706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75569"/>
                </a:solidFill>
              </a:defRPr>
            </a:pPr>
            <a:r>
              <a:rPr sz="1800" b="0" i="0">
                <a:solidFill>
                  <a:srgbClr val="475569"/>
                </a:solidFill>
              </a:rPr>
              <a:t>O estudo prevê estruturação operacional com colchão de capital de giro, estoque inicial e montagem da capacidade comercial/técnica.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98FC6-CCED-4C69-A97A-2C50B479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53848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2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6D2F4-692A-48B6-BEAC-CCBEE330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475569"/>
                </a:solidFill>
              </a:defRPr>
            </a:pPr>
            <a:r>
              <a:rPr sz="1650" b="1" i="0">
                <a:solidFill>
                  <a:srgbClr val="475569"/>
                </a:solidFill>
              </a:rPr>
              <a:t>Capital de giro previsto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C43F6-3F66-4E88-8D85-22D88AA4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4857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B1324"/>
                </a:solidFill>
              </a:defRPr>
            </a:pPr>
            <a:r>
              <a:rPr sz="3000" b="1" i="0">
                <a:solidFill>
                  <a:srgbClr val="0B1324"/>
                </a:solidFill>
              </a:rPr>
              <a:t>R$ 1,5 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32C0B-0AA8-407E-AB7D-5FB39206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219325"/>
            <a:ext cx="53848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CFE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1B30B-EE93-4F8D-A45D-2BEF0550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475569"/>
                </a:solidFill>
              </a:defRPr>
            </a:pPr>
            <a:r>
              <a:rPr sz="1650" b="1" i="0">
                <a:solidFill>
                  <a:srgbClr val="475569"/>
                </a:solidFill>
              </a:rPr>
              <a:t>Aporte total planejado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38D33-7906-4302-B0E2-718519FB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4857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B1324"/>
                </a:solidFill>
              </a:defRPr>
            </a:pPr>
            <a:r>
              <a:rPr sz="3000" b="1" i="0">
                <a:solidFill>
                  <a:srgbClr val="0B1324"/>
                </a:solidFill>
              </a:rPr>
              <a:t>R$ 11,0 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ED408-CF2B-47E7-A0EE-6FEF208C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219325"/>
            <a:ext cx="53848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2F2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6D8EF-D889-41E4-A01C-27129AE2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45745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475569"/>
                </a:solidFill>
              </a:defRPr>
            </a:pPr>
            <a:r>
              <a:rPr sz="1650" b="1" i="0">
                <a:solidFill>
                  <a:srgbClr val="475569"/>
                </a:solidFill>
              </a:rPr>
              <a:t>Início considerado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15AE4-D3F8-4E3D-B11D-592947FC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800350"/>
            <a:ext cx="4857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B1324"/>
                </a:solidFill>
              </a:defRPr>
            </a:pPr>
            <a:r>
              <a:rPr sz="3000" b="1" i="0">
                <a:solidFill>
                  <a:srgbClr val="0B1324"/>
                </a:solidFill>
              </a:rPr>
              <a:t>jul/2026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57B87-0113-4EB1-A6F7-404D88FE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8181975" cy="4733925"/>
          </a:xfrm>
          <a:prstGeom xmlns:a="http://schemas.openxmlformats.org/drawingml/2006/main" prst="roundRect">
            <a:avLst>
              <a:gd name="adj" fmla="val 482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88EA3-6838-4018-9CFD-F163BAEA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1324"/>
                </a:solidFill>
              </a:defRPr>
            </a:pPr>
            <a:r>
              <a:rPr sz="2100" b="1" i="0">
                <a:solidFill>
                  <a:srgbClr val="0B1324"/>
                </a:solidFill>
              </a:rPr>
              <a:t>Alocação estratégica do capital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9DE68-2D9D-4AFE-ADB8-AE79D17F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Formação de estoque inicial e estrutura de fornecimento.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8CC6D-366D-4425-BB8D-86054274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388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Cobertura de 6 meses de custos e despesas fixas.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F5BF7-7007-48D8-B067-0396FDD7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579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Montagem da estrutura comercial, operacional e de tecnologia.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465BC-2906-4716-974C-9059F3C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Execução modular conforme evolução da demanda.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C9E79-25AC-42D3-A08A-B3B08F5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86325"/>
            <a:ext cx="8181975" cy="4733925"/>
          </a:xfrm>
          <a:prstGeom xmlns:a="http://schemas.openxmlformats.org/drawingml/2006/main" prst="roundRect">
            <a:avLst>
              <a:gd name="adj" fmla="val 482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E5A8A-3215-4935-849C-2E471DD1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6255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1324"/>
                </a:solidFill>
              </a:defRPr>
            </a:pPr>
            <a:r>
              <a:rPr sz="2100" b="1" i="0">
                <a:solidFill>
                  <a:srgbClr val="0B1324"/>
                </a:solidFill>
              </a:rPr>
              <a:t>Leitura para investidores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5CE85-4F8D-4B13-A3E9-B6DD95F6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197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O plano reduz dependência de capital de terceiros na largada.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82655-8CAC-44A2-B0CA-47FDC3CC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388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A operação nasce com margem para ativar vendas e absorver ramp-up.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ADBAC-3B61-46A6-9517-F274E8DF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457950"/>
            <a:ext cx="7658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A recorrência de software tende a suavizar o perfil de caixa ao longo do tempo.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0E7A9-7FF9-4712-9AB0-D577EB09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71628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A maturação dos 3 produtos não modelados melhora o retorno potencial.</a:t>
            </a:r>
          </a:p>
        </p:txBody>
      </p:sp>
    </p:spTree>
    <p:extLst>
      <p:ext uri="{BB962C8B-B14F-4D97-AF65-F5344CB8AC3E}">
        <p14:creationId xmlns:p14="http://schemas.microsoft.com/office/powerpoint/2010/main" val="8359435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037E1-33CA-488C-BD82-7FE4BF77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0B1324"/>
                </a:solidFill>
              </a:defRPr>
            </a:pPr>
            <a:r>
              <a:rPr sz="3150" b="1" i="0">
                <a:solidFill>
                  <a:srgbClr val="0B1324"/>
                </a:solidFill>
              </a:rPr>
              <a:t>7. Projeção financeira resumida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780BD-A29F-4124-B18F-197AE13B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D89FC-4F02-4D39-B1D5-A9CFCFD6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11029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75569"/>
                </a:solidFill>
              </a:defRPr>
            </a:pPr>
            <a:r>
              <a:rPr sz="1800" b="0" i="0">
                <a:solidFill>
                  <a:srgbClr val="475569"/>
                </a:solidFill>
              </a:rPr>
              <a:t>A leitura do relatório mostra avanço rápido de receita e formação de resultado operacional relevante ainda no primeiro ciclo de implantação.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BE989-003A-4A2F-B4B5-547CB923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53848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E8DC4-5458-40BC-9DB6-9CC4DCC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475569"/>
                </a:solidFill>
              </a:defRPr>
            </a:pPr>
            <a:r>
              <a:rPr sz="1650" b="1" i="0">
                <a:solidFill>
                  <a:srgbClr val="475569"/>
                </a:solidFill>
              </a:rPr>
              <a:t>Receita acumulada projetada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4299D-BDB4-4B33-B95B-070B298A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4857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B1324"/>
                </a:solidFill>
              </a:defRPr>
            </a:pPr>
            <a:r>
              <a:rPr sz="3000" b="1" i="0">
                <a:solidFill>
                  <a:srgbClr val="0B1324"/>
                </a:solidFill>
              </a:rPr>
              <a:t>R$ 39,04 mi em fev/2027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E8097-4D38-45A2-A68B-E9015A25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219325"/>
            <a:ext cx="53848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96D42-A0D6-4EF3-A9D5-228815AC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475569"/>
                </a:solidFill>
              </a:defRPr>
            </a:pPr>
            <a:r>
              <a:rPr sz="1650" b="1" i="0">
                <a:solidFill>
                  <a:srgbClr val="475569"/>
                </a:solidFill>
              </a:rPr>
              <a:t>Receita no patamar estabilizado do recorte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42C07-2F5F-4074-A7F9-9435FDFF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4857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B1324"/>
                </a:solidFill>
              </a:defRPr>
            </a:pPr>
            <a:r>
              <a:rPr sz="3000" b="1" i="0">
                <a:solidFill>
                  <a:srgbClr val="0B1324"/>
                </a:solidFill>
              </a:rPr>
              <a:t>R$ 42,40 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88E2C-24B2-4C47-8319-DF923511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219325"/>
            <a:ext cx="53848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83835-45EF-4813-9773-E11FFA30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45745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475569"/>
                </a:solidFill>
              </a:defRPr>
            </a:pPr>
            <a:r>
              <a:rPr sz="1650" b="1" i="0">
                <a:solidFill>
                  <a:srgbClr val="475569"/>
                </a:solidFill>
              </a:rPr>
              <a:t>Resultado operacional acumulado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3B11C-F35D-4ACD-ACC3-D76BEB02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800350"/>
            <a:ext cx="4857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B1324"/>
                </a:solidFill>
              </a:defRPr>
            </a:pPr>
            <a:r>
              <a:rPr sz="3000" b="1" i="0">
                <a:solidFill>
                  <a:srgbClr val="0B1324"/>
                </a:solidFill>
              </a:rPr>
              <a:t>R$ 14,14 mi em fev/2027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997B4-AB88-4638-A458-3D5331AB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8181975" cy="4733925"/>
          </a:xfrm>
          <a:prstGeom xmlns:a="http://schemas.openxmlformats.org/drawingml/2006/main" prst="roundRect">
            <a:avLst>
              <a:gd name="adj" fmla="val 482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F7D3B-2BAE-428B-8CC1-153654CA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1324"/>
                </a:solidFill>
              </a:defRPr>
            </a:pPr>
            <a:r>
              <a:rPr sz="2100" b="1" i="0">
                <a:solidFill>
                  <a:srgbClr val="0B1324"/>
                </a:solidFill>
              </a:rPr>
              <a:t>Leituras-chave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0B1C1-F5CC-46CE-BDA3-55561D4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7658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O relatório indica aceleração importante da receita já nos primeiros meses do ramp-up.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5612C-FA4A-409F-A1BB-9A9A9266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343650"/>
            <a:ext cx="7658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O resultado operacional acumulado chega a aproximadamente R$ 16,49 milhões no patamar estabilizado do recorte exibido.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2D869-4E32-4457-A43D-D17DD0D3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48500"/>
            <a:ext cx="7658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A geração projetada foi construída sem capturar integralmente o potencial do portfólio.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62E28-4E95-4933-ABEB-38715591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86325"/>
            <a:ext cx="8181975" cy="4733925"/>
          </a:xfrm>
          <a:prstGeom xmlns:a="http://schemas.openxmlformats.org/drawingml/2006/main" prst="roundRect">
            <a:avLst>
              <a:gd name="adj" fmla="val 482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615A9-0EE8-487C-83DA-668CB8F0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6255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1324"/>
                </a:solidFill>
              </a:defRPr>
            </a:pPr>
            <a:r>
              <a:rPr sz="2100" b="1" i="0">
                <a:solidFill>
                  <a:srgbClr val="0B1324"/>
                </a:solidFill>
              </a:rPr>
              <a:t>O que isso significa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BC672-2724-4D4A-A643-2B0D8EB6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197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A modelagem atual já sustenta a tese de viabilidade econômica.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F3B88-6A10-4008-9BEC-F80322D7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38850"/>
            <a:ext cx="7658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O negócio tem espaço para aumentar recorrência e margem com serviços adicionais.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1E1025-E8CD-4DF6-9D57-CF976AE3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743700"/>
            <a:ext cx="7658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75569"/>
                </a:solidFill>
              </a:defRPr>
            </a:pPr>
            <a:r>
              <a:rPr sz="1950" b="0" i="0">
                <a:solidFill>
                  <a:srgbClr val="475569"/>
                </a:solidFill>
              </a:rPr>
              <a:t>• O upside para investidores está mais associado à execução e ativação do portfólio completo do que à revisão da tese central.</a:t>
            </a:r>
          </a:p>
        </p:txBody>
      </p:sp>
    </p:spTree>
    <p:extLst>
      <p:ext uri="{BB962C8B-B14F-4D97-AF65-F5344CB8AC3E}">
        <p14:creationId xmlns:p14="http://schemas.microsoft.com/office/powerpoint/2010/main" val="19647674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6F9D7F-C0F6-413A-9DDF-5386A514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CB5BA-8D76-471E-A089-F20E37DD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7250"/>
            <a:ext cx="1638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B8A6"/>
                </a:solidFill>
              </a:defRPr>
            </a:pPr>
            <a:r>
              <a:rPr sz="1800" b="1" i="0">
                <a:solidFill>
                  <a:srgbClr val="14B8A6"/>
                </a:solidFill>
              </a:rPr>
              <a:t>Tese final para investidores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B6AB0-6E94-4099-AA44-FA509856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90650"/>
            <a:ext cx="124396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 i="0">
                <a:solidFill>
                  <a:srgbClr val="FFFFFF"/>
                </a:solidFill>
              </a:defRPr>
            </a:pPr>
            <a:r>
              <a:rPr sz="4500" b="1" i="0">
                <a:solidFill>
                  <a:srgbClr val="FFFFFF"/>
                </a:solidFill>
              </a:rPr>
              <a:t>O negócio já mostra viabilidade com 3 produtos modelados e guarda upside material na ativação dos outros 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C04BD-2F2F-4B73-98FB-C82933E3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2370"/>
            <a:ext cx="13606462" cy="1181100"/>
          </a:xfrm>
          <a:prstGeom xmlns:a="http://schemas.openxmlformats.org/drawingml/2006/main" prst="roundRect">
            <a:avLst>
              <a:gd name="adj" fmla="val 20968"/>
            </a:avLst>
          </a:prstGeom>
          <a:solidFill xmlns:a="http://schemas.openxmlformats.org/drawingml/2006/main">
            <a:srgbClr val="1B2C4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8ED59-7D27-41BB-85BD-10A3C8EC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13030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E2E8F0"/>
                </a:solidFill>
              </a:defRPr>
            </a:pPr>
            <a:r>
              <a:rPr sz="2250" b="0" i="0">
                <a:solidFill>
                  <a:srgbClr val="E2E8F0"/>
                </a:solidFill>
              </a:rPr>
              <a:t>Em outras palavras: a projeção atual não representa o teto do projeto; ela representa uma base conservadora de entrada em um mercado com expansão estrutural e múltiplas avenidas de monetização.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9AD1E-CE87-41BF-8528-4683311B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70170"/>
            <a:ext cx="3429000" cy="64008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B9B8F-5A3B-4DE9-8A18-8526B94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Mercado em formação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D70D6-135C-41B3-B627-932988FA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70170"/>
            <a:ext cx="4000500" cy="64008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405E4-7C7B-4FAE-A639-009D559D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334000"/>
            <a:ext cx="365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Modelo integrado e escalável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5E083-83BA-4FC5-88B5-98349910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70170"/>
            <a:ext cx="4953000" cy="64008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0DDA9-3DBE-414B-8B83-7E68A7A8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340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Upside fora da modelagem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10303-4F4C-4A42-8027-27ADE2DC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76950"/>
            <a:ext cx="1638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4A3B8"/>
                </a:solidFill>
              </a:defRPr>
            </a:pPr>
            <a:r>
              <a:rPr sz="1350" b="0" i="0">
                <a:solidFill>
                  <a:srgbClr val="94A3B8"/>
                </a:solidFill>
              </a:rPr>
              <a:t>Base: relatório detalhado de implantação | Elaboração executiva para pit de investimento</a:t>
            </a:r>
          </a:p>
        </p:txBody>
      </p:sp>
    </p:spTree>
    <p:extLst>
      <p:ext uri="{BB962C8B-B14F-4D97-AF65-F5344CB8AC3E}">
        <p14:creationId xmlns:p14="http://schemas.microsoft.com/office/powerpoint/2010/main" val="866350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2026-05-07T22:49:25.8490000Z</dcterms:created>
  <dcterms:modified xsi:type="dcterms:W3CDTF">2026-05-07T22:49:25.8490000Z</dcterms:modified>
</coreProperties>
</file>