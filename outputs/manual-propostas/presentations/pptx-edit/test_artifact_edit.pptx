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81dafcada7416f" /><Relationship Type="http://schemas.openxmlformats.org/officeDocument/2006/relationships/extended-properties" Target="/docProps/app.xml" Id="Re5cb7e5e6a704f3e" /><Relationship Type="http://schemas.openxmlformats.org/officeDocument/2006/relationships/officeDocument" Target="/ppt/presentation.xml" Id="R669b29f013b2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4279970a8f4338"/>
  </p:sldMasterIdLst>
  <p:notesMasterIdLst>
    <p:notesMasterId xmlns:r="http://schemas.openxmlformats.org/officeDocument/2006/relationships" r:id="Rd847aa67d6684b89"/>
  </p:notesMasterIdLst>
  <p:sldIdLst>
    <p:sldId xmlns:r="http://schemas.openxmlformats.org/officeDocument/2006/relationships" id="256" r:id="R06e237de432e46da"/>
    <p:sldId xmlns:r="http://schemas.openxmlformats.org/officeDocument/2006/relationships" id="257" r:id="Rf043b94d28c3430a"/>
    <p:sldId xmlns:r="http://schemas.openxmlformats.org/officeDocument/2006/relationships" id="258" r:id="Rc34d6a0977b6415d"/>
    <p:sldId xmlns:r="http://schemas.openxmlformats.org/officeDocument/2006/relationships" id="259" r:id="R25e0939d4d2a46e2"/>
    <p:sldId xmlns:r="http://schemas.openxmlformats.org/officeDocument/2006/relationships" id="260" r:id="R7ab5d96e5e834cd0"/>
    <p:sldId xmlns:r="http://schemas.openxmlformats.org/officeDocument/2006/relationships" id="261" r:id="Rd2c6baabff814b66"/>
    <p:sldId xmlns:r="http://schemas.openxmlformats.org/officeDocument/2006/relationships" id="262" r:id="Rab5b478dd7564a19"/>
    <p:sldId xmlns:r="http://schemas.openxmlformats.org/officeDocument/2006/relationships" id="263" r:id="R1c26099a7db148ca"/>
    <p:sldId xmlns:r="http://schemas.openxmlformats.org/officeDocument/2006/relationships" id="264" r:id="Red9e213dcbe64f9f"/>
    <p:sldId xmlns:r="http://schemas.openxmlformats.org/officeDocument/2006/relationships" id="265" r:id="Rb726c824b35d4c9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279970a8f4338" /><Relationship Type="http://schemas.openxmlformats.org/officeDocument/2006/relationships/theme" Target="/ppt/theme/theme1.xml" Id="R4aa0b26b17004e49" /><Relationship Type="http://schemas.openxmlformats.org/officeDocument/2006/relationships/notesMaster" Target="/ppt/notesMasters/notesMaster1.xml" Id="Rd847aa67d6684b89" /><Relationship Type="http://schemas.openxmlformats.org/officeDocument/2006/relationships/presProps" Target="/ppt/presProps.xml" Id="R8f99738286024d1d" /><Relationship Type="http://schemas.openxmlformats.org/officeDocument/2006/relationships/viewProps" Target="/ppt/viewProps.xml" Id="R1c6f381997504346" /><Relationship Type="http://schemas.openxmlformats.org/officeDocument/2006/relationships/tableStyles" Target="/ppt/tableStyles.xml" Id="R51da7b473d444c33" /><Relationship Type="http://schemas.openxmlformats.org/officeDocument/2006/relationships/slide" Target="/ppt/slides/slide1.xml" Id="R06e237de432e46da" /><Relationship Type="http://schemas.openxmlformats.org/officeDocument/2006/relationships/slide" Target="/ppt/slides/slide2.xml" Id="Rf043b94d28c3430a" /><Relationship Type="http://schemas.openxmlformats.org/officeDocument/2006/relationships/slide" Target="/ppt/slides/slide3.xml" Id="Rc34d6a0977b6415d" /><Relationship Type="http://schemas.openxmlformats.org/officeDocument/2006/relationships/slide" Target="/ppt/slides/slide4.xml" Id="R25e0939d4d2a46e2" /><Relationship Type="http://schemas.openxmlformats.org/officeDocument/2006/relationships/slide" Target="/ppt/slides/slide5.xml" Id="R7ab5d96e5e834cd0" /><Relationship Type="http://schemas.openxmlformats.org/officeDocument/2006/relationships/slide" Target="/ppt/slides/slide6.xml" Id="Rd2c6baabff814b66" /><Relationship Type="http://schemas.openxmlformats.org/officeDocument/2006/relationships/slide" Target="/ppt/slides/slide7.xml" Id="Rab5b478dd7564a19" /><Relationship Type="http://schemas.openxmlformats.org/officeDocument/2006/relationships/slide" Target="/ppt/slides/slide8.xml" Id="R1c26099a7db148ca" /><Relationship Type="http://schemas.openxmlformats.org/officeDocument/2006/relationships/slide" Target="/ppt/slides/slide9.xml" Id="Red9e213dcbe64f9f" /><Relationship Type="http://schemas.openxmlformats.org/officeDocument/2006/relationships/slide" Target="/ppt/slides/slide10.xml" Id="Rb726c824b35d4c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fd05c1f33ed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80dd7d58cf468a" /><Relationship Type="http://schemas.openxmlformats.org/officeDocument/2006/relationships/notesMaster" Target="/ppt/notesMasters/notesMaster1.xml" Id="R5ab8256e311c42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2e0dbcfb14143" /><Relationship Type="http://schemas.openxmlformats.org/officeDocument/2006/relationships/notesMaster" Target="/ppt/notesMasters/notesMaster1.xml" Id="Re23f0b7726f542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fceb3640374c5e" /><Relationship Type="http://schemas.openxmlformats.org/officeDocument/2006/relationships/notesMaster" Target="/ppt/notesMasters/notesMaster1.xml" Id="R79faac00fcc2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0563793db44f4c" /><Relationship Type="http://schemas.openxmlformats.org/officeDocument/2006/relationships/notesMaster" Target="/ppt/notesMasters/notesMaster1.xml" Id="R14e1402f182e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1963b31864cf4" /><Relationship Type="http://schemas.openxmlformats.org/officeDocument/2006/relationships/notesMaster" Target="/ppt/notesMasters/notesMaster1.xml" Id="Rda0462448ba34c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618b38aa0e47dd" /><Relationship Type="http://schemas.openxmlformats.org/officeDocument/2006/relationships/notesMaster" Target="/ppt/notesMasters/notesMaster1.xml" Id="R9137eb6cd88342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8be942345644d5" /><Relationship Type="http://schemas.openxmlformats.org/officeDocument/2006/relationships/notesMaster" Target="/ppt/notesMasters/notesMaster1.xml" Id="Rd622306f2f4a4f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ed44b935454011" /><Relationship Type="http://schemas.openxmlformats.org/officeDocument/2006/relationships/notesMaster" Target="/ppt/notesMasters/notesMaster1.xml" Id="R1d490012861d45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d253a05d33473b" /><Relationship Type="http://schemas.openxmlformats.org/officeDocument/2006/relationships/notesMaster" Target="/ppt/notesMasters/notesMaster1.xml" Id="R0ba3282b4da64a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3492268a4644bb" /><Relationship Type="http://schemas.openxmlformats.org/officeDocument/2006/relationships/notesMaster" Target="/ppt/notesMasters/notesMaster1.xml" Id="Ra65699f6529248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815799b0643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a2b87544543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376230aa44b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0d55493d442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7791c9a1144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1bf5219bc48a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18624404e44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bc3ed1fed44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5066ff8404f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c792795b14b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7b68785f54e04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1782B8-01DE-4618-92BF-D5D49F4F12C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7E04C3-0C98-4B2A-9038-3B009597C76D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9E97F43-E193-496B-B2C3-2951724F32F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5EF7AAF-1817-4CA5-8049-54AB740827A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876BD48-51FF-4121-B657-6996B075F54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19093E-F975-4147-9C3C-3268C94A2FD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C9B7C6-DC4F-433F-8047-A35E983DB8D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D9EE81-B535-4EBA-BBCE-6E295F9FA56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CAC794-7FAD-4AC3-913F-A5FE899EF75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0E3093-0800-468A-A105-9FDF93FEACA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1B288C-FB26-4613-89BA-979DC3DEF8A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9CD7213-73CF-491C-B9CB-F0E7C7094A7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70124B2-87A6-4571-B73A-A45A81A2268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5D9699-B2C9-4921-9356-63E92903F79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FB7745-BF9B-4ABB-9FA7-002E7F61CFF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02F5F5-8F50-4C4D-8963-7A0F5347EF3C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AAA569-55D5-4BA1-8A2A-E547DE20E4A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D69DD6-7174-45E5-B91D-BE0093D19E4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E3EDA1-345C-4ADF-93E9-BF12B5B2A47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112FD0-645A-4640-A85B-233503B5BCC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B5A9429-E019-46DC-9D15-4DA04032F4C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DA0E5C-9801-4EE0-B820-202D365D7D8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CB3809-9D16-4BEF-9A87-E6A4E700390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2A412C-96EB-4BF6-A0A8-0ED8F57EAAD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FF987B-9BEC-40C2-A17E-FFCF6B6C104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76BDA59-901F-498E-882B-4981F7B71DE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044C0FE-FBC8-40D3-A100-68979184349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A484283-D208-4205-9BA1-9312BB3F0FB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47EF627-55D8-42A1-A822-386FA2BAF7A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0D2CAE-53BA-4E8C-A044-D064716E788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932814-CD00-48FA-82BE-946C9C31F5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7A70F2-6D9C-4CAE-A849-DC1AB07229F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622C21-EE74-4BAD-9E52-39962DD1155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52C9EE-577E-4CA4-851B-C3991211FD6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D9D26E-7491-4E94-BF13-6DB862CD6CDE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5531656-E83B-4939-8078-91E54264DE86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4CDD289-C147-41BE-9401-63923883DE72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CA13A-6AC4-4350-AE48-554141F9C273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CC20999-B180-4E66-9308-2DF5802CC81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BA15AD9-198C-4B7E-A269-9E458224485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9C34473-829B-4016-A366-008A434EBB6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4A6EB6-842E-42B0-AEC1-7BED85684001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E9FCAF-6FDE-417E-BBCA-31FBD90EBF1B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C4E213-F0F9-4AAE-ABFD-D07E6662731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446A2C-D268-475D-A56C-3BC0C360FAD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D64360-D96E-4FBE-9A57-9E4BB703DF6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81C79A-2D3D-4F87-AE8A-E03B36115AC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D381E2-D82D-4EC8-95C9-E4CF50429A3C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716080C-823F-416B-840D-B28325B0796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771ECEC-86B6-43D7-8A64-6F584F94C21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B397F12-5809-4EA0-B24F-B78ACBE134A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788CA0-C128-4EC7-A2EB-9B3340803A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378F1-3529-4378-A199-D21B5249934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275C15B-BEFB-4ED2-BCFC-1803680F9089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6F6F163-42EE-40CB-AFED-617F5E846BAE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1F5111-096D-4D5A-BC2F-465B46A8A84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3CCFD7-E826-4BE6-AB65-C2002D66664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3A997C-023D-4EE0-B924-CA1D13B381E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95b3acd950401b" /><Relationship Type="http://schemas.openxmlformats.org/officeDocument/2006/relationships/slideLayout" Target="/ppt/slideLayouts/slideLayout2.xml" Id="Ra84f49b35140491e" /><Relationship Type="http://schemas.openxmlformats.org/officeDocument/2006/relationships/slideLayout" Target="/ppt/slideLayouts/slideLayout3.xml" Id="R7a76b65623ef4982" /><Relationship Type="http://schemas.openxmlformats.org/officeDocument/2006/relationships/slideLayout" Target="/ppt/slideLayouts/slideLayout4.xml" Id="R4fc244086c104ed3" /><Relationship Type="http://schemas.openxmlformats.org/officeDocument/2006/relationships/slideLayout" Target="/ppt/slideLayouts/slideLayout5.xml" Id="R8039ce9687894981" /><Relationship Type="http://schemas.openxmlformats.org/officeDocument/2006/relationships/slideLayout" Target="/ppt/slideLayouts/slideLayout6.xml" Id="Rb679c904e96b4456" /><Relationship Type="http://schemas.openxmlformats.org/officeDocument/2006/relationships/slideLayout" Target="/ppt/slideLayouts/slideLayout7.xml" Id="Rf73f398679cc465c" /><Relationship Type="http://schemas.openxmlformats.org/officeDocument/2006/relationships/slideLayout" Target="/ppt/slideLayouts/slideLayout8.xml" Id="R2beee7f47aa544ad" /><Relationship Type="http://schemas.openxmlformats.org/officeDocument/2006/relationships/slideLayout" Target="/ppt/slideLayouts/slideLayout9.xml" Id="R2f879e8a83c94028" /><Relationship Type="http://schemas.openxmlformats.org/officeDocument/2006/relationships/slideLayout" Target="/ppt/slideLayouts/slideLayout10.xml" Id="R75d824071e954a52" /><Relationship Type="http://schemas.openxmlformats.org/officeDocument/2006/relationships/slideLayout" Target="/ppt/slideLayouts/slideLayout11.xml" Id="Rf2f0e07d78054cd4" /><Relationship Type="http://schemas.openxmlformats.org/officeDocument/2006/relationships/slideLayout" Target="/ppt/slideLayouts/slideLayout12.xml" Id="Ra02950cb1bed4fc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3DDBA6-9E38-4A58-AF98-35AD52F7D7A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D59478-65F2-4659-BC4C-3F1EEAD60004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835F91-D2BD-4B13-8245-AEAE1624BC0C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34D9CA-3DE9-47B3-B87A-EB9A261707A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31993B-4B65-4780-8662-3329FB43EC1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4f49b35140491e"/>
    <p:sldLayoutId xmlns:r="http://schemas.openxmlformats.org/officeDocument/2006/relationships" id="2147483650" r:id="R7a76b65623ef4982"/>
    <p:sldLayoutId xmlns:r="http://schemas.openxmlformats.org/officeDocument/2006/relationships" id="2147483651" r:id="R4fc244086c104ed3"/>
    <p:sldLayoutId xmlns:r="http://schemas.openxmlformats.org/officeDocument/2006/relationships" id="2147483652" r:id="R8039ce9687894981"/>
    <p:sldLayoutId xmlns:r="http://schemas.openxmlformats.org/officeDocument/2006/relationships" id="2147483653" r:id="Rb679c904e96b4456"/>
    <p:sldLayoutId xmlns:r="http://schemas.openxmlformats.org/officeDocument/2006/relationships" id="2147483654" r:id="Rf73f398679cc465c"/>
    <p:sldLayoutId xmlns:r="http://schemas.openxmlformats.org/officeDocument/2006/relationships" id="2147483655" r:id="R2beee7f47aa544ad"/>
    <p:sldLayoutId xmlns:r="http://schemas.openxmlformats.org/officeDocument/2006/relationships" id="2147483656" r:id="R2f879e8a83c94028"/>
    <p:sldLayoutId xmlns:r="http://schemas.openxmlformats.org/officeDocument/2006/relationships" id="2147483657" r:id="R75d824071e954a52"/>
    <p:sldLayoutId xmlns:r="http://schemas.openxmlformats.org/officeDocument/2006/relationships" id="2147483658" r:id="Rf2f0e07d78054cd4"/>
    <p:sldLayoutId xmlns:r="http://schemas.openxmlformats.org/officeDocument/2006/relationships" id="2147483659" r:id="Ra02950cb1bed4fc7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2a5cc1ce9764c63" /><Relationship Type="http://schemas.openxmlformats.org/officeDocument/2006/relationships/image" Target="/ppt/media/image.png" Id="Rc06f9a029a92411a" /><Relationship Type="http://schemas.openxmlformats.org/officeDocument/2006/relationships/image" Target="/ppt/media/image2.png" Id="Re32c91956a9444b1" /><Relationship Type="http://schemas.openxmlformats.org/officeDocument/2006/relationships/notesSlide" Target="/ppt/notesSlides/notesSlide1.xml" Id="R5b31734b4b7349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376107abec747ec" /><Relationship Type="http://schemas.openxmlformats.org/officeDocument/2006/relationships/image" Target="/ppt/media/image3.png" Id="Rbc0a2e157b044b42" /><Relationship Type="http://schemas.openxmlformats.org/officeDocument/2006/relationships/image" Target="/ppt/media/image4.png" Id="Rf8d51546d1264ad5" /><Relationship Type="http://schemas.openxmlformats.org/officeDocument/2006/relationships/notesSlide" Target="/ppt/notesSlides/notesSlide2.xml" Id="R6ec603a1e25d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2ef5d9c89584723" /><Relationship Type="http://schemas.openxmlformats.org/officeDocument/2006/relationships/image" Target="/ppt/media/image4.png" Id="R49d43ab2a37041d8" /><Relationship Type="http://schemas.openxmlformats.org/officeDocument/2006/relationships/image" Target="/ppt/media/image5.png" Id="Re6633ef2d9a74f03" /><Relationship Type="http://schemas.openxmlformats.org/officeDocument/2006/relationships/notesSlide" Target="/ppt/notesSlides/notesSlide3.xml" Id="Rfafd1dc6c0864b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6d155b720be4d60" /><Relationship Type="http://schemas.openxmlformats.org/officeDocument/2006/relationships/image" Target="/ppt/media/image6.png" Id="Rd241316307f94012" /><Relationship Type="http://schemas.openxmlformats.org/officeDocument/2006/relationships/image" Target="/ppt/media/image4.png" Id="R9d288d1fce304417" /><Relationship Type="http://schemas.openxmlformats.org/officeDocument/2006/relationships/notesSlide" Target="/ppt/notesSlides/notesSlide4.xml" Id="R824604783eef4d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a070574bfbc47ce" /><Relationship Type="http://schemas.openxmlformats.org/officeDocument/2006/relationships/image" Target="/ppt/media/image4.png" Id="R753b881370724670" /><Relationship Type="http://schemas.openxmlformats.org/officeDocument/2006/relationships/image" Target="/ppt/media/image5.png" Id="R93bba30c3b1f4022" /><Relationship Type="http://schemas.openxmlformats.org/officeDocument/2006/relationships/notesSlide" Target="/ppt/notesSlides/notesSlide5.xml" Id="R7b2587df9db142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8fa3dc0743d4de3" /><Relationship Type="http://schemas.openxmlformats.org/officeDocument/2006/relationships/image" Target="/ppt/media/image7.png" Id="R7c485a86037343f2" /><Relationship Type="http://schemas.openxmlformats.org/officeDocument/2006/relationships/image" Target="/ppt/media/image8.png" Id="R524c550ebd0b40a9" /><Relationship Type="http://schemas.openxmlformats.org/officeDocument/2006/relationships/image" Target="/ppt/media/image9.png" Id="R78554bdfb69441d5" /><Relationship Type="http://schemas.openxmlformats.org/officeDocument/2006/relationships/image" Target="/ppt/media/image10.png" Id="R69a0c552bdcd4cba" /><Relationship Type="http://schemas.openxmlformats.org/officeDocument/2006/relationships/image" Target="/ppt/media/image11.png" Id="R921574b5702f4ba3" /><Relationship Type="http://schemas.openxmlformats.org/officeDocument/2006/relationships/image" Target="/ppt/media/image12.png" Id="R5b2c89228c8e461d" /><Relationship Type="http://schemas.openxmlformats.org/officeDocument/2006/relationships/image" Target="/ppt/media/image13.png" Id="R085a2cab2f174e36" /><Relationship Type="http://schemas.openxmlformats.org/officeDocument/2006/relationships/image" Target="/ppt/media/image14.png" Id="R844d165bbb3b41bf" /><Relationship Type="http://schemas.openxmlformats.org/officeDocument/2006/relationships/image" Target="/ppt/media/image4.png" Id="R2e53ccb0f2a34c0b" /><Relationship Type="http://schemas.openxmlformats.org/officeDocument/2006/relationships/notesSlide" Target="/ppt/notesSlides/notesSlide6.xml" Id="R1fb28544940d4d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928a241e54b4287" /><Relationship Type="http://schemas.openxmlformats.org/officeDocument/2006/relationships/image" Target="/ppt/media/image5.png" Id="R1949ebe346144cec" /><Relationship Type="http://schemas.openxmlformats.org/officeDocument/2006/relationships/image" Target="/ppt/media/image.jpeg" Id="R9a1d9177a5454ea2" /><Relationship Type="http://schemas.openxmlformats.org/officeDocument/2006/relationships/image" Target="/ppt/media/image4.png" Id="R6f49ac9a6b1a4545" /><Relationship Type="http://schemas.openxmlformats.org/officeDocument/2006/relationships/notesSlide" Target="/ppt/notesSlides/notesSlide7.xml" Id="R18eb7ca53c1048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afd9c2769ad48a0" /><Relationship Type="http://schemas.openxmlformats.org/officeDocument/2006/relationships/image" Target="/ppt/media/image15.png" Id="Rbc8f21d78cd94861" /><Relationship Type="http://schemas.openxmlformats.org/officeDocument/2006/relationships/image" Target="/ppt/media/image4.png" Id="R646fc90256344936" /><Relationship Type="http://schemas.openxmlformats.org/officeDocument/2006/relationships/notesSlide" Target="/ppt/notesSlides/notesSlide8.xml" Id="Re3b95cb8f6d646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5e9a67fbee5421a" /><Relationship Type="http://schemas.openxmlformats.org/officeDocument/2006/relationships/image" Target="/ppt/media/image16.png" Id="Rcebc4edb6a1b4654" /><Relationship Type="http://schemas.openxmlformats.org/officeDocument/2006/relationships/notesSlide" Target="/ppt/notesSlides/notesSlide9.xml" Id="R0c50e5f009004b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51a7d2edd1443a1" /><Relationship Type="http://schemas.openxmlformats.org/officeDocument/2006/relationships/image" Target="/ppt/media/image2.png" Id="R8d453f48e8f54c15" /><Relationship Type="http://schemas.openxmlformats.org/officeDocument/2006/relationships/image" Target="/ppt/media/image17.png" Id="R3f731c660a0f43ea" /><Relationship Type="http://schemas.openxmlformats.org/officeDocument/2006/relationships/notesSlide" Target="/ppt/notesSlides/notesSlide10.xml" Id="R42f2b7117b9d48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7577643-6190-482A-8CC7-0749F8B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6f9a029a92411a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AF420EB-5F5A-42CC-A4C2-A090F0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229" y="-1233813"/>
            <a:ext cx="12754625" cy="1275462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A52650D-58A1-4B52-8D81-A27E359C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7975" y="-1233813"/>
            <a:ext cx="10363132" cy="11558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836EAAC-ED52-472A-8290-BBF9C93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368" y="860146"/>
            <a:ext cx="7841932" cy="2146078"/>
          </a:xfrm>
          <a:custGeom xmlns:a="http://schemas.openxmlformats.org/drawingml/2006/main">
            <a:rect l="l" t="t" r="r" b="b"/>
            <a:pathLst>
              <a:path w="10455910" h="2861438">
                <a:moveTo>
                  <a:pt x="0" y="0"/>
                </a:moveTo>
                <a:lnTo>
                  <a:pt x="10455910" y="0"/>
                </a:lnTo>
                <a:lnTo>
                  <a:pt x="10455910" y="2861438"/>
                </a:lnTo>
                <a:lnTo>
                  <a:pt x="0" y="28614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32c91956a9444b1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E513A9E-C1D5-451F-8F7B-DE249762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0505" y="2949074"/>
            <a:ext cx="7475656" cy="6190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19"/>
              </a:lnSpc>
              <a:buNone/>
            </a:pPr>
            <a:r>
              <a:rPr sz="1594" spc="436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AUXILIANDO OS GESTORES E AS ORGANIZAÇÕES NA DEFINIÇÃO E NO ALCANCE DOS SEUS OBJETIVOS!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65787D5-115E-4CE5-B472-5F4256C5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735" y="4729368"/>
            <a:ext cx="9737197" cy="895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01"/>
              </a:lnSpc>
              <a:buNone/>
            </a:pPr>
            <a:r>
              <a:rPr sz="5000" b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</a:rPr>
              <a:t>TESTE ALTERADO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F358C0-6749-4107-A4F3-5465CDD8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603" y="7168255"/>
            <a:ext cx="9737197" cy="11028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280"/>
              </a:lnSpc>
              <a:spcBef>
                <a:spcPts val="0"/>
              </a:spcBef>
              <a:buNone/>
            </a:pP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Para: Britos </a:t>
            </a: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Mag</a:t>
            </a: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 Energia Solar</a:t>
            </a:r>
          </a:p>
          <a:p xmlns:a="http://schemas.openxmlformats.org/drawingml/2006/main">
            <a:pPr algn="ctr">
              <a:lnSpc>
                <a:spcPts val="4280"/>
              </a:lnSpc>
              <a:spcBef>
                <a:spcPts val="0"/>
              </a:spcBef>
              <a:buNone/>
            </a:pP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Att. </a:t>
            </a: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Wilson Caldas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CD0300-0493-4117-BEDE-3DF56796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8953500"/>
            <a:ext cx="2667000" cy="3795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129"/>
              </a:lnSpc>
              <a:buNone/>
            </a:pPr>
            <a:r>
              <a:rPr sz="2267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Janeiro </a:t>
            </a:r>
            <a:r>
              <a:rPr sz="2267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de 2026</a:t>
            </a:r>
          </a:p>
        </p:txBody>
      </p:sp>
    </p:spTree>
    <p:extLst>
      <p:ext uri="{BB962C8B-B14F-4D97-AF65-F5344CB8AC3E}">
        <p14:creationId xmlns:p14="http://schemas.microsoft.com/office/powerpoint/2010/main" val="13854066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1D2C6E9-DFD2-407E-BB82-8BB8F05E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0a2e157b044b42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F3CADC8-ED01-4BFC-8319-A9E9A26B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8d51546d1264ad5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0BA04B4-BF8C-4307-98B1-506E4285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1067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866616E-69D3-454C-92FA-8799B433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1067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4B43D56-BAF4-4DFD-93E7-755FE388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671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ACBF077-A139-4B1B-986E-A3249B2D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671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FC88572-962D-49F2-9F2E-F3959CCD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936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CB03DF-86C6-490C-AFBF-0D958E4D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936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CACDA35-3E2A-4DB7-A2E3-A29CB264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36" y="962025"/>
            <a:ext cx="9298798" cy="1887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7259"/>
              </a:lnSpc>
              <a:buNone/>
            </a:pPr>
            <a:r>
              <a:rPr sz="5999" b="1" u="none" spc="479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Empreender é uma evolução constante! 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539C36B-2D08-4725-AD23-1835032E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36" y="3513355"/>
            <a:ext cx="9298798" cy="84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66"/>
              </a:lnSpc>
              <a:buNone/>
            </a:pPr>
            <a:r>
              <a:rPr sz="2699" spc="134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Por isso, propomos caminhar juntos para que sua empresa se torne:</a:t>
            </a:r>
            <a:r>
              <a:rPr sz="2699" b="1" spc="134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 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52E0F0C-9F55-4856-A577-7076E300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645" y="5860450"/>
            <a:ext cx="2538249" cy="729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 spc="12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Uma operação </a:t>
            </a:r>
            <a:r>
              <a:rPr sz="2400" b="1" spc="120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organizada 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E94901-9A54-426C-8D64-CBCCFA80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380" y="5860450"/>
            <a:ext cx="2538249" cy="729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 spc="12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Um negócio </a:t>
            </a:r>
            <a:r>
              <a:rPr sz="2400" b="1" spc="120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lucrativo 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1D3568C-3E3A-4629-A62A-ED8C599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1776" y="5508025"/>
            <a:ext cx="2538249" cy="1434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 spc="12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Um ambiente com rotinas </a:t>
            </a:r>
            <a:r>
              <a:rPr sz="2400" b="1" spc="120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leves e auditáveis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BD74409-7C17-4436-88DE-9401CA43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171" y="9240497"/>
            <a:ext cx="11049000" cy="462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79"/>
              </a:lnSpc>
              <a:spcBef>
                <a:spcPts val="0"/>
              </a:spcBef>
              <a:buNone/>
            </a:pPr>
            <a:r>
              <a:rPr sz="2699" u="none" spc="134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 seguir vamos apresentar como faremos isso na prática:</a:t>
            </a:r>
          </a:p>
        </p:txBody>
      </p:sp>
    </p:spTree>
    <p:extLst>
      <p:ext uri="{BB962C8B-B14F-4D97-AF65-F5344CB8AC3E}">
        <p14:creationId xmlns:p14="http://schemas.microsoft.com/office/powerpoint/2010/main" val="1717846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D801376-0FB3-36C4-A288-3F7BC34D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d43ab2a37041d8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818F453-01DF-64C3-AC54-3CF9F39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41" y="1529754"/>
            <a:ext cx="15237158" cy="79584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Inicialmente atenderemos as necessidades apresentadas em reunião com o Sr. Wilson Caldas </a:t>
            </a: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e Priscila com </a:t>
            </a: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o seguinte escopo:</a:t>
            </a:r>
          </a:p>
          <a:p xmlns:a="http://schemas.openxmlformats.org/drawingml/2006/main">
            <a:pPr algn="l">
              <a:lnSpc>
                <a:spcPts val="5739"/>
              </a:lnSpc>
              <a:buNone/>
            </a:pPr>
          </a:p>
          <a:p xmlns:a="http://schemas.openxmlformats.org/drawingml/2006/main">
            <a:pPr marL="1428750" indent="-514350">
              <a:lnSpc>
                <a:spcPts val="5739"/>
              </a:lnSpc>
              <a:buAutoNum type="alphaLcParenR"/>
            </a:pPr>
            <a:r>
              <a:rPr sz="2800" spc="27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Definição e estruturação legal do negócio contendo as atividades: </a:t>
            </a:r>
            <a:r>
              <a:rPr sz="2800" spc="271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Intermediação, monitoramento, instalação, recebimento de valores de terceiros, patrimonial, indústria de energia;</a:t>
            </a:r>
          </a:p>
          <a:p xmlns:a="http://schemas.openxmlformats.org/drawingml/2006/main">
            <a:pPr marL="1428750" indent="-514350">
              <a:lnSpc>
                <a:spcPts val="5739"/>
              </a:lnSpc>
              <a:buAutoNum type="alphaLcParenR"/>
            </a:pPr>
          </a:p>
          <a:p xmlns:a="http://schemas.openxmlformats.org/drawingml/2006/main">
            <a:pPr>
              <a:lnSpc>
                <a:spcPts val="5739"/>
              </a:lnSpc>
              <a:buNone/>
            </a:pPr>
            <a:r>
              <a:rPr sz="2800" spc="27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b) Enquadramento e planejamento tributário considerando as alternativas tributárias disponíveis pela legislação atual;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A8947E3-56AE-510E-D8A8-774119C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7001331" y="-4811875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633ef2d9a74f03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07715-E0FD-641C-35DA-88802E2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ESCOPO</a:t>
            </a:r>
          </a:p>
        </p:txBody>
      </p:sp>
    </p:spTree>
    <p:extLst>
      <p:ext uri="{BB962C8B-B14F-4D97-AF65-F5344CB8AC3E}">
        <p14:creationId xmlns:p14="http://schemas.microsoft.com/office/powerpoint/2010/main" val="34224191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3B7BD7D-9364-48F8-AC10-3B810DCE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41316307f94012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47E81CA7-B196-45F4-8B0E-4D16409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2736526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6DDE940-65C7-45B0-84DD-0BFC6DE2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2447204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89242AC-9C3E-4AD5-81E6-77DE807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4444352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B419002-09A9-4091-91DD-1373CA9D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4155030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20FA5C0-FDBE-49CA-B4FC-E5428BB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6152178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A9630E5-7330-4FAB-840B-83B75285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5862856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9D6E107-F0B3-4DC8-B611-9473825C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1028700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46CBDD7-CB4E-468F-9851-E822E661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39378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32824491-D91C-4783-B954-1FD38318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775494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D876367-14D3-4643-885C-17F101A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3440447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60D502DA-C560-473E-A2EE-DFCBDBA7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5143500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11F2BA0-0F83-44C9-80C5-EEBB4DE3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6808453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8D9E762-C2BD-48DB-BAE4-7F0F28B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860004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3BC8F9D-E817-4C0A-9142-2CC1E516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570682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E0337EE-242C-4AD2-B450-4D99EB4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8606799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D19068A-0F58-4B67-8D3B-99FEA7F4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288d1fce304417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6B693D1-F1D1-43D5-BF2E-73B55DB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2971002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 spc="15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financeira e orçamentária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150CD8B2-0DED-4838-8566-65E5ABF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4678828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 spc="15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Análise de custos e precificação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DC7268-26DD-4F26-901B-E2F48BB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6386655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 spc="15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Consultoria fiscal e contábil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FB998A9-9550-4836-BA3F-397EEDF2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1263176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 spc="15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de Processos de Negócio (bpm)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51F0A72-AF00-4A06-A2A3-F2847CB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8337368"/>
            <a:ext cx="5421419" cy="510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 spc="15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Auditoria interna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02027099-578E-4B0C-AA04-4B6EB6E5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03" y="2318564"/>
            <a:ext cx="6873524" cy="5745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639"/>
              </a:lnSpc>
              <a:spcBef>
                <a:spcPts val="0"/>
              </a:spcBef>
              <a:buNone/>
            </a:pPr>
            <a:r>
              <a:rPr sz="4800" u="none" spc="233">
                <a:solidFill>
                  <a:srgbClr val="39F2AE"/>
                </a:solidFill>
                <a:latin typeface="Poppins 2"/>
                <a:ea typeface="Poppins 2"/>
                <a:cs typeface="Poppins 2"/>
              </a:rPr>
              <a:t>Criaremos soluções integradas e personalizadas, </a:t>
            </a:r>
            <a:r>
              <a:rPr sz="4800" u="none" spc="233">
                <a:solidFill>
                  <a:srgbClr val="E6C63F"/>
                </a:solidFill>
                <a:latin typeface="Poppins 2"/>
                <a:ea typeface="Poppins 2"/>
                <a:cs typeface="Poppins 2"/>
              </a:rPr>
              <a:t>combinando nossas diferentes expertises de forma coordenada e prática.</a:t>
            </a:r>
          </a:p>
        </p:txBody>
      </p:sp>
      <p:sp>
        <p:nvSpPr>
          <p:cNvPr id="29" name="TextBox 6">
            <a:extLst xmlns:a="http://schemas.openxmlformats.org/drawingml/2006/main">
              <a:ext uri="{FF2B5EF4-FFF2-40B4-BE49-F238E27FC236}">
                <a16:creationId xmlns:a16="http://schemas.microsoft.com/office/drawing/2014/main" id="{7CD81174-90B6-D59A-13F0-A5F9592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FAREMOS</a:t>
            </a:r>
          </a:p>
        </p:txBody>
      </p:sp>
    </p:spTree>
    <p:extLst>
      <p:ext uri="{BB962C8B-B14F-4D97-AF65-F5344CB8AC3E}">
        <p14:creationId xmlns:p14="http://schemas.microsoft.com/office/powerpoint/2010/main" val="1397742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F8748D9-D397-40E0-9781-41D2C923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3b881370724670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5919CEF-71CE-4CD9-8523-FB7641C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42" y="1638884"/>
            <a:ext cx="14017958" cy="68092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Cada </a:t>
            </a: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frente de </a:t>
            </a: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trabalho </a:t>
            </a: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será estruturada </a:t>
            </a:r>
            <a:r>
              <a:rPr sz="3399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como um projeto, com as seguintes fases:</a:t>
            </a:r>
          </a:p>
          <a:p xmlns:a="http://schemas.openxmlformats.org/drawingml/2006/main">
            <a:pPr algn="l">
              <a:lnSpc>
                <a:spcPts val="5739"/>
              </a:lnSpc>
              <a:buNone/>
            </a:pPr>
          </a:p>
          <a:p xmlns:a="http://schemas.openxmlformats.org/drawingml/2006/main">
            <a:pPr algn="l">
              <a:lnSpc>
                <a:spcPts val="2025"/>
              </a:lnSpc>
              <a:buNone/>
            </a:pPr>
          </a:p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 spc="27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a) alinhamento de expectativas;</a:t>
            </a:r>
          </a:p>
          <a:p xmlns:a="http://schemas.openxmlformats.org/drawingml/2006/main">
            <a:pPr algn="l">
              <a:lnSpc>
                <a:spcPts val="2025"/>
              </a:lnSpc>
              <a:buNone/>
            </a:pPr>
          </a:p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 spc="27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b) início do projeto;</a:t>
            </a:r>
          </a:p>
          <a:p xmlns:a="http://schemas.openxmlformats.org/drawingml/2006/main">
            <a:pPr algn="l">
              <a:lnSpc>
                <a:spcPts val="2025"/>
              </a:lnSpc>
              <a:buNone/>
            </a:pPr>
          </a:p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 spc="27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c) acompanhamento da execução;</a:t>
            </a:r>
          </a:p>
          <a:p xmlns:a="http://schemas.openxmlformats.org/drawingml/2006/main">
            <a:pPr algn="l">
              <a:lnSpc>
                <a:spcPts val="2025"/>
              </a:lnSpc>
              <a:buNone/>
            </a:pPr>
          </a:p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 spc="27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d) entrega do projeto conforme alinhamento inicial; </a:t>
            </a:r>
          </a:p>
          <a:p xmlns:a="http://schemas.openxmlformats.org/drawingml/2006/main">
            <a:pPr algn="l">
              <a:lnSpc>
                <a:spcPts val="5739"/>
              </a:lnSpc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E9798C5-AC6B-4DDF-B909-D994A4D7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033558" y="-4243057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3bba30c3b1f4022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193D09F-3331-41EA-878C-6D1474A8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4984432"/>
            <a:ext cx="973645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TRABALHAMOS </a:t>
            </a:r>
          </a:p>
        </p:txBody>
      </p:sp>
    </p:spTree>
    <p:extLst>
      <p:ext uri="{BB962C8B-B14F-4D97-AF65-F5344CB8AC3E}">
        <p14:creationId xmlns:p14="http://schemas.microsoft.com/office/powerpoint/2010/main" val="17310153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0DAFDE3-AE62-469D-9B60-BD0B1B6A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c485a86037343f2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FD14EAA-F4AC-4329-A05E-241F0FD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10187"/>
            <a:ext cx="2269379" cy="1534100"/>
          </a:xfrm>
          <a:custGeom xmlns:a="http://schemas.openxmlformats.org/drawingml/2006/main">
            <a:rect l="l" t="t" r="r" b="b"/>
            <a:pathLst>
              <a:path w="3025839" h="2045467">
                <a:moveTo>
                  <a:pt x="0" y="0"/>
                </a:moveTo>
                <a:lnTo>
                  <a:pt x="3025839" y="0"/>
                </a:lnTo>
                <a:lnTo>
                  <a:pt x="3025839" y="2045467"/>
                </a:lnTo>
                <a:lnTo>
                  <a:pt x="0" y="20454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4c550ebd0b40a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A49ED0D-880B-40B2-918E-9D1EFE87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9440" y="8091295"/>
            <a:ext cx="2559859" cy="562806"/>
          </a:xfrm>
          <a:custGeom xmlns:a="http://schemas.openxmlformats.org/drawingml/2006/main">
            <a:rect l="l" t="t" r="r" b="b"/>
            <a:pathLst>
              <a:path w="3413146" h="750408">
                <a:moveTo>
                  <a:pt x="0" y="0"/>
                </a:moveTo>
                <a:lnTo>
                  <a:pt x="3413146" y="0"/>
                </a:lnTo>
                <a:lnTo>
                  <a:pt x="3413146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554bdfb69441d5"/>
            <a:stretch>
              <a:fillRect l="-12998" t="-241791" r="-12887" b="-230788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8809D8E-AD65-43E2-B9CD-43805004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1348" y="7950594"/>
            <a:ext cx="2006131" cy="853286"/>
          </a:xfrm>
          <a:custGeom xmlns:a="http://schemas.openxmlformats.org/drawingml/2006/main">
            <a:rect l="l" t="t" r="r" b="b"/>
            <a:pathLst>
              <a:path w="2674842" h="1137715">
                <a:moveTo>
                  <a:pt x="0" y="0"/>
                </a:moveTo>
                <a:lnTo>
                  <a:pt x="2674842" y="0"/>
                </a:lnTo>
                <a:lnTo>
                  <a:pt x="2674842" y="1137715"/>
                </a:lnTo>
                <a:lnTo>
                  <a:pt x="0" y="11377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9a0c552bdcd4cba"/>
            <a:stretch>
              <a:fillRect l="0" t="-67702" r="0" b="-67404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E4F4326-D698-4531-A02F-4503961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070" y="7755427"/>
            <a:ext cx="1633953" cy="1243620"/>
          </a:xfrm>
          <a:custGeom xmlns:a="http://schemas.openxmlformats.org/drawingml/2006/main">
            <a:rect l="l" t="t" r="r" b="b"/>
            <a:pathLst>
              <a:path w="2178604" h="1658160">
                <a:moveTo>
                  <a:pt x="0" y="0"/>
                </a:moveTo>
                <a:lnTo>
                  <a:pt x="2178604" y="0"/>
                </a:lnTo>
                <a:lnTo>
                  <a:pt x="2178604" y="1658159"/>
                </a:lnTo>
                <a:lnTo>
                  <a:pt x="0" y="16581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21574b5702f4ba3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3064D9-A433-48AB-AE2A-39461525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1797" y="7537567"/>
            <a:ext cx="1443325" cy="1679341"/>
          </a:xfrm>
          <a:custGeom xmlns:a="http://schemas.openxmlformats.org/drawingml/2006/main">
            <a:rect l="l" t="t" r="r" b="b"/>
            <a:pathLst>
              <a:path w="1924434" h="2239121">
                <a:moveTo>
                  <a:pt x="0" y="0"/>
                </a:moveTo>
                <a:lnTo>
                  <a:pt x="1924434" y="0"/>
                </a:lnTo>
                <a:lnTo>
                  <a:pt x="1924434" y="2239121"/>
                </a:lnTo>
                <a:lnTo>
                  <a:pt x="0" y="22391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b2c89228c8e461d"/>
            <a:stretch>
              <a:fillRect l="-25023" t="-21507" r="-46674" b="-2606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76A6373-20AE-4124-817E-689AC445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341" y="7746349"/>
            <a:ext cx="2305689" cy="1252697"/>
          </a:xfrm>
          <a:custGeom xmlns:a="http://schemas.openxmlformats.org/drawingml/2006/main">
            <a:rect l="l" t="t" r="r" b="b"/>
            <a:pathLst>
              <a:path w="3074252" h="1670263">
                <a:moveTo>
                  <a:pt x="0" y="0"/>
                </a:moveTo>
                <a:lnTo>
                  <a:pt x="3074252" y="0"/>
                </a:lnTo>
                <a:lnTo>
                  <a:pt x="3074252" y="1670263"/>
                </a:lnTo>
                <a:lnTo>
                  <a:pt x="0" y="16702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5a2cab2f174e36"/>
            <a:stretch>
              <a:fillRect l="0" t="-41894" r="0" b="-4216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8C2DD2F-5801-4748-8582-ADFE09A0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2397" y="8109450"/>
            <a:ext cx="3086355" cy="535573"/>
          </a:xfrm>
          <a:custGeom xmlns:a="http://schemas.openxmlformats.org/drawingml/2006/main">
            <a:rect l="l" t="t" r="r" b="b"/>
            <a:pathLst>
              <a:path w="4115141" h="714098">
                <a:moveTo>
                  <a:pt x="0" y="0"/>
                </a:moveTo>
                <a:lnTo>
                  <a:pt x="4115141" y="0"/>
                </a:lnTo>
                <a:lnTo>
                  <a:pt x="4115141" y="714098"/>
                </a:lnTo>
                <a:lnTo>
                  <a:pt x="0" y="7140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4d165bbb3b41bf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DA1B888-9B75-4F31-B9BF-78514E1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53ccb0f2a34c0b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5D541F4-4B69-4FDE-B241-CBBD4828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299489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505273F-D5CA-427F-9F67-2794F98B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010167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D5CB710-AA46-4939-BAAF-236AE54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5038754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E37A23-ECCD-4D6D-9353-96C3C6A4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4749432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6454901-CD14-4119-A51F-BBD22510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981075"/>
            <a:ext cx="4504536" cy="80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 spc="400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Histórias de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31E899B3-B45F-49AE-8DA9-CE49ED79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1461930"/>
            <a:ext cx="6072011" cy="1469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1080"/>
              </a:lnSpc>
              <a:buNone/>
            </a:pPr>
            <a:r>
              <a:rPr sz="9157" b="1" spc="732">
                <a:solidFill>
                  <a:srgbClr val="3AF1AE"/>
                </a:solidFill>
                <a:latin typeface="Poppins 1 Bold"/>
                <a:ea typeface="Poppins 1 Bold"/>
                <a:cs typeface="Poppins 1 Bold"/>
              </a:rPr>
              <a:t>SUCESSO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516E100-6CBE-45CA-A01D-0FDDF279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3270914"/>
            <a:ext cx="7179133" cy="939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 b="1" spc="150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Vários anos de parceria e resultados comprovados!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CAA668-BD3A-4940-99FC-5F9E213F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4552979"/>
            <a:ext cx="9213691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 spc="15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Há mais de 15 anos no mercado, nossas parcerias de longo prazo refletem nosso compromisso com a excelência e com a geração de valor real para nossos clientes.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39AB23E-8516-4C7B-95C2-1B4D9759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639" y="6928480"/>
            <a:ext cx="4026721" cy="434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67"/>
              </a:lnSpc>
              <a:buNone/>
            </a:pPr>
            <a:r>
              <a:rPr sz="2700" spc="135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Clientes Satisfeitos:</a:t>
            </a:r>
          </a:p>
        </p:txBody>
      </p:sp>
    </p:spTree>
    <p:extLst>
      <p:ext uri="{BB962C8B-B14F-4D97-AF65-F5344CB8AC3E}">
        <p14:creationId xmlns:p14="http://schemas.microsoft.com/office/powerpoint/2010/main" val="50638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467DA9D-6FCF-46A6-99CB-CE39072E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607" y="-1559850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49ebe346144cec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AA0B21D-47F8-4E20-8230-C2B8EBC1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43" y="-3094827"/>
            <a:ext cx="18288000" cy="12801600"/>
          </a:xfrm>
          <a:custGeom xmlns:a="http://schemas.openxmlformats.org/drawingml/2006/main"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1d9177a5454ea2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B7E108A-4FAC-455C-8561-1187CE8B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49ac9a6b1a4545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2928500-A066-4AB0-9A01-765E4843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127016"/>
            <a:ext cx="14966216" cy="8032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3200" b="1" spc="27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Nossa proposta é calculada em cima do montante de trabalho, técnicas aplicadas e conhecimento necessário, e por fim balizada pelo retorno que a organização terá, ficando então no seguinte valor</a:t>
            </a:r>
            <a:r>
              <a:rPr sz="3200" b="1" spc="27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:</a:t>
            </a:r>
          </a:p>
          <a:p xmlns:a="http://schemas.openxmlformats.org/drawingml/2006/main"/>
          <a:p xmlns:a="http://schemas.openxmlformats.org/drawingml/2006/main">
            <a:pPr marL="457200" indent="-457200">
              <a:lnSpc>
                <a:spcPts val="5401"/>
              </a:lnSpc>
              <a:buChar char="è"/>
            </a:pPr>
            <a:r>
              <a:rPr sz="4400" b="1" spc="27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 R$ 6.500,00 (seis mil e quinhentos reais)</a:t>
            </a:r>
          </a:p>
          <a:p xmlns:a="http://schemas.openxmlformats.org/drawingml/2006/main">
            <a:pPr marL="457200" indent="-457200">
              <a:lnSpc>
                <a:spcPts val="5401"/>
              </a:lnSpc>
              <a:buChar char="è"/>
            </a:pPr>
          </a:p>
          <a:p xmlns:a="http://schemas.openxmlformats.org/drawingml/2006/main">
            <a:pPr marL="457200" indent="-457200">
              <a:lnSpc>
                <a:spcPts val="5401"/>
              </a:lnSpc>
              <a:buChar char="è"/>
            </a:pPr>
            <a:r>
              <a:rPr sz="3600" b="1" spc="27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 Forma de Pagamento:</a:t>
            </a:r>
          </a:p>
          <a:p xmlns:a="http://schemas.openxmlformats.org/drawingml/2006/main">
            <a:pPr marL="457200" indent="-457200">
              <a:lnSpc>
                <a:spcPts val="5401"/>
              </a:lnSpc>
              <a:buChar char="è"/>
            </a:pPr>
          </a:p>
          <a:p xmlns:a="http://schemas.openxmlformats.org/drawingml/2006/main">
            <a:pPr marL="457200" indent="-457200">
              <a:lnSpc>
                <a:spcPts val="5401"/>
              </a:lnSpc>
              <a:buChar char="è"/>
            </a:pPr>
            <a:r>
              <a:rPr sz="3600" b="1" spc="27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> 50% no início dos trabalhos e 50% na entrega do relatório final.</a:t>
            </a:r>
          </a:p>
          <a:p xmlns:a="http://schemas.openxmlformats.org/drawingml/2006/main"/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684AC12-2B84-4180-AE63-8499054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82378" y="4709160"/>
            <a:ext cx="973645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INVESTIMENTO</a:t>
            </a:r>
          </a:p>
        </p:txBody>
      </p:sp>
    </p:spTree>
    <p:extLst>
      <p:ext uri="{BB962C8B-B14F-4D97-AF65-F5344CB8AC3E}">
        <p14:creationId xmlns:p14="http://schemas.microsoft.com/office/powerpoint/2010/main" val="5137128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C8563A8-6C69-43AC-B1D8-0569370E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8f21d78cd94861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721B616-5D88-48EA-998F-FA1B29B6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6fc90256344936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3FA9CD1-7F21-4AAD-BD21-1D5BC830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4" y="1585699"/>
            <a:ext cx="6524344" cy="232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 spc="400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Atendimento Híbrido: </a:t>
            </a:r>
            <a:r>
              <a:rPr sz="5000" b="1" spc="400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Remoto e Presencial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6820659-98E1-477C-B65A-65D4A190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4" y="1000125"/>
            <a:ext cx="6524344" cy="453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88"/>
              </a:lnSpc>
              <a:buNone/>
            </a:pPr>
            <a:r>
              <a:rPr sz="2800" spc="14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trabalhamos: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EE97A02-8035-4836-8BE4-C25D33F0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484" y="2044639"/>
            <a:ext cx="9767183" cy="6197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395"/>
              </a:lnSpc>
              <a:buNone/>
            </a:pPr>
            <a:r>
              <a:rPr sz="3853" spc="192">
                <a:solidFill>
                  <a:srgbClr val="39F2AE"/>
                </a:solidFill>
                <a:latin typeface="Poppins 1 Bold Italics"/>
                <a:ea typeface="Poppins 1 Bold Italics"/>
                <a:cs typeface="Poppins 1 Bold Italics"/>
              </a:rPr>
              <a:t>Acreditamos que a combinação entre a disponibilidade e a acessibilidade proporcionadas pela tecnologia, </a:t>
            </a:r>
            <a:r>
              <a:rPr sz="3853" spc="192">
                <a:solidFill>
                  <a:srgbClr val="E6C63F"/>
                </a:solidFill>
                <a:latin typeface="Poppins 1 Bold Italics"/>
                <a:ea typeface="Poppins 1 Bold Italics"/>
                <a:cs typeface="Poppins 1 Bold Italics"/>
              </a:rPr>
              <a:t>aliadas à presença física — essencial para compreender os aspectos não verbais de uma organização </a:t>
            </a:r>
            <a:r>
              <a:rPr sz="3853" spc="192">
                <a:solidFill>
                  <a:schemeClr val="bg1"/>
                </a:solidFill>
                <a:latin typeface="Poppins 1 Bold Italics"/>
                <a:ea typeface="Poppins 1 Bold Italics"/>
                <a:cs typeface="Poppins 1 Bold Italics"/>
              </a:rPr>
              <a:t>— é a chave para gerar eficiência e resultados consistentes.</a:t>
            </a:r>
          </a:p>
        </p:txBody>
      </p:sp>
    </p:spTree>
    <p:extLst>
      <p:ext uri="{BB962C8B-B14F-4D97-AF65-F5344CB8AC3E}">
        <p14:creationId xmlns:p14="http://schemas.microsoft.com/office/powerpoint/2010/main" val="9473746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C8B8CDE-06DC-427C-A7F2-56B8AC33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ebc4edb6a1b4654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6DCE537-479A-4CBD-ADB6-4C08B5FB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94424" y="5401845"/>
            <a:ext cx="9438424" cy="2027655"/>
          </a:xfrm>
          <a:custGeom xmlns:a="http://schemas.openxmlformats.org/drawingml/2006/main">
            <a:rect l="l" t="t" r="r" b="b"/>
            <a:pathLst>
              <a:path w="2485840" h="534033">
                <a:moveTo>
                  <a:pt x="41833" y="0"/>
                </a:moveTo>
                <a:lnTo>
                  <a:pt x="2444007" y="0"/>
                </a:lnTo>
                <a:cubicBezTo>
                  <a:pt x="2455102" y="0"/>
                  <a:pt x="2465742" y="4407"/>
                  <a:pt x="2473587" y="12253"/>
                </a:cubicBezTo>
                <a:cubicBezTo>
                  <a:pt x="2481432" y="20098"/>
                  <a:pt x="2485840" y="30738"/>
                  <a:pt x="2485840" y="41833"/>
                </a:cubicBezTo>
                <a:lnTo>
                  <a:pt x="2485840" y="492200"/>
                </a:lnTo>
                <a:cubicBezTo>
                  <a:pt x="2485840" y="515303"/>
                  <a:pt x="2467111" y="534033"/>
                  <a:pt x="2444007" y="534033"/>
                </a:cubicBezTo>
                <a:lnTo>
                  <a:pt x="41833" y="534033"/>
                </a:lnTo>
                <a:cubicBezTo>
                  <a:pt x="18729" y="534033"/>
                  <a:pt x="0" y="515303"/>
                  <a:pt x="0" y="492200"/>
                </a:cubicBezTo>
                <a:lnTo>
                  <a:pt x="0" y="41833"/>
                </a:lnTo>
                <a:cubicBezTo>
                  <a:pt x="0" y="18729"/>
                  <a:pt x="18729" y="0"/>
                  <a:pt x="4183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301D3F9-30FA-483E-9F2C-D004AE36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94424" y="5112524"/>
            <a:ext cx="9438424" cy="23169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6B1F892-8DEE-44CE-9E6B-B7803D6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537502"/>
            <a:ext cx="7899408" cy="175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80"/>
              </a:lnSpc>
              <a:buNone/>
            </a:pPr>
            <a:r>
              <a:rPr sz="5613" b="1" spc="572">
                <a:solidFill>
                  <a:srgbClr val="FFFFFF"/>
                </a:solidFill>
                <a:latin typeface="Poppins 2 Bold"/>
                <a:ea typeface="Poppins 2 Bold"/>
                <a:cs typeface="Poppins 2 Bold"/>
              </a:rPr>
              <a:t>A MELHOR VERSÃO DE SI MESMA!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B05CD8F-EC84-4D3F-A61F-748ECEF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4002"/>
            <a:ext cx="11849100" cy="2988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879"/>
              </a:lnSpc>
              <a:spcBef>
                <a:spcPts val="0"/>
              </a:spcBef>
              <a:buNone/>
            </a:pPr>
            <a:r>
              <a:rPr sz="4199" b="1" spc="335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Após essa primeira fase, podemos avançar </a:t>
            </a:r>
            <a:r>
              <a:rPr sz="4199" b="1" spc="335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em nossa </a:t>
            </a:r>
            <a:r>
              <a:rPr sz="4199" b="1" spc="335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parceria, </a:t>
            </a:r>
            <a:r>
              <a:rPr sz="4199" b="1" spc="335">
                <a:solidFill>
                  <a:srgbClr val="39F2AE"/>
                </a:solidFill>
                <a:latin typeface="Poppins 1 Bold"/>
                <a:ea typeface="Poppins 1 Bold"/>
                <a:cs typeface="Poppins 1 Bold"/>
              </a:rPr>
              <a:t>estruturando ou reestruturando sua empresa para que ela se torne:</a:t>
            </a:r>
          </a:p>
        </p:txBody>
      </p:sp>
      <p:sp>
        <p:nvSpPr>
          <p:cNvPr id="10" name="TextBox 7">
            <a:extLst xmlns:a="http://schemas.openxmlformats.org/drawingml/2006/main">
              <a:ext uri="{FF2B5EF4-FFF2-40B4-BE49-F238E27FC236}">
                <a16:creationId xmlns:a16="http://schemas.microsoft.com/office/drawing/2014/main" id="{F23B9A2C-2F7D-B03C-64B0-9E6588BD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296" y="7962900"/>
            <a:ext cx="7899408" cy="15299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021"/>
              </a:lnSpc>
              <a:buNone/>
            </a:pPr>
            <a:r>
              <a:rPr sz="3323" spc="166">
                <a:solidFill>
                  <a:srgbClr val="39F2AE"/>
                </a:solidFill>
                <a:latin typeface="Poppins 2"/>
                <a:ea typeface="Poppins 2"/>
                <a:cs typeface="Poppins 2"/>
              </a:rPr>
              <a:t>Saiba como em:</a:t>
            </a:r>
          </a:p>
          <a:p xmlns:a="http://schemas.openxmlformats.org/drawingml/2006/main">
            <a:pPr algn="ctr">
              <a:lnSpc>
                <a:spcPts val="4021"/>
              </a:lnSpc>
              <a:buNone/>
            </a:pPr>
          </a:p>
          <a:p xmlns:a="http://schemas.openxmlformats.org/drawingml/2006/main">
            <a:pPr algn="ctr">
              <a:lnSpc>
                <a:spcPts val="4021"/>
              </a:lnSpc>
              <a:buNone/>
            </a:pPr>
            <a:r>
              <a:rPr sz="3323" spc="166">
                <a:solidFill>
                  <a:srgbClr val="39F2AE"/>
                </a:solidFill>
                <a:latin typeface="Poppins 2"/>
                <a:ea typeface="Poppins 2"/>
                <a:cs typeface="Poppins 2"/>
              </a:rPr>
              <a:t>phub.gestaoversus.com.br</a:t>
            </a:r>
          </a:p>
        </p:txBody>
      </p:sp>
    </p:spTree>
    <p:extLst>
      <p:ext uri="{BB962C8B-B14F-4D97-AF65-F5344CB8AC3E}">
        <p14:creationId xmlns:p14="http://schemas.microsoft.com/office/powerpoint/2010/main" val="2052986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649BEAF-4E56-4178-80A5-5692DE56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073" y="6972300"/>
            <a:ext cx="9696575" cy="2653633"/>
          </a:xfrm>
          <a:custGeom xmlns:a="http://schemas.openxmlformats.org/drawingml/2006/main">
            <a:rect l="l" t="t" r="r" b="b"/>
            <a:pathLst>
              <a:path w="9696575" h="2653633">
                <a:moveTo>
                  <a:pt x="0" y="0"/>
                </a:moveTo>
                <a:lnTo>
                  <a:pt x="9696575" y="0"/>
                </a:lnTo>
                <a:lnTo>
                  <a:pt x="9696575" y="2653633"/>
                </a:lnTo>
                <a:lnTo>
                  <a:pt x="0" y="26536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453f48e8f54c15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1044DAD-82DD-4AAA-B641-02C41B4F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8846"/>
            <a:ext cx="16116300" cy="3693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rPr sz="4800" b="1" spc="150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Qualquer dúvida adicional estamos à disposição!</a:t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br/>
            <a:r>
              <a:rPr sz="3000" spc="15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Caso já se sinta a vontade, responda esta mensagem com o </a:t>
            </a:r>
            <a:r>
              <a:rPr sz="3000" spc="15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CNPJ e e-mail da empresa</a:t>
            </a:r>
            <a:r>
              <a:rPr sz="3000" spc="15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 que</a:t>
            </a:r>
            <a:r>
              <a:rPr sz="3000" spc="15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 iremos preparar o contrato para iniciarmos essa parceria de sucesso de imediato!</a:t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</a:p>
          <a:p xmlns:a="http://schemas.openxmlformats.org/drawingml/2006/main">
            <a:pPr algn="ctr">
              <a:lnSpc>
                <a:spcPts val="3629"/>
              </a:lnSpc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2EED67B-0AF4-4EF4-8000-8530DBD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87936"/>
            <a:ext cx="452263" cy="2632364"/>
          </a:xfrm>
          <a:custGeom xmlns:a="http://schemas.openxmlformats.org/drawingml/2006/main">
            <a:rect l="l" t="t" r="r" b="b"/>
            <a:pathLst>
              <a:path w="452263" h="2632364">
                <a:moveTo>
                  <a:pt x="0" y="0"/>
                </a:moveTo>
                <a:lnTo>
                  <a:pt x="452263" y="0"/>
                </a:lnTo>
                <a:lnTo>
                  <a:pt x="452263" y="2632364"/>
                </a:lnTo>
                <a:lnTo>
                  <a:pt x="0" y="263236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f731c660a0f43ea"/>
            <a:stretch>
              <a:fillRect l="-20394" t="0" r="-207004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D4C85F7-8DAB-45A8-8556-5493A06D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4378"/>
            <a:ext cx="10020300" cy="1117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71"/>
              </a:lnSpc>
              <a:buNone/>
            </a:pPr>
            <a:r>
              <a:rPr sz="3765" b="1" spc="131">
                <a:solidFill>
                  <a:srgbClr val="E6C63F"/>
                </a:solidFill>
                <a:latin typeface="Poppins 1 Medium"/>
                <a:ea typeface="Poppins 1 Medium"/>
                <a:cs typeface="Poppins 1 Medium"/>
              </a:rPr>
              <a:t>Fabiano Ferreira</a:t>
            </a:r>
          </a:p>
          <a:p xmlns:a="http://schemas.openxmlformats.org/drawingml/2006/main">
            <a:pPr algn="l">
              <a:lnSpc>
                <a:spcPts val="3568"/>
              </a:lnSpc>
              <a:buNone/>
            </a:pPr>
            <a:r>
              <a:rPr sz="2548" b="1" spc="89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fabiano@gestaoversus.com.br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35DEFA0-2DEB-4086-B597-FABC993F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7440680"/>
            <a:ext cx="5133350" cy="456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23"/>
              </a:lnSpc>
              <a:buNone/>
            </a:pPr>
            <a:r>
              <a:rPr sz="2011" b="1" spc="7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(71) 9 9642-6565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7CFDF4D-46FA-4FD4-A004-0B027A09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031163"/>
            <a:ext cx="23646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 spc="7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@gestaoversus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9CA7096-73B2-4B3C-864B-96CD989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510976"/>
            <a:ext cx="3463161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 spc="7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gestaoversusoficial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84A1E5C-9D58-4446-B016-D2A447E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9481775"/>
            <a:ext cx="49368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 spc="7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facebook.com/</a:t>
            </a:r>
            <a:r>
              <a:rPr sz="2011" b="1" spc="7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VersusConsultoria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784B3633-9009-4E32-BB9C-F258F13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996375"/>
            <a:ext cx="36507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 spc="70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www.gestaoversus.com.br</a:t>
            </a:r>
          </a:p>
        </p:txBody>
      </p:sp>
      <p:sp>
        <p:nvSpPr>
          <p:cNvPr id="12" name="TextBox 4">
            <a:extLst xmlns:a="http://schemas.openxmlformats.org/drawingml/2006/main">
              <a:ext uri="{FF2B5EF4-FFF2-40B4-BE49-F238E27FC236}">
                <a16:creationId xmlns:a16="http://schemas.microsoft.com/office/drawing/2014/main" id="{9F0C2C6A-B11F-A20E-509C-9993C681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93833"/>
            <a:ext cx="16116300" cy="5186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rPr sz="4800" spc="15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838488158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2026-05-25T14:30:13.0900000Z</dcterms:created>
  <dcterms:modified xsi:type="dcterms:W3CDTF">2026-05-25T14:30:13.0910000Z</dcterms:modified>
</coreProperties>
</file>