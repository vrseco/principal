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94658"/>
  </p:normalViewPr>
  <p:slideViewPr>
    <p:cSldViewPr snapToGrid="0">
      <p:cViewPr varScale="1">
        <p:scale>
          <a:sx n="52" d="100"/>
          <a:sy n="52" d="100"/>
        </p:scale>
        <p:origin x="61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EAF2F59F-B694-4090-9D8E-63C9A077AB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324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CB741AE-B8B3-401A-BB9F-688A27526F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334000" cy="5334000"/>
          </a:xfrm>
          <a:prstGeom prst="roundRect">
            <a:avLst>
              <a:gd name="adj" fmla="val 50000"/>
            </a:avLst>
          </a:prstGeom>
          <a:solidFill>
            <a:srgbClr val="17355E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0CFD05-8887-4B9F-891C-652B4503CC30}"/>
              </a:ext>
            </a:extLst>
          </p:cNvPr>
          <p:cNvSpPr>
            <a:spLocks noGrp="1"/>
          </p:cNvSpPr>
          <p:nvPr/>
        </p:nvSpPr>
        <p:spPr>
          <a:xfrm>
            <a:off x="876300" y="781050"/>
            <a:ext cx="16535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4B8A6"/>
                </a:solidFill>
              </a:defRPr>
            </a:pPr>
            <a:r>
              <a:rPr sz="1650" b="1" dirty="0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A51558-4255-4314-9AEB-E38FDE5AEAC3}"/>
              </a:ext>
            </a:extLst>
          </p:cNvPr>
          <p:cNvSpPr>
            <a:spLocks noGrp="1"/>
          </p:cNvSpPr>
          <p:nvPr/>
        </p:nvSpPr>
        <p:spPr>
          <a:xfrm>
            <a:off x="876300" y="1238250"/>
            <a:ext cx="108585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FFFFF"/>
                </a:solidFill>
              </a:defRPr>
            </a:pPr>
            <a:r>
              <a:rPr lang="pt-BR" sz="4650" b="1" dirty="0">
                <a:solidFill>
                  <a:srgbClr val="FFFFFF"/>
                </a:solidFill>
              </a:rPr>
              <a:t>Eletropostos para EV </a:t>
            </a:r>
            <a:r>
              <a:rPr lang="pt-BR" sz="2800" b="1" dirty="0">
                <a:solidFill>
                  <a:srgbClr val="FFFFFF"/>
                </a:solidFill>
              </a:rPr>
              <a:t>(veículos elétricos)</a:t>
            </a:r>
            <a:r>
              <a:rPr sz="4650" b="1" dirty="0">
                <a:solidFill>
                  <a:srgbClr val="FFFFFF"/>
                </a:solidFill>
              </a:rPr>
              <a:t>: </a:t>
            </a:r>
            <a:r>
              <a:rPr sz="4650" b="1" dirty="0" err="1">
                <a:solidFill>
                  <a:srgbClr val="FFFFFF"/>
                </a:solidFill>
              </a:rPr>
              <a:t>visão</a:t>
            </a:r>
            <a:r>
              <a:rPr sz="4650" b="1" dirty="0">
                <a:solidFill>
                  <a:srgbClr val="FFFFFF"/>
                </a:solidFill>
              </a:rPr>
              <a:t> para </a:t>
            </a:r>
            <a:r>
              <a:rPr sz="4650" b="1" dirty="0" err="1">
                <a:solidFill>
                  <a:srgbClr val="FFFFFF"/>
                </a:solidFill>
              </a:rPr>
              <a:t>investidores</a:t>
            </a:r>
            <a:endParaRPr sz="4650" b="1" dirty="0">
              <a:solidFill>
                <a:srgbClr val="FFFFFF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D81380-9088-4047-AC84-4C6093269D1D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9715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Empresa, produtos, estrutura, cenários de resultado, investimento e retorno do investidor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B47F211-E18C-4F03-BB45-796BC0321CD4}"/>
              </a:ext>
            </a:extLst>
          </p:cNvPr>
          <p:cNvSpPr>
            <a:spLocks noGrp="1"/>
          </p:cNvSpPr>
          <p:nvPr/>
        </p:nvSpPr>
        <p:spPr>
          <a:xfrm>
            <a:off x="876300" y="3840971"/>
            <a:ext cx="10756106" cy="1409700"/>
          </a:xfrm>
          <a:prstGeom prst="roundRect">
            <a:avLst>
              <a:gd name="adj" fmla="val 14865"/>
            </a:avLst>
          </a:prstGeom>
          <a:solidFill>
            <a:srgbClr val="162748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6A37D62-C394-42F4-9419-E5E28BA48756}"/>
              </a:ext>
            </a:extLst>
          </p:cNvPr>
          <p:cNvSpPr>
            <a:spLocks noGrp="1"/>
          </p:cNvSpPr>
          <p:nvPr/>
        </p:nvSpPr>
        <p:spPr>
          <a:xfrm>
            <a:off x="1104900" y="4023851"/>
            <a:ext cx="103060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lang="pt-BR" sz="2250" b="1" dirty="0">
                <a:solidFill>
                  <a:srgbClr val="FFFFFF"/>
                </a:solidFill>
              </a:rPr>
              <a:t>A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operação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foi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desenhada</a:t>
            </a:r>
            <a:r>
              <a:rPr sz="2250" b="1" dirty="0">
                <a:solidFill>
                  <a:srgbClr val="FFFFFF"/>
                </a:solidFill>
              </a:rPr>
              <a:t> com 06 </a:t>
            </a:r>
            <a:r>
              <a:rPr sz="2250" b="1" dirty="0" err="1">
                <a:solidFill>
                  <a:srgbClr val="FFFFFF"/>
                </a:solidFill>
              </a:rPr>
              <a:t>produtos</a:t>
            </a:r>
            <a:r>
              <a:rPr sz="2250" b="1" dirty="0">
                <a:solidFill>
                  <a:srgbClr val="FFFFFF"/>
                </a:solidFill>
              </a:rPr>
              <a:t>, mas a </a:t>
            </a:r>
            <a:r>
              <a:rPr sz="2250" b="1" dirty="0" err="1">
                <a:solidFill>
                  <a:srgbClr val="FFFFFF"/>
                </a:solidFill>
              </a:rPr>
              <a:t>modelagem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atual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considera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apenas</a:t>
            </a:r>
            <a:r>
              <a:rPr sz="2250" b="1" dirty="0">
                <a:solidFill>
                  <a:srgbClr val="FFFFFF"/>
                </a:solidFill>
              </a:rPr>
              <a:t> 03. </a:t>
            </a:r>
            <a:r>
              <a:rPr sz="2250" b="1" dirty="0" err="1">
                <a:solidFill>
                  <a:srgbClr val="FFFFFF"/>
                </a:solidFill>
              </a:rPr>
              <a:t>Isso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torna</a:t>
            </a:r>
            <a:r>
              <a:rPr sz="2250" b="1" dirty="0">
                <a:solidFill>
                  <a:srgbClr val="FFFFFF"/>
                </a:solidFill>
              </a:rPr>
              <a:t> a </a:t>
            </a:r>
            <a:r>
              <a:rPr sz="2250" b="1" dirty="0" err="1">
                <a:solidFill>
                  <a:srgbClr val="FFFFFF"/>
                </a:solidFill>
              </a:rPr>
              <a:t>tese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financeira</a:t>
            </a:r>
            <a:r>
              <a:rPr sz="2250" b="1" dirty="0">
                <a:solidFill>
                  <a:srgbClr val="FFFFFF"/>
                </a:solidFill>
              </a:rPr>
              <a:t> </a:t>
            </a:r>
            <a:r>
              <a:rPr sz="2250" b="1" dirty="0" err="1">
                <a:solidFill>
                  <a:srgbClr val="FFFFFF"/>
                </a:solidFill>
              </a:rPr>
              <a:t>conservadora</a:t>
            </a:r>
            <a:r>
              <a:rPr sz="2250" b="1" dirty="0">
                <a:solidFill>
                  <a:srgbClr val="FFFFFF"/>
                </a:solidFill>
              </a:rPr>
              <a:t> e </a:t>
            </a:r>
            <a:r>
              <a:rPr sz="2250" b="1" dirty="0" err="1">
                <a:solidFill>
                  <a:srgbClr val="FFFFFF"/>
                </a:solidFill>
              </a:rPr>
              <a:t>preserva</a:t>
            </a:r>
            <a:r>
              <a:rPr sz="2250" b="1" dirty="0">
                <a:solidFill>
                  <a:srgbClr val="FFFFFF"/>
                </a:solidFill>
              </a:rPr>
              <a:t> upside </a:t>
            </a:r>
            <a:r>
              <a:rPr sz="2250" b="1" dirty="0" err="1">
                <a:solidFill>
                  <a:srgbClr val="FFFFFF"/>
                </a:solidFill>
              </a:rPr>
              <a:t>relevante</a:t>
            </a:r>
            <a:r>
              <a:rPr sz="2250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6900E4C-F6DB-4083-8722-A6ACD30EE528}"/>
              </a:ext>
            </a:extLst>
          </p:cNvPr>
          <p:cNvSpPr>
            <a:spLocks noGrp="1"/>
          </p:cNvSpPr>
          <p:nvPr/>
        </p:nvSpPr>
        <p:spPr>
          <a:xfrm>
            <a:off x="876300" y="5460221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0F766E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40F05C3-E937-4F20-95CC-ED0C0E9AB1E3}"/>
              </a:ext>
            </a:extLst>
          </p:cNvPr>
          <p:cNvSpPr>
            <a:spLocks noGrp="1"/>
          </p:cNvSpPr>
          <p:nvPr/>
        </p:nvSpPr>
        <p:spPr>
          <a:xfrm>
            <a:off x="1028700" y="5560756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35EBD00-D96E-41F2-A248-9FA9265C6717}"/>
              </a:ext>
            </a:extLst>
          </p:cNvPr>
          <p:cNvSpPr>
            <a:spLocks noGrp="1"/>
          </p:cNvSpPr>
          <p:nvPr/>
        </p:nvSpPr>
        <p:spPr>
          <a:xfrm>
            <a:off x="5048250" y="5460221"/>
            <a:ext cx="3619500" cy="579120"/>
          </a:xfrm>
          <a:prstGeom prst="roundRect">
            <a:avLst>
              <a:gd name="adj" fmla="val 26316"/>
            </a:avLst>
          </a:prstGeom>
          <a:solidFill>
            <a:srgbClr val="1D4ED8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790D82-0D32-4E5B-922A-7F6AFE50B6B2}"/>
              </a:ext>
            </a:extLst>
          </p:cNvPr>
          <p:cNvSpPr>
            <a:spLocks noGrp="1"/>
          </p:cNvSpPr>
          <p:nvPr/>
        </p:nvSpPr>
        <p:spPr>
          <a:xfrm>
            <a:off x="5200650" y="5560756"/>
            <a:ext cx="3314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R$ 11,0 mi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DD31F58-D164-4CA9-A764-2CDE437CD234}"/>
              </a:ext>
            </a:extLst>
          </p:cNvPr>
          <p:cNvSpPr>
            <a:spLocks noGrp="1"/>
          </p:cNvSpPr>
          <p:nvPr/>
        </p:nvSpPr>
        <p:spPr>
          <a:xfrm>
            <a:off x="8839200" y="5415976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B45309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E58F1B6-136B-4F72-AF18-4C91A36ECA79}"/>
              </a:ext>
            </a:extLst>
          </p:cNvPr>
          <p:cNvSpPr>
            <a:spLocks noGrp="1"/>
          </p:cNvSpPr>
          <p:nvPr/>
        </p:nvSpPr>
        <p:spPr>
          <a:xfrm>
            <a:off x="8962104" y="5560756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Payback-base: </a:t>
            </a:r>
            <a:r>
              <a:rPr sz="1800" b="1" dirty="0" err="1">
                <a:solidFill>
                  <a:srgbClr val="FFFFFF"/>
                </a:solidFill>
              </a:rPr>
              <a:t>até</a:t>
            </a:r>
            <a:r>
              <a:rPr sz="1800" b="1" dirty="0">
                <a:solidFill>
                  <a:srgbClr val="FFFFFF"/>
                </a:solidFill>
              </a:rPr>
              <a:t> 18 meses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4F85200-3AAC-4C8F-B533-217F02166AF1}"/>
              </a:ext>
            </a:extLst>
          </p:cNvPr>
          <p:cNvSpPr>
            <a:spLocks noGrp="1"/>
          </p:cNvSpPr>
          <p:nvPr/>
        </p:nvSpPr>
        <p:spPr>
          <a:xfrm>
            <a:off x="876300" y="6252701"/>
            <a:ext cx="16535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94A3B8"/>
                </a:solidFill>
              </a:defRPr>
            </a:pPr>
            <a:r>
              <a:rPr sz="1350" b="0" dirty="0" err="1">
                <a:solidFill>
                  <a:srgbClr val="94A3B8"/>
                </a:solidFill>
              </a:rPr>
              <a:t>Elaboração</a:t>
            </a:r>
            <a:r>
              <a:rPr sz="1350" b="0" dirty="0">
                <a:solidFill>
                  <a:srgbClr val="94A3B8"/>
                </a:solidFill>
              </a:rPr>
              <a:t> </a:t>
            </a:r>
            <a:r>
              <a:rPr sz="1350" b="0" dirty="0" err="1">
                <a:solidFill>
                  <a:srgbClr val="94A3B8"/>
                </a:solidFill>
              </a:rPr>
              <a:t>executiva</a:t>
            </a:r>
            <a:r>
              <a:rPr sz="1350" b="0" dirty="0">
                <a:solidFill>
                  <a:srgbClr val="94A3B8"/>
                </a:solidFill>
              </a:rPr>
              <a:t> | </a:t>
            </a:r>
            <a:r>
              <a:rPr sz="1350" b="0" dirty="0" err="1">
                <a:solidFill>
                  <a:srgbClr val="94A3B8"/>
                </a:solidFill>
              </a:rPr>
              <a:t>maio</a:t>
            </a:r>
            <a:r>
              <a:rPr sz="1350" b="0" dirty="0">
                <a:solidFill>
                  <a:srgbClr val="94A3B8"/>
                </a:solidFill>
              </a:rPr>
              <a:t>/2026</a:t>
            </a:r>
          </a:p>
        </p:txBody>
      </p:sp>
    </p:spTree>
    <p:extLst>
      <p:ext uri="{BB962C8B-B14F-4D97-AF65-F5344CB8AC3E}">
        <p14:creationId xmlns:p14="http://schemas.microsoft.com/office/powerpoint/2010/main" val="160000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FF9F9404-F300-4853-AB4F-5E1857A404EC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 dirty="0">
                <a:solidFill>
                  <a:srgbClr val="0B1324"/>
                </a:solidFill>
              </a:rPr>
              <a:t>1. A </a:t>
            </a:r>
            <a:r>
              <a:rPr sz="3000" b="1" dirty="0" err="1">
                <a:solidFill>
                  <a:srgbClr val="0B1324"/>
                </a:solidFill>
              </a:rPr>
              <a:t>empresa</a:t>
            </a:r>
            <a:endParaRPr sz="3000" b="1" dirty="0">
              <a:solidFill>
                <a:srgbClr val="0B1324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8A0512F-48BF-42B5-9011-55927ABF3884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4635B41-8FA5-4507-AB80-82CDACEFF414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70104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do núcleo societário, valores e objetivos financeiros presentes no relatório.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0590503-8576-4BC8-90C3-67AB72694912}"/>
              </a:ext>
            </a:extLst>
          </p:cNvPr>
          <p:cNvSpPr>
            <a:spLocks noGrp="1"/>
          </p:cNvSpPr>
          <p:nvPr/>
        </p:nvSpPr>
        <p:spPr>
          <a:xfrm>
            <a:off x="838200" y="205549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A64C22-0DF4-4871-8A74-077223E07952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lang="pt-BR" sz="1575" b="1" dirty="0">
                <a:solidFill>
                  <a:srgbClr val="475569"/>
                </a:solidFill>
              </a:rPr>
              <a:t>Gestão e </a:t>
            </a:r>
            <a:r>
              <a:rPr lang="pt-BR" sz="1575" b="1" dirty="0" err="1">
                <a:solidFill>
                  <a:srgbClr val="475569"/>
                </a:solidFill>
              </a:rPr>
              <a:t>Governaça</a:t>
            </a:r>
            <a:endParaRPr sz="1575" b="1" dirty="0">
              <a:solidFill>
                <a:srgbClr val="475569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8842FE3-678C-4DCB-ACEC-118AFF345149}"/>
              </a:ext>
            </a:extLst>
          </p:cNvPr>
          <p:cNvSpPr>
            <a:spLocks noGrp="1"/>
          </p:cNvSpPr>
          <p:nvPr/>
        </p:nvSpPr>
        <p:spPr>
          <a:xfrm>
            <a:off x="1066800" y="2561610"/>
            <a:ext cx="4972050" cy="16363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lang="pt-BR" sz="2700" b="1" dirty="0">
                <a:solidFill>
                  <a:srgbClr val="0B1324"/>
                </a:solidFill>
              </a:rPr>
              <a:t>Previsão de conselho de administração, diretoria e gerências (</a:t>
            </a:r>
            <a:r>
              <a:rPr lang="pt-BR" sz="2700" b="1" dirty="0" err="1">
                <a:solidFill>
                  <a:srgbClr val="0B1324"/>
                </a:solidFill>
              </a:rPr>
              <a:t>coml</a:t>
            </a:r>
            <a:r>
              <a:rPr lang="pt-BR" sz="2700" b="1" dirty="0">
                <a:solidFill>
                  <a:srgbClr val="0B1324"/>
                </a:solidFill>
              </a:rPr>
              <a:t>, operacional, </a:t>
            </a:r>
            <a:r>
              <a:rPr lang="pt-BR" sz="2700" b="1" dirty="0" err="1">
                <a:solidFill>
                  <a:srgbClr val="0B1324"/>
                </a:solidFill>
              </a:rPr>
              <a:t>adm-fin</a:t>
            </a:r>
            <a:r>
              <a:rPr lang="pt-BR" sz="2700" b="1" dirty="0">
                <a:solidFill>
                  <a:srgbClr val="0B1324"/>
                </a:solidFill>
              </a:rPr>
              <a:t>)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A7DF22C-DF31-4551-88F2-4AF0ED41EC7A}"/>
              </a:ext>
            </a:extLst>
          </p:cNvPr>
          <p:cNvSpPr>
            <a:spLocks noGrp="1"/>
          </p:cNvSpPr>
          <p:nvPr/>
        </p:nvSpPr>
        <p:spPr>
          <a:xfrm>
            <a:off x="6445250" y="205549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60D8D5F-8643-4BC8-9D3B-AFEF49376727}"/>
              </a:ext>
            </a:extLst>
          </p:cNvPr>
          <p:cNvSpPr>
            <a:spLocks noGrp="1"/>
          </p:cNvSpPr>
          <p:nvPr/>
        </p:nvSpPr>
        <p:spPr>
          <a:xfrm>
            <a:off x="6648450" y="2266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Liderança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FC4A499-89D5-4130-866C-282731EC2C12}"/>
              </a:ext>
            </a:extLst>
          </p:cNvPr>
          <p:cNvSpPr>
            <a:spLocks noGrp="1"/>
          </p:cNvSpPr>
          <p:nvPr/>
        </p:nvSpPr>
        <p:spPr>
          <a:xfrm>
            <a:off x="6648450" y="2609850"/>
            <a:ext cx="49720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César Lisboa </a:t>
            </a:r>
            <a:r>
              <a:rPr sz="2700" b="1" dirty="0" err="1">
                <a:solidFill>
                  <a:srgbClr val="0B1324"/>
                </a:solidFill>
              </a:rPr>
              <a:t>na</a:t>
            </a:r>
            <a:r>
              <a:rPr sz="2700" b="1" dirty="0">
                <a:solidFill>
                  <a:srgbClr val="0B1324"/>
                </a:solidFill>
              </a:rPr>
              <a:t> </a:t>
            </a:r>
            <a:r>
              <a:rPr sz="2700" b="1" dirty="0" err="1">
                <a:solidFill>
                  <a:srgbClr val="0B1324"/>
                </a:solidFill>
              </a:rPr>
              <a:t>condução</a:t>
            </a:r>
            <a:r>
              <a:rPr lang="pt-BR" sz="2700" b="1" dirty="0">
                <a:solidFill>
                  <a:srgbClr val="0B1324"/>
                </a:solidFill>
              </a:rPr>
              <a:t> </a:t>
            </a:r>
            <a:r>
              <a:rPr sz="2700" b="1" dirty="0" err="1">
                <a:solidFill>
                  <a:srgbClr val="0B1324"/>
                </a:solidFill>
              </a:rPr>
              <a:t>estratégica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642A598-C492-46D9-8B4D-B2B902B39D20}"/>
              </a:ext>
            </a:extLst>
          </p:cNvPr>
          <p:cNvSpPr>
            <a:spLocks noGrp="1"/>
          </p:cNvSpPr>
          <p:nvPr/>
        </p:nvSpPr>
        <p:spPr>
          <a:xfrm>
            <a:off x="12052300" y="205549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5057944-8948-4216-AF81-43714DBFEE2B}"/>
              </a:ext>
            </a:extLst>
          </p:cNvPr>
          <p:cNvSpPr>
            <a:spLocks noGrp="1"/>
          </p:cNvSpPr>
          <p:nvPr/>
        </p:nvSpPr>
        <p:spPr>
          <a:xfrm>
            <a:off x="12268200" y="22669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D6405F4-0D68-4738-9A28-E281261084AA}"/>
              </a:ext>
            </a:extLst>
          </p:cNvPr>
          <p:cNvSpPr>
            <a:spLocks noGrp="1"/>
          </p:cNvSpPr>
          <p:nvPr/>
        </p:nvSpPr>
        <p:spPr>
          <a:xfrm>
            <a:off x="12268200" y="260985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63C4AC0-1942-4607-85E3-722D5CF57723}"/>
              </a:ext>
            </a:extLst>
          </p:cNvPr>
          <p:cNvSpPr>
            <a:spLocks noGrp="1"/>
          </p:cNvSpPr>
          <p:nvPr/>
        </p:nvSpPr>
        <p:spPr>
          <a:xfrm>
            <a:off x="838200" y="4493895"/>
            <a:ext cx="8191500" cy="5145405"/>
          </a:xfrm>
          <a:prstGeom prst="roundRect">
            <a:avLst>
              <a:gd name="adj" fmla="val 4073"/>
            </a:avLst>
          </a:prstGeom>
          <a:solidFill>
            <a:srgbClr val="F8FAFC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C86EDB5-4412-4673-BD17-FD9EF391F750}"/>
              </a:ext>
            </a:extLst>
          </p:cNvPr>
          <p:cNvSpPr>
            <a:spLocks noGrp="1"/>
          </p:cNvSpPr>
          <p:nvPr/>
        </p:nvSpPr>
        <p:spPr>
          <a:xfrm>
            <a:off x="1066800" y="472440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 dirty="0">
                <a:solidFill>
                  <a:srgbClr val="0B1324"/>
                </a:solidFill>
              </a:rPr>
              <a:t>Valores e </a:t>
            </a:r>
            <a:r>
              <a:rPr sz="2100" b="1" dirty="0" err="1">
                <a:solidFill>
                  <a:srgbClr val="0B1324"/>
                </a:solidFill>
              </a:rPr>
              <a:t>diretrizes</a:t>
            </a:r>
            <a:endParaRPr sz="2100" b="1" dirty="0">
              <a:solidFill>
                <a:srgbClr val="0B1324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38D0807-DDB5-4822-969C-F23D9503A8FB}"/>
              </a:ext>
            </a:extLst>
          </p:cNvPr>
          <p:cNvSpPr>
            <a:spLocks noGrp="1"/>
          </p:cNvSpPr>
          <p:nvPr/>
        </p:nvSpPr>
        <p:spPr>
          <a:xfrm>
            <a:off x="1066800" y="5181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 dirty="0">
                <a:solidFill>
                  <a:srgbClr val="475569"/>
                </a:solidFill>
              </a:rPr>
              <a:t>• </a:t>
            </a:r>
            <a:r>
              <a:rPr sz="1875" b="0" dirty="0" err="1">
                <a:solidFill>
                  <a:srgbClr val="475569"/>
                </a:solidFill>
              </a:rPr>
              <a:t>Respeito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aos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valores</a:t>
            </a:r>
            <a:r>
              <a:rPr sz="1875" b="0" dirty="0">
                <a:solidFill>
                  <a:srgbClr val="475569"/>
                </a:solidFill>
              </a:rPr>
              <a:t> do </a:t>
            </a:r>
            <a:r>
              <a:rPr sz="1875" b="0" dirty="0" err="1">
                <a:solidFill>
                  <a:srgbClr val="475569"/>
                </a:solidFill>
              </a:rPr>
              <a:t>negócio</a:t>
            </a:r>
            <a:r>
              <a:rPr sz="1875" b="0" dirty="0">
                <a:solidFill>
                  <a:srgbClr val="475569"/>
                </a:solidFill>
              </a:rPr>
              <a:t> e dos </a:t>
            </a:r>
            <a:r>
              <a:rPr sz="1875" b="0" dirty="0" err="1">
                <a:solidFill>
                  <a:srgbClr val="475569"/>
                </a:solidFill>
              </a:rPr>
              <a:t>sócios</a:t>
            </a:r>
            <a:r>
              <a:rPr sz="1875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70BC700-0B78-4534-B7BE-44BD37F67775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 dirty="0">
                <a:solidFill>
                  <a:srgbClr val="475569"/>
                </a:solidFill>
              </a:rPr>
              <a:t>• </a:t>
            </a:r>
            <a:r>
              <a:rPr sz="1875" b="0" dirty="0" err="1">
                <a:solidFill>
                  <a:srgbClr val="475569"/>
                </a:solidFill>
              </a:rPr>
              <a:t>Segurança</a:t>
            </a:r>
            <a:r>
              <a:rPr sz="1875" b="0" dirty="0">
                <a:solidFill>
                  <a:srgbClr val="475569"/>
                </a:solidFill>
              </a:rPr>
              <a:t> do </a:t>
            </a:r>
            <a:r>
              <a:rPr sz="1875" b="0" dirty="0" err="1">
                <a:solidFill>
                  <a:srgbClr val="475569"/>
                </a:solidFill>
              </a:rPr>
              <a:t>investimento</a:t>
            </a:r>
            <a:r>
              <a:rPr sz="1875" b="0" dirty="0">
                <a:solidFill>
                  <a:srgbClr val="475569"/>
                </a:solidFill>
              </a:rPr>
              <a:t> e da </a:t>
            </a:r>
            <a:r>
              <a:rPr sz="1875" b="0" dirty="0" err="1">
                <a:solidFill>
                  <a:srgbClr val="475569"/>
                </a:solidFill>
              </a:rPr>
              <a:t>operação</a:t>
            </a:r>
            <a:r>
              <a:rPr sz="1875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FE1DF10-62D9-488B-9096-2CBAB48F9728}"/>
              </a:ext>
            </a:extLst>
          </p:cNvPr>
          <p:cNvSpPr>
            <a:spLocks noGrp="1"/>
          </p:cNvSpPr>
          <p:nvPr/>
        </p:nvSpPr>
        <p:spPr>
          <a:xfrm>
            <a:off x="1066800" y="5943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 dirty="0">
                <a:solidFill>
                  <a:srgbClr val="475569"/>
                </a:solidFill>
              </a:rPr>
              <a:t>• </a:t>
            </a:r>
            <a:r>
              <a:rPr sz="1875" b="0" dirty="0" err="1">
                <a:solidFill>
                  <a:srgbClr val="475569"/>
                </a:solidFill>
              </a:rPr>
              <a:t>Prioridade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lang="pt-BR" sz="1875" dirty="0">
                <a:solidFill>
                  <a:srgbClr val="475569"/>
                </a:solidFill>
              </a:rPr>
              <a:t>da visão de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longo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prazo</a:t>
            </a:r>
            <a:r>
              <a:rPr sz="1875" b="0" dirty="0">
                <a:solidFill>
                  <a:srgbClr val="475569"/>
                </a:solidFill>
              </a:rPr>
              <a:t> e à </a:t>
            </a:r>
            <a:r>
              <a:rPr sz="1875" b="0" dirty="0" err="1">
                <a:solidFill>
                  <a:srgbClr val="475569"/>
                </a:solidFill>
              </a:rPr>
              <a:t>execução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por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etapas</a:t>
            </a:r>
            <a:r>
              <a:rPr sz="1875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D2BBE05-7F00-4AD5-84BB-84042AEC7758}"/>
              </a:ext>
            </a:extLst>
          </p:cNvPr>
          <p:cNvSpPr>
            <a:spLocks noGrp="1"/>
          </p:cNvSpPr>
          <p:nvPr/>
        </p:nvSpPr>
        <p:spPr>
          <a:xfrm>
            <a:off x="9258300" y="4493895"/>
            <a:ext cx="8191500" cy="5145405"/>
          </a:xfrm>
          <a:prstGeom prst="roundRect">
            <a:avLst>
              <a:gd name="adj" fmla="val 407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A5D7432-0A1E-418D-8AA7-217F69BEC30C}"/>
              </a:ext>
            </a:extLst>
          </p:cNvPr>
          <p:cNvSpPr>
            <a:spLocks noGrp="1"/>
          </p:cNvSpPr>
          <p:nvPr/>
        </p:nvSpPr>
        <p:spPr>
          <a:xfrm>
            <a:off x="9486900" y="472440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4186B94-0FE7-47FF-B213-175F9F2B763D}"/>
              </a:ext>
            </a:extLst>
          </p:cNvPr>
          <p:cNvSpPr>
            <a:spLocks noGrp="1"/>
          </p:cNvSpPr>
          <p:nvPr/>
        </p:nvSpPr>
        <p:spPr>
          <a:xfrm>
            <a:off x="9486900" y="518160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 dirty="0">
                <a:solidFill>
                  <a:srgbClr val="475569"/>
                </a:solidFill>
              </a:rPr>
              <a:t>• Payback </a:t>
            </a:r>
            <a:r>
              <a:rPr sz="1875" b="0" dirty="0" err="1">
                <a:solidFill>
                  <a:srgbClr val="475569"/>
                </a:solidFill>
              </a:rPr>
              <a:t>estimado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em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sz="1875" b="0" dirty="0" err="1">
                <a:solidFill>
                  <a:srgbClr val="475569"/>
                </a:solidFill>
              </a:rPr>
              <a:t>até</a:t>
            </a:r>
            <a:r>
              <a:rPr sz="1875" b="0" dirty="0">
                <a:solidFill>
                  <a:srgbClr val="475569"/>
                </a:solidFill>
              </a:rPr>
              <a:t> </a:t>
            </a:r>
            <a:r>
              <a:rPr lang="pt-BR" sz="1875" dirty="0">
                <a:solidFill>
                  <a:srgbClr val="475569"/>
                </a:solidFill>
              </a:rPr>
              <a:t>36</a:t>
            </a:r>
            <a:r>
              <a:rPr sz="1875" b="0" dirty="0">
                <a:solidFill>
                  <a:srgbClr val="475569"/>
                </a:solidFill>
              </a:rPr>
              <a:t> meses.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9E8FBAF-D546-429B-B6C7-1A296EDA9D38}"/>
              </a:ext>
            </a:extLst>
          </p:cNvPr>
          <p:cNvSpPr>
            <a:spLocks noGrp="1"/>
          </p:cNvSpPr>
          <p:nvPr/>
        </p:nvSpPr>
        <p:spPr>
          <a:xfrm>
            <a:off x="9486900" y="5562600"/>
            <a:ext cx="7734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92984C2-E31B-4FBD-95DC-01DF1A2A3EC4}"/>
              </a:ext>
            </a:extLst>
          </p:cNvPr>
          <p:cNvSpPr>
            <a:spLocks noGrp="1"/>
          </p:cNvSpPr>
          <p:nvPr/>
        </p:nvSpPr>
        <p:spPr>
          <a:xfrm>
            <a:off x="9486900" y="62293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CC71152-CF81-8CC3-3DBE-49B1BE30A3DD}"/>
              </a:ext>
            </a:extLst>
          </p:cNvPr>
          <p:cNvSpPr>
            <a:spLocks noGrp="1"/>
          </p:cNvSpPr>
          <p:nvPr/>
        </p:nvSpPr>
        <p:spPr>
          <a:xfrm>
            <a:off x="1047750" y="6324599"/>
            <a:ext cx="7734300" cy="138874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 dirty="0">
                <a:solidFill>
                  <a:srgbClr val="475569"/>
                </a:solidFill>
              </a:rPr>
              <a:t>• </a:t>
            </a:r>
            <a:r>
              <a:rPr lang="pt-BR" sz="1875" b="0" dirty="0">
                <a:solidFill>
                  <a:srgbClr val="475569"/>
                </a:solidFill>
              </a:rPr>
              <a:t>Valorização e respeito da cadeia produtiva:</a:t>
            </a:r>
          </a:p>
          <a:p>
            <a:pPr marL="800100" lvl="1" indent="-342900">
              <a:buFont typeface="Wingdings" panose="05000000000000000000" pitchFamily="2" charset="2"/>
              <a:buChar char="è"/>
              <a:defRPr sz="1875" b="0">
                <a:solidFill>
                  <a:srgbClr val="475569"/>
                </a:solidFill>
              </a:defRPr>
            </a:pPr>
            <a:r>
              <a:rPr lang="pt-BR" sz="1875" dirty="0">
                <a:solidFill>
                  <a:srgbClr val="475569"/>
                </a:solidFill>
              </a:rPr>
              <a:t>Colaboradores</a:t>
            </a:r>
          </a:p>
          <a:p>
            <a:pPr marL="800100" lvl="1" indent="-342900">
              <a:buFont typeface="Wingdings" panose="05000000000000000000" pitchFamily="2" charset="2"/>
              <a:buChar char="è"/>
              <a:defRPr sz="1875" b="0">
                <a:solidFill>
                  <a:srgbClr val="475569"/>
                </a:solidFill>
              </a:defRPr>
            </a:pPr>
            <a:r>
              <a:rPr lang="pt-BR" sz="1875" b="0" dirty="0">
                <a:solidFill>
                  <a:srgbClr val="475569"/>
                </a:solidFill>
              </a:rPr>
              <a:t>Fornece</a:t>
            </a:r>
            <a:r>
              <a:rPr lang="pt-BR" sz="1875" dirty="0">
                <a:solidFill>
                  <a:srgbClr val="475569"/>
                </a:solidFill>
              </a:rPr>
              <a:t>dores</a:t>
            </a:r>
          </a:p>
          <a:p>
            <a:pPr marL="800100" lvl="1" indent="-342900">
              <a:buFont typeface="Wingdings" panose="05000000000000000000" pitchFamily="2" charset="2"/>
              <a:buChar char="è"/>
              <a:defRPr sz="1875" b="0">
                <a:solidFill>
                  <a:srgbClr val="475569"/>
                </a:solidFill>
              </a:defRPr>
            </a:pPr>
            <a:r>
              <a:rPr lang="pt-BR" sz="1875" dirty="0">
                <a:solidFill>
                  <a:srgbClr val="475569"/>
                </a:solidFill>
              </a:rPr>
              <a:t>Clientes</a:t>
            </a:r>
            <a:endParaRPr sz="1875" b="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540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ângulo 70">
            <a:extLst>
              <a:ext uri="{FF2B5EF4-FFF2-40B4-BE49-F238E27FC236}">
                <a16:creationId xmlns:a16="http://schemas.microsoft.com/office/drawing/2014/main" id="{B2F754FC-08F8-4D84-869F-4C9695866DE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06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 ativados: visão detalhada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14C4CAE-5AB3-4776-AAB2-A6E8AB250CBB}"/>
              </a:ext>
            </a:extLst>
          </p:cNvPr>
          <p:cNvSpPr>
            <a:spLocks noGrp="1"/>
          </p:cNvSpPr>
          <p:nvPr/>
        </p:nvSpPr>
        <p:spPr>
          <a:xfrm>
            <a:off x="590550" y="10477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6F8601-078C-4490-BCA1-C08471D13DEA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10725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Detalhamento dos produtos hoje modelados, com quantidade vendida pós-ramp-up, valor unitário e margem de contribuição.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190AB93-1DE3-44F8-958A-FCE895E52ED4}"/>
              </a:ext>
            </a:extLst>
          </p:cNvPr>
          <p:cNvSpPr>
            <a:spLocks noGrp="1"/>
          </p:cNvSpPr>
          <p:nvPr/>
        </p:nvSpPr>
        <p:spPr>
          <a:xfrm>
            <a:off x="590550" y="1845945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733DA59-C69A-4A23-BA5C-A7D6CDFD26FC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ADB0B02-13E2-41AE-9E80-DF915CD46415}"/>
              </a:ext>
            </a:extLst>
          </p:cNvPr>
          <p:cNvSpPr>
            <a:spLocks noGrp="1"/>
          </p:cNvSpPr>
          <p:nvPr/>
        </p:nvSpPr>
        <p:spPr>
          <a:xfrm>
            <a:off x="4974947" y="1845945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D0F538B-6A4D-468E-AA95-2F798B407C97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1562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0FD7E5E-5EC7-4C72-A204-344FBC69E340}"/>
              </a:ext>
            </a:extLst>
          </p:cNvPr>
          <p:cNvSpPr>
            <a:spLocks noGrp="1"/>
          </p:cNvSpPr>
          <p:nvPr/>
        </p:nvSpPr>
        <p:spPr>
          <a:xfrm>
            <a:off x="6904177" y="1845945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F94D366-3E36-469C-BAA0-6C34E2E382BE}"/>
              </a:ext>
            </a:extLst>
          </p:cNvPr>
          <p:cNvSpPr>
            <a:spLocks noGrp="1"/>
          </p:cNvSpPr>
          <p:nvPr/>
        </p:nvSpPr>
        <p:spPr>
          <a:xfrm>
            <a:off x="7029450" y="1962150"/>
            <a:ext cx="2152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C417E6-3E4A-452F-B085-ED6BBD23981B}"/>
              </a:ext>
            </a:extLst>
          </p:cNvPr>
          <p:cNvSpPr>
            <a:spLocks noGrp="1"/>
          </p:cNvSpPr>
          <p:nvPr/>
        </p:nvSpPr>
        <p:spPr>
          <a:xfrm>
            <a:off x="9425013" y="1845945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A49442-DF53-4AD4-BBED-E37E583B90BD}"/>
              </a:ext>
            </a:extLst>
          </p:cNvPr>
          <p:cNvSpPr>
            <a:spLocks noGrp="1"/>
          </p:cNvSpPr>
          <p:nvPr/>
        </p:nvSpPr>
        <p:spPr>
          <a:xfrm>
            <a:off x="9563100" y="1962150"/>
            <a:ext cx="1981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70F990E-AEBB-40B2-AC3A-1E3727475D9A}"/>
              </a:ext>
            </a:extLst>
          </p:cNvPr>
          <p:cNvSpPr>
            <a:spLocks noGrp="1"/>
          </p:cNvSpPr>
          <p:nvPr/>
        </p:nvSpPr>
        <p:spPr>
          <a:xfrm>
            <a:off x="11768368" y="1845945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31F95CD-517E-4467-95A9-0B1AE00EC8F7}"/>
              </a:ext>
            </a:extLst>
          </p:cNvPr>
          <p:cNvSpPr>
            <a:spLocks noGrp="1"/>
          </p:cNvSpPr>
          <p:nvPr/>
        </p:nvSpPr>
        <p:spPr>
          <a:xfrm>
            <a:off x="11906250" y="1962150"/>
            <a:ext cx="971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4D245DA-9730-4747-8102-E8F26A84362A}"/>
              </a:ext>
            </a:extLst>
          </p:cNvPr>
          <p:cNvSpPr>
            <a:spLocks noGrp="1"/>
          </p:cNvSpPr>
          <p:nvPr/>
        </p:nvSpPr>
        <p:spPr>
          <a:xfrm>
            <a:off x="13105991" y="1845945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C290D6-BFBD-447D-A690-BB105990BF05}"/>
              </a:ext>
            </a:extLst>
          </p:cNvPr>
          <p:cNvSpPr>
            <a:spLocks noGrp="1"/>
          </p:cNvSpPr>
          <p:nvPr/>
        </p:nvSpPr>
        <p:spPr>
          <a:xfrm>
            <a:off x="13239750" y="196215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58E45DC-5787-4232-8471-DA8F7B182372}"/>
              </a:ext>
            </a:extLst>
          </p:cNvPr>
          <p:cNvSpPr>
            <a:spLocks noGrp="1"/>
          </p:cNvSpPr>
          <p:nvPr/>
        </p:nvSpPr>
        <p:spPr>
          <a:xfrm>
            <a:off x="15331024" y="1845945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4017AF2-C321-4ED7-863F-93B7AA789994}"/>
              </a:ext>
            </a:extLst>
          </p:cNvPr>
          <p:cNvSpPr>
            <a:spLocks noGrp="1"/>
          </p:cNvSpPr>
          <p:nvPr/>
        </p:nvSpPr>
        <p:spPr>
          <a:xfrm>
            <a:off x="15468600" y="1962150"/>
            <a:ext cx="2095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7851D96-AEF1-4090-B631-A15C9A619266}"/>
              </a:ext>
            </a:extLst>
          </p:cNvPr>
          <p:cNvSpPr>
            <a:spLocks noGrp="1"/>
          </p:cNvSpPr>
          <p:nvPr/>
        </p:nvSpPr>
        <p:spPr>
          <a:xfrm>
            <a:off x="590550" y="2869883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48567E2-FB87-4CE5-BE93-E98F10681D29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lang="pt-BR" sz="1350" b="0" dirty="0">
                <a:solidFill>
                  <a:srgbClr val="0F172A"/>
                </a:solidFill>
              </a:rPr>
              <a:t>1. </a:t>
            </a:r>
            <a:r>
              <a:rPr sz="1350" b="0" dirty="0">
                <a:solidFill>
                  <a:srgbClr val="0F172A"/>
                </a:solidFill>
              </a:rPr>
              <a:t>Kit / </a:t>
            </a:r>
            <a:r>
              <a:rPr sz="1350" b="0" dirty="0" err="1">
                <a:solidFill>
                  <a:srgbClr val="0F172A"/>
                </a:solidFill>
              </a:rPr>
              <a:t>equipamento</a:t>
            </a:r>
            <a:r>
              <a:rPr sz="1350" b="0" dirty="0">
                <a:solidFill>
                  <a:srgbClr val="0F172A"/>
                </a:solidFill>
              </a:rPr>
              <a:t> principal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ED0870F-C967-45EC-B093-609A92C0402E}"/>
              </a:ext>
            </a:extLst>
          </p:cNvPr>
          <p:cNvSpPr>
            <a:spLocks noGrp="1"/>
          </p:cNvSpPr>
          <p:nvPr/>
        </p:nvSpPr>
        <p:spPr>
          <a:xfrm>
            <a:off x="4974947" y="2869883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CF0788F-6006-41E8-AE65-2886AC0C0ECF}"/>
              </a:ext>
            </a:extLst>
          </p:cNvPr>
          <p:cNvSpPr>
            <a:spLocks noGrp="1"/>
          </p:cNvSpPr>
          <p:nvPr/>
        </p:nvSpPr>
        <p:spPr>
          <a:xfrm>
            <a:off x="5105400" y="299085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A9454B7-EF70-47E0-A3D1-05BC3C22DC4E}"/>
              </a:ext>
            </a:extLst>
          </p:cNvPr>
          <p:cNvSpPr>
            <a:spLocks noGrp="1"/>
          </p:cNvSpPr>
          <p:nvPr/>
        </p:nvSpPr>
        <p:spPr>
          <a:xfrm>
            <a:off x="6904177" y="2869883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AC64CFD-1312-4D11-AC21-99CFEE803900}"/>
              </a:ext>
            </a:extLst>
          </p:cNvPr>
          <p:cNvSpPr>
            <a:spLocks noGrp="1"/>
          </p:cNvSpPr>
          <p:nvPr/>
        </p:nvSpPr>
        <p:spPr>
          <a:xfrm>
            <a:off x="7029450" y="299085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26117D2-FA47-41C7-BCA6-FE18687E6E89}"/>
              </a:ext>
            </a:extLst>
          </p:cNvPr>
          <p:cNvSpPr>
            <a:spLocks noGrp="1"/>
          </p:cNvSpPr>
          <p:nvPr/>
        </p:nvSpPr>
        <p:spPr>
          <a:xfrm>
            <a:off x="9425013" y="2869883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D749277-9FD3-45B9-93B3-19CCE55606EC}"/>
              </a:ext>
            </a:extLst>
          </p:cNvPr>
          <p:cNvSpPr>
            <a:spLocks noGrp="1"/>
          </p:cNvSpPr>
          <p:nvPr/>
        </p:nvSpPr>
        <p:spPr>
          <a:xfrm>
            <a:off x="9563100" y="299085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R$ 80.000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16F6F1A-A49C-463D-B49D-772AD26B8BDE}"/>
              </a:ext>
            </a:extLst>
          </p:cNvPr>
          <p:cNvSpPr>
            <a:spLocks noGrp="1"/>
          </p:cNvSpPr>
          <p:nvPr/>
        </p:nvSpPr>
        <p:spPr>
          <a:xfrm>
            <a:off x="11768368" y="2869883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F0CA7B9-04A8-40B8-BA11-6C5A7349DF94}"/>
              </a:ext>
            </a:extLst>
          </p:cNvPr>
          <p:cNvSpPr>
            <a:spLocks noGrp="1"/>
          </p:cNvSpPr>
          <p:nvPr/>
        </p:nvSpPr>
        <p:spPr>
          <a:xfrm>
            <a:off x="11906250" y="299085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854DC84-ADA6-495E-9BBF-2C834766730B}"/>
              </a:ext>
            </a:extLst>
          </p:cNvPr>
          <p:cNvSpPr>
            <a:spLocks noGrp="1"/>
          </p:cNvSpPr>
          <p:nvPr/>
        </p:nvSpPr>
        <p:spPr>
          <a:xfrm>
            <a:off x="13105991" y="2869883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BFFE196-8EDF-4456-A3DD-E2681AB4CED0}"/>
              </a:ext>
            </a:extLst>
          </p:cNvPr>
          <p:cNvSpPr>
            <a:spLocks noGrp="1"/>
          </p:cNvSpPr>
          <p:nvPr/>
        </p:nvSpPr>
        <p:spPr>
          <a:xfrm>
            <a:off x="13239750" y="299085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FDE1081-1ECE-4B02-B3DE-71B06868A110}"/>
              </a:ext>
            </a:extLst>
          </p:cNvPr>
          <p:cNvSpPr>
            <a:spLocks noGrp="1"/>
          </p:cNvSpPr>
          <p:nvPr/>
        </p:nvSpPr>
        <p:spPr>
          <a:xfrm>
            <a:off x="15331024" y="2869883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3499D0F-7C2A-4CF1-A8F4-C26A5A733ACD}"/>
              </a:ext>
            </a:extLst>
          </p:cNvPr>
          <p:cNvSpPr>
            <a:spLocks noGrp="1"/>
          </p:cNvSpPr>
          <p:nvPr/>
        </p:nvSpPr>
        <p:spPr>
          <a:xfrm>
            <a:off x="15468600" y="299085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R$ 8.020.800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88859A3-5B64-4476-B434-C5F5DE90DD49}"/>
              </a:ext>
            </a:extLst>
          </p:cNvPr>
          <p:cNvSpPr>
            <a:spLocks noGrp="1"/>
          </p:cNvSpPr>
          <p:nvPr/>
        </p:nvSpPr>
        <p:spPr>
          <a:xfrm>
            <a:off x="590550" y="3893820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EEF84DB-7DB3-4B0C-85F9-919E20B2D105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lang="pt-BR" sz="1350" b="0" dirty="0">
                <a:solidFill>
                  <a:srgbClr val="0F172A"/>
                </a:solidFill>
              </a:rPr>
              <a:t>2. </a:t>
            </a:r>
            <a:r>
              <a:rPr sz="1350" b="0" dirty="0" err="1">
                <a:solidFill>
                  <a:srgbClr val="0F172A"/>
                </a:solidFill>
              </a:rPr>
              <a:t>Implantação</a:t>
            </a:r>
            <a:r>
              <a:rPr sz="1350" b="0" dirty="0">
                <a:solidFill>
                  <a:srgbClr val="0F172A"/>
                </a:solidFill>
              </a:rPr>
              <a:t> / </a:t>
            </a:r>
            <a:r>
              <a:rPr sz="1350" b="0" dirty="0" err="1">
                <a:solidFill>
                  <a:srgbClr val="0F172A"/>
                </a:solidFill>
              </a:rPr>
              <a:t>instalação</a:t>
            </a:r>
            <a:endParaRPr sz="1350" b="0" dirty="0">
              <a:solidFill>
                <a:srgbClr val="0F172A"/>
              </a:solidFill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DBEE3C78-76AB-447C-BC7B-236E283DE639}"/>
              </a:ext>
            </a:extLst>
          </p:cNvPr>
          <p:cNvSpPr>
            <a:spLocks noGrp="1"/>
          </p:cNvSpPr>
          <p:nvPr/>
        </p:nvSpPr>
        <p:spPr>
          <a:xfrm>
            <a:off x="4974947" y="3893820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AA07A1F-BAFB-4374-AB6C-D934CB5AA8AE}"/>
              </a:ext>
            </a:extLst>
          </p:cNvPr>
          <p:cNvSpPr>
            <a:spLocks noGrp="1"/>
          </p:cNvSpPr>
          <p:nvPr/>
        </p:nvSpPr>
        <p:spPr>
          <a:xfrm>
            <a:off x="5105400" y="400050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B986ABF-EBD8-4F3A-B895-083277B11711}"/>
              </a:ext>
            </a:extLst>
          </p:cNvPr>
          <p:cNvSpPr>
            <a:spLocks noGrp="1"/>
          </p:cNvSpPr>
          <p:nvPr/>
        </p:nvSpPr>
        <p:spPr>
          <a:xfrm>
            <a:off x="6904177" y="3893820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CEF5615-0D8F-4021-ABC5-7E3DE0345E86}"/>
              </a:ext>
            </a:extLst>
          </p:cNvPr>
          <p:cNvSpPr>
            <a:spLocks noGrp="1"/>
          </p:cNvSpPr>
          <p:nvPr/>
        </p:nvSpPr>
        <p:spPr>
          <a:xfrm>
            <a:off x="7029450" y="40005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0A9C6E6C-79F2-449A-B122-C048585F4927}"/>
              </a:ext>
            </a:extLst>
          </p:cNvPr>
          <p:cNvSpPr>
            <a:spLocks noGrp="1"/>
          </p:cNvSpPr>
          <p:nvPr/>
        </p:nvSpPr>
        <p:spPr>
          <a:xfrm>
            <a:off x="9425013" y="3893820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B4D5D44-783E-4105-9A43-F3A5C95C6F3D}"/>
              </a:ext>
            </a:extLst>
          </p:cNvPr>
          <p:cNvSpPr>
            <a:spLocks noGrp="1"/>
          </p:cNvSpPr>
          <p:nvPr/>
        </p:nvSpPr>
        <p:spPr>
          <a:xfrm>
            <a:off x="9563100" y="400050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R$ 40.000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8A517D67-A687-457F-8CAB-4260EDFD72F8}"/>
              </a:ext>
            </a:extLst>
          </p:cNvPr>
          <p:cNvSpPr>
            <a:spLocks noGrp="1"/>
          </p:cNvSpPr>
          <p:nvPr/>
        </p:nvSpPr>
        <p:spPr>
          <a:xfrm>
            <a:off x="11768368" y="3893820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A1FA0E79-61FE-4979-BC0B-4A94197DFC3D}"/>
              </a:ext>
            </a:extLst>
          </p:cNvPr>
          <p:cNvSpPr>
            <a:spLocks noGrp="1"/>
          </p:cNvSpPr>
          <p:nvPr/>
        </p:nvSpPr>
        <p:spPr>
          <a:xfrm>
            <a:off x="11906250" y="400050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35,3%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EA460ED0-0B20-4EB1-B085-3645C977EB6A}"/>
              </a:ext>
            </a:extLst>
          </p:cNvPr>
          <p:cNvSpPr>
            <a:spLocks noGrp="1"/>
          </p:cNvSpPr>
          <p:nvPr/>
        </p:nvSpPr>
        <p:spPr>
          <a:xfrm>
            <a:off x="13105991" y="3893820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D1CE728-0A28-4A6B-B549-11525FA98C92}"/>
              </a:ext>
            </a:extLst>
          </p:cNvPr>
          <p:cNvSpPr>
            <a:spLocks noGrp="1"/>
          </p:cNvSpPr>
          <p:nvPr/>
        </p:nvSpPr>
        <p:spPr>
          <a:xfrm>
            <a:off x="13239750" y="400050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R$ 14.120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551B727B-C2AA-48DF-83EA-2E300432BF0C}"/>
              </a:ext>
            </a:extLst>
          </p:cNvPr>
          <p:cNvSpPr>
            <a:spLocks noGrp="1"/>
          </p:cNvSpPr>
          <p:nvPr/>
        </p:nvSpPr>
        <p:spPr>
          <a:xfrm>
            <a:off x="15331024" y="3893820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1004F6D-0984-4B45-AB8F-B279ED815906}"/>
              </a:ext>
            </a:extLst>
          </p:cNvPr>
          <p:cNvSpPr>
            <a:spLocks noGrp="1"/>
          </p:cNvSpPr>
          <p:nvPr/>
        </p:nvSpPr>
        <p:spPr>
          <a:xfrm>
            <a:off x="15468600" y="400050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R$ 4.236.000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C1781D97-1EFC-4E41-A497-60753902D8D3}"/>
              </a:ext>
            </a:extLst>
          </p:cNvPr>
          <p:cNvSpPr>
            <a:spLocks noGrp="1"/>
          </p:cNvSpPr>
          <p:nvPr/>
        </p:nvSpPr>
        <p:spPr>
          <a:xfrm>
            <a:off x="590550" y="4917758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B439BAB-23D5-4E0D-AF22-D65AD0E85D75}"/>
              </a:ext>
            </a:extLst>
          </p:cNvPr>
          <p:cNvSpPr>
            <a:spLocks noGrp="1"/>
          </p:cNvSpPr>
          <p:nvPr/>
        </p:nvSpPr>
        <p:spPr>
          <a:xfrm>
            <a:off x="723900" y="502920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lang="pt-BR" sz="1350" b="0" dirty="0">
                <a:solidFill>
                  <a:srgbClr val="0F172A"/>
                </a:solidFill>
              </a:rPr>
              <a:t>3. </a:t>
            </a:r>
            <a:r>
              <a:rPr sz="1350" b="0" dirty="0">
                <a:solidFill>
                  <a:srgbClr val="0F172A"/>
                </a:solidFill>
              </a:rPr>
              <a:t>Software de </a:t>
            </a:r>
            <a:r>
              <a:rPr sz="1350" b="0" dirty="0" err="1">
                <a:solidFill>
                  <a:srgbClr val="0F172A"/>
                </a:solidFill>
              </a:rPr>
              <a:t>gestão</a:t>
            </a:r>
            <a:endParaRPr sz="1350" b="0" dirty="0">
              <a:solidFill>
                <a:srgbClr val="0F172A"/>
              </a:solidFill>
            </a:endParaRP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656D6487-FF95-4C7A-B45C-9BBF931C735E}"/>
              </a:ext>
            </a:extLst>
          </p:cNvPr>
          <p:cNvSpPr>
            <a:spLocks noGrp="1"/>
          </p:cNvSpPr>
          <p:nvPr/>
        </p:nvSpPr>
        <p:spPr>
          <a:xfrm>
            <a:off x="4974947" y="4917758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85045D3B-12E6-49C5-ACA1-1991B7D5F8ED}"/>
              </a:ext>
            </a:extLst>
          </p:cNvPr>
          <p:cNvSpPr>
            <a:spLocks noGrp="1"/>
          </p:cNvSpPr>
          <p:nvPr/>
        </p:nvSpPr>
        <p:spPr>
          <a:xfrm>
            <a:off x="5105400" y="502920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299982D5-B645-4435-8D01-F0B119038894}"/>
              </a:ext>
            </a:extLst>
          </p:cNvPr>
          <p:cNvSpPr>
            <a:spLocks noGrp="1"/>
          </p:cNvSpPr>
          <p:nvPr/>
        </p:nvSpPr>
        <p:spPr>
          <a:xfrm>
            <a:off x="6904177" y="4917758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6E60E62F-FE92-4A5A-B359-660BA8CBD4C9}"/>
              </a:ext>
            </a:extLst>
          </p:cNvPr>
          <p:cNvSpPr>
            <a:spLocks noGrp="1"/>
          </p:cNvSpPr>
          <p:nvPr/>
        </p:nvSpPr>
        <p:spPr>
          <a:xfrm>
            <a:off x="7029450" y="50292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4000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84AB6F5C-9E97-463D-8E08-B38E104EF3CC}"/>
              </a:ext>
            </a:extLst>
          </p:cNvPr>
          <p:cNvSpPr>
            <a:spLocks noGrp="1"/>
          </p:cNvSpPr>
          <p:nvPr/>
        </p:nvSpPr>
        <p:spPr>
          <a:xfrm>
            <a:off x="9425013" y="4917758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852C1A7B-C276-459B-8F8D-241390F842C0}"/>
              </a:ext>
            </a:extLst>
          </p:cNvPr>
          <p:cNvSpPr>
            <a:spLocks noGrp="1"/>
          </p:cNvSpPr>
          <p:nvPr/>
        </p:nvSpPr>
        <p:spPr>
          <a:xfrm>
            <a:off x="9563100" y="502920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R$ 1.600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2DA0AABA-2AB9-451A-BDA0-031D6B7D2CD6}"/>
              </a:ext>
            </a:extLst>
          </p:cNvPr>
          <p:cNvSpPr>
            <a:spLocks noGrp="1"/>
          </p:cNvSpPr>
          <p:nvPr/>
        </p:nvSpPr>
        <p:spPr>
          <a:xfrm>
            <a:off x="11768368" y="4917758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859DAC1-0191-4275-916B-F772EFF7398C}"/>
              </a:ext>
            </a:extLst>
          </p:cNvPr>
          <p:cNvSpPr>
            <a:spLocks noGrp="1"/>
          </p:cNvSpPr>
          <p:nvPr/>
        </p:nvSpPr>
        <p:spPr>
          <a:xfrm>
            <a:off x="11906250" y="502920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70,0%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2424F8E-6376-4D67-86A6-950B4E9ACDD9}"/>
              </a:ext>
            </a:extLst>
          </p:cNvPr>
          <p:cNvSpPr>
            <a:spLocks noGrp="1"/>
          </p:cNvSpPr>
          <p:nvPr/>
        </p:nvSpPr>
        <p:spPr>
          <a:xfrm>
            <a:off x="13105991" y="4917758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FD42D80D-C7EA-4A84-8201-20ED53143C6F}"/>
              </a:ext>
            </a:extLst>
          </p:cNvPr>
          <p:cNvSpPr>
            <a:spLocks noGrp="1"/>
          </p:cNvSpPr>
          <p:nvPr/>
        </p:nvSpPr>
        <p:spPr>
          <a:xfrm>
            <a:off x="13239750" y="502920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R$ 1.120</a:t>
            </a:r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C3D50EA1-0E59-40B1-ADF8-1ACAC8548E63}"/>
              </a:ext>
            </a:extLst>
          </p:cNvPr>
          <p:cNvSpPr>
            <a:spLocks noGrp="1"/>
          </p:cNvSpPr>
          <p:nvPr/>
        </p:nvSpPr>
        <p:spPr>
          <a:xfrm>
            <a:off x="15331024" y="4917758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611F242-7642-4795-AB3E-9D9E31E00BA2}"/>
              </a:ext>
            </a:extLst>
          </p:cNvPr>
          <p:cNvSpPr>
            <a:spLocks noGrp="1"/>
          </p:cNvSpPr>
          <p:nvPr/>
        </p:nvSpPr>
        <p:spPr>
          <a:xfrm>
            <a:off x="15468600" y="502920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R$ 4.480.000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0CDCFFF3-C0BB-4371-BC43-C27F38C2F35A}"/>
              </a:ext>
            </a:extLst>
          </p:cNvPr>
          <p:cNvSpPr>
            <a:spLocks noGrp="1"/>
          </p:cNvSpPr>
          <p:nvPr/>
        </p:nvSpPr>
        <p:spPr>
          <a:xfrm>
            <a:off x="590550" y="6017895"/>
            <a:ext cx="5588000" cy="2775585"/>
          </a:xfrm>
          <a:prstGeom prst="roundRect">
            <a:avLst>
              <a:gd name="adj" fmla="val 7550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B29B1190-5BF6-4238-9097-FEDA7DE51B51}"/>
              </a:ext>
            </a:extLst>
          </p:cNvPr>
          <p:cNvSpPr>
            <a:spLocks noGrp="1"/>
          </p:cNvSpPr>
          <p:nvPr/>
        </p:nvSpPr>
        <p:spPr>
          <a:xfrm>
            <a:off x="800100" y="6229350"/>
            <a:ext cx="5162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Faturamento anual pós ramp-up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9F0757A5-4B2F-4759-AB53-A889CFFFDBC0}"/>
              </a:ext>
            </a:extLst>
          </p:cNvPr>
          <p:cNvSpPr>
            <a:spLocks noGrp="1"/>
          </p:cNvSpPr>
          <p:nvPr/>
        </p:nvSpPr>
        <p:spPr>
          <a:xfrm>
            <a:off x="800100" y="6572250"/>
            <a:ext cx="5162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R$ 42.400.000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C7F767C-99B2-4470-AF52-1897E41AA473}"/>
              </a:ext>
            </a:extLst>
          </p:cNvPr>
          <p:cNvSpPr>
            <a:spLocks noGrp="1"/>
          </p:cNvSpPr>
          <p:nvPr/>
        </p:nvSpPr>
        <p:spPr>
          <a:xfrm>
            <a:off x="6350000" y="6017895"/>
            <a:ext cx="5588000" cy="2775585"/>
          </a:xfrm>
          <a:prstGeom prst="roundRect">
            <a:avLst>
              <a:gd name="adj" fmla="val 7550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F8696C17-8C86-495F-A1A2-084BE676FCA6}"/>
              </a:ext>
            </a:extLst>
          </p:cNvPr>
          <p:cNvSpPr>
            <a:spLocks noGrp="1"/>
          </p:cNvSpPr>
          <p:nvPr/>
        </p:nvSpPr>
        <p:spPr>
          <a:xfrm>
            <a:off x="6553200" y="6229350"/>
            <a:ext cx="5162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MC total anual dos ativados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A993C9CA-2D32-4EC7-A512-F25D73F598A8}"/>
              </a:ext>
            </a:extLst>
          </p:cNvPr>
          <p:cNvSpPr>
            <a:spLocks noGrp="1"/>
          </p:cNvSpPr>
          <p:nvPr/>
        </p:nvSpPr>
        <p:spPr>
          <a:xfrm>
            <a:off x="6553200" y="6572250"/>
            <a:ext cx="5162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R$ 16.736.800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3FE9C58C-716D-4660-813A-9AE84A2EF337}"/>
              </a:ext>
            </a:extLst>
          </p:cNvPr>
          <p:cNvSpPr>
            <a:spLocks noGrp="1"/>
          </p:cNvSpPr>
          <p:nvPr/>
        </p:nvSpPr>
        <p:spPr>
          <a:xfrm>
            <a:off x="12109450" y="6017895"/>
            <a:ext cx="5588000" cy="2775585"/>
          </a:xfrm>
          <a:prstGeom prst="roundRect">
            <a:avLst>
              <a:gd name="adj" fmla="val 7550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C83C62F3-393A-4846-87A9-9861229192B0}"/>
              </a:ext>
            </a:extLst>
          </p:cNvPr>
          <p:cNvSpPr>
            <a:spLocks noGrp="1"/>
          </p:cNvSpPr>
          <p:nvPr/>
        </p:nvSpPr>
        <p:spPr>
          <a:xfrm>
            <a:off x="12325350" y="6229350"/>
            <a:ext cx="5162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Produtos ativados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4609E888-94AB-45AD-A209-9F41F1EBB134}"/>
              </a:ext>
            </a:extLst>
          </p:cNvPr>
          <p:cNvSpPr>
            <a:spLocks noGrp="1"/>
          </p:cNvSpPr>
          <p:nvPr/>
        </p:nvSpPr>
        <p:spPr>
          <a:xfrm>
            <a:off x="12325350" y="6572250"/>
            <a:ext cx="5162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03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186F15FF-861D-4DAB-826D-57DC4BAD59C3}"/>
              </a:ext>
            </a:extLst>
          </p:cNvPr>
          <p:cNvSpPr>
            <a:spLocks noGrp="1"/>
          </p:cNvSpPr>
          <p:nvPr/>
        </p:nvSpPr>
        <p:spPr>
          <a:xfrm>
            <a:off x="590550" y="8964930"/>
            <a:ext cx="17106900" cy="807720"/>
          </a:xfrm>
          <a:prstGeom prst="roundRect">
            <a:avLst>
              <a:gd name="adj" fmla="val 21226"/>
            </a:avLst>
          </a:prstGeom>
          <a:solidFill>
            <a:srgbClr val="ECFDF5"/>
          </a:solidFill>
        </p:spPr>
        <p:txBody>
          <a:bodyPr/>
          <a:lstStyle/>
          <a:p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0908E678-5C0C-4C9D-B72A-D5377DFED126}"/>
              </a:ext>
            </a:extLst>
          </p:cNvPr>
          <p:cNvSpPr>
            <a:spLocks noGrp="1"/>
          </p:cNvSpPr>
          <p:nvPr/>
        </p:nvSpPr>
        <p:spPr>
          <a:xfrm>
            <a:off x="742950" y="9124950"/>
            <a:ext cx="16802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65F46"/>
                </a:solidFill>
              </a:defRPr>
            </a:pPr>
            <a:r>
              <a:rPr lang="pt-BR" sz="1650" b="1" dirty="0">
                <a:solidFill>
                  <a:srgbClr val="065F46"/>
                </a:solidFill>
              </a:rPr>
              <a:t>A </a:t>
            </a:r>
            <a:r>
              <a:rPr sz="1650" b="1" dirty="0" err="1">
                <a:solidFill>
                  <a:srgbClr val="065F46"/>
                </a:solidFill>
              </a:rPr>
              <a:t>operação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sz="1650" b="1" dirty="0" err="1">
                <a:solidFill>
                  <a:srgbClr val="065F46"/>
                </a:solidFill>
              </a:rPr>
              <a:t>já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sz="1650" b="1" dirty="0" err="1">
                <a:solidFill>
                  <a:srgbClr val="065F46"/>
                </a:solidFill>
              </a:rPr>
              <a:t>possui</a:t>
            </a:r>
            <a:r>
              <a:rPr sz="1650" b="1" dirty="0">
                <a:solidFill>
                  <a:srgbClr val="065F46"/>
                </a:solidFill>
              </a:rPr>
              <a:t> base </a:t>
            </a:r>
            <a:r>
              <a:rPr sz="1650" b="1" dirty="0" err="1">
                <a:solidFill>
                  <a:srgbClr val="065F46"/>
                </a:solidFill>
              </a:rPr>
              <a:t>suficiente</a:t>
            </a:r>
            <a:r>
              <a:rPr sz="1650" b="1" dirty="0">
                <a:solidFill>
                  <a:srgbClr val="065F46"/>
                </a:solidFill>
              </a:rPr>
              <a:t> para </a:t>
            </a:r>
            <a:r>
              <a:rPr lang="pt-BR" sz="1650" b="1" dirty="0">
                <a:solidFill>
                  <a:srgbClr val="065F46"/>
                </a:solidFill>
              </a:rPr>
              <a:t>viabilizar o negócio </a:t>
            </a:r>
            <a:r>
              <a:rPr sz="1650" b="1" dirty="0">
                <a:solidFill>
                  <a:srgbClr val="065F46"/>
                </a:solidFill>
              </a:rPr>
              <a:t>com </a:t>
            </a:r>
            <a:r>
              <a:rPr sz="1650" b="1" dirty="0" err="1">
                <a:solidFill>
                  <a:srgbClr val="065F46"/>
                </a:solidFill>
              </a:rPr>
              <a:t>os</a:t>
            </a:r>
            <a:r>
              <a:rPr sz="1650" b="1" dirty="0">
                <a:solidFill>
                  <a:srgbClr val="065F46"/>
                </a:solidFill>
              </a:rPr>
              <a:t> 3 </a:t>
            </a:r>
            <a:r>
              <a:rPr sz="1650" b="1" dirty="0" err="1">
                <a:solidFill>
                  <a:srgbClr val="065F46"/>
                </a:solidFill>
              </a:rPr>
              <a:t>produtos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sz="1650" b="1" dirty="0" err="1">
                <a:solidFill>
                  <a:srgbClr val="065F46"/>
                </a:solidFill>
              </a:rPr>
              <a:t>ativados</a:t>
            </a:r>
            <a:r>
              <a:rPr sz="1650" b="1" dirty="0">
                <a:solidFill>
                  <a:srgbClr val="065F46"/>
                </a:solidFill>
              </a:rPr>
              <a:t>. </a:t>
            </a:r>
            <a:r>
              <a:rPr sz="1650" b="1" dirty="0" err="1">
                <a:solidFill>
                  <a:srgbClr val="065F46"/>
                </a:solidFill>
              </a:rPr>
              <a:t>Os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sz="1650" b="1" dirty="0" err="1">
                <a:solidFill>
                  <a:srgbClr val="065F46"/>
                </a:solidFill>
              </a:rPr>
              <a:t>demais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sz="1650" b="1" dirty="0" err="1">
                <a:solidFill>
                  <a:srgbClr val="065F46"/>
                </a:solidFill>
              </a:rPr>
              <a:t>produtos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sz="1650" b="1" dirty="0" err="1">
                <a:solidFill>
                  <a:srgbClr val="065F46"/>
                </a:solidFill>
              </a:rPr>
              <a:t>representam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sz="1650" b="1" dirty="0" err="1">
                <a:solidFill>
                  <a:srgbClr val="065F46"/>
                </a:solidFill>
              </a:rPr>
              <a:t>expansão</a:t>
            </a:r>
            <a:r>
              <a:rPr sz="1650" b="1" dirty="0">
                <a:solidFill>
                  <a:srgbClr val="065F46"/>
                </a:solidFill>
              </a:rPr>
              <a:t> </a:t>
            </a:r>
            <a:r>
              <a:rPr lang="pt-BR" sz="1650" b="1" dirty="0">
                <a:solidFill>
                  <a:srgbClr val="065F46"/>
                </a:solidFill>
              </a:rPr>
              <a:t>marginal </a:t>
            </a:r>
            <a:r>
              <a:rPr sz="1650" b="1" dirty="0">
                <a:solidFill>
                  <a:srgbClr val="065F46"/>
                </a:solidFill>
              </a:rPr>
              <a:t>do mix.</a:t>
            </a:r>
          </a:p>
        </p:txBody>
      </p:sp>
    </p:spTree>
    <p:extLst>
      <p:ext uri="{BB962C8B-B14F-4D97-AF65-F5344CB8AC3E}">
        <p14:creationId xmlns:p14="http://schemas.microsoft.com/office/powerpoint/2010/main" val="207727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tângulo 69">
            <a:extLst>
              <a:ext uri="{FF2B5EF4-FFF2-40B4-BE49-F238E27FC236}">
                <a16:creationId xmlns:a16="http://schemas.microsoft.com/office/drawing/2014/main" id="{9C47EB44-20AD-4C4A-8113-6EA77BF2167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06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Produtos a ativar: espaço de upside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A857D46-7F94-4B7B-945A-C89AF7CAA562}"/>
              </a:ext>
            </a:extLst>
          </p:cNvPr>
          <p:cNvSpPr>
            <a:spLocks noGrp="1"/>
          </p:cNvSpPr>
          <p:nvPr/>
        </p:nvSpPr>
        <p:spPr>
          <a:xfrm>
            <a:off x="590550" y="10477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4B4B9DE-3FAA-48CD-9ADB-19794520DAD0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8058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Itens previstos no portfólio, mas ainda fora da modelagem de receita e margem do plano atual.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1A21C6D-9043-46A7-A192-45A53945FE7A}"/>
              </a:ext>
            </a:extLst>
          </p:cNvPr>
          <p:cNvSpPr>
            <a:spLocks noGrp="1"/>
          </p:cNvSpPr>
          <p:nvPr/>
        </p:nvSpPr>
        <p:spPr>
          <a:xfrm>
            <a:off x="590550" y="1845945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AF924B-7C53-410C-B6F2-8B5F90D34EB1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B972347-8383-4BC4-BD89-0BC7CFB1BEDD}"/>
              </a:ext>
            </a:extLst>
          </p:cNvPr>
          <p:cNvSpPr>
            <a:spLocks noGrp="1"/>
          </p:cNvSpPr>
          <p:nvPr/>
        </p:nvSpPr>
        <p:spPr>
          <a:xfrm>
            <a:off x="4974947" y="1845945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BDC30EE-37E8-4195-AD07-46F17129CEBB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1562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85D7493-9EAF-4D3E-AA28-3561CC087AAD}"/>
              </a:ext>
            </a:extLst>
          </p:cNvPr>
          <p:cNvSpPr>
            <a:spLocks noGrp="1"/>
          </p:cNvSpPr>
          <p:nvPr/>
        </p:nvSpPr>
        <p:spPr>
          <a:xfrm>
            <a:off x="6904177" y="1845945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9D4DCBC-DA3F-40FE-9E07-83D3C3065D23}"/>
              </a:ext>
            </a:extLst>
          </p:cNvPr>
          <p:cNvSpPr>
            <a:spLocks noGrp="1"/>
          </p:cNvSpPr>
          <p:nvPr/>
        </p:nvSpPr>
        <p:spPr>
          <a:xfrm>
            <a:off x="7029450" y="1962150"/>
            <a:ext cx="2152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B05BEC4-F958-45A0-951B-D121B9BC599A}"/>
              </a:ext>
            </a:extLst>
          </p:cNvPr>
          <p:cNvSpPr>
            <a:spLocks noGrp="1"/>
          </p:cNvSpPr>
          <p:nvPr/>
        </p:nvSpPr>
        <p:spPr>
          <a:xfrm>
            <a:off x="9425013" y="1845945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D1F9E3A-01CE-472A-886F-5AF577AB9B28}"/>
              </a:ext>
            </a:extLst>
          </p:cNvPr>
          <p:cNvSpPr>
            <a:spLocks noGrp="1"/>
          </p:cNvSpPr>
          <p:nvPr/>
        </p:nvSpPr>
        <p:spPr>
          <a:xfrm>
            <a:off x="9563100" y="1962150"/>
            <a:ext cx="1981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0905F36-EBC3-4250-80BB-3A955505A5F5}"/>
              </a:ext>
            </a:extLst>
          </p:cNvPr>
          <p:cNvSpPr>
            <a:spLocks noGrp="1"/>
          </p:cNvSpPr>
          <p:nvPr/>
        </p:nvSpPr>
        <p:spPr>
          <a:xfrm>
            <a:off x="11768368" y="1845945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844AFDD-DCEF-46C9-AE22-C811AC66DF1D}"/>
              </a:ext>
            </a:extLst>
          </p:cNvPr>
          <p:cNvSpPr>
            <a:spLocks noGrp="1"/>
          </p:cNvSpPr>
          <p:nvPr/>
        </p:nvSpPr>
        <p:spPr>
          <a:xfrm>
            <a:off x="11906250" y="1962150"/>
            <a:ext cx="971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3D6A00E-4202-4BAF-8D4D-736A537D8934}"/>
              </a:ext>
            </a:extLst>
          </p:cNvPr>
          <p:cNvSpPr>
            <a:spLocks noGrp="1"/>
          </p:cNvSpPr>
          <p:nvPr/>
        </p:nvSpPr>
        <p:spPr>
          <a:xfrm>
            <a:off x="13105991" y="1845945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208A6F8-8DBC-467D-B59F-212E3C9F0D20}"/>
              </a:ext>
            </a:extLst>
          </p:cNvPr>
          <p:cNvSpPr>
            <a:spLocks noGrp="1"/>
          </p:cNvSpPr>
          <p:nvPr/>
        </p:nvSpPr>
        <p:spPr>
          <a:xfrm>
            <a:off x="13239750" y="196215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8CEC5AF-1BBE-4C64-9A38-F8BF907DB5E1}"/>
              </a:ext>
            </a:extLst>
          </p:cNvPr>
          <p:cNvSpPr>
            <a:spLocks noGrp="1"/>
          </p:cNvSpPr>
          <p:nvPr/>
        </p:nvSpPr>
        <p:spPr>
          <a:xfrm>
            <a:off x="15331024" y="1845945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BB73B8A-B5E7-4C9B-A1FF-D9C02FC8B943}"/>
              </a:ext>
            </a:extLst>
          </p:cNvPr>
          <p:cNvSpPr>
            <a:spLocks noGrp="1"/>
          </p:cNvSpPr>
          <p:nvPr/>
        </p:nvSpPr>
        <p:spPr>
          <a:xfrm>
            <a:off x="15468600" y="1962150"/>
            <a:ext cx="2095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1556FBE-18CA-4B4F-BEB0-DA36A43335FE}"/>
              </a:ext>
            </a:extLst>
          </p:cNvPr>
          <p:cNvSpPr>
            <a:spLocks noGrp="1"/>
          </p:cNvSpPr>
          <p:nvPr/>
        </p:nvSpPr>
        <p:spPr>
          <a:xfrm>
            <a:off x="590550" y="2869883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DD852FC-B5C5-439A-A363-C4E799CCCA43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lang="pt-BR" sz="1350" b="0" dirty="0">
                <a:solidFill>
                  <a:srgbClr val="0F172A"/>
                </a:solidFill>
              </a:rPr>
              <a:t>4. </a:t>
            </a:r>
            <a:r>
              <a:rPr sz="1350" b="0" dirty="0" err="1">
                <a:solidFill>
                  <a:srgbClr val="0F172A"/>
                </a:solidFill>
              </a:rPr>
              <a:t>Estudo</a:t>
            </a:r>
            <a:r>
              <a:rPr sz="1350" b="0" dirty="0">
                <a:solidFill>
                  <a:srgbClr val="0F172A"/>
                </a:solidFill>
              </a:rPr>
              <a:t> de </a:t>
            </a:r>
            <a:r>
              <a:rPr sz="1350" b="0" dirty="0" err="1">
                <a:solidFill>
                  <a:srgbClr val="0F172A"/>
                </a:solidFill>
              </a:rPr>
              <a:t>viabilidade</a:t>
            </a:r>
            <a:r>
              <a:rPr sz="1350" b="0" dirty="0">
                <a:solidFill>
                  <a:srgbClr val="0F172A"/>
                </a:solidFill>
              </a:rPr>
              <a:t> / </a:t>
            </a:r>
            <a:r>
              <a:rPr sz="1350" b="0" dirty="0" err="1">
                <a:solidFill>
                  <a:srgbClr val="0F172A"/>
                </a:solidFill>
              </a:rPr>
              <a:t>assessoria</a:t>
            </a:r>
            <a:endParaRPr sz="1350" b="0" dirty="0">
              <a:solidFill>
                <a:srgbClr val="0F172A"/>
              </a:solidFill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0E7A0F1-FD93-4C04-89F0-0BB833906DD1}"/>
              </a:ext>
            </a:extLst>
          </p:cNvPr>
          <p:cNvSpPr>
            <a:spLocks noGrp="1"/>
          </p:cNvSpPr>
          <p:nvPr/>
        </p:nvSpPr>
        <p:spPr>
          <a:xfrm>
            <a:off x="4974947" y="2869883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21E968C-AE9B-497B-8CBA-C4FEC2A643D5}"/>
              </a:ext>
            </a:extLst>
          </p:cNvPr>
          <p:cNvSpPr>
            <a:spLocks noGrp="1"/>
          </p:cNvSpPr>
          <p:nvPr/>
        </p:nvSpPr>
        <p:spPr>
          <a:xfrm>
            <a:off x="5105400" y="299085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8594087-4A9E-4503-9D14-A055A8822CD8}"/>
              </a:ext>
            </a:extLst>
          </p:cNvPr>
          <p:cNvSpPr>
            <a:spLocks noGrp="1"/>
          </p:cNvSpPr>
          <p:nvPr/>
        </p:nvSpPr>
        <p:spPr>
          <a:xfrm>
            <a:off x="6904177" y="2869883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1CC0206-D7F7-4904-9FFE-E33FB9937BA3}"/>
              </a:ext>
            </a:extLst>
          </p:cNvPr>
          <p:cNvSpPr>
            <a:spLocks noGrp="1"/>
          </p:cNvSpPr>
          <p:nvPr/>
        </p:nvSpPr>
        <p:spPr>
          <a:xfrm>
            <a:off x="7029450" y="299085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3CC8980-4D66-4E43-9F8F-1E161B3C7142}"/>
              </a:ext>
            </a:extLst>
          </p:cNvPr>
          <p:cNvSpPr>
            <a:spLocks noGrp="1"/>
          </p:cNvSpPr>
          <p:nvPr/>
        </p:nvSpPr>
        <p:spPr>
          <a:xfrm>
            <a:off x="9425013" y="2869883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BCE7B6D-CEF2-4EC9-B414-DB98996B593A}"/>
              </a:ext>
            </a:extLst>
          </p:cNvPr>
          <p:cNvSpPr>
            <a:spLocks noGrp="1"/>
          </p:cNvSpPr>
          <p:nvPr/>
        </p:nvSpPr>
        <p:spPr>
          <a:xfrm>
            <a:off x="9563100" y="299085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A385055-2623-4B32-A0FF-FBDF8F30D3B0}"/>
              </a:ext>
            </a:extLst>
          </p:cNvPr>
          <p:cNvSpPr>
            <a:spLocks noGrp="1"/>
          </p:cNvSpPr>
          <p:nvPr/>
        </p:nvSpPr>
        <p:spPr>
          <a:xfrm>
            <a:off x="11768368" y="2869883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1A9110B-C925-4EB4-A1F7-CDE0F7685481}"/>
              </a:ext>
            </a:extLst>
          </p:cNvPr>
          <p:cNvSpPr>
            <a:spLocks noGrp="1"/>
          </p:cNvSpPr>
          <p:nvPr/>
        </p:nvSpPr>
        <p:spPr>
          <a:xfrm>
            <a:off x="11906250" y="299085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28B7452-636B-4907-851F-EC9A91FE72DB}"/>
              </a:ext>
            </a:extLst>
          </p:cNvPr>
          <p:cNvSpPr>
            <a:spLocks noGrp="1"/>
          </p:cNvSpPr>
          <p:nvPr/>
        </p:nvSpPr>
        <p:spPr>
          <a:xfrm>
            <a:off x="13105991" y="2869883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F22FEB4-200E-4ECB-97C7-7B1C4B4AA535}"/>
              </a:ext>
            </a:extLst>
          </p:cNvPr>
          <p:cNvSpPr>
            <a:spLocks noGrp="1"/>
          </p:cNvSpPr>
          <p:nvPr/>
        </p:nvSpPr>
        <p:spPr>
          <a:xfrm>
            <a:off x="13239750" y="299085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9470A8D3-93AA-43DD-AF51-80440147E68C}"/>
              </a:ext>
            </a:extLst>
          </p:cNvPr>
          <p:cNvSpPr>
            <a:spLocks noGrp="1"/>
          </p:cNvSpPr>
          <p:nvPr/>
        </p:nvSpPr>
        <p:spPr>
          <a:xfrm>
            <a:off x="15331024" y="2869883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5180AD7-C9AC-46FE-9583-8FEA36EE9EBD}"/>
              </a:ext>
            </a:extLst>
          </p:cNvPr>
          <p:cNvSpPr>
            <a:spLocks noGrp="1"/>
          </p:cNvSpPr>
          <p:nvPr/>
        </p:nvSpPr>
        <p:spPr>
          <a:xfrm>
            <a:off x="15468600" y="299085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0906E13-E6A5-465A-B789-E41E2F3FCBC0}"/>
              </a:ext>
            </a:extLst>
          </p:cNvPr>
          <p:cNvSpPr>
            <a:spLocks noGrp="1"/>
          </p:cNvSpPr>
          <p:nvPr/>
        </p:nvSpPr>
        <p:spPr>
          <a:xfrm>
            <a:off x="590550" y="3893820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AF98DFB-03F9-4A07-ADDA-A5D1A3CFE7C5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lang="pt-BR" sz="1350" b="0" dirty="0">
                <a:solidFill>
                  <a:srgbClr val="0F172A"/>
                </a:solidFill>
              </a:rPr>
              <a:t>5. </a:t>
            </a:r>
            <a:r>
              <a:rPr sz="1350" b="0" dirty="0" err="1">
                <a:solidFill>
                  <a:srgbClr val="0F172A"/>
                </a:solidFill>
              </a:rPr>
              <a:t>Peças</a:t>
            </a:r>
            <a:r>
              <a:rPr sz="1350" b="0" dirty="0">
                <a:solidFill>
                  <a:srgbClr val="0F172A"/>
                </a:solidFill>
              </a:rPr>
              <a:t> e upgrades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5E3E2A7B-DC4A-4F42-9AAE-718D027940D9}"/>
              </a:ext>
            </a:extLst>
          </p:cNvPr>
          <p:cNvSpPr>
            <a:spLocks noGrp="1"/>
          </p:cNvSpPr>
          <p:nvPr/>
        </p:nvSpPr>
        <p:spPr>
          <a:xfrm>
            <a:off x="4974947" y="3893820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8044C9F9-D12C-4B57-88FD-523C375884BB}"/>
              </a:ext>
            </a:extLst>
          </p:cNvPr>
          <p:cNvSpPr>
            <a:spLocks noGrp="1"/>
          </p:cNvSpPr>
          <p:nvPr/>
        </p:nvSpPr>
        <p:spPr>
          <a:xfrm>
            <a:off x="5105400" y="400050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D97CA1B-4BD9-4DBE-9C1E-7B0F35822AB3}"/>
              </a:ext>
            </a:extLst>
          </p:cNvPr>
          <p:cNvSpPr>
            <a:spLocks noGrp="1"/>
          </p:cNvSpPr>
          <p:nvPr/>
        </p:nvSpPr>
        <p:spPr>
          <a:xfrm>
            <a:off x="6904177" y="3893820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7D890589-E531-457A-938D-44C75DDFB91B}"/>
              </a:ext>
            </a:extLst>
          </p:cNvPr>
          <p:cNvSpPr>
            <a:spLocks noGrp="1"/>
          </p:cNvSpPr>
          <p:nvPr/>
        </p:nvSpPr>
        <p:spPr>
          <a:xfrm>
            <a:off x="7029450" y="40005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741299D1-2D6F-4353-ABC1-EDFD57135998}"/>
              </a:ext>
            </a:extLst>
          </p:cNvPr>
          <p:cNvSpPr>
            <a:spLocks noGrp="1"/>
          </p:cNvSpPr>
          <p:nvPr/>
        </p:nvSpPr>
        <p:spPr>
          <a:xfrm>
            <a:off x="9425013" y="3893820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CCAB6F0E-91D0-4EA3-AEEB-4B9FF087E15D}"/>
              </a:ext>
            </a:extLst>
          </p:cNvPr>
          <p:cNvSpPr>
            <a:spLocks noGrp="1"/>
          </p:cNvSpPr>
          <p:nvPr/>
        </p:nvSpPr>
        <p:spPr>
          <a:xfrm>
            <a:off x="9563100" y="400050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E87DAB7-164A-4F95-B168-27A90E504D08}"/>
              </a:ext>
            </a:extLst>
          </p:cNvPr>
          <p:cNvSpPr>
            <a:spLocks noGrp="1"/>
          </p:cNvSpPr>
          <p:nvPr/>
        </p:nvSpPr>
        <p:spPr>
          <a:xfrm>
            <a:off x="11768368" y="3893820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5A823989-65CC-4F8C-A8D0-60D860D5BDA1}"/>
              </a:ext>
            </a:extLst>
          </p:cNvPr>
          <p:cNvSpPr>
            <a:spLocks noGrp="1"/>
          </p:cNvSpPr>
          <p:nvPr/>
        </p:nvSpPr>
        <p:spPr>
          <a:xfrm>
            <a:off x="11906250" y="400050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2E717579-D46A-42DC-9410-7E418153F527}"/>
              </a:ext>
            </a:extLst>
          </p:cNvPr>
          <p:cNvSpPr>
            <a:spLocks noGrp="1"/>
          </p:cNvSpPr>
          <p:nvPr/>
        </p:nvSpPr>
        <p:spPr>
          <a:xfrm>
            <a:off x="13105991" y="3893820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E9C98F8-DB4B-4FD6-9BD7-6CA420E5BB3D}"/>
              </a:ext>
            </a:extLst>
          </p:cNvPr>
          <p:cNvSpPr>
            <a:spLocks noGrp="1"/>
          </p:cNvSpPr>
          <p:nvPr/>
        </p:nvSpPr>
        <p:spPr>
          <a:xfrm>
            <a:off x="13239750" y="400050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F57BB3C-B35A-4BBD-AAB1-6EB89DE18A47}"/>
              </a:ext>
            </a:extLst>
          </p:cNvPr>
          <p:cNvSpPr>
            <a:spLocks noGrp="1"/>
          </p:cNvSpPr>
          <p:nvPr/>
        </p:nvSpPr>
        <p:spPr>
          <a:xfrm>
            <a:off x="15331024" y="3893820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A698A082-745A-41B9-90D7-B69793D2E1E5}"/>
              </a:ext>
            </a:extLst>
          </p:cNvPr>
          <p:cNvSpPr>
            <a:spLocks noGrp="1"/>
          </p:cNvSpPr>
          <p:nvPr/>
        </p:nvSpPr>
        <p:spPr>
          <a:xfrm>
            <a:off x="15468600" y="400050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7DFA5A4D-4B64-4554-A66F-E95F5F5AD6B1}"/>
              </a:ext>
            </a:extLst>
          </p:cNvPr>
          <p:cNvSpPr>
            <a:spLocks noGrp="1"/>
          </p:cNvSpPr>
          <p:nvPr/>
        </p:nvSpPr>
        <p:spPr>
          <a:xfrm>
            <a:off x="590550" y="4917758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FCB4DFD-7A4B-42F7-AADE-01E4654E0DAD}"/>
              </a:ext>
            </a:extLst>
          </p:cNvPr>
          <p:cNvSpPr>
            <a:spLocks noGrp="1"/>
          </p:cNvSpPr>
          <p:nvPr/>
        </p:nvSpPr>
        <p:spPr>
          <a:xfrm>
            <a:off x="723900" y="502920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lang="pt-BR" sz="1350" dirty="0">
                <a:solidFill>
                  <a:srgbClr val="0F172A"/>
                </a:solidFill>
              </a:rPr>
              <a:t>6. </a:t>
            </a:r>
            <a:r>
              <a:rPr sz="1350" b="0" dirty="0" err="1">
                <a:solidFill>
                  <a:srgbClr val="0F172A"/>
                </a:solidFill>
              </a:rPr>
              <a:t>Manutenção</a:t>
            </a:r>
            <a:r>
              <a:rPr sz="1350" b="0" dirty="0">
                <a:solidFill>
                  <a:srgbClr val="0F172A"/>
                </a:solidFill>
              </a:rPr>
              <a:t> </a:t>
            </a:r>
            <a:r>
              <a:rPr sz="1350" b="0" dirty="0" err="1">
                <a:solidFill>
                  <a:srgbClr val="0F172A"/>
                </a:solidFill>
              </a:rPr>
              <a:t>especializada</a:t>
            </a:r>
            <a:endParaRPr sz="1350" b="0" dirty="0">
              <a:solidFill>
                <a:srgbClr val="0F172A"/>
              </a:solidFill>
            </a:endParaRP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9765A4E3-CDA7-4D89-80FC-75DF052BCACB}"/>
              </a:ext>
            </a:extLst>
          </p:cNvPr>
          <p:cNvSpPr>
            <a:spLocks noGrp="1"/>
          </p:cNvSpPr>
          <p:nvPr/>
        </p:nvSpPr>
        <p:spPr>
          <a:xfrm>
            <a:off x="4974947" y="4917758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6C744B89-5E07-4D5F-B9E5-76070BF420A6}"/>
              </a:ext>
            </a:extLst>
          </p:cNvPr>
          <p:cNvSpPr>
            <a:spLocks noGrp="1"/>
          </p:cNvSpPr>
          <p:nvPr/>
        </p:nvSpPr>
        <p:spPr>
          <a:xfrm>
            <a:off x="5105400" y="502920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2654B5A5-3F59-453F-8569-C07D110CE1DB}"/>
              </a:ext>
            </a:extLst>
          </p:cNvPr>
          <p:cNvSpPr>
            <a:spLocks noGrp="1"/>
          </p:cNvSpPr>
          <p:nvPr/>
        </p:nvSpPr>
        <p:spPr>
          <a:xfrm>
            <a:off x="6904177" y="4917758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B743B4E8-1B4E-472E-9C50-A014A312C663}"/>
              </a:ext>
            </a:extLst>
          </p:cNvPr>
          <p:cNvSpPr>
            <a:spLocks noGrp="1"/>
          </p:cNvSpPr>
          <p:nvPr/>
        </p:nvSpPr>
        <p:spPr>
          <a:xfrm>
            <a:off x="7029450" y="50292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FADACF59-1D0C-40E7-9824-3E3E95DFBB6B}"/>
              </a:ext>
            </a:extLst>
          </p:cNvPr>
          <p:cNvSpPr>
            <a:spLocks noGrp="1"/>
          </p:cNvSpPr>
          <p:nvPr/>
        </p:nvSpPr>
        <p:spPr>
          <a:xfrm>
            <a:off x="9425013" y="4917758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ECF0997F-A49F-48AA-9365-9FF13B64E629}"/>
              </a:ext>
            </a:extLst>
          </p:cNvPr>
          <p:cNvSpPr>
            <a:spLocks noGrp="1"/>
          </p:cNvSpPr>
          <p:nvPr/>
        </p:nvSpPr>
        <p:spPr>
          <a:xfrm>
            <a:off x="9563100" y="502920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792AD1BD-5C4E-459A-99E6-276EB171FA4B}"/>
              </a:ext>
            </a:extLst>
          </p:cNvPr>
          <p:cNvSpPr>
            <a:spLocks noGrp="1"/>
          </p:cNvSpPr>
          <p:nvPr/>
        </p:nvSpPr>
        <p:spPr>
          <a:xfrm>
            <a:off x="11768368" y="4917758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7929C760-6A86-4C7B-B4A2-C7AA91FB4F05}"/>
              </a:ext>
            </a:extLst>
          </p:cNvPr>
          <p:cNvSpPr>
            <a:spLocks noGrp="1"/>
          </p:cNvSpPr>
          <p:nvPr/>
        </p:nvSpPr>
        <p:spPr>
          <a:xfrm>
            <a:off x="11906250" y="502920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B60EB2F-2EBA-47CB-A207-C0A588C76991}"/>
              </a:ext>
            </a:extLst>
          </p:cNvPr>
          <p:cNvSpPr>
            <a:spLocks noGrp="1"/>
          </p:cNvSpPr>
          <p:nvPr/>
        </p:nvSpPr>
        <p:spPr>
          <a:xfrm>
            <a:off x="13105991" y="4917758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8497FAE6-971D-4474-B9CD-470E8112532D}"/>
              </a:ext>
            </a:extLst>
          </p:cNvPr>
          <p:cNvSpPr>
            <a:spLocks noGrp="1"/>
          </p:cNvSpPr>
          <p:nvPr/>
        </p:nvSpPr>
        <p:spPr>
          <a:xfrm>
            <a:off x="13239750" y="502920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3C24E009-3E0A-4BB6-B088-CDF83365A42B}"/>
              </a:ext>
            </a:extLst>
          </p:cNvPr>
          <p:cNvSpPr>
            <a:spLocks noGrp="1"/>
          </p:cNvSpPr>
          <p:nvPr/>
        </p:nvSpPr>
        <p:spPr>
          <a:xfrm>
            <a:off x="15331024" y="4917758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AC68BD32-DEA5-461D-9C4A-0685D60F465B}"/>
              </a:ext>
            </a:extLst>
          </p:cNvPr>
          <p:cNvSpPr>
            <a:spLocks noGrp="1"/>
          </p:cNvSpPr>
          <p:nvPr/>
        </p:nvSpPr>
        <p:spPr>
          <a:xfrm>
            <a:off x="15468600" y="502920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F68DB2DF-B918-4467-99BB-BE452E82BFDA}"/>
              </a:ext>
            </a:extLst>
          </p:cNvPr>
          <p:cNvSpPr>
            <a:spLocks noGrp="1"/>
          </p:cNvSpPr>
          <p:nvPr/>
        </p:nvSpPr>
        <p:spPr>
          <a:xfrm>
            <a:off x="590550" y="6017895"/>
            <a:ext cx="8467725" cy="3754755"/>
          </a:xfrm>
          <a:prstGeom prst="roundRect">
            <a:avLst>
              <a:gd name="adj" fmla="val 5074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0A308262-CC53-41DE-BC36-BFA4A574E12C}"/>
              </a:ext>
            </a:extLst>
          </p:cNvPr>
          <p:cNvSpPr>
            <a:spLocks noGrp="1"/>
          </p:cNvSpPr>
          <p:nvPr/>
        </p:nvSpPr>
        <p:spPr>
          <a:xfrm>
            <a:off x="781050" y="6210300"/>
            <a:ext cx="8096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O que esses produtos podem adicionar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C45F9067-8837-4BF2-B411-80A93111391A}"/>
              </a:ext>
            </a:extLst>
          </p:cNvPr>
          <p:cNvSpPr>
            <a:spLocks noGrp="1"/>
          </p:cNvSpPr>
          <p:nvPr/>
        </p:nvSpPr>
        <p:spPr>
          <a:xfrm>
            <a:off x="781050" y="65913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Mais recorrência e maior captura de valor por cliente.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9496F6D7-7488-418F-9898-2D381F392634}"/>
              </a:ext>
            </a:extLst>
          </p:cNvPr>
          <p:cNvSpPr>
            <a:spLocks noGrp="1"/>
          </p:cNvSpPr>
          <p:nvPr/>
        </p:nvSpPr>
        <p:spPr>
          <a:xfrm>
            <a:off x="781050" y="69342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Elevação de ticket médio e extensão do ciclo de monetização.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AFFD3A74-1EA6-4836-8763-1A8CDC37886C}"/>
              </a:ext>
            </a:extLst>
          </p:cNvPr>
          <p:cNvSpPr>
            <a:spLocks noGrp="1"/>
          </p:cNvSpPr>
          <p:nvPr/>
        </p:nvSpPr>
        <p:spPr>
          <a:xfrm>
            <a:off x="781050" y="72771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Redução de dependência exclusiva do hardware e implantação.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B00C14D8-7C23-43F8-8B12-A89F8B69547C}"/>
              </a:ext>
            </a:extLst>
          </p:cNvPr>
          <p:cNvSpPr>
            <a:spLocks noGrp="1"/>
          </p:cNvSpPr>
          <p:nvPr/>
        </p:nvSpPr>
        <p:spPr>
          <a:xfrm>
            <a:off x="9229725" y="6017895"/>
            <a:ext cx="8467725" cy="3754755"/>
          </a:xfrm>
          <a:prstGeom prst="roundRect">
            <a:avLst>
              <a:gd name="adj" fmla="val 5074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06AD0C70-C975-49A5-80A0-A13D9F753ECE}"/>
              </a:ext>
            </a:extLst>
          </p:cNvPr>
          <p:cNvSpPr>
            <a:spLocks noGrp="1"/>
          </p:cNvSpPr>
          <p:nvPr/>
        </p:nvSpPr>
        <p:spPr>
          <a:xfrm>
            <a:off x="9429750" y="6210300"/>
            <a:ext cx="8096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Mensagem para investidores</a:t>
            </a: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EC162FFB-4D50-4C60-9E2C-05BF95CF4ADA}"/>
              </a:ext>
            </a:extLst>
          </p:cNvPr>
          <p:cNvSpPr>
            <a:spLocks noGrp="1"/>
          </p:cNvSpPr>
          <p:nvPr/>
        </p:nvSpPr>
        <p:spPr>
          <a:xfrm>
            <a:off x="9429750" y="65913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Esses produtos ainda não entraram na conta.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1C007BCC-DCC2-467B-99EC-67DCE76B6792}"/>
              </a:ext>
            </a:extLst>
          </p:cNvPr>
          <p:cNvSpPr>
            <a:spLocks noGrp="1"/>
          </p:cNvSpPr>
          <p:nvPr/>
        </p:nvSpPr>
        <p:spPr>
          <a:xfrm>
            <a:off x="9429750" y="69342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Portanto, o resultado atual é conservador.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F8758671-62CD-433A-81FA-A7FD816F3F15}"/>
              </a:ext>
            </a:extLst>
          </p:cNvPr>
          <p:cNvSpPr>
            <a:spLocks noGrp="1"/>
          </p:cNvSpPr>
          <p:nvPr/>
        </p:nvSpPr>
        <p:spPr>
          <a:xfrm>
            <a:off x="9429750" y="72771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O upside está na ativação organizada desse segundo bloco do portfólio.</a:t>
            </a:r>
          </a:p>
        </p:txBody>
      </p:sp>
    </p:spTree>
    <p:extLst>
      <p:ext uri="{BB962C8B-B14F-4D97-AF65-F5344CB8AC3E}">
        <p14:creationId xmlns:p14="http://schemas.microsoft.com/office/powerpoint/2010/main" val="68013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E463869C-5D0F-491C-A390-B53D038B4FC2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Demanda do mercado / market share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67B7F0-ADD1-41B8-8FD3-7343EF59FA0E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1CBCDF-0A04-4FE3-A784-B98C63FE5FA8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129730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 dirty="0" err="1">
                <a:solidFill>
                  <a:srgbClr val="475569"/>
                </a:solidFill>
              </a:rPr>
              <a:t>Premissa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adotada</a:t>
            </a:r>
            <a:r>
              <a:rPr sz="1650" b="0" dirty="0">
                <a:solidFill>
                  <a:srgbClr val="475569"/>
                </a:solidFill>
              </a:rPr>
              <a:t> para </a:t>
            </a:r>
            <a:r>
              <a:rPr sz="1650" b="0" dirty="0" err="1">
                <a:solidFill>
                  <a:srgbClr val="475569"/>
                </a:solidFill>
              </a:rPr>
              <a:t>este</a:t>
            </a:r>
            <a:r>
              <a:rPr sz="1650" b="0" dirty="0">
                <a:solidFill>
                  <a:srgbClr val="475569"/>
                </a:solidFill>
              </a:rPr>
              <a:t> material: mercado </a:t>
            </a:r>
            <a:r>
              <a:rPr sz="1650" b="0" dirty="0" err="1">
                <a:solidFill>
                  <a:srgbClr val="475569"/>
                </a:solidFill>
              </a:rPr>
              <a:t>Brasil</a:t>
            </a:r>
            <a:r>
              <a:rPr sz="1650" b="0" dirty="0">
                <a:solidFill>
                  <a:srgbClr val="475569"/>
                </a:solidFill>
              </a:rPr>
              <a:t> com </a:t>
            </a:r>
            <a:r>
              <a:rPr lang="pt-BR" sz="1650" b="0" dirty="0">
                <a:solidFill>
                  <a:srgbClr val="475569"/>
                </a:solidFill>
              </a:rPr>
              <a:t>3</a:t>
            </a:r>
            <a:r>
              <a:rPr sz="1650" b="0" dirty="0">
                <a:solidFill>
                  <a:srgbClr val="475569"/>
                </a:solidFill>
              </a:rPr>
              <a:t>.000 kits e </a:t>
            </a:r>
            <a:r>
              <a:rPr lang="pt-BR" sz="1650" b="0" dirty="0">
                <a:solidFill>
                  <a:srgbClr val="475569"/>
                </a:solidFill>
              </a:rPr>
              <a:t>3</a:t>
            </a:r>
            <a:r>
              <a:rPr sz="1650" b="0" dirty="0">
                <a:solidFill>
                  <a:srgbClr val="475569"/>
                </a:solidFill>
              </a:rPr>
              <a:t>.000 </a:t>
            </a:r>
            <a:r>
              <a:rPr sz="1650" b="0" dirty="0" err="1">
                <a:solidFill>
                  <a:srgbClr val="475569"/>
                </a:solidFill>
              </a:rPr>
              <a:t>instalações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vendidos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por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mês</a:t>
            </a:r>
            <a:r>
              <a:rPr sz="1650" b="0" dirty="0">
                <a:solidFill>
                  <a:srgbClr val="475569"/>
                </a:solidFill>
              </a:rPr>
              <a:t>, </a:t>
            </a:r>
            <a:r>
              <a:rPr sz="1650" b="0" dirty="0" err="1">
                <a:solidFill>
                  <a:srgbClr val="475569"/>
                </a:solidFill>
              </a:rPr>
              <a:t>durante</a:t>
            </a:r>
            <a:r>
              <a:rPr sz="1650" b="0" dirty="0">
                <a:solidFill>
                  <a:srgbClr val="475569"/>
                </a:solidFill>
              </a:rPr>
              <a:t> </a:t>
            </a:r>
            <a:r>
              <a:rPr sz="1650" b="0" dirty="0" err="1">
                <a:solidFill>
                  <a:srgbClr val="475569"/>
                </a:solidFill>
              </a:rPr>
              <a:t>todo</a:t>
            </a:r>
            <a:r>
              <a:rPr sz="1650" b="0" dirty="0">
                <a:solidFill>
                  <a:srgbClr val="475569"/>
                </a:solidFill>
              </a:rPr>
              <a:t> o </a:t>
            </a:r>
            <a:r>
              <a:rPr sz="1650" b="0" dirty="0" err="1">
                <a:solidFill>
                  <a:srgbClr val="475569"/>
                </a:solidFill>
              </a:rPr>
              <a:t>período</a:t>
            </a:r>
            <a:r>
              <a:rPr sz="1650" b="0" dirty="0">
                <a:solidFill>
                  <a:srgbClr val="475569"/>
                </a:solidFill>
              </a:rPr>
              <a:t> do </a:t>
            </a:r>
            <a:r>
              <a:rPr sz="1650" b="0" dirty="0" err="1">
                <a:solidFill>
                  <a:srgbClr val="475569"/>
                </a:solidFill>
              </a:rPr>
              <a:t>estudo</a:t>
            </a:r>
            <a:r>
              <a:rPr sz="1650" b="0" dirty="0">
                <a:solidFill>
                  <a:srgbClr val="475569"/>
                </a:solidFill>
              </a:rPr>
              <a:t> (60 meses).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89137A4-DECE-4145-9A58-12F976E772E6}"/>
              </a:ext>
            </a:extLst>
          </p:cNvPr>
          <p:cNvSpPr>
            <a:spLocks noGrp="1"/>
          </p:cNvSpPr>
          <p:nvPr/>
        </p:nvSpPr>
        <p:spPr>
          <a:xfrm>
            <a:off x="838200" y="1784985"/>
            <a:ext cx="5397500" cy="20955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F2A8758-7433-482F-8494-828D3A062EBA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anual Brasil (proxy)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B17640A-A908-46E0-A5D2-86D29B94C278}"/>
              </a:ext>
            </a:extLst>
          </p:cNvPr>
          <p:cNvSpPr>
            <a:spLocks noGrp="1"/>
          </p:cNvSpPr>
          <p:nvPr/>
        </p:nvSpPr>
        <p:spPr>
          <a:xfrm>
            <a:off x="1047750" y="232410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R$ </a:t>
            </a:r>
            <a:r>
              <a:rPr lang="pt-BR" sz="2700" b="1" dirty="0">
                <a:solidFill>
                  <a:srgbClr val="0B1324"/>
                </a:solidFill>
              </a:rPr>
              <a:t>360 MM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1369734-F9C1-4C01-81D8-4831DF464AC7}"/>
              </a:ext>
            </a:extLst>
          </p:cNvPr>
          <p:cNvSpPr>
            <a:spLocks noGrp="1"/>
          </p:cNvSpPr>
          <p:nvPr/>
        </p:nvSpPr>
        <p:spPr>
          <a:xfrm>
            <a:off x="6445250" y="1784985"/>
            <a:ext cx="5397500" cy="20955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C7CE5E5-CFAC-43D0-A8B8-89F2E8C2C469}"/>
              </a:ext>
            </a:extLst>
          </p:cNvPr>
          <p:cNvSpPr>
            <a:spLocks noGrp="1"/>
          </p:cNvSpPr>
          <p:nvPr/>
        </p:nvSpPr>
        <p:spPr>
          <a:xfrm>
            <a:off x="6648450" y="20002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Mercado total do estudo (60 meses)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96767B-72BE-4F95-97BF-DA485D5A7992}"/>
              </a:ext>
            </a:extLst>
          </p:cNvPr>
          <p:cNvSpPr>
            <a:spLocks noGrp="1"/>
          </p:cNvSpPr>
          <p:nvPr/>
        </p:nvSpPr>
        <p:spPr>
          <a:xfrm>
            <a:off x="6648450" y="232410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R$ 36</a:t>
            </a:r>
            <a:r>
              <a:rPr lang="pt-BR" sz="2700" b="1" dirty="0">
                <a:solidFill>
                  <a:srgbClr val="0B1324"/>
                </a:solidFill>
              </a:rPr>
              <a:t> MM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F022ECC-6D60-47DF-97C8-C1B58AF52698}"/>
              </a:ext>
            </a:extLst>
          </p:cNvPr>
          <p:cNvSpPr>
            <a:spLocks noGrp="1"/>
          </p:cNvSpPr>
          <p:nvPr/>
        </p:nvSpPr>
        <p:spPr>
          <a:xfrm>
            <a:off x="12052300" y="1784985"/>
            <a:ext cx="5397500" cy="2095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40C3C09-7B3C-43D6-AB8C-344E5621D069}"/>
              </a:ext>
            </a:extLst>
          </p:cNvPr>
          <p:cNvSpPr>
            <a:spLocks noGrp="1"/>
          </p:cNvSpPr>
          <p:nvPr/>
        </p:nvSpPr>
        <p:spPr>
          <a:xfrm>
            <a:off x="12268200" y="200025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Share do plano por receita anual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18319E5-556E-42EC-B298-66DEC26DC4BD}"/>
              </a:ext>
            </a:extLst>
          </p:cNvPr>
          <p:cNvSpPr>
            <a:spLocks noGrp="1"/>
          </p:cNvSpPr>
          <p:nvPr/>
        </p:nvSpPr>
        <p:spPr>
          <a:xfrm>
            <a:off x="12268200" y="232410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lang="pt-BR" sz="2700" b="1" dirty="0">
                <a:solidFill>
                  <a:srgbClr val="0B1324"/>
                </a:solidFill>
              </a:rPr>
              <a:t>10</a:t>
            </a:r>
            <a:r>
              <a:rPr sz="2700" b="1" dirty="0">
                <a:solidFill>
                  <a:srgbClr val="0B1324"/>
                </a:solidFill>
              </a:rPr>
              <a:t>%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4521FC2-D0BD-4129-9FD3-8FF85E7623DF}"/>
              </a:ext>
            </a:extLst>
          </p:cNvPr>
          <p:cNvSpPr>
            <a:spLocks noGrp="1"/>
          </p:cNvSpPr>
          <p:nvPr/>
        </p:nvSpPr>
        <p:spPr>
          <a:xfrm>
            <a:off x="838200" y="4109085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0F8E878-5DBA-4F96-8E66-E935CC743703}"/>
              </a:ext>
            </a:extLst>
          </p:cNvPr>
          <p:cNvSpPr>
            <a:spLocks noGrp="1"/>
          </p:cNvSpPr>
          <p:nvPr/>
        </p:nvSpPr>
        <p:spPr>
          <a:xfrm>
            <a:off x="971550" y="422910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Linha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7090BEB-D485-49B4-BF87-26EEB25AEDD1}"/>
              </a:ext>
            </a:extLst>
          </p:cNvPr>
          <p:cNvSpPr>
            <a:spLocks noGrp="1"/>
          </p:cNvSpPr>
          <p:nvPr/>
        </p:nvSpPr>
        <p:spPr>
          <a:xfrm>
            <a:off x="6375400" y="4109085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49346C5-2845-4FDB-A617-E5D1EBE19C07}"/>
              </a:ext>
            </a:extLst>
          </p:cNvPr>
          <p:cNvSpPr>
            <a:spLocks noGrp="1"/>
          </p:cNvSpPr>
          <p:nvPr/>
        </p:nvSpPr>
        <p:spPr>
          <a:xfrm>
            <a:off x="6515100" y="422910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Unidades do plano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21E5242-F901-4ACE-A35D-2672A57456CA}"/>
              </a:ext>
            </a:extLst>
          </p:cNvPr>
          <p:cNvSpPr>
            <a:spLocks noGrp="1"/>
          </p:cNvSpPr>
          <p:nvPr/>
        </p:nvSpPr>
        <p:spPr>
          <a:xfrm>
            <a:off x="9660996" y="4109085"/>
            <a:ext cx="4278048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9D21B91-C5F4-48C7-929D-848453A43183}"/>
              </a:ext>
            </a:extLst>
          </p:cNvPr>
          <p:cNvSpPr>
            <a:spLocks noGrp="1"/>
          </p:cNvSpPr>
          <p:nvPr/>
        </p:nvSpPr>
        <p:spPr>
          <a:xfrm>
            <a:off x="9791700" y="422910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Mercado Brasil no estudo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7643DB6-05DB-40F0-89E8-8A40F9A093F6}"/>
              </a:ext>
            </a:extLst>
          </p:cNvPr>
          <p:cNvSpPr>
            <a:spLocks noGrp="1"/>
          </p:cNvSpPr>
          <p:nvPr/>
        </p:nvSpPr>
        <p:spPr>
          <a:xfrm>
            <a:off x="14072394" y="4109085"/>
            <a:ext cx="337740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BD98B1A-9A52-40E5-ACD9-46972B52B262}"/>
              </a:ext>
            </a:extLst>
          </p:cNvPr>
          <p:cNvSpPr>
            <a:spLocks noGrp="1"/>
          </p:cNvSpPr>
          <p:nvPr/>
        </p:nvSpPr>
        <p:spPr>
          <a:xfrm>
            <a:off x="14211300" y="422910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Share proxy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8D103F5-59D4-4030-A2FE-E11DAAA0B2F9}"/>
              </a:ext>
            </a:extLst>
          </p:cNvPr>
          <p:cNvSpPr>
            <a:spLocks noGrp="1"/>
          </p:cNvSpPr>
          <p:nvPr/>
        </p:nvSpPr>
        <p:spPr>
          <a:xfrm>
            <a:off x="838200" y="5133023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5F37BC2-0E7F-4648-BD06-68848F669624}"/>
              </a:ext>
            </a:extLst>
          </p:cNvPr>
          <p:cNvSpPr>
            <a:spLocks noGrp="1"/>
          </p:cNvSpPr>
          <p:nvPr/>
        </p:nvSpPr>
        <p:spPr>
          <a:xfrm>
            <a:off x="971550" y="523875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Kits / equipamentos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586F02C-497C-4AC4-9769-4D196717FE0B}"/>
              </a:ext>
            </a:extLst>
          </p:cNvPr>
          <p:cNvSpPr>
            <a:spLocks noGrp="1"/>
          </p:cNvSpPr>
          <p:nvPr/>
        </p:nvSpPr>
        <p:spPr>
          <a:xfrm>
            <a:off x="6375400" y="5133023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237CB83-B861-45CE-8E52-0F72CB6CD0D9}"/>
              </a:ext>
            </a:extLst>
          </p:cNvPr>
          <p:cNvSpPr>
            <a:spLocks noGrp="1"/>
          </p:cNvSpPr>
          <p:nvPr/>
        </p:nvSpPr>
        <p:spPr>
          <a:xfrm>
            <a:off x="6515100" y="523875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6853232-7A03-4D68-9C70-5A4F14428196}"/>
              </a:ext>
            </a:extLst>
          </p:cNvPr>
          <p:cNvSpPr>
            <a:spLocks noGrp="1"/>
          </p:cNvSpPr>
          <p:nvPr/>
        </p:nvSpPr>
        <p:spPr>
          <a:xfrm>
            <a:off x="9660996" y="5133023"/>
            <a:ext cx="4278048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AF821C0-DF55-40E2-A5C1-98E9E2B370AB}"/>
              </a:ext>
            </a:extLst>
          </p:cNvPr>
          <p:cNvSpPr>
            <a:spLocks noGrp="1"/>
          </p:cNvSpPr>
          <p:nvPr/>
        </p:nvSpPr>
        <p:spPr>
          <a:xfrm>
            <a:off x="9791700" y="523875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 dirty="0">
                <a:solidFill>
                  <a:srgbClr val="0F172A"/>
                </a:solidFill>
              </a:rPr>
              <a:t>3.000 kits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6C237DC-B47E-4137-BA79-F2C5A9D8A7D9}"/>
              </a:ext>
            </a:extLst>
          </p:cNvPr>
          <p:cNvSpPr>
            <a:spLocks noGrp="1"/>
          </p:cNvSpPr>
          <p:nvPr/>
        </p:nvSpPr>
        <p:spPr>
          <a:xfrm>
            <a:off x="14072394" y="5133023"/>
            <a:ext cx="337740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346EC86-E4C2-49D9-9CFD-489EE136FA29}"/>
              </a:ext>
            </a:extLst>
          </p:cNvPr>
          <p:cNvSpPr>
            <a:spLocks noGrp="1"/>
          </p:cNvSpPr>
          <p:nvPr/>
        </p:nvSpPr>
        <p:spPr>
          <a:xfrm>
            <a:off x="14211300" y="52387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lang="pt-BR" sz="1500" b="1" dirty="0">
                <a:solidFill>
                  <a:srgbClr val="059669"/>
                </a:solidFill>
              </a:rPr>
              <a:t>10</a:t>
            </a:r>
            <a:r>
              <a:rPr sz="1500" b="1" dirty="0">
                <a:solidFill>
                  <a:srgbClr val="059669"/>
                </a:solidFill>
              </a:rPr>
              <a:t>%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DA5A6D8-08B3-4655-AA8C-2406691421DD}"/>
              </a:ext>
            </a:extLst>
          </p:cNvPr>
          <p:cNvSpPr>
            <a:spLocks noGrp="1"/>
          </p:cNvSpPr>
          <p:nvPr/>
        </p:nvSpPr>
        <p:spPr>
          <a:xfrm>
            <a:off x="838200" y="6156960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C54D54E-DA3F-4418-A52B-391FE2C8BF17}"/>
              </a:ext>
            </a:extLst>
          </p:cNvPr>
          <p:cNvSpPr>
            <a:spLocks noGrp="1"/>
          </p:cNvSpPr>
          <p:nvPr/>
        </p:nvSpPr>
        <p:spPr>
          <a:xfrm>
            <a:off x="971550" y="626745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Implantações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67E7D2A-AB9F-4D1B-9E80-2BA282CBCCF8}"/>
              </a:ext>
            </a:extLst>
          </p:cNvPr>
          <p:cNvSpPr>
            <a:spLocks noGrp="1"/>
          </p:cNvSpPr>
          <p:nvPr/>
        </p:nvSpPr>
        <p:spPr>
          <a:xfrm>
            <a:off x="6375400" y="6156960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44E8530-6568-4D0C-9421-46CC6953DDE8}"/>
              </a:ext>
            </a:extLst>
          </p:cNvPr>
          <p:cNvSpPr>
            <a:spLocks noGrp="1"/>
          </p:cNvSpPr>
          <p:nvPr/>
        </p:nvSpPr>
        <p:spPr>
          <a:xfrm>
            <a:off x="6515100" y="626745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44F5400-2F51-4FA5-BDE9-0C0C50405636}"/>
              </a:ext>
            </a:extLst>
          </p:cNvPr>
          <p:cNvSpPr>
            <a:spLocks noGrp="1"/>
          </p:cNvSpPr>
          <p:nvPr/>
        </p:nvSpPr>
        <p:spPr>
          <a:xfrm>
            <a:off x="9660996" y="6156960"/>
            <a:ext cx="4278048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3B2A7DB-3DD6-4658-8FC6-1688DE4212D4}"/>
              </a:ext>
            </a:extLst>
          </p:cNvPr>
          <p:cNvSpPr>
            <a:spLocks noGrp="1"/>
          </p:cNvSpPr>
          <p:nvPr/>
        </p:nvSpPr>
        <p:spPr>
          <a:xfrm>
            <a:off x="9791700" y="626745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 dirty="0">
                <a:solidFill>
                  <a:srgbClr val="0F172A"/>
                </a:solidFill>
              </a:rPr>
              <a:t>3.000 </a:t>
            </a:r>
            <a:r>
              <a:rPr sz="1500" b="0" dirty="0" err="1">
                <a:solidFill>
                  <a:srgbClr val="0F172A"/>
                </a:solidFill>
              </a:rPr>
              <a:t>instalações</a:t>
            </a:r>
            <a:endParaRPr sz="1500" b="0" dirty="0">
              <a:solidFill>
                <a:srgbClr val="0F172A"/>
              </a:solidFill>
            </a:endParaRP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8664E6CC-C6A0-43F2-9AF2-F9D22B781821}"/>
              </a:ext>
            </a:extLst>
          </p:cNvPr>
          <p:cNvSpPr>
            <a:spLocks noGrp="1"/>
          </p:cNvSpPr>
          <p:nvPr/>
        </p:nvSpPr>
        <p:spPr>
          <a:xfrm>
            <a:off x="14072394" y="6156960"/>
            <a:ext cx="337740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3D60BD4-6A7F-47CA-BC44-BB69D33DC893}"/>
              </a:ext>
            </a:extLst>
          </p:cNvPr>
          <p:cNvSpPr>
            <a:spLocks noGrp="1"/>
          </p:cNvSpPr>
          <p:nvPr/>
        </p:nvSpPr>
        <p:spPr>
          <a:xfrm>
            <a:off x="14211300" y="62674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lang="pt-BR" sz="1500" b="1" dirty="0">
                <a:solidFill>
                  <a:srgbClr val="059669"/>
                </a:solidFill>
              </a:rPr>
              <a:t>10</a:t>
            </a:r>
            <a:r>
              <a:rPr sz="1500" b="1" dirty="0">
                <a:solidFill>
                  <a:srgbClr val="059669"/>
                </a:solidFill>
              </a:rPr>
              <a:t>%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55570CA-13FF-494A-8072-DCEEEACFC766}"/>
              </a:ext>
            </a:extLst>
          </p:cNvPr>
          <p:cNvSpPr>
            <a:spLocks noGrp="1"/>
          </p:cNvSpPr>
          <p:nvPr/>
        </p:nvSpPr>
        <p:spPr>
          <a:xfrm>
            <a:off x="838200" y="7180898"/>
            <a:ext cx="540385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F82BA74-B7D1-417E-A3E5-34D794E86617}"/>
              </a:ext>
            </a:extLst>
          </p:cNvPr>
          <p:cNvSpPr>
            <a:spLocks noGrp="1"/>
          </p:cNvSpPr>
          <p:nvPr/>
        </p:nvSpPr>
        <p:spPr>
          <a:xfrm>
            <a:off x="971550" y="7296150"/>
            <a:ext cx="5143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Software / base ativa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471A2D6-81DF-41EE-A626-ACF590A6D662}"/>
              </a:ext>
            </a:extLst>
          </p:cNvPr>
          <p:cNvSpPr>
            <a:spLocks noGrp="1"/>
          </p:cNvSpPr>
          <p:nvPr/>
        </p:nvSpPr>
        <p:spPr>
          <a:xfrm>
            <a:off x="6375400" y="7180898"/>
            <a:ext cx="315224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D8521651-53D9-433B-B295-0D5C25882B4E}"/>
              </a:ext>
            </a:extLst>
          </p:cNvPr>
          <p:cNvSpPr>
            <a:spLocks noGrp="1"/>
          </p:cNvSpPr>
          <p:nvPr/>
        </p:nvSpPr>
        <p:spPr>
          <a:xfrm>
            <a:off x="6515100" y="7296150"/>
            <a:ext cx="2876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4.000 ativos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179B8AA-2BA1-462C-A794-C7B74C7F828F}"/>
              </a:ext>
            </a:extLst>
          </p:cNvPr>
          <p:cNvSpPr>
            <a:spLocks noGrp="1"/>
          </p:cNvSpPr>
          <p:nvPr/>
        </p:nvSpPr>
        <p:spPr>
          <a:xfrm>
            <a:off x="9660996" y="7180898"/>
            <a:ext cx="4278048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820B99B2-4A53-4508-9E20-D9003C181B95}"/>
              </a:ext>
            </a:extLst>
          </p:cNvPr>
          <p:cNvSpPr>
            <a:spLocks noGrp="1"/>
          </p:cNvSpPr>
          <p:nvPr/>
        </p:nvSpPr>
        <p:spPr>
          <a:xfrm>
            <a:off x="9791700" y="729615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Não aplicável nesta premissa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F78D37F5-0D43-489D-9D29-948F7A6366C4}"/>
              </a:ext>
            </a:extLst>
          </p:cNvPr>
          <p:cNvSpPr>
            <a:spLocks noGrp="1"/>
          </p:cNvSpPr>
          <p:nvPr/>
        </p:nvSpPr>
        <p:spPr>
          <a:xfrm>
            <a:off x="14072394" y="7180898"/>
            <a:ext cx="337740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9D8E7FF7-010E-47BB-9EB3-E41F5AE11A05}"/>
              </a:ext>
            </a:extLst>
          </p:cNvPr>
          <p:cNvSpPr>
            <a:spLocks noGrp="1"/>
          </p:cNvSpPr>
          <p:nvPr/>
        </p:nvSpPr>
        <p:spPr>
          <a:xfrm>
            <a:off x="14211300" y="7296150"/>
            <a:ext cx="3105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30D2D69-5B4E-4B84-AA5F-5BB86DC431B4}"/>
              </a:ext>
            </a:extLst>
          </p:cNvPr>
          <p:cNvSpPr>
            <a:spLocks noGrp="1"/>
          </p:cNvSpPr>
          <p:nvPr/>
        </p:nvSpPr>
        <p:spPr>
          <a:xfrm>
            <a:off x="838200" y="834390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Nota: nesta versão, o market share foi recalculado a partir da premissa informada pelo usuário para kits e instalações no mercado nacional ao longo de todo o período do estudo.</a:t>
            </a:r>
          </a:p>
        </p:txBody>
      </p:sp>
    </p:spTree>
    <p:extLst>
      <p:ext uri="{BB962C8B-B14F-4D97-AF65-F5344CB8AC3E}">
        <p14:creationId xmlns:p14="http://schemas.microsoft.com/office/powerpoint/2010/main" val="423811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B35A70E2-1C8E-4BC1-89E1-E64DAC691476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Estrutura: Comercial, Operacional e Adm-Fin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FA3D8B9-0F13-4204-9AD9-FE5A1B23384F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15220C7-5DF0-4C18-8CBF-0DBAA5F758ED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9963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relatório.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B851426-C6D2-4928-A693-446ED0B7578A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A06BB08-41BD-4642-80DD-C311B0505997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60443DC-E61B-41F0-8532-9DB52CA5FA76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R$ 723.500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EEC71B5-73B2-4895-A46B-BDAF4B67859D}"/>
              </a:ext>
            </a:extLst>
          </p:cNvPr>
          <p:cNvSpPr>
            <a:spLocks noGrp="1"/>
          </p:cNvSpPr>
          <p:nvPr/>
        </p:nvSpPr>
        <p:spPr>
          <a:xfrm>
            <a:off x="64389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624B5B-6344-4291-B81B-459BCE9D8FED}"/>
              </a:ext>
            </a:extLst>
          </p:cNvPr>
          <p:cNvSpPr>
            <a:spLocks noGrp="1"/>
          </p:cNvSpPr>
          <p:nvPr/>
        </p:nvSpPr>
        <p:spPr>
          <a:xfrm>
            <a:off x="66484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B34F3C6-D124-4BFB-ABC8-078BB72B7770}"/>
              </a:ext>
            </a:extLst>
          </p:cNvPr>
          <p:cNvSpPr>
            <a:spLocks noGrp="1"/>
          </p:cNvSpPr>
          <p:nvPr/>
        </p:nvSpPr>
        <p:spPr>
          <a:xfrm>
            <a:off x="66484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R$ 249.000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48EEB63-54EE-4403-BBDF-0078B815B064}"/>
              </a:ext>
            </a:extLst>
          </p:cNvPr>
          <p:cNvSpPr>
            <a:spLocks noGrp="1"/>
          </p:cNvSpPr>
          <p:nvPr/>
        </p:nvSpPr>
        <p:spPr>
          <a:xfrm>
            <a:off x="120396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D5C3C8E-0FD4-43F9-80AC-3487A0200FFA}"/>
              </a:ext>
            </a:extLst>
          </p:cNvPr>
          <p:cNvSpPr>
            <a:spLocks noGrp="1"/>
          </p:cNvSpPr>
          <p:nvPr/>
        </p:nvSpPr>
        <p:spPr>
          <a:xfrm>
            <a:off x="122491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D3DAA27-B0FD-408D-8075-4FA813697722}"/>
              </a:ext>
            </a:extLst>
          </p:cNvPr>
          <p:cNvSpPr>
            <a:spLocks noGrp="1"/>
          </p:cNvSpPr>
          <p:nvPr/>
        </p:nvSpPr>
        <p:spPr>
          <a:xfrm>
            <a:off x="122491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R$ 2.988.000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0029914-5D84-47C3-B0E2-9FAAF0CEB5F5}"/>
              </a:ext>
            </a:extLst>
          </p:cNvPr>
          <p:cNvSpPr>
            <a:spLocks noGrp="1"/>
          </p:cNvSpPr>
          <p:nvPr/>
        </p:nvSpPr>
        <p:spPr>
          <a:xfrm>
            <a:off x="838200" y="42652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D5823C-EFB8-4C98-BB15-4374AE597D89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97A816E-4267-4669-A462-3FA5470323FC}"/>
              </a:ext>
            </a:extLst>
          </p:cNvPr>
          <p:cNvSpPr>
            <a:spLocks noGrp="1"/>
          </p:cNvSpPr>
          <p:nvPr/>
        </p:nvSpPr>
        <p:spPr>
          <a:xfrm>
            <a:off x="4445454" y="426529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D50D46E-8566-406A-8D7E-8AE97E7BC4A6}"/>
              </a:ext>
            </a:extLst>
          </p:cNvPr>
          <p:cNvSpPr>
            <a:spLocks noGrp="1"/>
          </p:cNvSpPr>
          <p:nvPr/>
        </p:nvSpPr>
        <p:spPr>
          <a:xfrm>
            <a:off x="4572000" y="4381500"/>
            <a:ext cx="2743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14631FF-DA5B-4551-83F4-490379880F03}"/>
              </a:ext>
            </a:extLst>
          </p:cNvPr>
          <p:cNvSpPr>
            <a:spLocks noGrp="1"/>
          </p:cNvSpPr>
          <p:nvPr/>
        </p:nvSpPr>
        <p:spPr>
          <a:xfrm>
            <a:off x="7589520" y="42652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AE29647-CB04-4744-BB6D-A551C955A5CC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 (rateio)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158911C-8311-42E8-8FE9-FFD7457EB852}"/>
              </a:ext>
            </a:extLst>
          </p:cNvPr>
          <p:cNvSpPr>
            <a:spLocks noGrp="1"/>
          </p:cNvSpPr>
          <p:nvPr/>
        </p:nvSpPr>
        <p:spPr>
          <a:xfrm>
            <a:off x="11196774" y="426529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C271AAE-B4E2-4C44-B551-5E380E25445C}"/>
              </a:ext>
            </a:extLst>
          </p:cNvPr>
          <p:cNvSpPr>
            <a:spLocks noGrp="1"/>
          </p:cNvSpPr>
          <p:nvPr/>
        </p:nvSpPr>
        <p:spPr>
          <a:xfrm>
            <a:off x="11334750" y="438150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C233C3D-1A8D-4961-AF68-E39637574C64}"/>
              </a:ext>
            </a:extLst>
          </p:cNvPr>
          <p:cNvSpPr>
            <a:spLocks noGrp="1"/>
          </p:cNvSpPr>
          <p:nvPr/>
        </p:nvSpPr>
        <p:spPr>
          <a:xfrm>
            <a:off x="838200" y="51225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9A80D18-4266-43CE-87D6-162C0E3F3BA9}"/>
              </a:ext>
            </a:extLst>
          </p:cNvPr>
          <p:cNvSpPr>
            <a:spLocks noGrp="1"/>
          </p:cNvSpPr>
          <p:nvPr/>
        </p:nvSpPr>
        <p:spPr>
          <a:xfrm>
            <a:off x="971550" y="5238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CB6BFBF-1613-4268-8DA6-318CDFF5C807}"/>
              </a:ext>
            </a:extLst>
          </p:cNvPr>
          <p:cNvSpPr>
            <a:spLocks noGrp="1"/>
          </p:cNvSpPr>
          <p:nvPr/>
        </p:nvSpPr>
        <p:spPr>
          <a:xfrm>
            <a:off x="4445454" y="512254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3F5837A-6524-4D59-8D0C-6E470F1FE9B3}"/>
              </a:ext>
            </a:extLst>
          </p:cNvPr>
          <p:cNvSpPr>
            <a:spLocks noGrp="1"/>
          </p:cNvSpPr>
          <p:nvPr/>
        </p:nvSpPr>
        <p:spPr>
          <a:xfrm>
            <a:off x="4572000" y="523875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225CFE3-F806-4F1F-B6C9-0DD0907F70CC}"/>
              </a:ext>
            </a:extLst>
          </p:cNvPr>
          <p:cNvSpPr>
            <a:spLocks noGrp="1"/>
          </p:cNvSpPr>
          <p:nvPr/>
        </p:nvSpPr>
        <p:spPr>
          <a:xfrm>
            <a:off x="7589520" y="51225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1E6CDCB-0A5E-4096-8FD2-3F423DFD6D45}"/>
              </a:ext>
            </a:extLst>
          </p:cNvPr>
          <p:cNvSpPr>
            <a:spLocks noGrp="1"/>
          </p:cNvSpPr>
          <p:nvPr/>
        </p:nvSpPr>
        <p:spPr>
          <a:xfrm>
            <a:off x="7715250" y="5238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R$ 117.083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33977CE-FE33-4868-B8BB-CDBB892DD9A0}"/>
              </a:ext>
            </a:extLst>
          </p:cNvPr>
          <p:cNvSpPr>
            <a:spLocks noGrp="1"/>
          </p:cNvSpPr>
          <p:nvPr/>
        </p:nvSpPr>
        <p:spPr>
          <a:xfrm>
            <a:off x="11196774" y="512254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88F4150-2538-49B1-8510-0674FE75427C}"/>
              </a:ext>
            </a:extLst>
          </p:cNvPr>
          <p:cNvSpPr>
            <a:spLocks noGrp="1"/>
          </p:cNvSpPr>
          <p:nvPr/>
        </p:nvSpPr>
        <p:spPr>
          <a:xfrm>
            <a:off x="11334750" y="523875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570E762-F830-4BFA-B563-AB0060E25ADE}"/>
              </a:ext>
            </a:extLst>
          </p:cNvPr>
          <p:cNvSpPr>
            <a:spLocks noGrp="1"/>
          </p:cNvSpPr>
          <p:nvPr/>
        </p:nvSpPr>
        <p:spPr>
          <a:xfrm>
            <a:off x="838200" y="59797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DC126DB-CE22-47E1-AB51-8FB80D9FA64A}"/>
              </a:ext>
            </a:extLst>
          </p:cNvPr>
          <p:cNvSpPr>
            <a:spLocks noGrp="1"/>
          </p:cNvSpPr>
          <p:nvPr/>
        </p:nvSpPr>
        <p:spPr>
          <a:xfrm>
            <a:off x="971550" y="609600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5824ED4-6646-47D5-B50A-E468520D9EE0}"/>
              </a:ext>
            </a:extLst>
          </p:cNvPr>
          <p:cNvSpPr>
            <a:spLocks noGrp="1"/>
          </p:cNvSpPr>
          <p:nvPr/>
        </p:nvSpPr>
        <p:spPr>
          <a:xfrm>
            <a:off x="4445454" y="597979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8E2503F-9ECF-4789-93F4-240C5935F484}"/>
              </a:ext>
            </a:extLst>
          </p:cNvPr>
          <p:cNvSpPr>
            <a:spLocks noGrp="1"/>
          </p:cNvSpPr>
          <p:nvPr/>
        </p:nvSpPr>
        <p:spPr>
          <a:xfrm>
            <a:off x="4572000" y="609600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4A2306A-9CA7-420E-A852-77C6A62C565C}"/>
              </a:ext>
            </a:extLst>
          </p:cNvPr>
          <p:cNvSpPr>
            <a:spLocks noGrp="1"/>
          </p:cNvSpPr>
          <p:nvPr/>
        </p:nvSpPr>
        <p:spPr>
          <a:xfrm>
            <a:off x="7589520" y="59797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649C01A-37DB-4470-88BD-E0BC8FAFB0B3}"/>
              </a:ext>
            </a:extLst>
          </p:cNvPr>
          <p:cNvSpPr>
            <a:spLocks noGrp="1"/>
          </p:cNvSpPr>
          <p:nvPr/>
        </p:nvSpPr>
        <p:spPr>
          <a:xfrm>
            <a:off x="7715250" y="609600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R$ 113.983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EDB559C8-7FC7-48F3-83A4-69464EE0816F}"/>
              </a:ext>
            </a:extLst>
          </p:cNvPr>
          <p:cNvSpPr>
            <a:spLocks noGrp="1"/>
          </p:cNvSpPr>
          <p:nvPr/>
        </p:nvSpPr>
        <p:spPr>
          <a:xfrm>
            <a:off x="11196774" y="597979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C7728AC-92E4-4FEC-8284-B95B4262663A}"/>
              </a:ext>
            </a:extLst>
          </p:cNvPr>
          <p:cNvSpPr>
            <a:spLocks noGrp="1"/>
          </p:cNvSpPr>
          <p:nvPr/>
        </p:nvSpPr>
        <p:spPr>
          <a:xfrm>
            <a:off x="11334750" y="609600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C00BED4-DBDB-486E-BF7F-296BA5388462}"/>
              </a:ext>
            </a:extLst>
          </p:cNvPr>
          <p:cNvSpPr>
            <a:spLocks noGrp="1"/>
          </p:cNvSpPr>
          <p:nvPr/>
        </p:nvSpPr>
        <p:spPr>
          <a:xfrm>
            <a:off x="838200" y="68370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E47C6DD-2233-4E4A-9553-C0916BAF5F1E}"/>
              </a:ext>
            </a:extLst>
          </p:cNvPr>
          <p:cNvSpPr>
            <a:spLocks noGrp="1"/>
          </p:cNvSpPr>
          <p:nvPr/>
        </p:nvSpPr>
        <p:spPr>
          <a:xfrm>
            <a:off x="971550" y="69532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Adm-Fin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51B5D2D-B83C-4521-9DD9-FED063EADF3A}"/>
              </a:ext>
            </a:extLst>
          </p:cNvPr>
          <p:cNvSpPr>
            <a:spLocks noGrp="1"/>
          </p:cNvSpPr>
          <p:nvPr/>
        </p:nvSpPr>
        <p:spPr>
          <a:xfrm>
            <a:off x="4445454" y="683704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46BAD0B-19F1-4663-B3C1-183C4C2FD5AE}"/>
              </a:ext>
            </a:extLst>
          </p:cNvPr>
          <p:cNvSpPr>
            <a:spLocks noGrp="1"/>
          </p:cNvSpPr>
          <p:nvPr/>
        </p:nvSpPr>
        <p:spPr>
          <a:xfrm>
            <a:off x="4572000" y="695325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R$ 52.500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A15D1C3-10A8-4F3D-B4D5-8383CE4EF797}"/>
              </a:ext>
            </a:extLst>
          </p:cNvPr>
          <p:cNvSpPr>
            <a:spLocks noGrp="1"/>
          </p:cNvSpPr>
          <p:nvPr/>
        </p:nvSpPr>
        <p:spPr>
          <a:xfrm>
            <a:off x="7589520" y="68370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F0C2C4E-25F3-4C01-A8B5-A13626DA3941}"/>
              </a:ext>
            </a:extLst>
          </p:cNvPr>
          <p:cNvSpPr>
            <a:spLocks noGrp="1"/>
          </p:cNvSpPr>
          <p:nvPr/>
        </p:nvSpPr>
        <p:spPr>
          <a:xfrm>
            <a:off x="7715250" y="69532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R$ 17.934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C88B29D-258D-4B01-8540-ABF1AC7171FD}"/>
              </a:ext>
            </a:extLst>
          </p:cNvPr>
          <p:cNvSpPr>
            <a:spLocks noGrp="1"/>
          </p:cNvSpPr>
          <p:nvPr/>
        </p:nvSpPr>
        <p:spPr>
          <a:xfrm>
            <a:off x="11196774" y="683704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91EBFB51-1A1F-462A-963A-75678ED59D47}"/>
              </a:ext>
            </a:extLst>
          </p:cNvPr>
          <p:cNvSpPr>
            <a:spLocks noGrp="1"/>
          </p:cNvSpPr>
          <p:nvPr/>
        </p:nvSpPr>
        <p:spPr>
          <a:xfrm>
            <a:off x="11334750" y="695325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E3B1AD0C-9B7B-4FBF-9D99-B3790198DE73}"/>
              </a:ext>
            </a:extLst>
          </p:cNvPr>
          <p:cNvSpPr>
            <a:spLocks noGrp="1"/>
          </p:cNvSpPr>
          <p:nvPr/>
        </p:nvSpPr>
        <p:spPr>
          <a:xfrm>
            <a:off x="838200" y="78295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Premissa de rateio: o custo fixo mensal de R$ 249 mil foi distribuído proporcionalmente aos valores planejados por frente de estrutura.</a:t>
            </a:r>
          </a:p>
        </p:txBody>
      </p:sp>
    </p:spTree>
    <p:extLst>
      <p:ext uri="{BB962C8B-B14F-4D97-AF65-F5344CB8AC3E}">
        <p14:creationId xmlns:p14="http://schemas.microsoft.com/office/powerpoint/2010/main" val="112355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71B96CD0-CF37-4F66-9E80-F6E1B1F8EE4E}"/>
              </a:ext>
            </a:extLst>
          </p:cNvPr>
          <p:cNvSpPr>
            <a:spLocks noGrp="1"/>
          </p:cNvSpPr>
          <p:nvPr/>
        </p:nvSpPr>
        <p:spPr>
          <a:xfrm>
            <a:off x="742950" y="552450"/>
            <a:ext cx="16802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Resultado líquido: 20%, 50% e 100% das vendas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5CE014B-2FC6-4ADE-AED7-3A7A6CED1F41}"/>
              </a:ext>
            </a:extLst>
          </p:cNvPr>
          <p:cNvSpPr>
            <a:spLocks noGrp="1"/>
          </p:cNvSpPr>
          <p:nvPr/>
        </p:nvSpPr>
        <p:spPr>
          <a:xfrm>
            <a:off x="742950" y="10858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347D05-D0AD-49EC-BC15-6FA43AF24AEC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8877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mantendo a mesma base de custo fixo anual e a mesma estrutura de margem do modelo atual.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7CC15DB-1EF5-4A3C-93DC-ED5457DCA0BA}"/>
              </a:ext>
            </a:extLst>
          </p:cNvPr>
          <p:cNvSpPr>
            <a:spLocks noGrp="1"/>
          </p:cNvSpPr>
          <p:nvPr/>
        </p:nvSpPr>
        <p:spPr>
          <a:xfrm>
            <a:off x="742950" y="1922145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0574CEC-B867-45C0-93C6-F33722D0A1B8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CD2AE37-CD13-4356-AD21-D5F3A38D95F5}"/>
              </a:ext>
            </a:extLst>
          </p:cNvPr>
          <p:cNvSpPr>
            <a:spLocks noGrp="1"/>
          </p:cNvSpPr>
          <p:nvPr/>
        </p:nvSpPr>
        <p:spPr>
          <a:xfrm>
            <a:off x="3581400" y="1922145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DA01DDD-A840-4D1C-BF1D-A0E2035ADA4E}"/>
              </a:ext>
            </a:extLst>
          </p:cNvPr>
          <p:cNvSpPr>
            <a:spLocks noGrp="1"/>
          </p:cNvSpPr>
          <p:nvPr/>
        </p:nvSpPr>
        <p:spPr>
          <a:xfrm>
            <a:off x="3714750" y="203835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 dirty="0" err="1">
                <a:solidFill>
                  <a:srgbClr val="FFFFFF"/>
                </a:solidFill>
              </a:rPr>
              <a:t>Receita</a:t>
            </a:r>
            <a:r>
              <a:rPr lang="pt-BR" sz="1500" b="1" dirty="0">
                <a:solidFill>
                  <a:srgbClr val="FFFFFF"/>
                </a:solidFill>
              </a:rPr>
              <a:t> Mensal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3C8546C-AB51-479E-BCB1-B0363193DAA9}"/>
              </a:ext>
            </a:extLst>
          </p:cNvPr>
          <p:cNvSpPr>
            <a:spLocks noGrp="1"/>
          </p:cNvSpPr>
          <p:nvPr/>
        </p:nvSpPr>
        <p:spPr>
          <a:xfrm>
            <a:off x="7003596" y="1922145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506E1C-E775-4FB2-8075-064A8A2AFA49}"/>
              </a:ext>
            </a:extLst>
          </p:cNvPr>
          <p:cNvSpPr>
            <a:spLocks noGrp="1"/>
          </p:cNvSpPr>
          <p:nvPr/>
        </p:nvSpPr>
        <p:spPr>
          <a:xfrm>
            <a:off x="7143750" y="20383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B1721D4-6695-4978-90DE-C2AE3E848F37}"/>
              </a:ext>
            </a:extLst>
          </p:cNvPr>
          <p:cNvSpPr>
            <a:spLocks noGrp="1"/>
          </p:cNvSpPr>
          <p:nvPr/>
        </p:nvSpPr>
        <p:spPr>
          <a:xfrm>
            <a:off x="10814957" y="1922145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F219A48-B62A-4025-9DC4-528E1EB40B91}"/>
              </a:ext>
            </a:extLst>
          </p:cNvPr>
          <p:cNvSpPr>
            <a:spLocks noGrp="1"/>
          </p:cNvSpPr>
          <p:nvPr/>
        </p:nvSpPr>
        <p:spPr>
          <a:xfrm>
            <a:off x="10953750" y="203835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AAE11B4-3920-4367-BCA1-7F963AB06D1D}"/>
              </a:ext>
            </a:extLst>
          </p:cNvPr>
          <p:cNvSpPr>
            <a:spLocks noGrp="1"/>
          </p:cNvSpPr>
          <p:nvPr/>
        </p:nvSpPr>
        <p:spPr>
          <a:xfrm>
            <a:off x="13847989" y="1922145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868F8BD-34A0-4665-8A6F-6CC47FA64171}"/>
              </a:ext>
            </a:extLst>
          </p:cNvPr>
          <p:cNvSpPr>
            <a:spLocks noGrp="1"/>
          </p:cNvSpPr>
          <p:nvPr/>
        </p:nvSpPr>
        <p:spPr>
          <a:xfrm>
            <a:off x="13982700" y="20383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estimado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7FA70A2-55A5-4F8E-AAE6-F55EE8DC5AAF}"/>
              </a:ext>
            </a:extLst>
          </p:cNvPr>
          <p:cNvSpPr>
            <a:spLocks noGrp="1"/>
          </p:cNvSpPr>
          <p:nvPr/>
        </p:nvSpPr>
        <p:spPr>
          <a:xfrm>
            <a:off x="742950" y="2803208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343BDFE-7A5E-4D7D-8EB0-6FA0950C1571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2E108E3-3046-439E-8C32-D83286F62571}"/>
              </a:ext>
            </a:extLst>
          </p:cNvPr>
          <p:cNvSpPr>
            <a:spLocks noGrp="1"/>
          </p:cNvSpPr>
          <p:nvPr/>
        </p:nvSpPr>
        <p:spPr>
          <a:xfrm>
            <a:off x="3581400" y="2803208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5769E75-F028-4287-89FD-39FAE9F79972}"/>
              </a:ext>
            </a:extLst>
          </p:cNvPr>
          <p:cNvSpPr>
            <a:spLocks noGrp="1"/>
          </p:cNvSpPr>
          <p:nvPr/>
        </p:nvSpPr>
        <p:spPr>
          <a:xfrm>
            <a:off x="3714750" y="291465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R$ 8.480.000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C294E07-43BB-4E80-933F-4634BFC5F4AE}"/>
              </a:ext>
            </a:extLst>
          </p:cNvPr>
          <p:cNvSpPr>
            <a:spLocks noGrp="1"/>
          </p:cNvSpPr>
          <p:nvPr/>
        </p:nvSpPr>
        <p:spPr>
          <a:xfrm>
            <a:off x="7003596" y="2803208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075D2D0-DC06-437A-AB66-6F4E92801E3C}"/>
              </a:ext>
            </a:extLst>
          </p:cNvPr>
          <p:cNvSpPr>
            <a:spLocks noGrp="1"/>
          </p:cNvSpPr>
          <p:nvPr/>
        </p:nvSpPr>
        <p:spPr>
          <a:xfrm>
            <a:off x="7143750" y="29146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R$ 3.895.160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5D37B8C-E891-4FAF-9EE7-8D4214F0BBDA}"/>
              </a:ext>
            </a:extLst>
          </p:cNvPr>
          <p:cNvSpPr>
            <a:spLocks noGrp="1"/>
          </p:cNvSpPr>
          <p:nvPr/>
        </p:nvSpPr>
        <p:spPr>
          <a:xfrm>
            <a:off x="10814957" y="2803208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30A61E4-A463-4727-B4EF-C72A60959699}"/>
              </a:ext>
            </a:extLst>
          </p:cNvPr>
          <p:cNvSpPr>
            <a:spLocks noGrp="1"/>
          </p:cNvSpPr>
          <p:nvPr/>
        </p:nvSpPr>
        <p:spPr>
          <a:xfrm>
            <a:off x="10953750" y="291465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58D919D-29D8-4A2F-A5B5-861B6CE2889F}"/>
              </a:ext>
            </a:extLst>
          </p:cNvPr>
          <p:cNvSpPr>
            <a:spLocks noGrp="1"/>
          </p:cNvSpPr>
          <p:nvPr/>
        </p:nvSpPr>
        <p:spPr>
          <a:xfrm>
            <a:off x="13847989" y="2803208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780F8E3-4D6E-412F-98ED-A2B5FDBE9E95}"/>
              </a:ext>
            </a:extLst>
          </p:cNvPr>
          <p:cNvSpPr>
            <a:spLocks noGrp="1"/>
          </p:cNvSpPr>
          <p:nvPr/>
        </p:nvSpPr>
        <p:spPr>
          <a:xfrm>
            <a:off x="13982700" y="29146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R$ 907.160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E860870-14E7-4A10-A7B2-48C57FBADEC3}"/>
              </a:ext>
            </a:extLst>
          </p:cNvPr>
          <p:cNvSpPr>
            <a:spLocks noGrp="1"/>
          </p:cNvSpPr>
          <p:nvPr/>
        </p:nvSpPr>
        <p:spPr>
          <a:xfrm>
            <a:off x="742950" y="3684270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8A8AF51-6360-4FFA-B99A-0A8F590256CB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A16C857-E825-4E41-9623-006C8BDB57E2}"/>
              </a:ext>
            </a:extLst>
          </p:cNvPr>
          <p:cNvSpPr>
            <a:spLocks noGrp="1"/>
          </p:cNvSpPr>
          <p:nvPr/>
        </p:nvSpPr>
        <p:spPr>
          <a:xfrm>
            <a:off x="3581400" y="3684270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B5C9BBB-31A2-42A0-8E03-67A854353A24}"/>
              </a:ext>
            </a:extLst>
          </p:cNvPr>
          <p:cNvSpPr>
            <a:spLocks noGrp="1"/>
          </p:cNvSpPr>
          <p:nvPr/>
        </p:nvSpPr>
        <p:spPr>
          <a:xfrm>
            <a:off x="3714750" y="379095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R$ 21.200.000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B63624C-5F5F-48EF-85FE-A7BFE3B74E56}"/>
              </a:ext>
            </a:extLst>
          </p:cNvPr>
          <p:cNvSpPr>
            <a:spLocks noGrp="1"/>
          </p:cNvSpPr>
          <p:nvPr/>
        </p:nvSpPr>
        <p:spPr>
          <a:xfrm>
            <a:off x="7003596" y="3684270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5DF94A6-4FDA-4B94-A29A-0F93BC46DCD1}"/>
              </a:ext>
            </a:extLst>
          </p:cNvPr>
          <p:cNvSpPr>
            <a:spLocks noGrp="1"/>
          </p:cNvSpPr>
          <p:nvPr/>
        </p:nvSpPr>
        <p:spPr>
          <a:xfrm>
            <a:off x="7143750" y="37909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R$ 9.737.900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110DC64-875E-4465-BB2E-93CCC44F92BA}"/>
              </a:ext>
            </a:extLst>
          </p:cNvPr>
          <p:cNvSpPr>
            <a:spLocks noGrp="1"/>
          </p:cNvSpPr>
          <p:nvPr/>
        </p:nvSpPr>
        <p:spPr>
          <a:xfrm>
            <a:off x="10814957" y="3684270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E29F67B-E7FB-4E23-A855-AFED8E17A030}"/>
              </a:ext>
            </a:extLst>
          </p:cNvPr>
          <p:cNvSpPr>
            <a:spLocks noGrp="1"/>
          </p:cNvSpPr>
          <p:nvPr/>
        </p:nvSpPr>
        <p:spPr>
          <a:xfrm>
            <a:off x="10953750" y="379095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A661747-8F28-4C2D-BAB2-43137D14369F}"/>
              </a:ext>
            </a:extLst>
          </p:cNvPr>
          <p:cNvSpPr>
            <a:spLocks noGrp="1"/>
          </p:cNvSpPr>
          <p:nvPr/>
        </p:nvSpPr>
        <p:spPr>
          <a:xfrm>
            <a:off x="13847989" y="3684270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7F3A646-20AF-46A6-8E46-7DF5BD9EF96E}"/>
              </a:ext>
            </a:extLst>
          </p:cNvPr>
          <p:cNvSpPr>
            <a:spLocks noGrp="1"/>
          </p:cNvSpPr>
          <p:nvPr/>
        </p:nvSpPr>
        <p:spPr>
          <a:xfrm>
            <a:off x="13982700" y="379095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R$ 6.749.900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4FC08F4-2380-4FE4-ABB8-5E1142D738AF}"/>
              </a:ext>
            </a:extLst>
          </p:cNvPr>
          <p:cNvSpPr>
            <a:spLocks noGrp="1"/>
          </p:cNvSpPr>
          <p:nvPr/>
        </p:nvSpPr>
        <p:spPr>
          <a:xfrm>
            <a:off x="742950" y="4565333"/>
            <a:ext cx="2724150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1DB2A1D-EE82-4475-9D42-EEE69823CE25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2457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1D9BF37-C705-4E6C-8170-6B9B1D9A233D}"/>
              </a:ext>
            </a:extLst>
          </p:cNvPr>
          <p:cNvSpPr>
            <a:spLocks noGrp="1"/>
          </p:cNvSpPr>
          <p:nvPr/>
        </p:nvSpPr>
        <p:spPr>
          <a:xfrm>
            <a:off x="3581400" y="4565333"/>
            <a:ext cx="330789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F7352D20-D523-44C8-8C22-86DFED3AEA88}"/>
              </a:ext>
            </a:extLst>
          </p:cNvPr>
          <p:cNvSpPr>
            <a:spLocks noGrp="1"/>
          </p:cNvSpPr>
          <p:nvPr/>
        </p:nvSpPr>
        <p:spPr>
          <a:xfrm>
            <a:off x="3714750" y="468630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R$ 42.400.000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0B5A187F-1822-449D-B026-3B74FFDBD15F}"/>
              </a:ext>
            </a:extLst>
          </p:cNvPr>
          <p:cNvSpPr>
            <a:spLocks noGrp="1"/>
          </p:cNvSpPr>
          <p:nvPr/>
        </p:nvSpPr>
        <p:spPr>
          <a:xfrm>
            <a:off x="7003596" y="4565333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E3A2934-7BDD-404B-B7DC-9A973C5E7FFA}"/>
              </a:ext>
            </a:extLst>
          </p:cNvPr>
          <p:cNvSpPr>
            <a:spLocks noGrp="1"/>
          </p:cNvSpPr>
          <p:nvPr/>
        </p:nvSpPr>
        <p:spPr>
          <a:xfrm>
            <a:off x="7143750" y="46863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R$ 19.475.800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1CA6873-FCB0-4A5C-B537-15188F0A8433}"/>
              </a:ext>
            </a:extLst>
          </p:cNvPr>
          <p:cNvSpPr>
            <a:spLocks noGrp="1"/>
          </p:cNvSpPr>
          <p:nvPr/>
        </p:nvSpPr>
        <p:spPr>
          <a:xfrm>
            <a:off x="10814957" y="4565333"/>
            <a:ext cx="2918732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4333FB3-587C-4433-8641-B6F0B698900B}"/>
              </a:ext>
            </a:extLst>
          </p:cNvPr>
          <p:cNvSpPr>
            <a:spLocks noGrp="1"/>
          </p:cNvSpPr>
          <p:nvPr/>
        </p:nvSpPr>
        <p:spPr>
          <a:xfrm>
            <a:off x="10953750" y="4686300"/>
            <a:ext cx="2647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R$ 2.988.000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8F47D62-B035-4DBD-AE13-EC6C69C371D1}"/>
              </a:ext>
            </a:extLst>
          </p:cNvPr>
          <p:cNvSpPr>
            <a:spLocks noGrp="1"/>
          </p:cNvSpPr>
          <p:nvPr/>
        </p:nvSpPr>
        <p:spPr>
          <a:xfrm>
            <a:off x="13847989" y="4565333"/>
            <a:ext cx="369706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56890F3C-007D-41D1-A7C8-5340200B3235}"/>
              </a:ext>
            </a:extLst>
          </p:cNvPr>
          <p:cNvSpPr>
            <a:spLocks noGrp="1"/>
          </p:cNvSpPr>
          <p:nvPr/>
        </p:nvSpPr>
        <p:spPr>
          <a:xfrm>
            <a:off x="13982700" y="46863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R$ 16.487.800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F279F5A-F354-4F61-9379-7ED52355DB1B}"/>
              </a:ext>
            </a:extLst>
          </p:cNvPr>
          <p:cNvSpPr>
            <a:spLocks noGrp="1"/>
          </p:cNvSpPr>
          <p:nvPr/>
        </p:nvSpPr>
        <p:spPr>
          <a:xfrm>
            <a:off x="742950" y="5560695"/>
            <a:ext cx="8296275" cy="4173855"/>
          </a:xfrm>
          <a:prstGeom prst="roundRect">
            <a:avLst>
              <a:gd name="adj" fmla="val 50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9212882-5654-4A45-B22A-EBF3744C6EA5}"/>
              </a:ext>
            </a:extLst>
          </p:cNvPr>
          <p:cNvSpPr>
            <a:spLocks noGrp="1"/>
          </p:cNvSpPr>
          <p:nvPr/>
        </p:nvSpPr>
        <p:spPr>
          <a:xfrm>
            <a:off x="952500" y="5772150"/>
            <a:ext cx="7886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4C5C3830-4E62-4E04-B863-14380809E239}"/>
              </a:ext>
            </a:extLst>
          </p:cNvPr>
          <p:cNvSpPr>
            <a:spLocks noGrp="1"/>
          </p:cNvSpPr>
          <p:nvPr/>
        </p:nvSpPr>
        <p:spPr>
          <a:xfrm>
            <a:off x="952500" y="62103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plano-base.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9B005F58-634F-4C34-BAD8-71FEFBD4C498}"/>
              </a:ext>
            </a:extLst>
          </p:cNvPr>
          <p:cNvSpPr>
            <a:spLocks noGrp="1"/>
          </p:cNvSpPr>
          <p:nvPr/>
        </p:nvSpPr>
        <p:spPr>
          <a:xfrm>
            <a:off x="952500" y="65532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estimado já supera R$ 6,7 milhões/ano.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A9FA6829-E697-41BA-861F-5AC965753E55}"/>
              </a:ext>
            </a:extLst>
          </p:cNvPr>
          <p:cNvSpPr>
            <a:spLocks noGrp="1"/>
          </p:cNvSpPr>
          <p:nvPr/>
        </p:nvSpPr>
        <p:spPr>
          <a:xfrm>
            <a:off x="952500" y="691515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anual estimado alcança R$ 16,49 milhões.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E80E3C6-CE85-4EA0-8044-9C32F4B1FE56}"/>
              </a:ext>
            </a:extLst>
          </p:cNvPr>
          <p:cNvSpPr>
            <a:spLocks noGrp="1"/>
          </p:cNvSpPr>
          <p:nvPr/>
        </p:nvSpPr>
        <p:spPr>
          <a:xfrm>
            <a:off x="9248775" y="5560695"/>
            <a:ext cx="8296275" cy="4173855"/>
          </a:xfrm>
          <a:prstGeom prst="roundRect">
            <a:avLst>
              <a:gd name="adj" fmla="val 50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8CF20414-65C5-4E11-8D07-D1C02E9EBAB5}"/>
              </a:ext>
            </a:extLst>
          </p:cNvPr>
          <p:cNvSpPr>
            <a:spLocks noGrp="1"/>
          </p:cNvSpPr>
          <p:nvPr/>
        </p:nvSpPr>
        <p:spPr>
          <a:xfrm>
            <a:off x="9467850" y="5772150"/>
            <a:ext cx="7886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F40F115C-53EB-42E4-8C0A-B666F02D8976}"/>
              </a:ext>
            </a:extLst>
          </p:cNvPr>
          <p:cNvSpPr>
            <a:spLocks noGrp="1"/>
          </p:cNvSpPr>
          <p:nvPr/>
        </p:nvSpPr>
        <p:spPr>
          <a:xfrm>
            <a:off x="9467850" y="62103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Receita-base de R$ 42,4 milhões em regime.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B264C2FB-6523-4A4A-8A6F-24EE0CC97B9D}"/>
              </a:ext>
            </a:extLst>
          </p:cNvPr>
          <p:cNvSpPr>
            <a:spLocks noGrp="1"/>
          </p:cNvSpPr>
          <p:nvPr/>
        </p:nvSpPr>
        <p:spPr>
          <a:xfrm>
            <a:off x="9467850" y="65532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anual de R$ 2,988 milhões.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342EEFA0-CFCC-4932-97F8-63BA08870F88}"/>
              </a:ext>
            </a:extLst>
          </p:cNvPr>
          <p:cNvSpPr>
            <a:spLocks noGrp="1"/>
          </p:cNvSpPr>
          <p:nvPr/>
        </p:nvSpPr>
        <p:spPr>
          <a:xfrm>
            <a:off x="9467850" y="691515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de contribuição implícita na modelagem atual.</a:t>
            </a:r>
          </a:p>
        </p:txBody>
      </p:sp>
    </p:spTree>
    <p:extLst>
      <p:ext uri="{BB962C8B-B14F-4D97-AF65-F5344CB8AC3E}">
        <p14:creationId xmlns:p14="http://schemas.microsoft.com/office/powerpoint/2010/main" val="93291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E3FA69B-2DB9-44B2-82AF-89E2DA6E6BB8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Investimento necessário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E716F87-27F0-446B-86B6-C605FE083EC7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305E253-7B82-41D8-B868-3D02756FEE8E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7048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relatório e leitura prática para o investidor.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102E060-0621-424F-B2DD-D10F0863ED05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5410200" cy="20955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4B81853-6F2F-4B03-8CF7-4E4ECC3BCDAB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 de giro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2DFC96D-6120-43A7-A5D3-3548FDBEEDB0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R$</a:t>
            </a:r>
            <a:r>
              <a:rPr lang="pt-BR" sz="2700" b="1" dirty="0">
                <a:solidFill>
                  <a:srgbClr val="0B1324"/>
                </a:solidFill>
              </a:rPr>
              <a:t> 1,5 MM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D7514C5-A1D4-44EC-8525-46EF3531C8F9}"/>
              </a:ext>
            </a:extLst>
          </p:cNvPr>
          <p:cNvSpPr>
            <a:spLocks noGrp="1"/>
          </p:cNvSpPr>
          <p:nvPr/>
        </p:nvSpPr>
        <p:spPr>
          <a:xfrm>
            <a:off x="6438900" y="2036445"/>
            <a:ext cx="5410200" cy="20955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57EC328-AE19-4B8C-9D25-909066E61BCA}"/>
              </a:ext>
            </a:extLst>
          </p:cNvPr>
          <p:cNvSpPr>
            <a:spLocks noGrp="1"/>
          </p:cNvSpPr>
          <p:nvPr/>
        </p:nvSpPr>
        <p:spPr>
          <a:xfrm>
            <a:off x="66484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 / containers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E2ED1AC-0442-47FE-BBED-A8F183D3A213}"/>
              </a:ext>
            </a:extLst>
          </p:cNvPr>
          <p:cNvSpPr>
            <a:spLocks noGrp="1"/>
          </p:cNvSpPr>
          <p:nvPr/>
        </p:nvSpPr>
        <p:spPr>
          <a:xfrm>
            <a:off x="66484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R$ 8</a:t>
            </a:r>
            <a:r>
              <a:rPr lang="pt-BR" sz="2700" b="1" dirty="0">
                <a:solidFill>
                  <a:srgbClr val="0B1324"/>
                </a:solidFill>
              </a:rPr>
              <a:t>,</a:t>
            </a:r>
            <a:r>
              <a:rPr sz="2700" b="1" dirty="0">
                <a:solidFill>
                  <a:srgbClr val="0B1324"/>
                </a:solidFill>
              </a:rPr>
              <a:t>820</a:t>
            </a:r>
            <a:r>
              <a:rPr lang="pt-BR" sz="2700" b="1" dirty="0">
                <a:solidFill>
                  <a:srgbClr val="0B1324"/>
                </a:solidFill>
              </a:rPr>
              <a:t> MM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823708-B1F1-499D-B4BA-0EA41D97210B}"/>
              </a:ext>
            </a:extLst>
          </p:cNvPr>
          <p:cNvSpPr>
            <a:spLocks noGrp="1"/>
          </p:cNvSpPr>
          <p:nvPr/>
        </p:nvSpPr>
        <p:spPr>
          <a:xfrm>
            <a:off x="12039600" y="2036445"/>
            <a:ext cx="5410200" cy="2095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D239CC1-5FDE-4BDA-A1E0-E1BA2B3F85FC}"/>
              </a:ext>
            </a:extLst>
          </p:cNvPr>
          <p:cNvSpPr>
            <a:spLocks noGrp="1"/>
          </p:cNvSpPr>
          <p:nvPr/>
        </p:nvSpPr>
        <p:spPr>
          <a:xfrm>
            <a:off x="122491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 total do plano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853770C-7770-437A-A9F5-4FF8356FDD72}"/>
              </a:ext>
            </a:extLst>
          </p:cNvPr>
          <p:cNvSpPr>
            <a:spLocks noGrp="1"/>
          </p:cNvSpPr>
          <p:nvPr/>
        </p:nvSpPr>
        <p:spPr>
          <a:xfrm>
            <a:off x="122491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R$ </a:t>
            </a:r>
            <a:r>
              <a:rPr lang="pt-BR" sz="2700" b="1" dirty="0">
                <a:solidFill>
                  <a:srgbClr val="0B1324"/>
                </a:solidFill>
              </a:rPr>
              <a:t>11 MM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92362B7-CE58-48CF-B5C6-A09F9F4D9EA7}"/>
              </a:ext>
            </a:extLst>
          </p:cNvPr>
          <p:cNvSpPr>
            <a:spLocks noGrp="1"/>
          </p:cNvSpPr>
          <p:nvPr/>
        </p:nvSpPr>
        <p:spPr>
          <a:xfrm>
            <a:off x="838200" y="4360545"/>
            <a:ext cx="8201025" cy="5278755"/>
          </a:xfrm>
          <a:prstGeom prst="roundRect">
            <a:avLst>
              <a:gd name="adj" fmla="val 3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1F8B5FF-F840-4BA7-9297-70B2ECA3C498}"/>
              </a:ext>
            </a:extLst>
          </p:cNvPr>
          <p:cNvSpPr>
            <a:spLocks noGrp="1"/>
          </p:cNvSpPr>
          <p:nvPr/>
        </p:nvSpPr>
        <p:spPr>
          <a:xfrm>
            <a:off x="1066800" y="45910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30A017-ED0C-4EE4-850B-974E012ACFFA}"/>
              </a:ext>
            </a:extLst>
          </p:cNvPr>
          <p:cNvSpPr>
            <a:spLocks noGrp="1"/>
          </p:cNvSpPr>
          <p:nvPr/>
        </p:nvSpPr>
        <p:spPr>
          <a:xfrm>
            <a:off x="1066800" y="50482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R$ 1,5 milhão.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0ABFBD-1962-4F4F-8386-762627DC3CFD}"/>
              </a:ext>
            </a:extLst>
          </p:cNvPr>
          <p:cNvSpPr>
            <a:spLocks noGrp="1"/>
          </p:cNvSpPr>
          <p:nvPr/>
        </p:nvSpPr>
        <p:spPr>
          <a:xfrm>
            <a:off x="1066800" y="54102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1F1FD89-7040-4BBD-832A-0741BB656ABC}"/>
              </a:ext>
            </a:extLst>
          </p:cNvPr>
          <p:cNvSpPr>
            <a:spLocks noGrp="1"/>
          </p:cNvSpPr>
          <p:nvPr/>
        </p:nvSpPr>
        <p:spPr>
          <a:xfrm>
            <a:off x="1066800" y="57531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E9B2A7C-C602-4578-B96E-92A92BE94CF5}"/>
              </a:ext>
            </a:extLst>
          </p:cNvPr>
          <p:cNvSpPr>
            <a:spLocks noGrp="1"/>
          </p:cNvSpPr>
          <p:nvPr/>
        </p:nvSpPr>
        <p:spPr>
          <a:xfrm>
            <a:off x="1066800" y="61150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D34592F-484A-4B9C-A7C2-4E2C6056953C}"/>
              </a:ext>
            </a:extLst>
          </p:cNvPr>
          <p:cNvSpPr>
            <a:spLocks noGrp="1"/>
          </p:cNvSpPr>
          <p:nvPr/>
        </p:nvSpPr>
        <p:spPr>
          <a:xfrm>
            <a:off x="1066800" y="647700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Saldo implícito de estrutura/contingência até o aporte total: aproximadamente R$ 680 mil.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CC1685A-250D-446F-B1FB-2387E5629013}"/>
              </a:ext>
            </a:extLst>
          </p:cNvPr>
          <p:cNvSpPr>
            <a:spLocks noGrp="1"/>
          </p:cNvSpPr>
          <p:nvPr/>
        </p:nvSpPr>
        <p:spPr>
          <a:xfrm>
            <a:off x="9248775" y="4360545"/>
            <a:ext cx="8201025" cy="5278755"/>
          </a:xfrm>
          <a:prstGeom prst="roundRect">
            <a:avLst>
              <a:gd name="adj" fmla="val 3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898E825-EDAF-4444-AB67-B816AE68A964}"/>
              </a:ext>
            </a:extLst>
          </p:cNvPr>
          <p:cNvSpPr>
            <a:spLocks noGrp="1"/>
          </p:cNvSpPr>
          <p:nvPr/>
        </p:nvSpPr>
        <p:spPr>
          <a:xfrm>
            <a:off x="9486900" y="45910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10B97B6-6A54-4646-B151-48DD2D611762}"/>
              </a:ext>
            </a:extLst>
          </p:cNvPr>
          <p:cNvSpPr>
            <a:spLocks noGrp="1"/>
          </p:cNvSpPr>
          <p:nvPr/>
        </p:nvSpPr>
        <p:spPr>
          <a:xfrm>
            <a:off x="9486900" y="50482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F64882E-9F81-461B-8006-027AE0BBEE35}"/>
              </a:ext>
            </a:extLst>
          </p:cNvPr>
          <p:cNvSpPr>
            <a:spLocks noGrp="1"/>
          </p:cNvSpPr>
          <p:nvPr/>
        </p:nvSpPr>
        <p:spPr>
          <a:xfrm>
            <a:off x="9486900" y="54102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041ED5F-1FB1-49F0-BDF9-7E17A70D8604}"/>
              </a:ext>
            </a:extLst>
          </p:cNvPr>
          <p:cNvSpPr>
            <a:spLocks noGrp="1"/>
          </p:cNvSpPr>
          <p:nvPr/>
        </p:nvSpPr>
        <p:spPr>
          <a:xfrm>
            <a:off x="9486900" y="57531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30206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6D0EA372-E549-46B2-8F1A-95F872DF1C98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Premissas financeiras do investidor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9B279B2-1B80-4561-8F7F-ED80363655B4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541500-A8CD-4EED-B8B5-D4851A9FE6A9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10934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explícitas do relatório combinadas com métricas calculadas em regime estável para apoiar a conversa de investimento.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8E542C5-C5F6-466D-BDAA-C0F8E070FA6D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325E44C-2F4C-4D56-9F78-4DF8D2556937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603CD19-78D9-4E96-8243-CA2179B6A65B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27452C-2830-4A52-A665-522DCF58C225}"/>
              </a:ext>
            </a:extLst>
          </p:cNvPr>
          <p:cNvSpPr>
            <a:spLocks noGrp="1"/>
          </p:cNvSpPr>
          <p:nvPr/>
        </p:nvSpPr>
        <p:spPr>
          <a:xfrm>
            <a:off x="419481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A26FBA3-0A82-4EE6-81F4-DC9857CE77F3}"/>
              </a:ext>
            </a:extLst>
          </p:cNvPr>
          <p:cNvSpPr>
            <a:spLocks noGrp="1"/>
          </p:cNvSpPr>
          <p:nvPr/>
        </p:nvSpPr>
        <p:spPr>
          <a:xfrm>
            <a:off x="4400550" y="2247900"/>
            <a:ext cx="2762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 (assumido)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8B75D0-6517-4738-8202-1A99B4B3006D}"/>
              </a:ext>
            </a:extLst>
          </p:cNvPr>
          <p:cNvSpPr>
            <a:spLocks noGrp="1"/>
          </p:cNvSpPr>
          <p:nvPr/>
        </p:nvSpPr>
        <p:spPr>
          <a:xfrm>
            <a:off x="4400550" y="28194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1</a:t>
            </a:r>
            <a:r>
              <a:rPr lang="pt-BR" sz="2700" b="1" dirty="0">
                <a:solidFill>
                  <a:srgbClr val="0B1324"/>
                </a:solidFill>
              </a:rPr>
              <a:t>2</a:t>
            </a:r>
            <a:r>
              <a:rPr sz="2700" b="1" dirty="0">
                <a:solidFill>
                  <a:srgbClr val="0B1324"/>
                </a:solidFill>
              </a:rPr>
              <a:t>% </a:t>
            </a:r>
            <a:r>
              <a:rPr sz="2700" b="1" dirty="0" err="1">
                <a:solidFill>
                  <a:srgbClr val="0B1324"/>
                </a:solidFill>
              </a:rPr>
              <a:t>a.a.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E072174-7347-4077-8646-A7C3E89E8FD0}"/>
              </a:ext>
            </a:extLst>
          </p:cNvPr>
          <p:cNvSpPr>
            <a:spLocks noGrp="1"/>
          </p:cNvSpPr>
          <p:nvPr/>
        </p:nvSpPr>
        <p:spPr>
          <a:xfrm>
            <a:off x="755142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B8C176C-7E53-4C4A-B889-2BA2C0FB8D3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95E1095-EE39-4927-9891-49DC1DA08C04}"/>
              </a:ext>
            </a:extLst>
          </p:cNvPr>
          <p:cNvSpPr>
            <a:spLocks noGrp="1"/>
          </p:cNvSpPr>
          <p:nvPr/>
        </p:nvSpPr>
        <p:spPr>
          <a:xfrm>
            <a:off x="775335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25,4% a.a.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F9AA237-F882-4EB7-A555-237A43692416}"/>
              </a:ext>
            </a:extLst>
          </p:cNvPr>
          <p:cNvSpPr>
            <a:spLocks noGrp="1"/>
          </p:cNvSpPr>
          <p:nvPr/>
        </p:nvSpPr>
        <p:spPr>
          <a:xfrm>
            <a:off x="1090803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FCE7F3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07375C0-61A9-4C15-BD48-528C5AD4C48C}"/>
              </a:ext>
            </a:extLst>
          </p:cNvPr>
          <p:cNvSpPr>
            <a:spLocks noGrp="1"/>
          </p:cNvSpPr>
          <p:nvPr/>
        </p:nvSpPr>
        <p:spPr>
          <a:xfrm>
            <a:off x="1112520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3B9C121-331A-4A38-BEDA-7B94F22C7C1D}"/>
              </a:ext>
            </a:extLst>
          </p:cNvPr>
          <p:cNvSpPr>
            <a:spLocks noGrp="1"/>
          </p:cNvSpPr>
          <p:nvPr/>
        </p:nvSpPr>
        <p:spPr>
          <a:xfrm>
            <a:off x="1112520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R$ 2.817.416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731AC32-EAC0-42F9-84E9-12CA62409523}"/>
              </a:ext>
            </a:extLst>
          </p:cNvPr>
          <p:cNvSpPr>
            <a:spLocks noGrp="1"/>
          </p:cNvSpPr>
          <p:nvPr/>
        </p:nvSpPr>
        <p:spPr>
          <a:xfrm>
            <a:off x="14264640" y="203644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EDE9FE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CF9A688-F40C-418F-9A4D-A0E8D66B1709}"/>
              </a:ext>
            </a:extLst>
          </p:cNvPr>
          <p:cNvSpPr>
            <a:spLocks noGrp="1"/>
          </p:cNvSpPr>
          <p:nvPr/>
        </p:nvSpPr>
        <p:spPr>
          <a:xfrm>
            <a:off x="14478000" y="224790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9DA4BB9-C9E6-4BDE-AB99-0C8E370DEA77}"/>
              </a:ext>
            </a:extLst>
          </p:cNvPr>
          <p:cNvSpPr>
            <a:spLocks noGrp="1"/>
          </p:cNvSpPr>
          <p:nvPr/>
        </p:nvSpPr>
        <p:spPr>
          <a:xfrm>
            <a:off x="14478000" y="25908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2,67 anos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C4A17F4-CC6C-4C43-BAED-31BB029EE7B1}"/>
              </a:ext>
            </a:extLst>
          </p:cNvPr>
          <p:cNvSpPr>
            <a:spLocks noGrp="1"/>
          </p:cNvSpPr>
          <p:nvPr/>
        </p:nvSpPr>
        <p:spPr>
          <a:xfrm>
            <a:off x="838200" y="4551045"/>
            <a:ext cx="8201025" cy="5088255"/>
          </a:xfrm>
          <a:prstGeom prst="roundRect">
            <a:avLst>
              <a:gd name="adj" fmla="val 4118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6B52937-7A3D-4885-9FB5-9D6D858593CA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7D57215-0109-47CB-9F0F-A48E16CCCA3A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relatório explicita distribuição de 25% a partir de nov/2026 para “Outras”, aqui tratada como base do investidor.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2C09032-0D4E-4092-B28D-EE751186971E}"/>
              </a:ext>
            </a:extLst>
          </p:cNvPr>
          <p:cNvSpPr>
            <a:spLocks noGrp="1"/>
          </p:cNvSpPr>
          <p:nvPr/>
        </p:nvSpPr>
        <p:spPr>
          <a:xfrm>
            <a:off x="1066800" y="584835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que os 3 produtos a ativar tenham sido considerados no fluxo-base.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8F1EBE4-D1C5-4275-9BC8-F1E8F4953E9E}"/>
              </a:ext>
            </a:extLst>
          </p:cNvPr>
          <p:cNvSpPr>
            <a:spLocks noGrp="1"/>
          </p:cNvSpPr>
          <p:nvPr/>
        </p:nvSpPr>
        <p:spPr>
          <a:xfrm>
            <a:off x="1066800" y="64770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D0E63E0-8F26-4F46-972C-47DA87A2508B}"/>
              </a:ext>
            </a:extLst>
          </p:cNvPr>
          <p:cNvSpPr>
            <a:spLocks noGrp="1"/>
          </p:cNvSpPr>
          <p:nvPr/>
        </p:nvSpPr>
        <p:spPr>
          <a:xfrm>
            <a:off x="9248775" y="4551045"/>
            <a:ext cx="8201025" cy="5088255"/>
          </a:xfrm>
          <a:prstGeom prst="roundRect">
            <a:avLst>
              <a:gd name="adj" fmla="val 4118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13F759B-3551-40E0-91CA-08205ED84AD1}"/>
              </a:ext>
            </a:extLst>
          </p:cNvPr>
          <p:cNvSpPr>
            <a:spLocks noGrp="1"/>
          </p:cNvSpPr>
          <p:nvPr/>
        </p:nvSpPr>
        <p:spPr>
          <a:xfrm>
            <a:off x="9486900" y="47815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E6B78ED-78FF-492A-B863-48215856A613}"/>
              </a:ext>
            </a:extLst>
          </p:cNvPr>
          <p:cNvSpPr>
            <a:spLocks noGrp="1"/>
          </p:cNvSpPr>
          <p:nvPr/>
        </p:nvSpPr>
        <p:spPr>
          <a:xfrm>
            <a:off x="9486900" y="523875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TIR, VPL e payback calculados sobre fluxo anual simplificado de 5 anos, sem valor terminal.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4640FA8-ADD8-41BB-AC73-F288E12623D2}"/>
              </a:ext>
            </a:extLst>
          </p:cNvPr>
          <p:cNvSpPr>
            <a:spLocks noGrp="1"/>
          </p:cNvSpPr>
          <p:nvPr/>
        </p:nvSpPr>
        <p:spPr>
          <a:xfrm>
            <a:off x="9486900" y="58483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assumido de 15% a.a.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B3E9B03-9D42-46F9-B2B6-0ABFD1D85073}"/>
              </a:ext>
            </a:extLst>
          </p:cNvPr>
          <p:cNvSpPr>
            <a:spLocks noGrp="1"/>
          </p:cNvSpPr>
          <p:nvPr/>
        </p:nvSpPr>
        <p:spPr>
          <a:xfrm>
            <a:off x="9486900" y="62103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577997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1D43E30-EFCE-46A3-ABAE-C00018DD4285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Fluxo de caixa do negócio (resumido)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F35E97A-E6CB-4292-A2B9-20F121A9C563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107ACAC-4362-4F33-A159-1DFB915C6B4D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9372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Corte resumido para set/2027, um mês após o fim do ramp-up, e para o ano cheio de 2028 em regime estável.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9D1D6E1-241C-40A3-8369-DD7F72217FD7}"/>
              </a:ext>
            </a:extLst>
          </p:cNvPr>
          <p:cNvSpPr>
            <a:spLocks noGrp="1"/>
          </p:cNvSpPr>
          <p:nvPr/>
        </p:nvSpPr>
        <p:spPr>
          <a:xfrm>
            <a:off x="838200" y="1784985"/>
            <a:ext cx="8201025" cy="2667000"/>
          </a:xfrm>
          <a:prstGeom prst="roundRect">
            <a:avLst>
              <a:gd name="adj" fmla="val 8571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FDBD41B-C4B6-4263-868B-C57CFBEEAF00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7753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693CC9-8BB2-4D80-9D19-2FC60B7053FF}"/>
              </a:ext>
            </a:extLst>
          </p:cNvPr>
          <p:cNvSpPr>
            <a:spLocks noGrp="1"/>
          </p:cNvSpPr>
          <p:nvPr/>
        </p:nvSpPr>
        <p:spPr>
          <a:xfrm>
            <a:off x="1066800" y="24193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 dirty="0" err="1">
                <a:solidFill>
                  <a:srgbClr val="0F172A"/>
                </a:solidFill>
              </a:rPr>
              <a:t>Receita</a:t>
            </a:r>
            <a:r>
              <a:rPr sz="1800" b="0" dirty="0">
                <a:solidFill>
                  <a:srgbClr val="0F172A"/>
                </a:solidFill>
              </a:rPr>
              <a:t>: R$ </a:t>
            </a:r>
            <a:r>
              <a:rPr lang="pt-BR" sz="1800" b="0" dirty="0">
                <a:solidFill>
                  <a:srgbClr val="0F172A"/>
                </a:solidFill>
              </a:rPr>
              <a:t>42.400.000,00</a:t>
            </a:r>
            <a:endParaRPr sz="1800" b="0" dirty="0">
              <a:solidFill>
                <a:srgbClr val="0F172A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565B48-868A-4BAB-A6F0-1C89539FBDD4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 dirty="0" err="1">
                <a:solidFill>
                  <a:srgbClr val="0F172A"/>
                </a:solidFill>
              </a:rPr>
              <a:t>Margem</a:t>
            </a:r>
            <a:r>
              <a:rPr sz="1800" b="0" dirty="0">
                <a:solidFill>
                  <a:srgbClr val="0F172A"/>
                </a:solidFill>
              </a:rPr>
              <a:t> de </a:t>
            </a:r>
            <a:r>
              <a:rPr sz="1800" b="0" dirty="0" err="1">
                <a:solidFill>
                  <a:srgbClr val="0F172A"/>
                </a:solidFill>
              </a:rPr>
              <a:t>contribuição</a:t>
            </a:r>
            <a:r>
              <a:rPr sz="1800" b="0" dirty="0">
                <a:solidFill>
                  <a:srgbClr val="0F172A"/>
                </a:solidFill>
              </a:rPr>
              <a:t>: R$ </a:t>
            </a:r>
            <a:r>
              <a:rPr lang="pt-BR" sz="1800" b="0" dirty="0">
                <a:solidFill>
                  <a:srgbClr val="0F172A"/>
                </a:solidFill>
              </a:rPr>
              <a:t>16.736.800,00</a:t>
            </a:r>
            <a:endParaRPr sz="1800" b="0" dirty="0">
              <a:solidFill>
                <a:srgbClr val="0F172A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4FA6218-D242-4BE6-9EE0-2C6E70F62009}"/>
              </a:ext>
            </a:extLst>
          </p:cNvPr>
          <p:cNvSpPr>
            <a:spLocks noGrp="1"/>
          </p:cNvSpPr>
          <p:nvPr/>
        </p:nvSpPr>
        <p:spPr>
          <a:xfrm>
            <a:off x="1066800" y="3200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R$ 249.000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8D5EABA-C483-4E91-B1D4-4E302EF9AEC3}"/>
              </a:ext>
            </a:extLst>
          </p:cNvPr>
          <p:cNvSpPr>
            <a:spLocks noGrp="1"/>
          </p:cNvSpPr>
          <p:nvPr/>
        </p:nvSpPr>
        <p:spPr>
          <a:xfrm>
            <a:off x="1066800" y="36004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sz="1800" b="1" dirty="0" err="1">
                <a:solidFill>
                  <a:srgbClr val="059669"/>
                </a:solidFill>
              </a:rPr>
              <a:t>Resultado</a:t>
            </a:r>
            <a:r>
              <a:rPr sz="1800" b="1" dirty="0">
                <a:solidFill>
                  <a:srgbClr val="059669"/>
                </a:solidFill>
              </a:rPr>
              <a:t> </a:t>
            </a:r>
            <a:r>
              <a:rPr sz="1800" b="1" dirty="0" err="1">
                <a:solidFill>
                  <a:srgbClr val="059669"/>
                </a:solidFill>
              </a:rPr>
              <a:t>líquido</a:t>
            </a:r>
            <a:r>
              <a:rPr sz="1800" b="1" dirty="0">
                <a:solidFill>
                  <a:srgbClr val="059669"/>
                </a:solidFill>
              </a:rPr>
              <a:t> </a:t>
            </a:r>
            <a:r>
              <a:rPr sz="1800" b="1" dirty="0" err="1">
                <a:solidFill>
                  <a:srgbClr val="059669"/>
                </a:solidFill>
              </a:rPr>
              <a:t>estimado</a:t>
            </a:r>
            <a:r>
              <a:rPr sz="1800" b="1" dirty="0">
                <a:solidFill>
                  <a:srgbClr val="059669"/>
                </a:solidFill>
              </a:rPr>
              <a:t>: R$ </a:t>
            </a:r>
            <a:r>
              <a:rPr lang="pt-BR" sz="1800" b="1" dirty="0">
                <a:solidFill>
                  <a:srgbClr val="059669"/>
                </a:solidFill>
              </a:rPr>
              <a:t>10.387.314,00</a:t>
            </a:r>
            <a:endParaRPr sz="1800" b="1" dirty="0">
              <a:solidFill>
                <a:srgbClr val="059669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942C6DB-7E0A-4384-8C44-7D65E722B5C1}"/>
              </a:ext>
            </a:extLst>
          </p:cNvPr>
          <p:cNvSpPr>
            <a:spLocks noGrp="1"/>
          </p:cNvSpPr>
          <p:nvPr/>
        </p:nvSpPr>
        <p:spPr>
          <a:xfrm>
            <a:off x="9248775" y="1784985"/>
            <a:ext cx="8201025" cy="2667000"/>
          </a:xfrm>
          <a:prstGeom prst="roundRect">
            <a:avLst>
              <a:gd name="adj" fmla="val 8571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881651E-1C5A-417E-9977-EF44F4A8CE8C}"/>
              </a:ext>
            </a:extLst>
          </p:cNvPr>
          <p:cNvSpPr>
            <a:spLocks noGrp="1"/>
          </p:cNvSpPr>
          <p:nvPr/>
        </p:nvSpPr>
        <p:spPr>
          <a:xfrm>
            <a:off x="9486900" y="2019300"/>
            <a:ext cx="7753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lang="pt-BR" sz="1950" b="1" dirty="0">
                <a:solidFill>
                  <a:srgbClr val="0B1324"/>
                </a:solidFill>
              </a:rPr>
              <a:t>Mês</a:t>
            </a:r>
            <a:r>
              <a:rPr sz="1950" b="1" dirty="0">
                <a:solidFill>
                  <a:srgbClr val="0B1324"/>
                </a:solidFill>
              </a:rPr>
              <a:t> </a:t>
            </a:r>
            <a:r>
              <a:rPr sz="1950" b="1" dirty="0" err="1">
                <a:solidFill>
                  <a:srgbClr val="0B1324"/>
                </a:solidFill>
              </a:rPr>
              <a:t>cheio</a:t>
            </a:r>
            <a:r>
              <a:rPr sz="1950" b="1" dirty="0">
                <a:solidFill>
                  <a:srgbClr val="0B1324"/>
                </a:solidFill>
              </a:rPr>
              <a:t> 2028 (</a:t>
            </a:r>
            <a:r>
              <a:rPr sz="1950" b="1" dirty="0" err="1">
                <a:solidFill>
                  <a:srgbClr val="0B1324"/>
                </a:solidFill>
              </a:rPr>
              <a:t>jan-dez</a:t>
            </a:r>
            <a:r>
              <a:rPr sz="1950" b="1" dirty="0">
                <a:solidFill>
                  <a:srgbClr val="0B1324"/>
                </a:solidFill>
              </a:rPr>
              <a:t>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C229349-71AC-4813-B2D1-8E73040BC07F}"/>
              </a:ext>
            </a:extLst>
          </p:cNvPr>
          <p:cNvSpPr>
            <a:spLocks noGrp="1"/>
          </p:cNvSpPr>
          <p:nvPr/>
        </p:nvSpPr>
        <p:spPr>
          <a:xfrm>
            <a:off x="9486900" y="24193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 dirty="0" err="1">
                <a:solidFill>
                  <a:srgbClr val="0F172A"/>
                </a:solidFill>
              </a:rPr>
              <a:t>Receita</a:t>
            </a:r>
            <a:r>
              <a:rPr sz="1800" b="0" dirty="0">
                <a:solidFill>
                  <a:srgbClr val="0F172A"/>
                </a:solidFill>
              </a:rPr>
              <a:t> </a:t>
            </a:r>
            <a:r>
              <a:rPr sz="1800" b="0" dirty="0" err="1">
                <a:solidFill>
                  <a:srgbClr val="0F172A"/>
                </a:solidFill>
              </a:rPr>
              <a:t>anual</a:t>
            </a:r>
            <a:r>
              <a:rPr sz="1800" b="0" dirty="0">
                <a:solidFill>
                  <a:srgbClr val="0F172A"/>
                </a:solidFill>
              </a:rPr>
              <a:t>: R$ </a:t>
            </a:r>
            <a:r>
              <a:rPr lang="pt-BR" sz="1800" b="0" dirty="0">
                <a:solidFill>
                  <a:srgbClr val="0F172A"/>
                </a:solidFill>
              </a:rPr>
              <a:t>508.800.000,00</a:t>
            </a:r>
            <a:endParaRPr sz="1800" b="0" dirty="0">
              <a:solidFill>
                <a:srgbClr val="0F172A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38F75E6-73D8-42DF-B332-177889339442}"/>
              </a:ext>
            </a:extLst>
          </p:cNvPr>
          <p:cNvSpPr>
            <a:spLocks noGrp="1"/>
          </p:cNvSpPr>
          <p:nvPr/>
        </p:nvSpPr>
        <p:spPr>
          <a:xfrm>
            <a:off x="9486900" y="2819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 dirty="0" err="1">
                <a:solidFill>
                  <a:srgbClr val="0F172A"/>
                </a:solidFill>
              </a:rPr>
              <a:t>Margem</a:t>
            </a:r>
            <a:r>
              <a:rPr sz="1800" b="0" dirty="0">
                <a:solidFill>
                  <a:srgbClr val="0F172A"/>
                </a:solidFill>
              </a:rPr>
              <a:t> de </a:t>
            </a:r>
            <a:r>
              <a:rPr sz="1800" b="0" dirty="0" err="1">
                <a:solidFill>
                  <a:srgbClr val="0F172A"/>
                </a:solidFill>
              </a:rPr>
              <a:t>contribuição</a:t>
            </a:r>
            <a:r>
              <a:rPr sz="1800" b="0" dirty="0">
                <a:solidFill>
                  <a:srgbClr val="0F172A"/>
                </a:solidFill>
              </a:rPr>
              <a:t> </a:t>
            </a:r>
            <a:r>
              <a:rPr sz="1800" b="0" dirty="0" err="1">
                <a:solidFill>
                  <a:srgbClr val="0F172A"/>
                </a:solidFill>
              </a:rPr>
              <a:t>anual</a:t>
            </a:r>
            <a:r>
              <a:rPr sz="1800" b="0" dirty="0">
                <a:solidFill>
                  <a:srgbClr val="0F172A"/>
                </a:solidFill>
              </a:rPr>
              <a:t>: R$ </a:t>
            </a:r>
            <a:r>
              <a:rPr lang="pt-BR" sz="1800" b="0" dirty="0">
                <a:solidFill>
                  <a:srgbClr val="0F172A"/>
                </a:solidFill>
              </a:rPr>
              <a:t>200.841.600,00</a:t>
            </a:r>
            <a:endParaRPr sz="1800" b="0" dirty="0">
              <a:solidFill>
                <a:srgbClr val="0F172A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1D95ED-C504-4E0E-B411-46982807AA8A}"/>
              </a:ext>
            </a:extLst>
          </p:cNvPr>
          <p:cNvSpPr>
            <a:spLocks noGrp="1"/>
          </p:cNvSpPr>
          <p:nvPr/>
        </p:nvSpPr>
        <p:spPr>
          <a:xfrm>
            <a:off x="9486900" y="32004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 dirty="0" err="1">
                <a:solidFill>
                  <a:srgbClr val="0F172A"/>
                </a:solidFill>
              </a:rPr>
              <a:t>Custo</a:t>
            </a:r>
            <a:r>
              <a:rPr sz="1800" b="0" dirty="0">
                <a:solidFill>
                  <a:srgbClr val="0F172A"/>
                </a:solidFill>
              </a:rPr>
              <a:t> </a:t>
            </a:r>
            <a:r>
              <a:rPr sz="1800" b="0" dirty="0" err="1">
                <a:solidFill>
                  <a:srgbClr val="0F172A"/>
                </a:solidFill>
              </a:rPr>
              <a:t>fixo</a:t>
            </a:r>
            <a:r>
              <a:rPr sz="1800" b="0" dirty="0">
                <a:solidFill>
                  <a:srgbClr val="0F172A"/>
                </a:solidFill>
              </a:rPr>
              <a:t> </a:t>
            </a:r>
            <a:r>
              <a:rPr sz="1800" b="0" dirty="0" err="1">
                <a:solidFill>
                  <a:srgbClr val="0F172A"/>
                </a:solidFill>
              </a:rPr>
              <a:t>anual</a:t>
            </a:r>
            <a:r>
              <a:rPr sz="1800" b="0" dirty="0">
                <a:solidFill>
                  <a:srgbClr val="0F172A"/>
                </a:solidFill>
              </a:rPr>
              <a:t>: R$ </a:t>
            </a:r>
            <a:r>
              <a:rPr lang="pt-BR" sz="1800" b="0" dirty="0">
                <a:solidFill>
                  <a:srgbClr val="0F172A"/>
                </a:solidFill>
              </a:rPr>
              <a:t>2.988.000,00</a:t>
            </a:r>
            <a:endParaRPr sz="1800" b="0" dirty="0">
              <a:solidFill>
                <a:srgbClr val="0F172A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742B507-12A2-496B-AC11-206E43DF4711}"/>
              </a:ext>
            </a:extLst>
          </p:cNvPr>
          <p:cNvSpPr>
            <a:spLocks noGrp="1"/>
          </p:cNvSpPr>
          <p:nvPr/>
        </p:nvSpPr>
        <p:spPr>
          <a:xfrm>
            <a:off x="9486900" y="36004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sz="1800" b="1" dirty="0" err="1">
                <a:solidFill>
                  <a:srgbClr val="059669"/>
                </a:solidFill>
              </a:rPr>
              <a:t>Resultado</a:t>
            </a:r>
            <a:r>
              <a:rPr sz="1800" b="1" dirty="0">
                <a:solidFill>
                  <a:srgbClr val="059669"/>
                </a:solidFill>
              </a:rPr>
              <a:t> </a:t>
            </a:r>
            <a:r>
              <a:rPr sz="1800" b="1" dirty="0" err="1">
                <a:solidFill>
                  <a:srgbClr val="059669"/>
                </a:solidFill>
              </a:rPr>
              <a:t>líquido</a:t>
            </a:r>
            <a:r>
              <a:rPr sz="1800" b="1" dirty="0">
                <a:solidFill>
                  <a:srgbClr val="059669"/>
                </a:solidFill>
              </a:rPr>
              <a:t> </a:t>
            </a:r>
            <a:r>
              <a:rPr sz="1800" b="1" dirty="0" err="1">
                <a:solidFill>
                  <a:srgbClr val="059669"/>
                </a:solidFill>
              </a:rPr>
              <a:t>anual</a:t>
            </a:r>
            <a:r>
              <a:rPr sz="1800" b="1" dirty="0">
                <a:solidFill>
                  <a:srgbClr val="059669"/>
                </a:solidFill>
              </a:rPr>
              <a:t>: R$ </a:t>
            </a:r>
            <a:r>
              <a:rPr lang="pt-BR" sz="1800" b="1" dirty="0">
                <a:solidFill>
                  <a:srgbClr val="059669"/>
                </a:solidFill>
              </a:rPr>
              <a:t>124.647.768,00</a:t>
            </a:r>
            <a:endParaRPr sz="1800" b="1" dirty="0">
              <a:solidFill>
                <a:srgbClr val="059669"/>
              </a:solidFill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D02C962-A5D4-4291-877E-79FEFF02D937}"/>
              </a:ext>
            </a:extLst>
          </p:cNvPr>
          <p:cNvSpPr>
            <a:spLocks noGrp="1"/>
          </p:cNvSpPr>
          <p:nvPr/>
        </p:nvSpPr>
        <p:spPr>
          <a:xfrm>
            <a:off x="838200" y="4680585"/>
            <a:ext cx="16611600" cy="4958715"/>
          </a:xfrm>
          <a:prstGeom prst="roundRect">
            <a:avLst>
              <a:gd name="adj" fmla="val 4226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D86DD03-E361-4433-9403-53F70C6ADE02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16154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5D6357B-BCE9-4431-AE34-701EE8FC6017}"/>
              </a:ext>
            </a:extLst>
          </p:cNvPr>
          <p:cNvSpPr>
            <a:spLocks noGrp="1"/>
          </p:cNvSpPr>
          <p:nvPr/>
        </p:nvSpPr>
        <p:spPr>
          <a:xfrm>
            <a:off x="1066800" y="53721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 dirty="0">
                <a:solidFill>
                  <a:srgbClr val="475569"/>
                </a:solidFill>
              </a:rPr>
              <a:t>• Em regime, o </a:t>
            </a:r>
            <a:r>
              <a:rPr sz="1725" b="0" dirty="0" err="1">
                <a:solidFill>
                  <a:srgbClr val="475569"/>
                </a:solidFill>
              </a:rPr>
              <a:t>negócio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gera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aproximadamente</a:t>
            </a:r>
            <a:r>
              <a:rPr sz="1725" b="0" dirty="0">
                <a:solidFill>
                  <a:srgbClr val="475569"/>
                </a:solidFill>
              </a:rPr>
              <a:t> R$ </a:t>
            </a:r>
            <a:r>
              <a:rPr lang="pt-BR" sz="1725" b="0" dirty="0">
                <a:solidFill>
                  <a:srgbClr val="475569"/>
                </a:solidFill>
              </a:rPr>
              <a:t>10,3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milhão</a:t>
            </a:r>
            <a:r>
              <a:rPr sz="1725" b="0" dirty="0">
                <a:solidFill>
                  <a:srgbClr val="475569"/>
                </a:solidFill>
              </a:rPr>
              <a:t> de </a:t>
            </a:r>
            <a:r>
              <a:rPr sz="1725" b="0" dirty="0" err="1">
                <a:solidFill>
                  <a:srgbClr val="475569"/>
                </a:solidFill>
              </a:rPr>
              <a:t>resultado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líquido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por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mês</a:t>
            </a:r>
            <a:r>
              <a:rPr sz="1725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EEC6784-AAFB-41FC-AF97-A3FC23082F42}"/>
              </a:ext>
            </a:extLst>
          </p:cNvPr>
          <p:cNvSpPr>
            <a:spLocks noGrp="1"/>
          </p:cNvSpPr>
          <p:nvPr/>
        </p:nvSpPr>
        <p:spPr>
          <a:xfrm>
            <a:off x="1066800" y="57150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 dirty="0">
                <a:solidFill>
                  <a:srgbClr val="475569"/>
                </a:solidFill>
              </a:rPr>
              <a:t>• Se </a:t>
            </a:r>
            <a:r>
              <a:rPr sz="1725" b="0" dirty="0" err="1">
                <a:solidFill>
                  <a:srgbClr val="475569"/>
                </a:solidFill>
              </a:rPr>
              <a:t>houver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distribuição</a:t>
            </a:r>
            <a:r>
              <a:rPr sz="1725" b="0" dirty="0">
                <a:solidFill>
                  <a:srgbClr val="475569"/>
                </a:solidFill>
              </a:rPr>
              <a:t> total de 50% do </a:t>
            </a:r>
            <a:r>
              <a:rPr sz="1725" b="0" dirty="0" err="1">
                <a:solidFill>
                  <a:srgbClr val="475569"/>
                </a:solidFill>
              </a:rPr>
              <a:t>resultado</a:t>
            </a:r>
            <a:r>
              <a:rPr sz="1725" b="0" dirty="0">
                <a:solidFill>
                  <a:srgbClr val="475569"/>
                </a:solidFill>
              </a:rPr>
              <a:t>, a </a:t>
            </a:r>
            <a:r>
              <a:rPr sz="1725" b="0" dirty="0" err="1">
                <a:solidFill>
                  <a:srgbClr val="475569"/>
                </a:solidFill>
              </a:rPr>
              <a:t>retenção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anual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estimada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na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companhia</a:t>
            </a:r>
            <a:r>
              <a:rPr sz="1725" b="0" dirty="0">
                <a:solidFill>
                  <a:srgbClr val="475569"/>
                </a:solidFill>
              </a:rPr>
              <a:t> seria de </a:t>
            </a:r>
            <a:r>
              <a:rPr sz="1725" b="0" dirty="0" err="1">
                <a:solidFill>
                  <a:srgbClr val="475569"/>
                </a:solidFill>
              </a:rPr>
              <a:t>cerca</a:t>
            </a:r>
            <a:r>
              <a:rPr sz="1725" b="0" dirty="0">
                <a:solidFill>
                  <a:srgbClr val="475569"/>
                </a:solidFill>
              </a:rPr>
              <a:t> de R$ </a:t>
            </a:r>
            <a:r>
              <a:rPr lang="pt-BR" sz="1725" b="0" dirty="0">
                <a:solidFill>
                  <a:srgbClr val="475569"/>
                </a:solidFill>
              </a:rPr>
              <a:t>60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milhões</a:t>
            </a:r>
            <a:r>
              <a:rPr sz="1725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62E5551-CCD2-4D6E-8665-A3E17448A80D}"/>
              </a:ext>
            </a:extLst>
          </p:cNvPr>
          <p:cNvSpPr>
            <a:spLocks noGrp="1"/>
          </p:cNvSpPr>
          <p:nvPr/>
        </p:nvSpPr>
        <p:spPr>
          <a:xfrm>
            <a:off x="1066800" y="60769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 dirty="0">
                <a:solidFill>
                  <a:srgbClr val="475569"/>
                </a:solidFill>
              </a:rPr>
              <a:t>• Essa </a:t>
            </a:r>
            <a:r>
              <a:rPr sz="1725" b="0" dirty="0" err="1">
                <a:solidFill>
                  <a:srgbClr val="475569"/>
                </a:solidFill>
              </a:rPr>
              <a:t>retenção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cria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espaço</a:t>
            </a:r>
            <a:r>
              <a:rPr sz="1725" b="0" dirty="0">
                <a:solidFill>
                  <a:srgbClr val="475569"/>
                </a:solidFill>
              </a:rPr>
              <a:t> para </a:t>
            </a:r>
            <a:r>
              <a:rPr sz="1725" b="0" dirty="0" err="1">
                <a:solidFill>
                  <a:srgbClr val="475569"/>
                </a:solidFill>
              </a:rPr>
              <a:t>reforço</a:t>
            </a:r>
            <a:r>
              <a:rPr sz="1725" b="0" dirty="0">
                <a:solidFill>
                  <a:srgbClr val="475569"/>
                </a:solidFill>
              </a:rPr>
              <a:t> de capital de </a:t>
            </a:r>
            <a:r>
              <a:rPr sz="1725" b="0" dirty="0" err="1">
                <a:solidFill>
                  <a:srgbClr val="475569"/>
                </a:solidFill>
              </a:rPr>
              <a:t>giro</a:t>
            </a:r>
            <a:r>
              <a:rPr sz="1725" b="0" dirty="0">
                <a:solidFill>
                  <a:srgbClr val="475569"/>
                </a:solidFill>
              </a:rPr>
              <a:t>, </a:t>
            </a:r>
            <a:r>
              <a:rPr sz="1725" b="0" dirty="0" err="1">
                <a:solidFill>
                  <a:srgbClr val="475569"/>
                </a:solidFill>
              </a:rPr>
              <a:t>expansão</a:t>
            </a:r>
            <a:r>
              <a:rPr sz="1725" b="0" dirty="0">
                <a:solidFill>
                  <a:srgbClr val="475569"/>
                </a:solidFill>
              </a:rPr>
              <a:t> e </a:t>
            </a:r>
            <a:r>
              <a:rPr sz="1725" b="0" dirty="0" err="1">
                <a:solidFill>
                  <a:srgbClr val="475569"/>
                </a:solidFill>
              </a:rPr>
              <a:t>ativação</a:t>
            </a:r>
            <a:r>
              <a:rPr sz="1725" b="0" dirty="0">
                <a:solidFill>
                  <a:srgbClr val="475569"/>
                </a:solidFill>
              </a:rPr>
              <a:t> dos </a:t>
            </a:r>
            <a:r>
              <a:rPr sz="1725" b="0" dirty="0" err="1">
                <a:solidFill>
                  <a:srgbClr val="475569"/>
                </a:solidFill>
              </a:rPr>
              <a:t>produtos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remanescentes</a:t>
            </a:r>
            <a:r>
              <a:rPr sz="1725" b="0" dirty="0">
                <a:solidFill>
                  <a:srgbClr val="47556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6968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B580BC3C-0872-4E0D-85B2-DFEE756C19EC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investidor (resumido)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67FCEB4-B20E-4546-92F6-F3C7E2EE1C29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D84B513-F9B6-4392-A6E9-ED70C39F7E8A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9963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Fluxo de distribuição em regime estável, assumindo participação de 25% sobre o resultado distribuível do plano-base.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506E60A-5199-4780-BB6D-C08CFBB9554E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71F52E4-F9F1-4453-AAE4-34D3E001A2A4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FD4EE55-BBE1-4F35-926C-1E967F4C6BA7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4933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DC2626"/>
                </a:solidFill>
              </a:defRPr>
            </a:pPr>
            <a:r>
              <a:rPr sz="3150" b="1" dirty="0">
                <a:solidFill>
                  <a:srgbClr val="DC2626"/>
                </a:solidFill>
              </a:rPr>
              <a:t>R$ 11</a:t>
            </a:r>
            <a:r>
              <a:rPr lang="pt-BR" sz="3150" b="1" dirty="0">
                <a:solidFill>
                  <a:srgbClr val="DC2626"/>
                </a:solidFill>
              </a:rPr>
              <a:t> MM</a:t>
            </a:r>
            <a:endParaRPr sz="3150" b="1" dirty="0">
              <a:solidFill>
                <a:srgbClr val="DC2626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C779C5F-EBE6-493D-BF70-D5455133A39A}"/>
              </a:ext>
            </a:extLst>
          </p:cNvPr>
          <p:cNvSpPr>
            <a:spLocks noGrp="1"/>
          </p:cNvSpPr>
          <p:nvPr/>
        </p:nvSpPr>
        <p:spPr>
          <a:xfrm>
            <a:off x="1066800" y="327660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3F9EF9B-7679-4482-8FDA-5575BF5E919A}"/>
              </a:ext>
            </a:extLst>
          </p:cNvPr>
          <p:cNvSpPr>
            <a:spLocks noGrp="1"/>
          </p:cNvSpPr>
          <p:nvPr/>
        </p:nvSpPr>
        <p:spPr>
          <a:xfrm>
            <a:off x="6445250" y="203644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4613E87-B0CA-40CD-A3CE-D93DE6669235}"/>
              </a:ext>
            </a:extLst>
          </p:cNvPr>
          <p:cNvSpPr>
            <a:spLocks noGrp="1"/>
          </p:cNvSpPr>
          <p:nvPr/>
        </p:nvSpPr>
        <p:spPr>
          <a:xfrm>
            <a:off x="6667500" y="226695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2D358E5-A73F-4E06-92FA-1A07353F1376}"/>
              </a:ext>
            </a:extLst>
          </p:cNvPr>
          <p:cNvSpPr>
            <a:spLocks noGrp="1"/>
          </p:cNvSpPr>
          <p:nvPr/>
        </p:nvSpPr>
        <p:spPr>
          <a:xfrm>
            <a:off x="6667500" y="2686050"/>
            <a:ext cx="49339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R$ 343.495,8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08013A1-9289-4F19-B96B-F4C8DB3CE8BE}"/>
              </a:ext>
            </a:extLst>
          </p:cNvPr>
          <p:cNvSpPr>
            <a:spLocks noGrp="1"/>
          </p:cNvSpPr>
          <p:nvPr/>
        </p:nvSpPr>
        <p:spPr>
          <a:xfrm>
            <a:off x="6667500" y="310515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3FEA229-1E9B-4061-AC3E-47B5627EF467}"/>
              </a:ext>
            </a:extLst>
          </p:cNvPr>
          <p:cNvSpPr>
            <a:spLocks noGrp="1"/>
          </p:cNvSpPr>
          <p:nvPr/>
        </p:nvSpPr>
        <p:spPr>
          <a:xfrm>
            <a:off x="12052300" y="203644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7B660B5-AE49-4A7A-82CC-0A14D21B4001}"/>
              </a:ext>
            </a:extLst>
          </p:cNvPr>
          <p:cNvSpPr>
            <a:spLocks noGrp="1"/>
          </p:cNvSpPr>
          <p:nvPr/>
        </p:nvSpPr>
        <p:spPr>
          <a:xfrm>
            <a:off x="12287250" y="226695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9E1EA0-F323-47C5-A4A3-8E74D4D82C36}"/>
              </a:ext>
            </a:extLst>
          </p:cNvPr>
          <p:cNvSpPr>
            <a:spLocks noGrp="1"/>
          </p:cNvSpPr>
          <p:nvPr/>
        </p:nvSpPr>
        <p:spPr>
          <a:xfrm>
            <a:off x="12287250" y="2686050"/>
            <a:ext cx="49339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 estimada: R$ 4.121.950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096C526-EDEB-42F8-A6FF-61284A8E5300}"/>
              </a:ext>
            </a:extLst>
          </p:cNvPr>
          <p:cNvSpPr>
            <a:spLocks noGrp="1"/>
          </p:cNvSpPr>
          <p:nvPr/>
        </p:nvSpPr>
        <p:spPr>
          <a:xfrm>
            <a:off x="12287250" y="310515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R$ 343.495,8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D040E6A-10DB-4B73-AB29-85F97DA56F4E}"/>
              </a:ext>
            </a:extLst>
          </p:cNvPr>
          <p:cNvSpPr>
            <a:spLocks noGrp="1"/>
          </p:cNvSpPr>
          <p:nvPr/>
        </p:nvSpPr>
        <p:spPr>
          <a:xfrm>
            <a:off x="838200" y="4741545"/>
            <a:ext cx="16611600" cy="4897755"/>
          </a:xfrm>
          <a:prstGeom prst="roundRect">
            <a:avLst>
              <a:gd name="adj" fmla="val 4278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C3FD1CC-6778-4F67-A6AB-8B5A9875BD7E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16154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1831849-9E70-4ABF-847F-FD39F8CB3BAF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no cenário de 3 produtos modelados.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94DDB4B-744A-45FF-A74D-5809AD1797EA}"/>
              </a:ext>
            </a:extLst>
          </p:cNvPr>
          <p:cNvSpPr>
            <a:spLocks noGrp="1"/>
          </p:cNvSpPr>
          <p:nvPr/>
        </p:nvSpPr>
        <p:spPr>
          <a:xfrm>
            <a:off x="1066800" y="57912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adicional associado aos produtos a ativar funciona como upside opcional, não como condição para a tese-base fechar.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4CB16A7-4230-49CB-8696-20181E824DF0}"/>
              </a:ext>
            </a:extLst>
          </p:cNvPr>
          <p:cNvSpPr>
            <a:spLocks noGrp="1"/>
          </p:cNvSpPr>
          <p:nvPr/>
        </p:nvSpPr>
        <p:spPr>
          <a:xfrm>
            <a:off x="1066800" y="61341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73975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57BF448F-61A2-4CA6-B863-18E5F6F51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E2A44"/>
          </a:solidFill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A7B630A-BE5F-44AB-9463-3F261A317770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10. Fechamento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555DF9D-CE9E-4244-AED8-52E3BD0343D5}"/>
              </a:ext>
            </a:extLst>
          </p:cNvPr>
          <p:cNvSpPr>
            <a:spLocks noGrp="1"/>
          </p:cNvSpPr>
          <p:nvPr/>
        </p:nvSpPr>
        <p:spPr>
          <a:xfrm>
            <a:off x="914400" y="1333500"/>
            <a:ext cx="13011150" cy="2000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funciona com os 3 produtos modelados e melhora ainda mais quando o portfólio de 6 produtos estiver completo.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5F7285B-A673-42F4-A983-8DBEC9E856E1}"/>
              </a:ext>
            </a:extLst>
          </p:cNvPr>
          <p:cNvSpPr>
            <a:spLocks noGrp="1"/>
          </p:cNvSpPr>
          <p:nvPr/>
        </p:nvSpPr>
        <p:spPr>
          <a:xfrm>
            <a:off x="914400" y="3558540"/>
            <a:ext cx="14329791" cy="1143000"/>
          </a:xfrm>
          <a:prstGeom prst="roundRect">
            <a:avLst>
              <a:gd name="adj" fmla="val 20000"/>
            </a:avLst>
          </a:prstGeom>
          <a:solidFill>
            <a:srgbClr val="24365B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49A3A0-A463-4BD0-A8E0-E21CD7956440}"/>
              </a:ext>
            </a:extLst>
          </p:cNvPr>
          <p:cNvSpPr>
            <a:spLocks noGrp="1"/>
          </p:cNvSpPr>
          <p:nvPr/>
        </p:nvSpPr>
        <p:spPr>
          <a:xfrm>
            <a:off x="1181100" y="3790950"/>
            <a:ext cx="13792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com mercado em formação, produto/serviço integrado, resultado positivo mesmo abaixo do volume total do plano e upside relevante ainda não refletido na modelagem atual.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0DC1E43-D1A4-4BC0-8115-0C9F228580DB}"/>
              </a:ext>
            </a:extLst>
          </p:cNvPr>
          <p:cNvSpPr>
            <a:spLocks noGrp="1"/>
          </p:cNvSpPr>
          <p:nvPr/>
        </p:nvSpPr>
        <p:spPr>
          <a:xfrm>
            <a:off x="914400" y="4930140"/>
            <a:ext cx="3714750" cy="579120"/>
          </a:xfrm>
          <a:prstGeom prst="roundRect">
            <a:avLst>
              <a:gd name="adj" fmla="val 26316"/>
            </a:avLst>
          </a:prstGeom>
          <a:solidFill>
            <a:srgbClr val="0F766E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7CA807-D542-41FD-B5B6-CD922BFA0593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340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DA6AB1E-BB9D-465D-AC7A-7F1832B78208}"/>
              </a:ext>
            </a:extLst>
          </p:cNvPr>
          <p:cNvSpPr>
            <a:spLocks noGrp="1"/>
          </p:cNvSpPr>
          <p:nvPr/>
        </p:nvSpPr>
        <p:spPr>
          <a:xfrm>
            <a:off x="4800600" y="4930140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1D4ED8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310E23C-8013-46AB-9A04-61CED5949E51}"/>
              </a:ext>
            </a:extLst>
          </p:cNvPr>
          <p:cNvSpPr>
            <a:spLocks noGrp="1"/>
          </p:cNvSpPr>
          <p:nvPr/>
        </p:nvSpPr>
        <p:spPr>
          <a:xfrm>
            <a:off x="4953000" y="508635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9436262-BE6C-46FE-8795-B42C79EAED07}"/>
              </a:ext>
            </a:extLst>
          </p:cNvPr>
          <p:cNvSpPr>
            <a:spLocks noGrp="1"/>
          </p:cNvSpPr>
          <p:nvPr/>
        </p:nvSpPr>
        <p:spPr>
          <a:xfrm>
            <a:off x="8972550" y="4930140"/>
            <a:ext cx="4762500" cy="579120"/>
          </a:xfrm>
          <a:prstGeom prst="roundRect">
            <a:avLst>
              <a:gd name="adj" fmla="val 26316"/>
            </a:avLst>
          </a:prstGeom>
          <a:solidFill>
            <a:srgbClr val="B45309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D298185-A78F-44D5-888C-61E4D463D92C}"/>
              </a:ext>
            </a:extLst>
          </p:cNvPr>
          <p:cNvSpPr>
            <a:spLocks noGrp="1"/>
          </p:cNvSpPr>
          <p:nvPr/>
        </p:nvSpPr>
        <p:spPr>
          <a:xfrm>
            <a:off x="9124950" y="5086350"/>
            <a:ext cx="445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D2531DD-5D8A-4A21-89CB-EE204A9C9539}"/>
              </a:ext>
            </a:extLst>
          </p:cNvPr>
          <p:cNvSpPr>
            <a:spLocks noGrp="1"/>
          </p:cNvSpPr>
          <p:nvPr/>
        </p:nvSpPr>
        <p:spPr>
          <a:xfrm>
            <a:off x="914400" y="573405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Base conservadora, não teto de resultado.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123103-BC20-49D2-996E-CDB7B5DBC1BD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B753E5D-59AD-4902-B2BB-03778F75EAA7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• Case atrativo para investidor que busca retorno com assimetria positiva.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4EB3C4-E2C4-4E85-B91F-D259B6130F44}"/>
              </a:ext>
            </a:extLst>
          </p:cNvPr>
          <p:cNvSpPr>
            <a:spLocks noGrp="1"/>
          </p:cNvSpPr>
          <p:nvPr/>
        </p:nvSpPr>
        <p:spPr>
          <a:xfrm>
            <a:off x="914400" y="6972300"/>
            <a:ext cx="16459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Base: relatório detalhado de implantação | premissas complementares explicitadas no material</a:t>
            </a:r>
          </a:p>
        </p:txBody>
      </p:sp>
    </p:spTree>
    <p:extLst>
      <p:ext uri="{BB962C8B-B14F-4D97-AF65-F5344CB8AC3E}">
        <p14:creationId xmlns:p14="http://schemas.microsoft.com/office/powerpoint/2010/main" val="3825121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1684</Words>
  <Application>Microsoft Office PowerPoint</Application>
  <DocSecurity>0</DocSecurity>
  <PresentationFormat>Personalizar</PresentationFormat>
  <Paragraphs>262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Calibri</vt:lpstr>
      <vt:lpstr>Wingdings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Fabiano Ferreira</cp:lastModifiedBy>
  <cp:revision>3</cp:revision>
  <dcterms:created xsi:type="dcterms:W3CDTF">2026-05-07T23:29:47Z</dcterms:created>
  <dcterms:modified xsi:type="dcterms:W3CDTF">2026-05-08T01:04:23Z</dcterms:modified>
</cp:coreProperties>
</file>