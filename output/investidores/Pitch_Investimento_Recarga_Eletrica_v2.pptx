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65F2B144-1900-4AA2-AFC2-5FA692721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2A8572FB-C025-4841-B2BD-DC5DB47B58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334000" cy="5334000"/>
          </a:xfrm>
          <a:prstGeom prst="roundRect">
            <a:avLst>
              <a:gd name="adj" fmla="val 50000"/>
            </a:avLst>
          </a:prstGeom>
          <a:solidFill>
            <a:srgbClr val="17355E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90BAE5D-DF63-47B8-AEDF-F4202F25B50B}"/>
              </a:ext>
            </a:extLst>
          </p:cNvPr>
          <p:cNvSpPr>
            <a:spLocks noGrp="1"/>
          </p:cNvSpPr>
          <p:nvPr/>
        </p:nvSpPr>
        <p:spPr>
          <a:xfrm>
            <a:off x="876300" y="781050"/>
            <a:ext cx="16535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4B8A6"/>
                </a:solidFill>
              </a:defRPr>
            </a:pPr>
            <a:r>
              <a:rPr sz="1650" b="1">
                <a:solidFill>
                  <a:srgbClr val="14B8A6"/>
                </a:solidFill>
              </a:rPr>
              <a:t>PIT DE INVESTIMENTO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EDC53BF-619A-483B-8201-151710B9298D}"/>
              </a:ext>
            </a:extLst>
          </p:cNvPr>
          <p:cNvSpPr>
            <a:spLocks noGrp="1"/>
          </p:cNvSpPr>
          <p:nvPr/>
        </p:nvSpPr>
        <p:spPr>
          <a:xfrm>
            <a:off x="876300" y="1238250"/>
            <a:ext cx="1085850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Infraestrutura de recarga elétrica: visão para investidores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DC7952F-69B8-4D64-816F-23486AE76DA8}"/>
              </a:ext>
            </a:extLst>
          </p:cNvPr>
          <p:cNvSpPr>
            <a:spLocks noGrp="1"/>
          </p:cNvSpPr>
          <p:nvPr/>
        </p:nvSpPr>
        <p:spPr>
          <a:xfrm>
            <a:off x="876300" y="2876550"/>
            <a:ext cx="9715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Empresa, produtos, estrutura, cenários de resultado, investimento e retorno do investidor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B777E04-9714-4DD4-BBF1-34E15C2F3EA3}"/>
              </a:ext>
            </a:extLst>
          </p:cNvPr>
          <p:cNvSpPr>
            <a:spLocks noGrp="1"/>
          </p:cNvSpPr>
          <p:nvPr/>
        </p:nvSpPr>
        <p:spPr>
          <a:xfrm>
            <a:off x="876300" y="3398520"/>
            <a:ext cx="10756106" cy="1409700"/>
          </a:xfrm>
          <a:prstGeom prst="roundRect">
            <a:avLst>
              <a:gd name="adj" fmla="val 14865"/>
            </a:avLst>
          </a:prstGeom>
          <a:solidFill>
            <a:srgbClr val="162748"/>
          </a:solidFill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ACDAE80-E506-4C73-8C7C-FCD0D1B09E78}"/>
              </a:ext>
            </a:extLst>
          </p:cNvPr>
          <p:cNvSpPr>
            <a:spLocks noGrp="1"/>
          </p:cNvSpPr>
          <p:nvPr/>
        </p:nvSpPr>
        <p:spPr>
          <a:xfrm>
            <a:off x="1104900" y="3581400"/>
            <a:ext cx="10306050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Mensagem-chave: a operação foi desenhada com 06 produtos, mas a modelagem atual considera apenas 03. Isso torna a tese financeira conservadora e preserva upside relevante.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EB0F641-9342-497D-9080-12B7427D9BFC}"/>
              </a:ext>
            </a:extLst>
          </p:cNvPr>
          <p:cNvSpPr>
            <a:spLocks noGrp="1"/>
          </p:cNvSpPr>
          <p:nvPr/>
        </p:nvSpPr>
        <p:spPr>
          <a:xfrm>
            <a:off x="876300" y="5017770"/>
            <a:ext cx="4000500" cy="579120"/>
          </a:xfrm>
          <a:prstGeom prst="roundRect">
            <a:avLst>
              <a:gd name="adj" fmla="val 26316"/>
            </a:avLst>
          </a:prstGeom>
          <a:solidFill>
            <a:srgbClr val="0F766E"/>
          </a:solidFill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8556948-154A-40AC-88F4-3541DE0555BD}"/>
              </a:ext>
            </a:extLst>
          </p:cNvPr>
          <p:cNvSpPr>
            <a:spLocks noGrp="1"/>
          </p:cNvSpPr>
          <p:nvPr/>
        </p:nvSpPr>
        <p:spPr>
          <a:xfrm>
            <a:off x="1028700" y="5162550"/>
            <a:ext cx="3695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Ramp-up até ago/2027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B4169A0-62CA-4419-B778-2561F1D4EAFD}"/>
              </a:ext>
            </a:extLst>
          </p:cNvPr>
          <p:cNvSpPr>
            <a:spLocks noGrp="1"/>
          </p:cNvSpPr>
          <p:nvPr/>
        </p:nvSpPr>
        <p:spPr>
          <a:xfrm>
            <a:off x="5048250" y="5017770"/>
            <a:ext cx="3619500" cy="579120"/>
          </a:xfrm>
          <a:prstGeom prst="roundRect">
            <a:avLst>
              <a:gd name="adj" fmla="val 26316"/>
            </a:avLst>
          </a:prstGeom>
          <a:solidFill>
            <a:srgbClr val="1D4ED8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1C63362-2148-4B7F-BA60-CB36DD947087}"/>
              </a:ext>
            </a:extLst>
          </p:cNvPr>
          <p:cNvSpPr>
            <a:spLocks noGrp="1"/>
          </p:cNvSpPr>
          <p:nvPr/>
        </p:nvSpPr>
        <p:spPr>
          <a:xfrm>
            <a:off x="5200650" y="5162550"/>
            <a:ext cx="3314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Aporte: R$ 11,0 mi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19CFF57-32AD-424E-8FB9-D5DA66F2BEFD}"/>
              </a:ext>
            </a:extLst>
          </p:cNvPr>
          <p:cNvSpPr>
            <a:spLocks noGrp="1"/>
          </p:cNvSpPr>
          <p:nvPr/>
        </p:nvSpPr>
        <p:spPr>
          <a:xfrm>
            <a:off x="8839200" y="5017770"/>
            <a:ext cx="4000500" cy="579120"/>
          </a:xfrm>
          <a:prstGeom prst="roundRect">
            <a:avLst>
              <a:gd name="adj" fmla="val 26316"/>
            </a:avLst>
          </a:prstGeom>
          <a:solidFill>
            <a:srgbClr val="B45309"/>
          </a:solidFill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1C57963-97EA-4940-A9F8-223B94BE34BC}"/>
              </a:ext>
            </a:extLst>
          </p:cNvPr>
          <p:cNvSpPr>
            <a:spLocks noGrp="1"/>
          </p:cNvSpPr>
          <p:nvPr/>
        </p:nvSpPr>
        <p:spPr>
          <a:xfrm>
            <a:off x="8991600" y="5162550"/>
            <a:ext cx="3695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Payback-base: até 18 meses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6C43C72-9586-428E-B758-564229C81B7B}"/>
              </a:ext>
            </a:extLst>
          </p:cNvPr>
          <p:cNvSpPr>
            <a:spLocks noGrp="1"/>
          </p:cNvSpPr>
          <p:nvPr/>
        </p:nvSpPr>
        <p:spPr>
          <a:xfrm>
            <a:off x="876300" y="5810250"/>
            <a:ext cx="16535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Elaboração executiva com base no relatório detalhado de implantação | maio/2026</a:t>
            </a:r>
          </a:p>
        </p:txBody>
      </p:sp>
    </p:spTree>
    <p:extLst>
      <p:ext uri="{BB962C8B-B14F-4D97-AF65-F5344CB8AC3E}">
        <p14:creationId xmlns:p14="http://schemas.microsoft.com/office/powerpoint/2010/main" val="2059219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ED170F49-6D64-4A92-9532-4CBEF522B929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1. A empresa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DF91B02-093B-4E13-8EA5-85297107556A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9105D2A-2161-47B6-AAFF-B6A4CC63C207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70104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Síntese do núcleo societário, valores e objetivos financeiros presentes no relatório.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F59B1E5-5397-4B23-B603-3710E7CA8F71}"/>
              </a:ext>
            </a:extLst>
          </p:cNvPr>
          <p:cNvSpPr>
            <a:spLocks noGrp="1"/>
          </p:cNvSpPr>
          <p:nvPr/>
        </p:nvSpPr>
        <p:spPr>
          <a:xfrm>
            <a:off x="838200" y="2055495"/>
            <a:ext cx="5397500" cy="2190750"/>
          </a:xfrm>
          <a:prstGeom prst="roundRect">
            <a:avLst>
              <a:gd name="adj" fmla="val 9565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07EB7C0-CFBC-4CDE-BFA7-9E6055882826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Sócios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7CACB9E-9CDF-4762-88B4-6E77A2FF322D}"/>
              </a:ext>
            </a:extLst>
          </p:cNvPr>
          <p:cNvSpPr>
            <a:spLocks noGrp="1"/>
          </p:cNvSpPr>
          <p:nvPr/>
        </p:nvSpPr>
        <p:spPr>
          <a:xfrm>
            <a:off x="1047750" y="2609850"/>
            <a:ext cx="4972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03 sócios mapeados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A03054E-F609-4D56-87CC-1A16CF3B63FE}"/>
              </a:ext>
            </a:extLst>
          </p:cNvPr>
          <p:cNvSpPr>
            <a:spLocks noGrp="1"/>
          </p:cNvSpPr>
          <p:nvPr/>
        </p:nvSpPr>
        <p:spPr>
          <a:xfrm>
            <a:off x="6445250" y="2055495"/>
            <a:ext cx="5397500" cy="2190750"/>
          </a:xfrm>
          <a:prstGeom prst="roundRect">
            <a:avLst>
              <a:gd name="adj" fmla="val 9565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467B0FF-D9E6-4E93-BC3F-E02D5885C101}"/>
              </a:ext>
            </a:extLst>
          </p:cNvPr>
          <p:cNvSpPr>
            <a:spLocks noGrp="1"/>
          </p:cNvSpPr>
          <p:nvPr/>
        </p:nvSpPr>
        <p:spPr>
          <a:xfrm>
            <a:off x="6648450" y="226695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Liderança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C540A75-DE5D-4152-91CC-FACD11F8AA12}"/>
              </a:ext>
            </a:extLst>
          </p:cNvPr>
          <p:cNvSpPr>
            <a:spLocks noGrp="1"/>
          </p:cNvSpPr>
          <p:nvPr/>
        </p:nvSpPr>
        <p:spPr>
          <a:xfrm>
            <a:off x="6648450" y="2609850"/>
            <a:ext cx="497205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CEO César Lisboa na condução estratégica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61044D9-354E-4252-8CA8-0B14338C2F08}"/>
              </a:ext>
            </a:extLst>
          </p:cNvPr>
          <p:cNvSpPr>
            <a:spLocks noGrp="1"/>
          </p:cNvSpPr>
          <p:nvPr/>
        </p:nvSpPr>
        <p:spPr>
          <a:xfrm>
            <a:off x="12052300" y="2055495"/>
            <a:ext cx="5397500" cy="2190750"/>
          </a:xfrm>
          <a:prstGeom prst="roundRect">
            <a:avLst>
              <a:gd name="adj" fmla="val 9565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7D8F32B-C905-442B-AE3F-02C0B3368315}"/>
              </a:ext>
            </a:extLst>
          </p:cNvPr>
          <p:cNvSpPr>
            <a:spLocks noGrp="1"/>
          </p:cNvSpPr>
          <p:nvPr/>
        </p:nvSpPr>
        <p:spPr>
          <a:xfrm>
            <a:off x="12268200" y="226695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Capital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A5634A5-27FA-42C8-A4A8-E145985F3FFB}"/>
              </a:ext>
            </a:extLst>
          </p:cNvPr>
          <p:cNvSpPr>
            <a:spLocks noGrp="1"/>
          </p:cNvSpPr>
          <p:nvPr/>
        </p:nvSpPr>
        <p:spPr>
          <a:xfrm>
            <a:off x="12268200" y="2609850"/>
            <a:ext cx="4972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100% próprio na largada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B5660D2-CCDE-4569-9C18-975C8262D0AD}"/>
              </a:ext>
            </a:extLst>
          </p:cNvPr>
          <p:cNvSpPr>
            <a:spLocks noGrp="1"/>
          </p:cNvSpPr>
          <p:nvPr/>
        </p:nvSpPr>
        <p:spPr>
          <a:xfrm>
            <a:off x="838200" y="4493895"/>
            <a:ext cx="8191500" cy="5145405"/>
          </a:xfrm>
          <a:prstGeom prst="roundRect">
            <a:avLst>
              <a:gd name="adj" fmla="val 407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D56D4E2-CD18-4AA2-A147-074BAA149548}"/>
              </a:ext>
            </a:extLst>
          </p:cNvPr>
          <p:cNvSpPr>
            <a:spLocks noGrp="1"/>
          </p:cNvSpPr>
          <p:nvPr/>
        </p:nvSpPr>
        <p:spPr>
          <a:xfrm>
            <a:off x="1066800" y="4724400"/>
            <a:ext cx="77343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Valores e diretrizes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7E5B3BD-3799-4C9B-B7D0-FE6DA99F5E9B}"/>
              </a:ext>
            </a:extLst>
          </p:cNvPr>
          <p:cNvSpPr>
            <a:spLocks noGrp="1"/>
          </p:cNvSpPr>
          <p:nvPr/>
        </p:nvSpPr>
        <p:spPr>
          <a:xfrm>
            <a:off x="1066800" y="518160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Respeito aos valores do negócio e dos sócios.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AB0B56F-5656-47E1-900B-4EA4E5A1BD33}"/>
              </a:ext>
            </a:extLst>
          </p:cNvPr>
          <p:cNvSpPr>
            <a:spLocks noGrp="1"/>
          </p:cNvSpPr>
          <p:nvPr/>
        </p:nvSpPr>
        <p:spPr>
          <a:xfrm>
            <a:off x="1066800" y="556260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Segurança do investimento e da operação.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449FFF1-E1CF-4846-9E48-F979C7B8C057}"/>
              </a:ext>
            </a:extLst>
          </p:cNvPr>
          <p:cNvSpPr>
            <a:spLocks noGrp="1"/>
          </p:cNvSpPr>
          <p:nvPr/>
        </p:nvSpPr>
        <p:spPr>
          <a:xfrm>
            <a:off x="1066800" y="594360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Prioridade ao longo prazo e à execução por etapas.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040BDCD-F45F-41F7-B4A5-C28717A4AA12}"/>
              </a:ext>
            </a:extLst>
          </p:cNvPr>
          <p:cNvSpPr>
            <a:spLocks noGrp="1"/>
          </p:cNvSpPr>
          <p:nvPr/>
        </p:nvSpPr>
        <p:spPr>
          <a:xfrm>
            <a:off x="9258300" y="4493895"/>
            <a:ext cx="8191500" cy="5145405"/>
          </a:xfrm>
          <a:prstGeom prst="roundRect">
            <a:avLst>
              <a:gd name="adj" fmla="val 407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0DEF844-B260-4EFF-8D93-BBC6E7477CEF}"/>
              </a:ext>
            </a:extLst>
          </p:cNvPr>
          <p:cNvSpPr>
            <a:spLocks noGrp="1"/>
          </p:cNvSpPr>
          <p:nvPr/>
        </p:nvSpPr>
        <p:spPr>
          <a:xfrm>
            <a:off x="9486900" y="4724400"/>
            <a:ext cx="77343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Objetivos financeiros-base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AB6D960-AE8D-4E98-852B-AA182B13BFBA}"/>
              </a:ext>
            </a:extLst>
          </p:cNvPr>
          <p:cNvSpPr>
            <a:spLocks noGrp="1"/>
          </p:cNvSpPr>
          <p:nvPr/>
        </p:nvSpPr>
        <p:spPr>
          <a:xfrm>
            <a:off x="9486900" y="518160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Payback estimado em até 18 meses.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FE1ADCB-91EE-43DE-BDBE-86DEAC346CBF}"/>
              </a:ext>
            </a:extLst>
          </p:cNvPr>
          <p:cNvSpPr>
            <a:spLocks noGrp="1"/>
          </p:cNvSpPr>
          <p:nvPr/>
        </p:nvSpPr>
        <p:spPr>
          <a:xfrm>
            <a:off x="9486900" y="5562600"/>
            <a:ext cx="77343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Investimentos acionados conforme evolução de vendas, embora o plano consolide tudo em jul/2026.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33F7B41-BCD1-4F5E-A5FC-BDF279D2E4AD}"/>
              </a:ext>
            </a:extLst>
          </p:cNvPr>
          <p:cNvSpPr>
            <a:spLocks noGrp="1"/>
          </p:cNvSpPr>
          <p:nvPr/>
        </p:nvSpPr>
        <p:spPr>
          <a:xfrm>
            <a:off x="9486900" y="622935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Formação de base recorrente e monetização da infraestrutura instalada.</a:t>
            </a:r>
          </a:p>
        </p:txBody>
      </p:sp>
    </p:spTree>
    <p:extLst>
      <p:ext uri="{BB962C8B-B14F-4D97-AF65-F5344CB8AC3E}">
        <p14:creationId xmlns:p14="http://schemas.microsoft.com/office/powerpoint/2010/main" val="72050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tângulo 75">
            <a:extLst>
              <a:ext uri="{FF2B5EF4-FFF2-40B4-BE49-F238E27FC236}">
                <a16:creationId xmlns:a16="http://schemas.microsoft.com/office/drawing/2014/main" id="{97C1C4D8-245E-42FD-9238-2B20041F28EE}"/>
              </a:ext>
            </a:extLst>
          </p:cNvPr>
          <p:cNvSpPr>
            <a:spLocks noGrp="1"/>
          </p:cNvSpPr>
          <p:nvPr/>
        </p:nvSpPr>
        <p:spPr>
          <a:xfrm>
            <a:off x="742950" y="552450"/>
            <a:ext cx="168021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2. Produtos: ativados e a ativar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07C32CF-14EF-4027-8DA5-6FDDC0C2F9B5}"/>
              </a:ext>
            </a:extLst>
          </p:cNvPr>
          <p:cNvSpPr>
            <a:spLocks noGrp="1"/>
          </p:cNvSpPr>
          <p:nvPr/>
        </p:nvSpPr>
        <p:spPr>
          <a:xfrm>
            <a:off x="742950" y="108585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23F1527-17E4-48E4-A4AE-58C405D86CA0}"/>
              </a:ext>
            </a:extLst>
          </p:cNvPr>
          <p:cNvSpPr>
            <a:spLocks noGrp="1"/>
          </p:cNvSpPr>
          <p:nvPr/>
        </p:nvSpPr>
        <p:spPr>
          <a:xfrm>
            <a:off x="742950" y="1219200"/>
            <a:ext cx="6438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Receita pós ramp-up e margem de contribuição dos produtos já modelados.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C62ED00-7915-4387-A915-E363193E2EB5}"/>
              </a:ext>
            </a:extLst>
          </p:cNvPr>
          <p:cNvSpPr>
            <a:spLocks noGrp="1"/>
          </p:cNvSpPr>
          <p:nvPr/>
        </p:nvSpPr>
        <p:spPr>
          <a:xfrm>
            <a:off x="742950" y="1670685"/>
            <a:ext cx="5943600" cy="802821"/>
          </a:xfrm>
          <a:prstGeom prst="roundRect">
            <a:avLst>
              <a:gd name="adj" fmla="val 1661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7E0AA88-633F-4949-908F-802F4159B193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5676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 dirty="0" err="1">
                <a:solidFill>
                  <a:srgbClr val="FFFFFF"/>
                </a:solidFill>
              </a:rPr>
              <a:t>Produto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5FFE12A-DEAD-437A-B02C-4B9E8FFA35C6}"/>
              </a:ext>
            </a:extLst>
          </p:cNvPr>
          <p:cNvSpPr>
            <a:spLocks noGrp="1"/>
          </p:cNvSpPr>
          <p:nvPr/>
        </p:nvSpPr>
        <p:spPr>
          <a:xfrm>
            <a:off x="6800850" y="1670685"/>
            <a:ext cx="2600325" cy="802821"/>
          </a:xfrm>
          <a:prstGeom prst="roundRect">
            <a:avLst>
              <a:gd name="adj" fmla="val 1661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44147CF-48FE-46AF-A8AC-4DEECBD8CFCB}"/>
              </a:ext>
            </a:extLst>
          </p:cNvPr>
          <p:cNvSpPr>
            <a:spLocks noGrp="1"/>
          </p:cNvSpPr>
          <p:nvPr/>
        </p:nvSpPr>
        <p:spPr>
          <a:xfrm>
            <a:off x="6934200" y="1790700"/>
            <a:ext cx="2324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C6E643B-3DFB-4EE3-9829-C7F3317597B2}"/>
              </a:ext>
            </a:extLst>
          </p:cNvPr>
          <p:cNvSpPr>
            <a:spLocks noGrp="1"/>
          </p:cNvSpPr>
          <p:nvPr/>
        </p:nvSpPr>
        <p:spPr>
          <a:xfrm>
            <a:off x="9515475" y="1670685"/>
            <a:ext cx="3529012" cy="802821"/>
          </a:xfrm>
          <a:prstGeom prst="roundRect">
            <a:avLst>
              <a:gd name="adj" fmla="val 1661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C2E66EE-EB74-4A8F-8997-3091F2BE0D75}"/>
              </a:ext>
            </a:extLst>
          </p:cNvPr>
          <p:cNvSpPr>
            <a:spLocks noGrp="1"/>
          </p:cNvSpPr>
          <p:nvPr/>
        </p:nvSpPr>
        <p:spPr>
          <a:xfrm>
            <a:off x="9658350" y="179070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Faturamento pós ramp-up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0CA18FA-ED00-4E54-A3A6-E9431BC402D1}"/>
              </a:ext>
            </a:extLst>
          </p:cNvPr>
          <p:cNvSpPr>
            <a:spLocks noGrp="1"/>
          </p:cNvSpPr>
          <p:nvPr/>
        </p:nvSpPr>
        <p:spPr>
          <a:xfrm>
            <a:off x="13158788" y="1670685"/>
            <a:ext cx="1671637" cy="802821"/>
          </a:xfrm>
          <a:prstGeom prst="roundRect">
            <a:avLst>
              <a:gd name="adj" fmla="val 1661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DCBDC94-08C1-49FD-92F3-6582B9AEBA73}"/>
              </a:ext>
            </a:extLst>
          </p:cNvPr>
          <p:cNvSpPr>
            <a:spLocks noGrp="1"/>
          </p:cNvSpPr>
          <p:nvPr/>
        </p:nvSpPr>
        <p:spPr>
          <a:xfrm>
            <a:off x="13296900" y="1790700"/>
            <a:ext cx="1409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%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FA0DBEA-B363-4179-A52F-13E4B40C069C}"/>
              </a:ext>
            </a:extLst>
          </p:cNvPr>
          <p:cNvSpPr>
            <a:spLocks noGrp="1"/>
          </p:cNvSpPr>
          <p:nvPr/>
        </p:nvSpPr>
        <p:spPr>
          <a:xfrm>
            <a:off x="14944725" y="1670685"/>
            <a:ext cx="2600325" cy="802821"/>
          </a:xfrm>
          <a:prstGeom prst="roundRect">
            <a:avLst>
              <a:gd name="adj" fmla="val 1661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A78AF9F-659D-45D4-8F91-046817974A41}"/>
              </a:ext>
            </a:extLst>
          </p:cNvPr>
          <p:cNvSpPr>
            <a:spLocks noGrp="1"/>
          </p:cNvSpPr>
          <p:nvPr/>
        </p:nvSpPr>
        <p:spPr>
          <a:xfrm>
            <a:off x="15087600" y="1790700"/>
            <a:ext cx="2324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em R$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A1997B9-D600-4791-8864-B5C17C712A92}"/>
              </a:ext>
            </a:extLst>
          </p:cNvPr>
          <p:cNvSpPr>
            <a:spLocks noGrp="1"/>
          </p:cNvSpPr>
          <p:nvPr/>
        </p:nvSpPr>
        <p:spPr>
          <a:xfrm>
            <a:off x="742950" y="2568756"/>
            <a:ext cx="5943600" cy="802821"/>
          </a:xfrm>
          <a:prstGeom prst="roundRect">
            <a:avLst>
              <a:gd name="adj" fmla="val 1661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B368B34-E030-4778-9605-89C900B9B6C4}"/>
              </a:ext>
            </a:extLst>
          </p:cNvPr>
          <p:cNvSpPr>
            <a:spLocks noGrp="1"/>
          </p:cNvSpPr>
          <p:nvPr/>
        </p:nvSpPr>
        <p:spPr>
          <a:xfrm>
            <a:off x="876300" y="2686050"/>
            <a:ext cx="5676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Kit / equipamento principal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33438F3-A452-4D15-9BE8-1589BEE7966A}"/>
              </a:ext>
            </a:extLst>
          </p:cNvPr>
          <p:cNvSpPr>
            <a:spLocks noGrp="1"/>
          </p:cNvSpPr>
          <p:nvPr/>
        </p:nvSpPr>
        <p:spPr>
          <a:xfrm>
            <a:off x="6800850" y="2568756"/>
            <a:ext cx="2600325" cy="802821"/>
          </a:xfrm>
          <a:prstGeom prst="roundRect">
            <a:avLst>
              <a:gd name="adj" fmla="val 1661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6C0FEAB-88F9-4E8B-82EF-0F8D742ABD78}"/>
              </a:ext>
            </a:extLst>
          </p:cNvPr>
          <p:cNvSpPr>
            <a:spLocks noGrp="1"/>
          </p:cNvSpPr>
          <p:nvPr/>
        </p:nvSpPr>
        <p:spPr>
          <a:xfrm>
            <a:off x="6934200" y="2686050"/>
            <a:ext cx="2324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059669"/>
                </a:solidFill>
              </a:defRPr>
            </a:pPr>
            <a:r>
              <a:rPr sz="1425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E877FDA-DFDE-4CDC-8DC4-3385B4A2309F}"/>
              </a:ext>
            </a:extLst>
          </p:cNvPr>
          <p:cNvSpPr>
            <a:spLocks noGrp="1"/>
          </p:cNvSpPr>
          <p:nvPr/>
        </p:nvSpPr>
        <p:spPr>
          <a:xfrm>
            <a:off x="9515475" y="2568756"/>
            <a:ext cx="3529012" cy="802821"/>
          </a:xfrm>
          <a:prstGeom prst="roundRect">
            <a:avLst>
              <a:gd name="adj" fmla="val 1661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0B54C62-ECEC-44E0-A32B-E532461AF0B4}"/>
              </a:ext>
            </a:extLst>
          </p:cNvPr>
          <p:cNvSpPr>
            <a:spLocks noGrp="1"/>
          </p:cNvSpPr>
          <p:nvPr/>
        </p:nvSpPr>
        <p:spPr>
          <a:xfrm>
            <a:off x="9658350" y="26860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R$ 24.000.000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A100042-B043-4C02-923A-BB149524C89B}"/>
              </a:ext>
            </a:extLst>
          </p:cNvPr>
          <p:cNvSpPr>
            <a:spLocks noGrp="1"/>
          </p:cNvSpPr>
          <p:nvPr/>
        </p:nvSpPr>
        <p:spPr>
          <a:xfrm>
            <a:off x="13158788" y="2568756"/>
            <a:ext cx="1671637" cy="802821"/>
          </a:xfrm>
          <a:prstGeom prst="roundRect">
            <a:avLst>
              <a:gd name="adj" fmla="val 1661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3351A36-08F8-4286-95F9-58BC653387AB}"/>
              </a:ext>
            </a:extLst>
          </p:cNvPr>
          <p:cNvSpPr>
            <a:spLocks noGrp="1"/>
          </p:cNvSpPr>
          <p:nvPr/>
        </p:nvSpPr>
        <p:spPr>
          <a:xfrm>
            <a:off x="13296900" y="2686050"/>
            <a:ext cx="1409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33,4%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AC2F1FE9-BC00-4C86-8951-009055A787D1}"/>
              </a:ext>
            </a:extLst>
          </p:cNvPr>
          <p:cNvSpPr>
            <a:spLocks noGrp="1"/>
          </p:cNvSpPr>
          <p:nvPr/>
        </p:nvSpPr>
        <p:spPr>
          <a:xfrm>
            <a:off x="14944725" y="2568756"/>
            <a:ext cx="2600325" cy="802821"/>
          </a:xfrm>
          <a:prstGeom prst="roundRect">
            <a:avLst>
              <a:gd name="adj" fmla="val 1661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F3CA147-2AE8-45B2-8B94-E9B001C6FBB9}"/>
              </a:ext>
            </a:extLst>
          </p:cNvPr>
          <p:cNvSpPr>
            <a:spLocks noGrp="1"/>
          </p:cNvSpPr>
          <p:nvPr/>
        </p:nvSpPr>
        <p:spPr>
          <a:xfrm>
            <a:off x="15087600" y="2686050"/>
            <a:ext cx="2324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R$ 26.736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F9E936C1-09A3-41ED-9D45-623EB88FEDF3}"/>
              </a:ext>
            </a:extLst>
          </p:cNvPr>
          <p:cNvSpPr>
            <a:spLocks noGrp="1"/>
          </p:cNvSpPr>
          <p:nvPr/>
        </p:nvSpPr>
        <p:spPr>
          <a:xfrm>
            <a:off x="742950" y="3466828"/>
            <a:ext cx="5943600" cy="802821"/>
          </a:xfrm>
          <a:prstGeom prst="roundRect">
            <a:avLst>
              <a:gd name="adj" fmla="val 1661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9CB6F88C-9B86-4E79-B87D-D780B17364AE}"/>
              </a:ext>
            </a:extLst>
          </p:cNvPr>
          <p:cNvSpPr>
            <a:spLocks noGrp="1"/>
          </p:cNvSpPr>
          <p:nvPr/>
        </p:nvSpPr>
        <p:spPr>
          <a:xfrm>
            <a:off x="876300" y="3581400"/>
            <a:ext cx="5676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Implantação / instalação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4D92E102-3E5B-4568-9305-5A815ABE8D61}"/>
              </a:ext>
            </a:extLst>
          </p:cNvPr>
          <p:cNvSpPr>
            <a:spLocks noGrp="1"/>
          </p:cNvSpPr>
          <p:nvPr/>
        </p:nvSpPr>
        <p:spPr>
          <a:xfrm>
            <a:off x="6800850" y="3466828"/>
            <a:ext cx="2600325" cy="802821"/>
          </a:xfrm>
          <a:prstGeom prst="roundRect">
            <a:avLst>
              <a:gd name="adj" fmla="val 1661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BFE2CFE3-824B-4076-BD53-8D963C36CEE0}"/>
              </a:ext>
            </a:extLst>
          </p:cNvPr>
          <p:cNvSpPr>
            <a:spLocks noGrp="1"/>
          </p:cNvSpPr>
          <p:nvPr/>
        </p:nvSpPr>
        <p:spPr>
          <a:xfrm>
            <a:off x="6934200" y="3581400"/>
            <a:ext cx="2324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059669"/>
                </a:solidFill>
              </a:defRPr>
            </a:pPr>
            <a:r>
              <a:rPr sz="1425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D83F58CC-B5EB-457F-9CEF-49F9A0A6CCB4}"/>
              </a:ext>
            </a:extLst>
          </p:cNvPr>
          <p:cNvSpPr>
            <a:spLocks noGrp="1"/>
          </p:cNvSpPr>
          <p:nvPr/>
        </p:nvSpPr>
        <p:spPr>
          <a:xfrm>
            <a:off x="9515475" y="3466828"/>
            <a:ext cx="3529012" cy="802821"/>
          </a:xfrm>
          <a:prstGeom prst="roundRect">
            <a:avLst>
              <a:gd name="adj" fmla="val 1661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D66D95F-DCFD-4075-A231-E028E83447D3}"/>
              </a:ext>
            </a:extLst>
          </p:cNvPr>
          <p:cNvSpPr>
            <a:spLocks noGrp="1"/>
          </p:cNvSpPr>
          <p:nvPr/>
        </p:nvSpPr>
        <p:spPr>
          <a:xfrm>
            <a:off x="9658350" y="358140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R$ 12.000.000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BC3CC04D-7FD3-4C08-A7AF-45C8AE123DF7}"/>
              </a:ext>
            </a:extLst>
          </p:cNvPr>
          <p:cNvSpPr>
            <a:spLocks noGrp="1"/>
          </p:cNvSpPr>
          <p:nvPr/>
        </p:nvSpPr>
        <p:spPr>
          <a:xfrm>
            <a:off x="13158788" y="3466828"/>
            <a:ext cx="1671637" cy="802821"/>
          </a:xfrm>
          <a:prstGeom prst="roundRect">
            <a:avLst>
              <a:gd name="adj" fmla="val 1661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8CF13802-CE6D-4C72-9483-96C7422C0619}"/>
              </a:ext>
            </a:extLst>
          </p:cNvPr>
          <p:cNvSpPr>
            <a:spLocks noGrp="1"/>
          </p:cNvSpPr>
          <p:nvPr/>
        </p:nvSpPr>
        <p:spPr>
          <a:xfrm>
            <a:off x="13296900" y="3581400"/>
            <a:ext cx="1409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35,3%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FF27D633-D84A-4287-8CF5-B0CBFF0A0C49}"/>
              </a:ext>
            </a:extLst>
          </p:cNvPr>
          <p:cNvSpPr>
            <a:spLocks noGrp="1"/>
          </p:cNvSpPr>
          <p:nvPr/>
        </p:nvSpPr>
        <p:spPr>
          <a:xfrm>
            <a:off x="14944725" y="3466828"/>
            <a:ext cx="2600325" cy="802821"/>
          </a:xfrm>
          <a:prstGeom prst="roundRect">
            <a:avLst>
              <a:gd name="adj" fmla="val 1661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9DEBE69F-376F-4BF6-A3BC-F067FCE7F6AA}"/>
              </a:ext>
            </a:extLst>
          </p:cNvPr>
          <p:cNvSpPr>
            <a:spLocks noGrp="1"/>
          </p:cNvSpPr>
          <p:nvPr/>
        </p:nvSpPr>
        <p:spPr>
          <a:xfrm>
            <a:off x="15087600" y="3581400"/>
            <a:ext cx="2324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R$ 14.120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74DD19AC-02AB-40A0-93FD-C286580F97E0}"/>
              </a:ext>
            </a:extLst>
          </p:cNvPr>
          <p:cNvSpPr>
            <a:spLocks noGrp="1"/>
          </p:cNvSpPr>
          <p:nvPr/>
        </p:nvSpPr>
        <p:spPr>
          <a:xfrm>
            <a:off x="742950" y="4364899"/>
            <a:ext cx="5943600" cy="802821"/>
          </a:xfrm>
          <a:prstGeom prst="roundRect">
            <a:avLst>
              <a:gd name="adj" fmla="val 1661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E6601B1-B18A-44F5-B249-D4ECB5C8ED3C}"/>
              </a:ext>
            </a:extLst>
          </p:cNvPr>
          <p:cNvSpPr>
            <a:spLocks noGrp="1"/>
          </p:cNvSpPr>
          <p:nvPr/>
        </p:nvSpPr>
        <p:spPr>
          <a:xfrm>
            <a:off x="876300" y="4476750"/>
            <a:ext cx="5676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Software de gestão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D30D3549-134A-4EEF-90FE-1ED6B6A431B0}"/>
              </a:ext>
            </a:extLst>
          </p:cNvPr>
          <p:cNvSpPr>
            <a:spLocks noGrp="1"/>
          </p:cNvSpPr>
          <p:nvPr/>
        </p:nvSpPr>
        <p:spPr>
          <a:xfrm>
            <a:off x="6800850" y="4364899"/>
            <a:ext cx="2600325" cy="802821"/>
          </a:xfrm>
          <a:prstGeom prst="roundRect">
            <a:avLst>
              <a:gd name="adj" fmla="val 1661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A1FE369F-6E8F-41CC-8A9F-A47D50FAD02A}"/>
              </a:ext>
            </a:extLst>
          </p:cNvPr>
          <p:cNvSpPr>
            <a:spLocks noGrp="1"/>
          </p:cNvSpPr>
          <p:nvPr/>
        </p:nvSpPr>
        <p:spPr>
          <a:xfrm>
            <a:off x="6934200" y="4476750"/>
            <a:ext cx="2324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059669"/>
                </a:solidFill>
              </a:defRPr>
            </a:pPr>
            <a:r>
              <a:rPr sz="1425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61112AA7-1196-4D11-9F74-68777517C974}"/>
              </a:ext>
            </a:extLst>
          </p:cNvPr>
          <p:cNvSpPr>
            <a:spLocks noGrp="1"/>
          </p:cNvSpPr>
          <p:nvPr/>
        </p:nvSpPr>
        <p:spPr>
          <a:xfrm>
            <a:off x="9515475" y="4364899"/>
            <a:ext cx="3529012" cy="802821"/>
          </a:xfrm>
          <a:prstGeom prst="roundRect">
            <a:avLst>
              <a:gd name="adj" fmla="val 1661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01FADBC9-6EF9-400F-AAF5-D28ECCE063DE}"/>
              </a:ext>
            </a:extLst>
          </p:cNvPr>
          <p:cNvSpPr>
            <a:spLocks noGrp="1"/>
          </p:cNvSpPr>
          <p:nvPr/>
        </p:nvSpPr>
        <p:spPr>
          <a:xfrm>
            <a:off x="9658350" y="44767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R$ 6.400.000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0258C9B3-C2D1-4A9B-8A7C-96DC8F5EB83E}"/>
              </a:ext>
            </a:extLst>
          </p:cNvPr>
          <p:cNvSpPr>
            <a:spLocks noGrp="1"/>
          </p:cNvSpPr>
          <p:nvPr/>
        </p:nvSpPr>
        <p:spPr>
          <a:xfrm>
            <a:off x="13158788" y="4364899"/>
            <a:ext cx="1671637" cy="802821"/>
          </a:xfrm>
          <a:prstGeom prst="roundRect">
            <a:avLst>
              <a:gd name="adj" fmla="val 1661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9D494A79-230D-4C96-9DE2-32AFA12CC786}"/>
              </a:ext>
            </a:extLst>
          </p:cNvPr>
          <p:cNvSpPr>
            <a:spLocks noGrp="1"/>
          </p:cNvSpPr>
          <p:nvPr/>
        </p:nvSpPr>
        <p:spPr>
          <a:xfrm>
            <a:off x="13296900" y="4476750"/>
            <a:ext cx="1409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70,0%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9596A8AE-2527-4641-B42F-FCE20CF1AB5C}"/>
              </a:ext>
            </a:extLst>
          </p:cNvPr>
          <p:cNvSpPr>
            <a:spLocks noGrp="1"/>
          </p:cNvSpPr>
          <p:nvPr/>
        </p:nvSpPr>
        <p:spPr>
          <a:xfrm>
            <a:off x="14944725" y="4364899"/>
            <a:ext cx="2600325" cy="802821"/>
          </a:xfrm>
          <a:prstGeom prst="roundRect">
            <a:avLst>
              <a:gd name="adj" fmla="val 1661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AD5A964E-3DEF-4BE1-89A2-FD12128256EA}"/>
              </a:ext>
            </a:extLst>
          </p:cNvPr>
          <p:cNvSpPr>
            <a:spLocks noGrp="1"/>
          </p:cNvSpPr>
          <p:nvPr/>
        </p:nvSpPr>
        <p:spPr>
          <a:xfrm>
            <a:off x="15087600" y="4476750"/>
            <a:ext cx="2324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R$ 1.120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49185C7A-9BC8-4F30-9ABF-1F6C81D382BA}"/>
              </a:ext>
            </a:extLst>
          </p:cNvPr>
          <p:cNvSpPr>
            <a:spLocks noGrp="1"/>
          </p:cNvSpPr>
          <p:nvPr/>
        </p:nvSpPr>
        <p:spPr>
          <a:xfrm>
            <a:off x="742950" y="5262971"/>
            <a:ext cx="5943600" cy="802821"/>
          </a:xfrm>
          <a:prstGeom prst="roundRect">
            <a:avLst>
              <a:gd name="adj" fmla="val 1661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2B40CE11-45DF-42D0-A7AE-784AE64113E4}"/>
              </a:ext>
            </a:extLst>
          </p:cNvPr>
          <p:cNvSpPr>
            <a:spLocks noGrp="1"/>
          </p:cNvSpPr>
          <p:nvPr/>
        </p:nvSpPr>
        <p:spPr>
          <a:xfrm>
            <a:off x="876300" y="5372100"/>
            <a:ext cx="5676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Estudo de viabilidade / assessoria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569EB04F-B794-412A-97E4-B8E74B73E377}"/>
              </a:ext>
            </a:extLst>
          </p:cNvPr>
          <p:cNvSpPr>
            <a:spLocks noGrp="1"/>
          </p:cNvSpPr>
          <p:nvPr/>
        </p:nvSpPr>
        <p:spPr>
          <a:xfrm>
            <a:off x="6800850" y="5262971"/>
            <a:ext cx="2600325" cy="802821"/>
          </a:xfrm>
          <a:prstGeom prst="roundRect">
            <a:avLst>
              <a:gd name="adj" fmla="val 1661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37F8EB93-3343-48C6-B962-E4D010BE9439}"/>
              </a:ext>
            </a:extLst>
          </p:cNvPr>
          <p:cNvSpPr>
            <a:spLocks noGrp="1"/>
          </p:cNvSpPr>
          <p:nvPr/>
        </p:nvSpPr>
        <p:spPr>
          <a:xfrm>
            <a:off x="6934200" y="5372100"/>
            <a:ext cx="2324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D97706"/>
                </a:solidFill>
              </a:defRPr>
            </a:pPr>
            <a:r>
              <a:rPr sz="1425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85B5B7C4-0FFA-4077-9D4D-0206DF9FFB84}"/>
              </a:ext>
            </a:extLst>
          </p:cNvPr>
          <p:cNvSpPr>
            <a:spLocks noGrp="1"/>
          </p:cNvSpPr>
          <p:nvPr/>
        </p:nvSpPr>
        <p:spPr>
          <a:xfrm>
            <a:off x="9515475" y="5262971"/>
            <a:ext cx="3529012" cy="802821"/>
          </a:xfrm>
          <a:prstGeom prst="roundRect">
            <a:avLst>
              <a:gd name="adj" fmla="val 1661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10D93B00-5760-4AD3-AD55-005603E0F2F9}"/>
              </a:ext>
            </a:extLst>
          </p:cNvPr>
          <p:cNvSpPr>
            <a:spLocks noGrp="1"/>
          </p:cNvSpPr>
          <p:nvPr/>
        </p:nvSpPr>
        <p:spPr>
          <a:xfrm>
            <a:off x="9658350" y="537210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A estruturar</a:t>
            </a: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355FB110-01C5-4AAE-9A7F-DD19F768B1F0}"/>
              </a:ext>
            </a:extLst>
          </p:cNvPr>
          <p:cNvSpPr>
            <a:spLocks noGrp="1"/>
          </p:cNvSpPr>
          <p:nvPr/>
        </p:nvSpPr>
        <p:spPr>
          <a:xfrm>
            <a:off x="13158788" y="5262971"/>
            <a:ext cx="1671637" cy="802821"/>
          </a:xfrm>
          <a:prstGeom prst="roundRect">
            <a:avLst>
              <a:gd name="adj" fmla="val 1661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097503BD-06E0-4B50-B940-B5DAE39B3BB0}"/>
              </a:ext>
            </a:extLst>
          </p:cNvPr>
          <p:cNvSpPr>
            <a:spLocks noGrp="1"/>
          </p:cNvSpPr>
          <p:nvPr/>
        </p:nvSpPr>
        <p:spPr>
          <a:xfrm>
            <a:off x="13296900" y="5372100"/>
            <a:ext cx="1409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-</a:t>
            </a: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DBA29781-9D6F-41C6-B03A-7DD986AF76AA}"/>
              </a:ext>
            </a:extLst>
          </p:cNvPr>
          <p:cNvSpPr>
            <a:spLocks noGrp="1"/>
          </p:cNvSpPr>
          <p:nvPr/>
        </p:nvSpPr>
        <p:spPr>
          <a:xfrm>
            <a:off x="14944725" y="5262971"/>
            <a:ext cx="2600325" cy="802821"/>
          </a:xfrm>
          <a:prstGeom prst="roundRect">
            <a:avLst>
              <a:gd name="adj" fmla="val 1661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C8ABCD9B-70A2-45DF-AC6C-36F083D3DB99}"/>
              </a:ext>
            </a:extLst>
          </p:cNvPr>
          <p:cNvSpPr>
            <a:spLocks noGrp="1"/>
          </p:cNvSpPr>
          <p:nvPr/>
        </p:nvSpPr>
        <p:spPr>
          <a:xfrm>
            <a:off x="15087600" y="5372100"/>
            <a:ext cx="2324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-</a:t>
            </a:r>
          </a:p>
        </p:txBody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FE36980C-6F8E-4646-8B8A-FD45F664B56A}"/>
              </a:ext>
            </a:extLst>
          </p:cNvPr>
          <p:cNvSpPr>
            <a:spLocks noGrp="1"/>
          </p:cNvSpPr>
          <p:nvPr/>
        </p:nvSpPr>
        <p:spPr>
          <a:xfrm>
            <a:off x="742950" y="6161042"/>
            <a:ext cx="5943600" cy="802821"/>
          </a:xfrm>
          <a:prstGeom prst="roundRect">
            <a:avLst>
              <a:gd name="adj" fmla="val 1661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51937EAA-2098-49CC-9EA8-990B11DB0C05}"/>
              </a:ext>
            </a:extLst>
          </p:cNvPr>
          <p:cNvSpPr>
            <a:spLocks noGrp="1"/>
          </p:cNvSpPr>
          <p:nvPr/>
        </p:nvSpPr>
        <p:spPr>
          <a:xfrm>
            <a:off x="876300" y="6267450"/>
            <a:ext cx="5676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Peças e upgrades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7D2EBEBD-7ED2-423B-B543-BE9A88509284}"/>
              </a:ext>
            </a:extLst>
          </p:cNvPr>
          <p:cNvSpPr>
            <a:spLocks noGrp="1"/>
          </p:cNvSpPr>
          <p:nvPr/>
        </p:nvSpPr>
        <p:spPr>
          <a:xfrm>
            <a:off x="6800850" y="6161042"/>
            <a:ext cx="2600325" cy="802821"/>
          </a:xfrm>
          <a:prstGeom prst="roundRect">
            <a:avLst>
              <a:gd name="adj" fmla="val 1661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A882D0C1-6734-47F5-A7DD-D8269AB8D6B8}"/>
              </a:ext>
            </a:extLst>
          </p:cNvPr>
          <p:cNvSpPr>
            <a:spLocks noGrp="1"/>
          </p:cNvSpPr>
          <p:nvPr/>
        </p:nvSpPr>
        <p:spPr>
          <a:xfrm>
            <a:off x="6934200" y="6267450"/>
            <a:ext cx="2324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D97706"/>
                </a:solidFill>
              </a:defRPr>
            </a:pPr>
            <a:r>
              <a:rPr sz="1425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14D4BDFC-CCC5-4CC0-B7ED-69BF126BF786}"/>
              </a:ext>
            </a:extLst>
          </p:cNvPr>
          <p:cNvSpPr>
            <a:spLocks noGrp="1"/>
          </p:cNvSpPr>
          <p:nvPr/>
        </p:nvSpPr>
        <p:spPr>
          <a:xfrm>
            <a:off x="9515475" y="6161042"/>
            <a:ext cx="3529012" cy="802821"/>
          </a:xfrm>
          <a:prstGeom prst="roundRect">
            <a:avLst>
              <a:gd name="adj" fmla="val 1661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61BB6EB6-43FF-410D-B58A-69ECD7AA7CE4}"/>
              </a:ext>
            </a:extLst>
          </p:cNvPr>
          <p:cNvSpPr>
            <a:spLocks noGrp="1"/>
          </p:cNvSpPr>
          <p:nvPr/>
        </p:nvSpPr>
        <p:spPr>
          <a:xfrm>
            <a:off x="9658350" y="62674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A estruturar</a:t>
            </a: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D1D5CC3D-AD88-42A3-840B-699D6340AD32}"/>
              </a:ext>
            </a:extLst>
          </p:cNvPr>
          <p:cNvSpPr>
            <a:spLocks noGrp="1"/>
          </p:cNvSpPr>
          <p:nvPr/>
        </p:nvSpPr>
        <p:spPr>
          <a:xfrm>
            <a:off x="13158788" y="6161042"/>
            <a:ext cx="1671637" cy="802821"/>
          </a:xfrm>
          <a:prstGeom prst="roundRect">
            <a:avLst>
              <a:gd name="adj" fmla="val 1661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E995665B-484B-46E6-A90A-2059EB6B3EDD}"/>
              </a:ext>
            </a:extLst>
          </p:cNvPr>
          <p:cNvSpPr>
            <a:spLocks noGrp="1"/>
          </p:cNvSpPr>
          <p:nvPr/>
        </p:nvSpPr>
        <p:spPr>
          <a:xfrm>
            <a:off x="13296900" y="6267450"/>
            <a:ext cx="1409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-</a:t>
            </a: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A31D72E3-6364-41C3-A8FA-A067167407D0}"/>
              </a:ext>
            </a:extLst>
          </p:cNvPr>
          <p:cNvSpPr>
            <a:spLocks noGrp="1"/>
          </p:cNvSpPr>
          <p:nvPr/>
        </p:nvSpPr>
        <p:spPr>
          <a:xfrm>
            <a:off x="14944725" y="6161042"/>
            <a:ext cx="2600325" cy="802821"/>
          </a:xfrm>
          <a:prstGeom prst="roundRect">
            <a:avLst>
              <a:gd name="adj" fmla="val 1661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82E01C5C-2D9D-4FB3-AD5D-C925D35D0A00}"/>
              </a:ext>
            </a:extLst>
          </p:cNvPr>
          <p:cNvSpPr>
            <a:spLocks noGrp="1"/>
          </p:cNvSpPr>
          <p:nvPr/>
        </p:nvSpPr>
        <p:spPr>
          <a:xfrm>
            <a:off x="15087600" y="6267450"/>
            <a:ext cx="2324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-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86CB9DAB-F169-46C8-894E-8F39A3A5B6A3}"/>
              </a:ext>
            </a:extLst>
          </p:cNvPr>
          <p:cNvSpPr>
            <a:spLocks noGrp="1"/>
          </p:cNvSpPr>
          <p:nvPr/>
        </p:nvSpPr>
        <p:spPr>
          <a:xfrm>
            <a:off x="742950" y="7059114"/>
            <a:ext cx="5943600" cy="802821"/>
          </a:xfrm>
          <a:prstGeom prst="roundRect">
            <a:avLst>
              <a:gd name="adj" fmla="val 1661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DC7B6F87-92D3-4FFA-8444-C0BF9120F400}"/>
              </a:ext>
            </a:extLst>
          </p:cNvPr>
          <p:cNvSpPr>
            <a:spLocks noGrp="1"/>
          </p:cNvSpPr>
          <p:nvPr/>
        </p:nvSpPr>
        <p:spPr>
          <a:xfrm>
            <a:off x="876300" y="7181850"/>
            <a:ext cx="5676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Manutenção especializada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742957FA-D1F2-4098-95E4-4DB4AD789908}"/>
              </a:ext>
            </a:extLst>
          </p:cNvPr>
          <p:cNvSpPr>
            <a:spLocks noGrp="1"/>
          </p:cNvSpPr>
          <p:nvPr/>
        </p:nvSpPr>
        <p:spPr>
          <a:xfrm>
            <a:off x="6800850" y="7059114"/>
            <a:ext cx="2600325" cy="802821"/>
          </a:xfrm>
          <a:prstGeom prst="roundRect">
            <a:avLst>
              <a:gd name="adj" fmla="val 1661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85FDD402-8271-4CA7-97ED-0DA97DD49D51}"/>
              </a:ext>
            </a:extLst>
          </p:cNvPr>
          <p:cNvSpPr>
            <a:spLocks noGrp="1"/>
          </p:cNvSpPr>
          <p:nvPr/>
        </p:nvSpPr>
        <p:spPr>
          <a:xfrm>
            <a:off x="6934200" y="7181850"/>
            <a:ext cx="2324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D97706"/>
                </a:solidFill>
              </a:defRPr>
            </a:pPr>
            <a:r>
              <a:rPr sz="1425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3FD7EFB9-E2AF-4DB0-ACCB-F4F52FBB408C}"/>
              </a:ext>
            </a:extLst>
          </p:cNvPr>
          <p:cNvSpPr>
            <a:spLocks noGrp="1"/>
          </p:cNvSpPr>
          <p:nvPr/>
        </p:nvSpPr>
        <p:spPr>
          <a:xfrm>
            <a:off x="9515475" y="7059114"/>
            <a:ext cx="3529012" cy="802821"/>
          </a:xfrm>
          <a:prstGeom prst="roundRect">
            <a:avLst>
              <a:gd name="adj" fmla="val 1661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785A31A6-932A-4D99-A137-F33D5FA4C761}"/>
              </a:ext>
            </a:extLst>
          </p:cNvPr>
          <p:cNvSpPr>
            <a:spLocks noGrp="1"/>
          </p:cNvSpPr>
          <p:nvPr/>
        </p:nvSpPr>
        <p:spPr>
          <a:xfrm>
            <a:off x="9658350" y="7181850"/>
            <a:ext cx="3257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A estruturar</a:t>
            </a:r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91F73DD2-484D-42F2-BAFF-3BB1E8C9CDAC}"/>
              </a:ext>
            </a:extLst>
          </p:cNvPr>
          <p:cNvSpPr>
            <a:spLocks noGrp="1"/>
          </p:cNvSpPr>
          <p:nvPr/>
        </p:nvSpPr>
        <p:spPr>
          <a:xfrm>
            <a:off x="13158788" y="7059114"/>
            <a:ext cx="1671637" cy="802821"/>
          </a:xfrm>
          <a:prstGeom prst="roundRect">
            <a:avLst>
              <a:gd name="adj" fmla="val 1661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16171FE0-6990-4F78-8C2C-2BBD1CE78C47}"/>
              </a:ext>
            </a:extLst>
          </p:cNvPr>
          <p:cNvSpPr>
            <a:spLocks noGrp="1"/>
          </p:cNvSpPr>
          <p:nvPr/>
        </p:nvSpPr>
        <p:spPr>
          <a:xfrm>
            <a:off x="13296900" y="7181850"/>
            <a:ext cx="1409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-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FBC120B4-63F7-4DBB-AC6C-C53F9B448D2A}"/>
              </a:ext>
            </a:extLst>
          </p:cNvPr>
          <p:cNvSpPr>
            <a:spLocks noGrp="1"/>
          </p:cNvSpPr>
          <p:nvPr/>
        </p:nvSpPr>
        <p:spPr>
          <a:xfrm>
            <a:off x="14944725" y="7059114"/>
            <a:ext cx="2600325" cy="802821"/>
          </a:xfrm>
          <a:prstGeom prst="roundRect">
            <a:avLst>
              <a:gd name="adj" fmla="val 1661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98D2FFA4-C76B-4B28-B533-1985FB17479B}"/>
              </a:ext>
            </a:extLst>
          </p:cNvPr>
          <p:cNvSpPr>
            <a:spLocks noGrp="1"/>
          </p:cNvSpPr>
          <p:nvPr/>
        </p:nvSpPr>
        <p:spPr>
          <a:xfrm>
            <a:off x="15087600" y="7181850"/>
            <a:ext cx="2324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-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E68034CB-A160-498A-AD19-9C132EACC218}"/>
              </a:ext>
            </a:extLst>
          </p:cNvPr>
          <p:cNvSpPr>
            <a:spLocks noGrp="1"/>
          </p:cNvSpPr>
          <p:nvPr/>
        </p:nvSpPr>
        <p:spPr>
          <a:xfrm>
            <a:off x="742950" y="8071485"/>
            <a:ext cx="16802100" cy="891540"/>
          </a:xfrm>
          <a:prstGeom prst="roundRect">
            <a:avLst>
              <a:gd name="adj" fmla="val 21368"/>
            </a:avLst>
          </a:prstGeom>
          <a:solidFill>
            <a:srgbClr val="ECFDF5"/>
          </a:solidFill>
        </p:spPr>
        <p:txBody>
          <a:bodyPr/>
          <a:lstStyle/>
          <a:p>
            <a:endParaRPr lang="pt-BR"/>
          </a:p>
        </p:txBody>
      </p:sp>
      <p:sp>
        <p:nvSpPr>
          <p:cNvPr id="75" name="Retângulo 74">
            <a:extLst>
              <a:ext uri="{FF2B5EF4-FFF2-40B4-BE49-F238E27FC236}">
                <a16:creationId xmlns:a16="http://schemas.microsoft.com/office/drawing/2014/main" id="{35CCB7EC-6B25-4954-A849-D372D293A6AA}"/>
              </a:ext>
            </a:extLst>
          </p:cNvPr>
          <p:cNvSpPr>
            <a:spLocks noGrp="1"/>
          </p:cNvSpPr>
          <p:nvPr/>
        </p:nvSpPr>
        <p:spPr>
          <a:xfrm>
            <a:off x="914400" y="8248650"/>
            <a:ext cx="16459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65F46"/>
                </a:solidFill>
              </a:defRPr>
            </a:pPr>
            <a:r>
              <a:rPr sz="1800" b="1">
                <a:solidFill>
                  <a:srgbClr val="065F46"/>
                </a:solidFill>
              </a:rPr>
              <a:t>Leitura de investidores: o faturamento anual pós ramp-up hoje modelado soma R$ 42,4 milhões. Os produtos a ativar podem ampliar receita, margem, recorrência e defesa competitiva.</a:t>
            </a:r>
          </a:p>
        </p:txBody>
      </p:sp>
    </p:spTree>
    <p:extLst>
      <p:ext uri="{BB962C8B-B14F-4D97-AF65-F5344CB8AC3E}">
        <p14:creationId xmlns:p14="http://schemas.microsoft.com/office/powerpoint/2010/main" val="657280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93E1FA2B-B455-4907-ACD2-986AE9E15D45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3. Demanda do mercado / market share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BF74F63-5D5B-427F-A92C-B0E5543B8D09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56508ED-EA73-439D-AF41-4E90209FE3DA}"/>
              </a:ext>
            </a:extLst>
          </p:cNvPr>
          <p:cNvSpPr>
            <a:spLocks noGrp="1"/>
          </p:cNvSpPr>
          <p:nvPr/>
        </p:nvSpPr>
        <p:spPr>
          <a:xfrm>
            <a:off x="838200" y="1784985"/>
            <a:ext cx="5397500" cy="2095500"/>
          </a:xfrm>
          <a:prstGeom prst="roundRect">
            <a:avLst>
              <a:gd name="adj" fmla="val 10000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F4CD103-8783-479A-8CF7-E7F294035FCC}"/>
              </a:ext>
            </a:extLst>
          </p:cNvPr>
          <p:cNvSpPr>
            <a:spLocks noGrp="1"/>
          </p:cNvSpPr>
          <p:nvPr/>
        </p:nvSpPr>
        <p:spPr>
          <a:xfrm>
            <a:off x="1047750" y="200025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Mercado endereçável proxy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F296B56-34D4-4DAD-9357-636FD473E511}"/>
              </a:ext>
            </a:extLst>
          </p:cNvPr>
          <p:cNvSpPr>
            <a:spLocks noGrp="1"/>
          </p:cNvSpPr>
          <p:nvPr/>
        </p:nvSpPr>
        <p:spPr>
          <a:xfrm>
            <a:off x="1047750" y="2324100"/>
            <a:ext cx="4972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R$ 280.005.000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81189FB-04CB-46D5-A794-3637C3BFEE5B}"/>
              </a:ext>
            </a:extLst>
          </p:cNvPr>
          <p:cNvSpPr>
            <a:spLocks noGrp="1"/>
          </p:cNvSpPr>
          <p:nvPr/>
        </p:nvSpPr>
        <p:spPr>
          <a:xfrm>
            <a:off x="6445250" y="1784985"/>
            <a:ext cx="5397500" cy="2095500"/>
          </a:xfrm>
          <a:prstGeom prst="roundRect">
            <a:avLst>
              <a:gd name="adj" fmla="val 10000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35A32E7-4C06-4655-A07B-4BFDF89562FF}"/>
              </a:ext>
            </a:extLst>
          </p:cNvPr>
          <p:cNvSpPr>
            <a:spLocks noGrp="1"/>
          </p:cNvSpPr>
          <p:nvPr/>
        </p:nvSpPr>
        <p:spPr>
          <a:xfrm>
            <a:off x="6648450" y="200025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Receita anual do plano em regime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CF059FD-B465-409D-98AC-96BC22BFD78B}"/>
              </a:ext>
            </a:extLst>
          </p:cNvPr>
          <p:cNvSpPr>
            <a:spLocks noGrp="1"/>
          </p:cNvSpPr>
          <p:nvPr/>
        </p:nvSpPr>
        <p:spPr>
          <a:xfrm>
            <a:off x="6648450" y="2324100"/>
            <a:ext cx="4972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R$ 42.400.000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E4AC17C-8983-4A19-89C1-5CCD73091E78}"/>
              </a:ext>
            </a:extLst>
          </p:cNvPr>
          <p:cNvSpPr>
            <a:spLocks noGrp="1"/>
          </p:cNvSpPr>
          <p:nvPr/>
        </p:nvSpPr>
        <p:spPr>
          <a:xfrm>
            <a:off x="12052300" y="1784985"/>
            <a:ext cx="5397500" cy="20955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FF192ED-C9C5-4F57-A325-EB1CF41E17A2}"/>
              </a:ext>
            </a:extLst>
          </p:cNvPr>
          <p:cNvSpPr>
            <a:spLocks noGrp="1"/>
          </p:cNvSpPr>
          <p:nvPr/>
        </p:nvSpPr>
        <p:spPr>
          <a:xfrm>
            <a:off x="12268200" y="200025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Share-alvo por receita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7ED1964-DB7C-47C0-866C-4C03CFADF87C}"/>
              </a:ext>
            </a:extLst>
          </p:cNvPr>
          <p:cNvSpPr>
            <a:spLocks noGrp="1"/>
          </p:cNvSpPr>
          <p:nvPr/>
        </p:nvSpPr>
        <p:spPr>
          <a:xfrm>
            <a:off x="12268200" y="2324100"/>
            <a:ext cx="4972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15,1%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1F894A1-5046-4A2C-9EFD-ABB8D9C7C935}"/>
              </a:ext>
            </a:extLst>
          </p:cNvPr>
          <p:cNvSpPr>
            <a:spLocks noGrp="1"/>
          </p:cNvSpPr>
          <p:nvPr/>
        </p:nvSpPr>
        <p:spPr>
          <a:xfrm>
            <a:off x="838200" y="4109085"/>
            <a:ext cx="5403850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D68CB91-9399-4203-BE81-EC511F04E002}"/>
              </a:ext>
            </a:extLst>
          </p:cNvPr>
          <p:cNvSpPr>
            <a:spLocks noGrp="1"/>
          </p:cNvSpPr>
          <p:nvPr/>
        </p:nvSpPr>
        <p:spPr>
          <a:xfrm>
            <a:off x="971550" y="4229100"/>
            <a:ext cx="5143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Linha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5ACDBD8-42B8-4A4C-B1B3-061C0CCBC781}"/>
              </a:ext>
            </a:extLst>
          </p:cNvPr>
          <p:cNvSpPr>
            <a:spLocks noGrp="1"/>
          </p:cNvSpPr>
          <p:nvPr/>
        </p:nvSpPr>
        <p:spPr>
          <a:xfrm>
            <a:off x="6375400" y="4109085"/>
            <a:ext cx="3152246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7A7EB43-AEA7-40BE-9B83-269F011F54C8}"/>
              </a:ext>
            </a:extLst>
          </p:cNvPr>
          <p:cNvSpPr>
            <a:spLocks noGrp="1"/>
          </p:cNvSpPr>
          <p:nvPr/>
        </p:nvSpPr>
        <p:spPr>
          <a:xfrm>
            <a:off x="6515100" y="4229100"/>
            <a:ext cx="2876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Unidades do plano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0CE24307-117E-4776-AD0E-976F06B24D8D}"/>
              </a:ext>
            </a:extLst>
          </p:cNvPr>
          <p:cNvSpPr>
            <a:spLocks noGrp="1"/>
          </p:cNvSpPr>
          <p:nvPr/>
        </p:nvSpPr>
        <p:spPr>
          <a:xfrm>
            <a:off x="9660996" y="4109085"/>
            <a:ext cx="4052888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6F47D2B-A919-4E10-9925-272CF75248B3}"/>
              </a:ext>
            </a:extLst>
          </p:cNvPr>
          <p:cNvSpPr>
            <a:spLocks noGrp="1"/>
          </p:cNvSpPr>
          <p:nvPr/>
        </p:nvSpPr>
        <p:spPr>
          <a:xfrm>
            <a:off x="9791700" y="4229100"/>
            <a:ext cx="3790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Base de mercado proxy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310125C-D172-449C-9199-914D719C5F94}"/>
              </a:ext>
            </a:extLst>
          </p:cNvPr>
          <p:cNvSpPr>
            <a:spLocks noGrp="1"/>
          </p:cNvSpPr>
          <p:nvPr/>
        </p:nvSpPr>
        <p:spPr>
          <a:xfrm>
            <a:off x="13847233" y="4109085"/>
            <a:ext cx="3602567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1CA4481-B9CC-4275-A932-D6CF9191CE8A}"/>
              </a:ext>
            </a:extLst>
          </p:cNvPr>
          <p:cNvSpPr>
            <a:spLocks noGrp="1"/>
          </p:cNvSpPr>
          <p:nvPr/>
        </p:nvSpPr>
        <p:spPr>
          <a:xfrm>
            <a:off x="13982700" y="4229100"/>
            <a:ext cx="3333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Share proxy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F3D2132-88C1-478E-8C2C-4258250072BA}"/>
              </a:ext>
            </a:extLst>
          </p:cNvPr>
          <p:cNvSpPr>
            <a:spLocks noGrp="1"/>
          </p:cNvSpPr>
          <p:nvPr/>
        </p:nvSpPr>
        <p:spPr>
          <a:xfrm>
            <a:off x="838200" y="5133023"/>
            <a:ext cx="5403850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EC98A83-6D63-46E7-83ED-DACF44018182}"/>
              </a:ext>
            </a:extLst>
          </p:cNvPr>
          <p:cNvSpPr>
            <a:spLocks noGrp="1"/>
          </p:cNvSpPr>
          <p:nvPr/>
        </p:nvSpPr>
        <p:spPr>
          <a:xfrm>
            <a:off x="971550" y="5238750"/>
            <a:ext cx="5143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Kits / equipamentos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B42E6A2-B58C-43A9-8C7E-0EE432A424D1}"/>
              </a:ext>
            </a:extLst>
          </p:cNvPr>
          <p:cNvSpPr>
            <a:spLocks noGrp="1"/>
          </p:cNvSpPr>
          <p:nvPr/>
        </p:nvSpPr>
        <p:spPr>
          <a:xfrm>
            <a:off x="6375400" y="5133023"/>
            <a:ext cx="3152246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5229D73-8971-4438-9D5B-3500331FA8B5}"/>
              </a:ext>
            </a:extLst>
          </p:cNvPr>
          <p:cNvSpPr>
            <a:spLocks noGrp="1"/>
          </p:cNvSpPr>
          <p:nvPr/>
        </p:nvSpPr>
        <p:spPr>
          <a:xfrm>
            <a:off x="6515100" y="5238750"/>
            <a:ext cx="2876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300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D9DE501B-2280-4026-8A7C-00723BFAACE6}"/>
              </a:ext>
            </a:extLst>
          </p:cNvPr>
          <p:cNvSpPr>
            <a:spLocks noGrp="1"/>
          </p:cNvSpPr>
          <p:nvPr/>
        </p:nvSpPr>
        <p:spPr>
          <a:xfrm>
            <a:off x="9660996" y="5133023"/>
            <a:ext cx="4052888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D9F4412-24DF-42C6-A72B-3FBD99051CA2}"/>
              </a:ext>
            </a:extLst>
          </p:cNvPr>
          <p:cNvSpPr>
            <a:spLocks noGrp="1"/>
          </p:cNvSpPr>
          <p:nvPr/>
        </p:nvSpPr>
        <p:spPr>
          <a:xfrm>
            <a:off x="9791700" y="5238750"/>
            <a:ext cx="3790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lang="pt-BR" sz="1500" dirty="0">
                <a:solidFill>
                  <a:srgbClr val="0F172A"/>
                </a:solidFill>
              </a:rPr>
              <a:t>3.000 implantações implícitas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57CD872-BD4E-4A48-85AA-C6793701A411}"/>
              </a:ext>
            </a:extLst>
          </p:cNvPr>
          <p:cNvSpPr>
            <a:spLocks noGrp="1"/>
          </p:cNvSpPr>
          <p:nvPr/>
        </p:nvSpPr>
        <p:spPr>
          <a:xfrm>
            <a:off x="13847233" y="5133023"/>
            <a:ext cx="3602567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B3A5E8E7-1F15-4546-AD3A-8B4AFE62017F}"/>
              </a:ext>
            </a:extLst>
          </p:cNvPr>
          <p:cNvSpPr>
            <a:spLocks noGrp="1"/>
          </p:cNvSpPr>
          <p:nvPr/>
        </p:nvSpPr>
        <p:spPr>
          <a:xfrm>
            <a:off x="13982700" y="5238750"/>
            <a:ext cx="3333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rPr lang="pt-BR" sz="1500" b="1" dirty="0">
                <a:solidFill>
                  <a:srgbClr val="059669"/>
                </a:solidFill>
              </a:rPr>
              <a:t>10,0</a:t>
            </a:r>
            <a:r>
              <a:rPr sz="1500" b="1" dirty="0">
                <a:solidFill>
                  <a:srgbClr val="059669"/>
                </a:solidFill>
              </a:rPr>
              <a:t>%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C1CC81E2-1DAC-47D7-A0AC-CB0284D77690}"/>
              </a:ext>
            </a:extLst>
          </p:cNvPr>
          <p:cNvSpPr>
            <a:spLocks noGrp="1"/>
          </p:cNvSpPr>
          <p:nvPr/>
        </p:nvSpPr>
        <p:spPr>
          <a:xfrm>
            <a:off x="838200" y="6156960"/>
            <a:ext cx="5403850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AFE92A3-B8D5-4159-9DDD-C194EB6F4F75}"/>
              </a:ext>
            </a:extLst>
          </p:cNvPr>
          <p:cNvSpPr>
            <a:spLocks noGrp="1"/>
          </p:cNvSpPr>
          <p:nvPr/>
        </p:nvSpPr>
        <p:spPr>
          <a:xfrm>
            <a:off x="971550" y="6267450"/>
            <a:ext cx="5143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Implantações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25F8459D-5BAE-4399-96B5-591C1A288DA0}"/>
              </a:ext>
            </a:extLst>
          </p:cNvPr>
          <p:cNvSpPr>
            <a:spLocks noGrp="1"/>
          </p:cNvSpPr>
          <p:nvPr/>
        </p:nvSpPr>
        <p:spPr>
          <a:xfrm>
            <a:off x="6375400" y="6156960"/>
            <a:ext cx="3152246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90834EB9-4814-423A-A115-D66B979CD6DC}"/>
              </a:ext>
            </a:extLst>
          </p:cNvPr>
          <p:cNvSpPr>
            <a:spLocks noGrp="1"/>
          </p:cNvSpPr>
          <p:nvPr/>
        </p:nvSpPr>
        <p:spPr>
          <a:xfrm>
            <a:off x="6515100" y="6267450"/>
            <a:ext cx="2876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300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BB95DDC2-51F7-4168-BB65-FF8DBE19A84E}"/>
              </a:ext>
            </a:extLst>
          </p:cNvPr>
          <p:cNvSpPr>
            <a:spLocks noGrp="1"/>
          </p:cNvSpPr>
          <p:nvPr/>
        </p:nvSpPr>
        <p:spPr>
          <a:xfrm>
            <a:off x="9660996" y="6156960"/>
            <a:ext cx="4052888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A84BF377-464D-4E0B-AF9B-BC50CD7F9B7E}"/>
              </a:ext>
            </a:extLst>
          </p:cNvPr>
          <p:cNvSpPr>
            <a:spLocks noGrp="1"/>
          </p:cNvSpPr>
          <p:nvPr/>
        </p:nvSpPr>
        <p:spPr>
          <a:xfrm>
            <a:off x="9791700" y="6267450"/>
            <a:ext cx="3790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 dirty="0">
                <a:solidFill>
                  <a:srgbClr val="0F172A"/>
                </a:solidFill>
              </a:rPr>
              <a:t>3.000 </a:t>
            </a:r>
            <a:r>
              <a:rPr sz="1500" b="0" dirty="0" err="1">
                <a:solidFill>
                  <a:srgbClr val="0F172A"/>
                </a:solidFill>
              </a:rPr>
              <a:t>implantações</a:t>
            </a:r>
            <a:r>
              <a:rPr sz="1500" b="0" dirty="0">
                <a:solidFill>
                  <a:srgbClr val="0F172A"/>
                </a:solidFill>
              </a:rPr>
              <a:t> </a:t>
            </a:r>
            <a:r>
              <a:rPr sz="1500" b="0" dirty="0" err="1">
                <a:solidFill>
                  <a:srgbClr val="0F172A"/>
                </a:solidFill>
              </a:rPr>
              <a:t>implícitas</a:t>
            </a:r>
            <a:endParaRPr sz="1500" b="0" dirty="0">
              <a:solidFill>
                <a:srgbClr val="0F172A"/>
              </a:solidFill>
            </a:endParaRP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E1EB2472-675F-4DCA-8134-1E4E820040F7}"/>
              </a:ext>
            </a:extLst>
          </p:cNvPr>
          <p:cNvSpPr>
            <a:spLocks noGrp="1"/>
          </p:cNvSpPr>
          <p:nvPr/>
        </p:nvSpPr>
        <p:spPr>
          <a:xfrm>
            <a:off x="13847233" y="6156960"/>
            <a:ext cx="3602567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99CBCF6D-40EB-458A-B4CB-F30CFBB04775}"/>
              </a:ext>
            </a:extLst>
          </p:cNvPr>
          <p:cNvSpPr>
            <a:spLocks noGrp="1"/>
          </p:cNvSpPr>
          <p:nvPr/>
        </p:nvSpPr>
        <p:spPr>
          <a:xfrm>
            <a:off x="13982700" y="6267450"/>
            <a:ext cx="3333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rPr sz="1500" b="1" dirty="0">
                <a:solidFill>
                  <a:srgbClr val="059669"/>
                </a:solidFill>
              </a:rPr>
              <a:t>10,0%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C34DC5A0-90CC-47A5-AE4C-AAEE9671E7D6}"/>
              </a:ext>
            </a:extLst>
          </p:cNvPr>
          <p:cNvSpPr>
            <a:spLocks noGrp="1"/>
          </p:cNvSpPr>
          <p:nvPr/>
        </p:nvSpPr>
        <p:spPr>
          <a:xfrm>
            <a:off x="838200" y="7180898"/>
            <a:ext cx="5403850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3AB91253-CD2E-457C-B692-91988A7C2209}"/>
              </a:ext>
            </a:extLst>
          </p:cNvPr>
          <p:cNvSpPr>
            <a:spLocks noGrp="1"/>
          </p:cNvSpPr>
          <p:nvPr/>
        </p:nvSpPr>
        <p:spPr>
          <a:xfrm>
            <a:off x="971550" y="7296150"/>
            <a:ext cx="5143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Software / base ativa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D7C2FEE1-5CC6-473D-A097-48F75710EAC3}"/>
              </a:ext>
            </a:extLst>
          </p:cNvPr>
          <p:cNvSpPr>
            <a:spLocks noGrp="1"/>
          </p:cNvSpPr>
          <p:nvPr/>
        </p:nvSpPr>
        <p:spPr>
          <a:xfrm>
            <a:off x="6375400" y="7180898"/>
            <a:ext cx="3152246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F4C196B6-8001-4FEE-B89F-03ABD7BC16F0}"/>
              </a:ext>
            </a:extLst>
          </p:cNvPr>
          <p:cNvSpPr>
            <a:spLocks noGrp="1"/>
          </p:cNvSpPr>
          <p:nvPr/>
        </p:nvSpPr>
        <p:spPr>
          <a:xfrm>
            <a:off x="6515100" y="7296150"/>
            <a:ext cx="2876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4.000 ativos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74D4A06C-91B5-4464-BEEE-FA9F218713A1}"/>
              </a:ext>
            </a:extLst>
          </p:cNvPr>
          <p:cNvSpPr>
            <a:spLocks noGrp="1"/>
          </p:cNvSpPr>
          <p:nvPr/>
        </p:nvSpPr>
        <p:spPr>
          <a:xfrm>
            <a:off x="9660996" y="7180898"/>
            <a:ext cx="4052888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F9DCE3B5-75C9-4739-B174-ADF7DD8A8BEA}"/>
              </a:ext>
            </a:extLst>
          </p:cNvPr>
          <p:cNvSpPr>
            <a:spLocks noGrp="1"/>
          </p:cNvSpPr>
          <p:nvPr/>
        </p:nvSpPr>
        <p:spPr>
          <a:xfrm>
            <a:off x="9791700" y="7296150"/>
            <a:ext cx="3790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25.003 ativos equivalentes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D69C50E9-5968-491C-BB30-24A3EA315963}"/>
              </a:ext>
            </a:extLst>
          </p:cNvPr>
          <p:cNvSpPr>
            <a:spLocks noGrp="1"/>
          </p:cNvSpPr>
          <p:nvPr/>
        </p:nvSpPr>
        <p:spPr>
          <a:xfrm>
            <a:off x="13847233" y="7180898"/>
            <a:ext cx="3602567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DC60E995-5104-438C-B15A-110725C8C11E}"/>
              </a:ext>
            </a:extLst>
          </p:cNvPr>
          <p:cNvSpPr>
            <a:spLocks noGrp="1"/>
          </p:cNvSpPr>
          <p:nvPr/>
        </p:nvSpPr>
        <p:spPr>
          <a:xfrm>
            <a:off x="13982700" y="7296150"/>
            <a:ext cx="3333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16,0%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DA44DE12-E79F-460F-A15A-4F19EE3B7B6D}"/>
              </a:ext>
            </a:extLst>
          </p:cNvPr>
          <p:cNvSpPr>
            <a:spLocks noGrp="1"/>
          </p:cNvSpPr>
          <p:nvPr/>
        </p:nvSpPr>
        <p:spPr>
          <a:xfrm>
            <a:off x="838200" y="834390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Nota: market share apresentado como proxy de receita/unidades a partir das capacidades implícitas no plano, apenas para uso do material de captação.</a:t>
            </a:r>
          </a:p>
        </p:txBody>
      </p:sp>
    </p:spTree>
    <p:extLst>
      <p:ext uri="{BB962C8B-B14F-4D97-AF65-F5344CB8AC3E}">
        <p14:creationId xmlns:p14="http://schemas.microsoft.com/office/powerpoint/2010/main" val="1213198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171D3B33-198D-496F-8067-F7E0D75C34DD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4. Estrutura: Comercial, Operacional e Adm-Fin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3574C97-94F6-4BCE-B586-E36B92A5C72E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01CF164-90A6-4FC7-86D1-E5DE94BF18F1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99631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 dirty="0">
                <a:solidFill>
                  <a:srgbClr val="475569"/>
                </a:solidFill>
              </a:rPr>
              <a:t>Custos de </a:t>
            </a:r>
            <a:r>
              <a:rPr sz="1650" b="0" dirty="0" err="1">
                <a:solidFill>
                  <a:srgbClr val="475569"/>
                </a:solidFill>
              </a:rPr>
              <a:t>estrutura</a:t>
            </a:r>
            <a:r>
              <a:rPr sz="1650" b="0" dirty="0">
                <a:solidFill>
                  <a:srgbClr val="475569"/>
                </a:solidFill>
              </a:rPr>
              <a:t> </a:t>
            </a:r>
            <a:r>
              <a:rPr sz="1650" b="0" dirty="0" err="1">
                <a:solidFill>
                  <a:srgbClr val="475569"/>
                </a:solidFill>
              </a:rPr>
              <a:t>resumidos</a:t>
            </a:r>
            <a:r>
              <a:rPr sz="1650" b="0" dirty="0">
                <a:solidFill>
                  <a:srgbClr val="475569"/>
                </a:solidFill>
              </a:rPr>
              <a:t> a </a:t>
            </a:r>
            <a:r>
              <a:rPr sz="1650" b="0" dirty="0" err="1">
                <a:solidFill>
                  <a:srgbClr val="475569"/>
                </a:solidFill>
              </a:rPr>
              <a:t>partir</a:t>
            </a:r>
            <a:r>
              <a:rPr sz="1650" b="0" dirty="0">
                <a:solidFill>
                  <a:srgbClr val="475569"/>
                </a:solidFill>
              </a:rPr>
              <a:t> das </a:t>
            </a:r>
            <a:r>
              <a:rPr sz="1650" b="0" dirty="0" err="1">
                <a:solidFill>
                  <a:srgbClr val="475569"/>
                </a:solidFill>
              </a:rPr>
              <a:t>frentes</a:t>
            </a:r>
            <a:r>
              <a:rPr sz="1650" b="0" dirty="0">
                <a:solidFill>
                  <a:srgbClr val="475569"/>
                </a:solidFill>
              </a:rPr>
              <a:t> </a:t>
            </a:r>
            <a:r>
              <a:rPr sz="1650" b="0" dirty="0" err="1">
                <a:solidFill>
                  <a:srgbClr val="475569"/>
                </a:solidFill>
              </a:rPr>
              <a:t>planejadas</a:t>
            </a:r>
            <a:r>
              <a:rPr sz="1650" b="0" dirty="0">
                <a:solidFill>
                  <a:srgbClr val="475569"/>
                </a:solidFill>
              </a:rPr>
              <a:t> e do total mensal de custos/</a:t>
            </a:r>
            <a:r>
              <a:rPr sz="1650" b="0" dirty="0" err="1">
                <a:solidFill>
                  <a:srgbClr val="475569"/>
                </a:solidFill>
              </a:rPr>
              <a:t>despesas</a:t>
            </a:r>
            <a:r>
              <a:rPr sz="1650" b="0" dirty="0">
                <a:solidFill>
                  <a:srgbClr val="475569"/>
                </a:solidFill>
              </a:rPr>
              <a:t> </a:t>
            </a:r>
            <a:r>
              <a:rPr sz="1650" b="0" dirty="0" err="1">
                <a:solidFill>
                  <a:srgbClr val="475569"/>
                </a:solidFill>
              </a:rPr>
              <a:t>fixas</a:t>
            </a:r>
            <a:r>
              <a:rPr sz="1650" b="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C3446E2-71C0-4D1D-94FC-712D1E324C7D}"/>
              </a:ext>
            </a:extLst>
          </p:cNvPr>
          <p:cNvSpPr>
            <a:spLocks noGrp="1"/>
          </p:cNvSpPr>
          <p:nvPr/>
        </p:nvSpPr>
        <p:spPr>
          <a:xfrm>
            <a:off x="838200" y="2036445"/>
            <a:ext cx="5410200" cy="2000250"/>
          </a:xfrm>
          <a:prstGeom prst="roundRect">
            <a:avLst>
              <a:gd name="adj" fmla="val 10476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9A510B7-B1C4-497F-A6C5-DD0725F12860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499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Setup total das frentes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B830FB9-24C3-4123-BF27-D0997D654402}"/>
              </a:ext>
            </a:extLst>
          </p:cNvPr>
          <p:cNvSpPr>
            <a:spLocks noGrp="1"/>
          </p:cNvSpPr>
          <p:nvPr/>
        </p:nvSpPr>
        <p:spPr>
          <a:xfrm>
            <a:off x="1047750" y="2590800"/>
            <a:ext cx="4991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R$ 723.500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800EC73-1496-4FA2-92D8-164AA26A71AF}"/>
              </a:ext>
            </a:extLst>
          </p:cNvPr>
          <p:cNvSpPr>
            <a:spLocks noGrp="1"/>
          </p:cNvSpPr>
          <p:nvPr/>
        </p:nvSpPr>
        <p:spPr>
          <a:xfrm>
            <a:off x="6438900" y="2036445"/>
            <a:ext cx="5410200" cy="2000250"/>
          </a:xfrm>
          <a:prstGeom prst="roundRect">
            <a:avLst>
              <a:gd name="adj" fmla="val 10476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37FB21C-E416-44DC-B1F2-8CE4DE0E3B69}"/>
              </a:ext>
            </a:extLst>
          </p:cNvPr>
          <p:cNvSpPr>
            <a:spLocks noGrp="1"/>
          </p:cNvSpPr>
          <p:nvPr/>
        </p:nvSpPr>
        <p:spPr>
          <a:xfrm>
            <a:off x="6648450" y="2247900"/>
            <a:ext cx="499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fixo mensal total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D868A0D-D6B4-4B77-8CFE-47A6C574914A}"/>
              </a:ext>
            </a:extLst>
          </p:cNvPr>
          <p:cNvSpPr>
            <a:spLocks noGrp="1"/>
          </p:cNvSpPr>
          <p:nvPr/>
        </p:nvSpPr>
        <p:spPr>
          <a:xfrm>
            <a:off x="6648450" y="2590800"/>
            <a:ext cx="4991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R$ 249.000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DEE1791-65FC-46AC-89B1-157B843ABF81}"/>
              </a:ext>
            </a:extLst>
          </p:cNvPr>
          <p:cNvSpPr>
            <a:spLocks noGrp="1"/>
          </p:cNvSpPr>
          <p:nvPr/>
        </p:nvSpPr>
        <p:spPr>
          <a:xfrm>
            <a:off x="12039600" y="2036445"/>
            <a:ext cx="5410200" cy="2000250"/>
          </a:xfrm>
          <a:prstGeom prst="roundRect">
            <a:avLst>
              <a:gd name="adj" fmla="val 10476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05506D5-9244-4216-96A4-991408D7FA48}"/>
              </a:ext>
            </a:extLst>
          </p:cNvPr>
          <p:cNvSpPr>
            <a:spLocks noGrp="1"/>
          </p:cNvSpPr>
          <p:nvPr/>
        </p:nvSpPr>
        <p:spPr>
          <a:xfrm>
            <a:off x="12249150" y="2247900"/>
            <a:ext cx="499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fixo anual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5C36848-E3EA-4435-B8AF-2C6AAEF35287}"/>
              </a:ext>
            </a:extLst>
          </p:cNvPr>
          <p:cNvSpPr>
            <a:spLocks noGrp="1"/>
          </p:cNvSpPr>
          <p:nvPr/>
        </p:nvSpPr>
        <p:spPr>
          <a:xfrm>
            <a:off x="12249150" y="2590800"/>
            <a:ext cx="4991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R$ 2.988.000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9397F65-23C0-4DF0-8A9D-E81A62A23C00}"/>
              </a:ext>
            </a:extLst>
          </p:cNvPr>
          <p:cNvSpPr>
            <a:spLocks noGrp="1"/>
          </p:cNvSpPr>
          <p:nvPr/>
        </p:nvSpPr>
        <p:spPr>
          <a:xfrm>
            <a:off x="838200" y="426529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3C4FEBE-66DF-476C-89EA-667612E6427C}"/>
              </a:ext>
            </a:extLst>
          </p:cNvPr>
          <p:cNvSpPr>
            <a:spLocks noGrp="1"/>
          </p:cNvSpPr>
          <p:nvPr/>
        </p:nvSpPr>
        <p:spPr>
          <a:xfrm>
            <a:off x="971550" y="438150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Estrutura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6C0A097-5C31-44AD-AA58-743C1C3C276F}"/>
              </a:ext>
            </a:extLst>
          </p:cNvPr>
          <p:cNvSpPr>
            <a:spLocks noGrp="1"/>
          </p:cNvSpPr>
          <p:nvPr/>
        </p:nvSpPr>
        <p:spPr>
          <a:xfrm>
            <a:off x="4445454" y="4265295"/>
            <a:ext cx="3010716" cy="762000"/>
          </a:xfrm>
          <a:prstGeom prst="roundRect">
            <a:avLst>
              <a:gd name="adj" fmla="val 1750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3C59DEF-76D3-4AD1-A3AE-8D954D336264}"/>
              </a:ext>
            </a:extLst>
          </p:cNvPr>
          <p:cNvSpPr>
            <a:spLocks noGrp="1"/>
          </p:cNvSpPr>
          <p:nvPr/>
        </p:nvSpPr>
        <p:spPr>
          <a:xfrm>
            <a:off x="4572000" y="4381500"/>
            <a:ext cx="2743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de setup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B1EAA42-B88C-41FE-B5C2-15B9DB414A3B}"/>
              </a:ext>
            </a:extLst>
          </p:cNvPr>
          <p:cNvSpPr>
            <a:spLocks noGrp="1"/>
          </p:cNvSpPr>
          <p:nvPr/>
        </p:nvSpPr>
        <p:spPr>
          <a:xfrm>
            <a:off x="7589520" y="426529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7D6BD31-DB35-412E-B95C-87E654271C5F}"/>
              </a:ext>
            </a:extLst>
          </p:cNvPr>
          <p:cNvSpPr>
            <a:spLocks noGrp="1"/>
          </p:cNvSpPr>
          <p:nvPr/>
        </p:nvSpPr>
        <p:spPr>
          <a:xfrm>
            <a:off x="7715250" y="438150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fixo mensal (rateio)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F144F67-639C-403E-BF89-C249A2A5261B}"/>
              </a:ext>
            </a:extLst>
          </p:cNvPr>
          <p:cNvSpPr>
            <a:spLocks noGrp="1"/>
          </p:cNvSpPr>
          <p:nvPr/>
        </p:nvSpPr>
        <p:spPr>
          <a:xfrm>
            <a:off x="11196774" y="4265295"/>
            <a:ext cx="6253026" cy="762000"/>
          </a:xfrm>
          <a:prstGeom prst="roundRect">
            <a:avLst>
              <a:gd name="adj" fmla="val 1750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6F36333-E46A-4CAA-895F-21A76FC34323}"/>
              </a:ext>
            </a:extLst>
          </p:cNvPr>
          <p:cNvSpPr>
            <a:spLocks noGrp="1"/>
          </p:cNvSpPr>
          <p:nvPr/>
        </p:nvSpPr>
        <p:spPr>
          <a:xfrm>
            <a:off x="11334750" y="4381500"/>
            <a:ext cx="5981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Leitura resumida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96EE8570-09EC-4386-BB98-F0F1655518E3}"/>
              </a:ext>
            </a:extLst>
          </p:cNvPr>
          <p:cNvSpPr>
            <a:spLocks noGrp="1"/>
          </p:cNvSpPr>
          <p:nvPr/>
        </p:nvSpPr>
        <p:spPr>
          <a:xfrm>
            <a:off x="838200" y="512254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BFE81AE-A4E6-4BCE-9BBA-14F5B7D43372}"/>
              </a:ext>
            </a:extLst>
          </p:cNvPr>
          <p:cNvSpPr>
            <a:spLocks noGrp="1"/>
          </p:cNvSpPr>
          <p:nvPr/>
        </p:nvSpPr>
        <p:spPr>
          <a:xfrm>
            <a:off x="971550" y="52387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Comercial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EC1FABE2-494B-472E-BCFD-CFA6E4A99486}"/>
              </a:ext>
            </a:extLst>
          </p:cNvPr>
          <p:cNvSpPr>
            <a:spLocks noGrp="1"/>
          </p:cNvSpPr>
          <p:nvPr/>
        </p:nvSpPr>
        <p:spPr>
          <a:xfrm>
            <a:off x="4445454" y="5122545"/>
            <a:ext cx="3010716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73E9BBC-D1C0-4386-A7FC-6F0ECACAF60C}"/>
              </a:ext>
            </a:extLst>
          </p:cNvPr>
          <p:cNvSpPr>
            <a:spLocks noGrp="1"/>
          </p:cNvSpPr>
          <p:nvPr/>
        </p:nvSpPr>
        <p:spPr>
          <a:xfrm>
            <a:off x="4572000" y="5238750"/>
            <a:ext cx="2743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R$ 340.000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4020EA45-136C-4B79-8BF1-864ECB21AA44}"/>
              </a:ext>
            </a:extLst>
          </p:cNvPr>
          <p:cNvSpPr>
            <a:spLocks noGrp="1"/>
          </p:cNvSpPr>
          <p:nvPr/>
        </p:nvSpPr>
        <p:spPr>
          <a:xfrm>
            <a:off x="7589520" y="512254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0F768F7-5A68-4353-BFDE-1411B38D15E7}"/>
              </a:ext>
            </a:extLst>
          </p:cNvPr>
          <p:cNvSpPr>
            <a:spLocks noGrp="1"/>
          </p:cNvSpPr>
          <p:nvPr/>
        </p:nvSpPr>
        <p:spPr>
          <a:xfrm>
            <a:off x="7715250" y="52387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R$ 117.083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086D8D60-5E1D-43E1-9FE7-614CF6FA0D06}"/>
              </a:ext>
            </a:extLst>
          </p:cNvPr>
          <p:cNvSpPr>
            <a:spLocks noGrp="1"/>
          </p:cNvSpPr>
          <p:nvPr/>
        </p:nvSpPr>
        <p:spPr>
          <a:xfrm>
            <a:off x="11196774" y="5122545"/>
            <a:ext cx="6253026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5277A10-2BE4-4831-A3EA-A160C556C20D}"/>
              </a:ext>
            </a:extLst>
          </p:cNvPr>
          <p:cNvSpPr>
            <a:spLocks noGrp="1"/>
          </p:cNvSpPr>
          <p:nvPr/>
        </p:nvSpPr>
        <p:spPr>
          <a:xfrm>
            <a:off x="11334750" y="5238750"/>
            <a:ext cx="5981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Prospecção, vendas e ativação de receita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60933D99-63E0-486A-9452-82B2C36E6B09}"/>
              </a:ext>
            </a:extLst>
          </p:cNvPr>
          <p:cNvSpPr>
            <a:spLocks noGrp="1"/>
          </p:cNvSpPr>
          <p:nvPr/>
        </p:nvSpPr>
        <p:spPr>
          <a:xfrm>
            <a:off x="838200" y="597979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9B055677-333B-41C2-ACFF-1775FF1E23C3}"/>
              </a:ext>
            </a:extLst>
          </p:cNvPr>
          <p:cNvSpPr>
            <a:spLocks noGrp="1"/>
          </p:cNvSpPr>
          <p:nvPr/>
        </p:nvSpPr>
        <p:spPr>
          <a:xfrm>
            <a:off x="971550" y="609600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Operacional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7AE2D921-7D58-45ED-B826-0562F55BF760}"/>
              </a:ext>
            </a:extLst>
          </p:cNvPr>
          <p:cNvSpPr>
            <a:spLocks noGrp="1"/>
          </p:cNvSpPr>
          <p:nvPr/>
        </p:nvSpPr>
        <p:spPr>
          <a:xfrm>
            <a:off x="4445454" y="5979795"/>
            <a:ext cx="3010716" cy="762000"/>
          </a:xfrm>
          <a:prstGeom prst="roundRect">
            <a:avLst>
              <a:gd name="adj" fmla="val 1750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86C9ED17-72D3-406F-8A1A-C15BD8E77550}"/>
              </a:ext>
            </a:extLst>
          </p:cNvPr>
          <p:cNvSpPr>
            <a:spLocks noGrp="1"/>
          </p:cNvSpPr>
          <p:nvPr/>
        </p:nvSpPr>
        <p:spPr>
          <a:xfrm>
            <a:off x="4572000" y="6096000"/>
            <a:ext cx="2743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R$ 331.000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40FE13C5-D198-47BF-8AC2-0AED525F5E88}"/>
              </a:ext>
            </a:extLst>
          </p:cNvPr>
          <p:cNvSpPr>
            <a:spLocks noGrp="1"/>
          </p:cNvSpPr>
          <p:nvPr/>
        </p:nvSpPr>
        <p:spPr>
          <a:xfrm>
            <a:off x="7589520" y="597979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2CDB1652-286C-449C-9210-978754020E6E}"/>
              </a:ext>
            </a:extLst>
          </p:cNvPr>
          <p:cNvSpPr>
            <a:spLocks noGrp="1"/>
          </p:cNvSpPr>
          <p:nvPr/>
        </p:nvSpPr>
        <p:spPr>
          <a:xfrm>
            <a:off x="7715250" y="609600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R$ 113.983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01DE1B95-9923-4D66-9CCA-7CEFEA161672}"/>
              </a:ext>
            </a:extLst>
          </p:cNvPr>
          <p:cNvSpPr>
            <a:spLocks noGrp="1"/>
          </p:cNvSpPr>
          <p:nvPr/>
        </p:nvSpPr>
        <p:spPr>
          <a:xfrm>
            <a:off x="11196774" y="5979795"/>
            <a:ext cx="6253026" cy="762000"/>
          </a:xfrm>
          <a:prstGeom prst="roundRect">
            <a:avLst>
              <a:gd name="adj" fmla="val 1750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E6F6E355-80A3-4C20-82FE-42FFE26A0347}"/>
              </a:ext>
            </a:extLst>
          </p:cNvPr>
          <p:cNvSpPr>
            <a:spLocks noGrp="1"/>
          </p:cNvSpPr>
          <p:nvPr/>
        </p:nvSpPr>
        <p:spPr>
          <a:xfrm>
            <a:off x="11334750" y="6096000"/>
            <a:ext cx="5981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Implantação, suporte técnico e entrega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AF2A40D1-3BD8-4716-BD9F-7AD32F29CBA2}"/>
              </a:ext>
            </a:extLst>
          </p:cNvPr>
          <p:cNvSpPr>
            <a:spLocks noGrp="1"/>
          </p:cNvSpPr>
          <p:nvPr/>
        </p:nvSpPr>
        <p:spPr>
          <a:xfrm>
            <a:off x="838200" y="683704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27BE11BC-AD17-4A1C-B964-E4073CAEE2BE}"/>
              </a:ext>
            </a:extLst>
          </p:cNvPr>
          <p:cNvSpPr>
            <a:spLocks noGrp="1"/>
          </p:cNvSpPr>
          <p:nvPr/>
        </p:nvSpPr>
        <p:spPr>
          <a:xfrm>
            <a:off x="971550" y="69532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Adm-Fin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B9A6791A-6EEC-4EE8-98C8-CAF02D6AA4B6}"/>
              </a:ext>
            </a:extLst>
          </p:cNvPr>
          <p:cNvSpPr>
            <a:spLocks noGrp="1"/>
          </p:cNvSpPr>
          <p:nvPr/>
        </p:nvSpPr>
        <p:spPr>
          <a:xfrm>
            <a:off x="4445454" y="6837045"/>
            <a:ext cx="3010716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402CCF02-A90E-4073-9504-7756A56D9888}"/>
              </a:ext>
            </a:extLst>
          </p:cNvPr>
          <p:cNvSpPr>
            <a:spLocks noGrp="1"/>
          </p:cNvSpPr>
          <p:nvPr/>
        </p:nvSpPr>
        <p:spPr>
          <a:xfrm>
            <a:off x="4572000" y="6953250"/>
            <a:ext cx="2743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R$ 52.500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4A89FA53-1E8F-4E8D-BEE4-3466730FDECF}"/>
              </a:ext>
            </a:extLst>
          </p:cNvPr>
          <p:cNvSpPr>
            <a:spLocks noGrp="1"/>
          </p:cNvSpPr>
          <p:nvPr/>
        </p:nvSpPr>
        <p:spPr>
          <a:xfrm>
            <a:off x="7589520" y="683704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5E3A9A14-A960-40A6-A880-DC6588FCA13A}"/>
              </a:ext>
            </a:extLst>
          </p:cNvPr>
          <p:cNvSpPr>
            <a:spLocks noGrp="1"/>
          </p:cNvSpPr>
          <p:nvPr/>
        </p:nvSpPr>
        <p:spPr>
          <a:xfrm>
            <a:off x="7715250" y="69532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R$ 17.934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AE4C2939-D842-44ED-8AB1-C7546D0A2490}"/>
              </a:ext>
            </a:extLst>
          </p:cNvPr>
          <p:cNvSpPr>
            <a:spLocks noGrp="1"/>
          </p:cNvSpPr>
          <p:nvPr/>
        </p:nvSpPr>
        <p:spPr>
          <a:xfrm>
            <a:off x="11196774" y="6837045"/>
            <a:ext cx="6253026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7AB0EF1E-C391-4F1F-956A-44D4D73B856D}"/>
              </a:ext>
            </a:extLst>
          </p:cNvPr>
          <p:cNvSpPr>
            <a:spLocks noGrp="1"/>
          </p:cNvSpPr>
          <p:nvPr/>
        </p:nvSpPr>
        <p:spPr>
          <a:xfrm>
            <a:off x="11334750" y="6953250"/>
            <a:ext cx="5981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Backoffice, gestão financeira e administração</a:t>
            </a:r>
          </a:p>
        </p:txBody>
      </p:sp>
    </p:spTree>
    <p:extLst>
      <p:ext uri="{BB962C8B-B14F-4D97-AF65-F5344CB8AC3E}">
        <p14:creationId xmlns:p14="http://schemas.microsoft.com/office/powerpoint/2010/main" val="1627482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ângulo 53">
            <a:extLst>
              <a:ext uri="{FF2B5EF4-FFF2-40B4-BE49-F238E27FC236}">
                <a16:creationId xmlns:a16="http://schemas.microsoft.com/office/drawing/2014/main" id="{CF70A7D4-4AF8-4434-BD8E-555578EE0A06}"/>
              </a:ext>
            </a:extLst>
          </p:cNvPr>
          <p:cNvSpPr>
            <a:spLocks noGrp="1"/>
          </p:cNvSpPr>
          <p:nvPr/>
        </p:nvSpPr>
        <p:spPr>
          <a:xfrm>
            <a:off x="742950" y="552450"/>
            <a:ext cx="168021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5. Resultado líquido: 20%, 50% e 100% das vendas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C86E687-00A3-42A4-B4DF-80257DA816D8}"/>
              </a:ext>
            </a:extLst>
          </p:cNvPr>
          <p:cNvSpPr>
            <a:spLocks noGrp="1"/>
          </p:cNvSpPr>
          <p:nvPr/>
        </p:nvSpPr>
        <p:spPr>
          <a:xfrm>
            <a:off x="742950" y="108585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0FC4DCE-FB9D-40CA-85D4-494EC41ECB52}"/>
              </a:ext>
            </a:extLst>
          </p:cNvPr>
          <p:cNvSpPr>
            <a:spLocks noGrp="1"/>
          </p:cNvSpPr>
          <p:nvPr/>
        </p:nvSpPr>
        <p:spPr>
          <a:xfrm>
            <a:off x="742950" y="1219200"/>
            <a:ext cx="88773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Cenários mantendo a mesma base de custo fixo anual e a mesma estrutura de margem do modelo atual.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4A20258-4C83-42D0-8592-A4BDD24D3F68}"/>
              </a:ext>
            </a:extLst>
          </p:cNvPr>
          <p:cNvSpPr>
            <a:spLocks noGrp="1"/>
          </p:cNvSpPr>
          <p:nvPr/>
        </p:nvSpPr>
        <p:spPr>
          <a:xfrm>
            <a:off x="742950" y="1922145"/>
            <a:ext cx="2724150" cy="785813"/>
          </a:xfrm>
          <a:prstGeom prst="roundRect">
            <a:avLst>
              <a:gd name="adj" fmla="val 1697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1F7CDD1-103C-4535-A0C4-2ABEB1023419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2457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Cenário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60D4902-38C0-4ADC-B53F-23365C492367}"/>
              </a:ext>
            </a:extLst>
          </p:cNvPr>
          <p:cNvSpPr>
            <a:spLocks noGrp="1"/>
          </p:cNvSpPr>
          <p:nvPr/>
        </p:nvSpPr>
        <p:spPr>
          <a:xfrm>
            <a:off x="3581400" y="1922145"/>
            <a:ext cx="3307896" cy="785813"/>
          </a:xfrm>
          <a:prstGeom prst="roundRect">
            <a:avLst>
              <a:gd name="adj" fmla="val 1697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25B0EE6-6D5B-4616-B225-818DCA7E4421}"/>
              </a:ext>
            </a:extLst>
          </p:cNvPr>
          <p:cNvSpPr>
            <a:spLocks noGrp="1"/>
          </p:cNvSpPr>
          <p:nvPr/>
        </p:nvSpPr>
        <p:spPr>
          <a:xfrm>
            <a:off x="3714750" y="2038350"/>
            <a:ext cx="3048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Receita anual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79744A0-47BF-4A7B-94C9-AE2A96E42963}"/>
              </a:ext>
            </a:extLst>
          </p:cNvPr>
          <p:cNvSpPr>
            <a:spLocks noGrp="1"/>
          </p:cNvSpPr>
          <p:nvPr/>
        </p:nvSpPr>
        <p:spPr>
          <a:xfrm>
            <a:off x="7003596" y="1922145"/>
            <a:ext cx="3697061" cy="785813"/>
          </a:xfrm>
          <a:prstGeom prst="roundRect">
            <a:avLst>
              <a:gd name="adj" fmla="val 1697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505B501-08B0-4A2C-94F0-AAF339DB7DDA}"/>
              </a:ext>
            </a:extLst>
          </p:cNvPr>
          <p:cNvSpPr>
            <a:spLocks noGrp="1"/>
          </p:cNvSpPr>
          <p:nvPr/>
        </p:nvSpPr>
        <p:spPr>
          <a:xfrm>
            <a:off x="7143750" y="20383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Margem de contribuição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F6E412D-4CA1-45C4-95C2-4FFD36BE907E}"/>
              </a:ext>
            </a:extLst>
          </p:cNvPr>
          <p:cNvSpPr>
            <a:spLocks noGrp="1"/>
          </p:cNvSpPr>
          <p:nvPr/>
        </p:nvSpPr>
        <p:spPr>
          <a:xfrm>
            <a:off x="10814957" y="1922145"/>
            <a:ext cx="2918732" cy="785813"/>
          </a:xfrm>
          <a:prstGeom prst="roundRect">
            <a:avLst>
              <a:gd name="adj" fmla="val 1697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0EFA14B-EADA-45D8-A840-565E421D1194}"/>
              </a:ext>
            </a:extLst>
          </p:cNvPr>
          <p:cNvSpPr>
            <a:spLocks noGrp="1"/>
          </p:cNvSpPr>
          <p:nvPr/>
        </p:nvSpPr>
        <p:spPr>
          <a:xfrm>
            <a:off x="10953750" y="2038350"/>
            <a:ext cx="264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fixo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96B7EBC-1D88-4368-A767-3D6E93D6FDCF}"/>
              </a:ext>
            </a:extLst>
          </p:cNvPr>
          <p:cNvSpPr>
            <a:spLocks noGrp="1"/>
          </p:cNvSpPr>
          <p:nvPr/>
        </p:nvSpPr>
        <p:spPr>
          <a:xfrm>
            <a:off x="13847989" y="1922145"/>
            <a:ext cx="3697061" cy="785813"/>
          </a:xfrm>
          <a:prstGeom prst="roundRect">
            <a:avLst>
              <a:gd name="adj" fmla="val 1697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67D7E71-BD44-4D7B-96C8-EDD2DDA5D175}"/>
              </a:ext>
            </a:extLst>
          </p:cNvPr>
          <p:cNvSpPr>
            <a:spLocks noGrp="1"/>
          </p:cNvSpPr>
          <p:nvPr/>
        </p:nvSpPr>
        <p:spPr>
          <a:xfrm>
            <a:off x="13982700" y="20383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Resultado líquido estimado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17B9932-B3F0-4F7A-81D1-431E50E8506E}"/>
              </a:ext>
            </a:extLst>
          </p:cNvPr>
          <p:cNvSpPr>
            <a:spLocks noGrp="1"/>
          </p:cNvSpPr>
          <p:nvPr/>
        </p:nvSpPr>
        <p:spPr>
          <a:xfrm>
            <a:off x="742950" y="2803208"/>
            <a:ext cx="2724150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28BCB54-3A6B-47D2-BF6F-FAB137F32B8E}"/>
              </a:ext>
            </a:extLst>
          </p:cNvPr>
          <p:cNvSpPr>
            <a:spLocks noGrp="1"/>
          </p:cNvSpPr>
          <p:nvPr/>
        </p:nvSpPr>
        <p:spPr>
          <a:xfrm>
            <a:off x="876300" y="2914650"/>
            <a:ext cx="2457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20% das vendas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313483B-374B-42E8-8215-02F7D7C0D0D8}"/>
              </a:ext>
            </a:extLst>
          </p:cNvPr>
          <p:cNvSpPr>
            <a:spLocks noGrp="1"/>
          </p:cNvSpPr>
          <p:nvPr/>
        </p:nvSpPr>
        <p:spPr>
          <a:xfrm>
            <a:off x="3581400" y="2803208"/>
            <a:ext cx="3307896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BDC9C40-4CFF-4673-A04A-AF5AB04EF63D}"/>
              </a:ext>
            </a:extLst>
          </p:cNvPr>
          <p:cNvSpPr>
            <a:spLocks noGrp="1"/>
          </p:cNvSpPr>
          <p:nvPr/>
        </p:nvSpPr>
        <p:spPr>
          <a:xfrm>
            <a:off x="3714750" y="2914650"/>
            <a:ext cx="3048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R$ 8.480.000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96C46A1-B5EB-4372-B286-488A852EAC90}"/>
              </a:ext>
            </a:extLst>
          </p:cNvPr>
          <p:cNvSpPr>
            <a:spLocks noGrp="1"/>
          </p:cNvSpPr>
          <p:nvPr/>
        </p:nvSpPr>
        <p:spPr>
          <a:xfrm>
            <a:off x="7003596" y="2803208"/>
            <a:ext cx="3697061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F42020B-A505-486F-B631-0E956CE0AA5D}"/>
              </a:ext>
            </a:extLst>
          </p:cNvPr>
          <p:cNvSpPr>
            <a:spLocks noGrp="1"/>
          </p:cNvSpPr>
          <p:nvPr/>
        </p:nvSpPr>
        <p:spPr>
          <a:xfrm>
            <a:off x="7143750" y="29146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R$ 3.895.160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7A6E591-599A-4C5B-BFC0-34B55206955C}"/>
              </a:ext>
            </a:extLst>
          </p:cNvPr>
          <p:cNvSpPr>
            <a:spLocks noGrp="1"/>
          </p:cNvSpPr>
          <p:nvPr/>
        </p:nvSpPr>
        <p:spPr>
          <a:xfrm>
            <a:off x="10814957" y="2803208"/>
            <a:ext cx="2918732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8B8B502-26AF-4804-8AFA-9E71F0339FC1}"/>
              </a:ext>
            </a:extLst>
          </p:cNvPr>
          <p:cNvSpPr>
            <a:spLocks noGrp="1"/>
          </p:cNvSpPr>
          <p:nvPr/>
        </p:nvSpPr>
        <p:spPr>
          <a:xfrm>
            <a:off x="10953750" y="2914650"/>
            <a:ext cx="264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R$ 2.988.000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3EFE5999-4250-4381-94FE-A2BF74968FFA}"/>
              </a:ext>
            </a:extLst>
          </p:cNvPr>
          <p:cNvSpPr>
            <a:spLocks noGrp="1"/>
          </p:cNvSpPr>
          <p:nvPr/>
        </p:nvSpPr>
        <p:spPr>
          <a:xfrm>
            <a:off x="13847989" y="2803208"/>
            <a:ext cx="3697061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577291A-2AB5-45C4-BD28-042CF9537424}"/>
              </a:ext>
            </a:extLst>
          </p:cNvPr>
          <p:cNvSpPr>
            <a:spLocks noGrp="1"/>
          </p:cNvSpPr>
          <p:nvPr/>
        </p:nvSpPr>
        <p:spPr>
          <a:xfrm>
            <a:off x="13982700" y="29146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R$ 907.160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0780E49C-64B9-40A3-8CD2-CF15B03EFFC2}"/>
              </a:ext>
            </a:extLst>
          </p:cNvPr>
          <p:cNvSpPr>
            <a:spLocks noGrp="1"/>
          </p:cNvSpPr>
          <p:nvPr/>
        </p:nvSpPr>
        <p:spPr>
          <a:xfrm>
            <a:off x="742950" y="3684270"/>
            <a:ext cx="2724150" cy="785813"/>
          </a:xfrm>
          <a:prstGeom prst="roundRect">
            <a:avLst>
              <a:gd name="adj" fmla="val 1697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CA25B33-9D80-4598-A523-989BB26598F3}"/>
              </a:ext>
            </a:extLst>
          </p:cNvPr>
          <p:cNvSpPr>
            <a:spLocks noGrp="1"/>
          </p:cNvSpPr>
          <p:nvPr/>
        </p:nvSpPr>
        <p:spPr>
          <a:xfrm>
            <a:off x="876300" y="3790950"/>
            <a:ext cx="2457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50% das vendas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6632170-8D66-47D8-9ACB-BA301CA2F987}"/>
              </a:ext>
            </a:extLst>
          </p:cNvPr>
          <p:cNvSpPr>
            <a:spLocks noGrp="1"/>
          </p:cNvSpPr>
          <p:nvPr/>
        </p:nvSpPr>
        <p:spPr>
          <a:xfrm>
            <a:off x="3581400" y="3684270"/>
            <a:ext cx="3307896" cy="785813"/>
          </a:xfrm>
          <a:prstGeom prst="roundRect">
            <a:avLst>
              <a:gd name="adj" fmla="val 1697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5DC84CE-7454-4C67-BF20-9D151C47815A}"/>
              </a:ext>
            </a:extLst>
          </p:cNvPr>
          <p:cNvSpPr>
            <a:spLocks noGrp="1"/>
          </p:cNvSpPr>
          <p:nvPr/>
        </p:nvSpPr>
        <p:spPr>
          <a:xfrm>
            <a:off x="3714750" y="3790950"/>
            <a:ext cx="3048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R$ 21.200.000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86D64E8B-E580-4C16-A370-808988E2856B}"/>
              </a:ext>
            </a:extLst>
          </p:cNvPr>
          <p:cNvSpPr>
            <a:spLocks noGrp="1"/>
          </p:cNvSpPr>
          <p:nvPr/>
        </p:nvSpPr>
        <p:spPr>
          <a:xfrm>
            <a:off x="7003596" y="3684270"/>
            <a:ext cx="3697061" cy="785813"/>
          </a:xfrm>
          <a:prstGeom prst="roundRect">
            <a:avLst>
              <a:gd name="adj" fmla="val 1697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390F8A7-9ABF-4C25-8A90-60FD2BC3D75C}"/>
              </a:ext>
            </a:extLst>
          </p:cNvPr>
          <p:cNvSpPr>
            <a:spLocks noGrp="1"/>
          </p:cNvSpPr>
          <p:nvPr/>
        </p:nvSpPr>
        <p:spPr>
          <a:xfrm>
            <a:off x="7143750" y="37909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R$ 9.737.900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5EA71CD0-996C-4E47-B6A3-80FCF895094D}"/>
              </a:ext>
            </a:extLst>
          </p:cNvPr>
          <p:cNvSpPr>
            <a:spLocks noGrp="1"/>
          </p:cNvSpPr>
          <p:nvPr/>
        </p:nvSpPr>
        <p:spPr>
          <a:xfrm>
            <a:off x="10814957" y="3684270"/>
            <a:ext cx="2918732" cy="785813"/>
          </a:xfrm>
          <a:prstGeom prst="roundRect">
            <a:avLst>
              <a:gd name="adj" fmla="val 1697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75671730-CFBD-4E41-8525-1163E9601CDB}"/>
              </a:ext>
            </a:extLst>
          </p:cNvPr>
          <p:cNvSpPr>
            <a:spLocks noGrp="1"/>
          </p:cNvSpPr>
          <p:nvPr/>
        </p:nvSpPr>
        <p:spPr>
          <a:xfrm>
            <a:off x="10953750" y="3790950"/>
            <a:ext cx="264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R$ 2.988.000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9F3F4F4-F246-46CE-9B22-2CDD4F8B2138}"/>
              </a:ext>
            </a:extLst>
          </p:cNvPr>
          <p:cNvSpPr>
            <a:spLocks noGrp="1"/>
          </p:cNvSpPr>
          <p:nvPr/>
        </p:nvSpPr>
        <p:spPr>
          <a:xfrm>
            <a:off x="13847989" y="3684270"/>
            <a:ext cx="3697061" cy="785813"/>
          </a:xfrm>
          <a:prstGeom prst="roundRect">
            <a:avLst>
              <a:gd name="adj" fmla="val 1697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A0EFD6AC-34CC-4C56-9370-156957C4C26E}"/>
              </a:ext>
            </a:extLst>
          </p:cNvPr>
          <p:cNvSpPr>
            <a:spLocks noGrp="1"/>
          </p:cNvSpPr>
          <p:nvPr/>
        </p:nvSpPr>
        <p:spPr>
          <a:xfrm>
            <a:off x="13982700" y="37909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R$ 6.749.900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C40C423A-0A94-4436-9445-DA4D8A60043A}"/>
              </a:ext>
            </a:extLst>
          </p:cNvPr>
          <p:cNvSpPr>
            <a:spLocks noGrp="1"/>
          </p:cNvSpPr>
          <p:nvPr/>
        </p:nvSpPr>
        <p:spPr>
          <a:xfrm>
            <a:off x="742950" y="4565333"/>
            <a:ext cx="2724150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70C216B5-91AB-4674-A0C9-26B6A0CC7C16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2457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100% das vendas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10D73C7A-8187-4755-9D1D-56FB39FA46D6}"/>
              </a:ext>
            </a:extLst>
          </p:cNvPr>
          <p:cNvSpPr>
            <a:spLocks noGrp="1"/>
          </p:cNvSpPr>
          <p:nvPr/>
        </p:nvSpPr>
        <p:spPr>
          <a:xfrm>
            <a:off x="3581400" y="4565333"/>
            <a:ext cx="3307896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DF19F545-22F5-4C36-98FF-D04C0BB351E3}"/>
              </a:ext>
            </a:extLst>
          </p:cNvPr>
          <p:cNvSpPr>
            <a:spLocks noGrp="1"/>
          </p:cNvSpPr>
          <p:nvPr/>
        </p:nvSpPr>
        <p:spPr>
          <a:xfrm>
            <a:off x="3714750" y="4686300"/>
            <a:ext cx="3048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R$ 42.400.000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B0889D5-E7EA-4258-91CA-43DE2CA0BD5D}"/>
              </a:ext>
            </a:extLst>
          </p:cNvPr>
          <p:cNvSpPr>
            <a:spLocks noGrp="1"/>
          </p:cNvSpPr>
          <p:nvPr/>
        </p:nvSpPr>
        <p:spPr>
          <a:xfrm>
            <a:off x="7003596" y="4565333"/>
            <a:ext cx="3697061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C0F71F78-2C26-4632-88F8-6015FFCF7A2E}"/>
              </a:ext>
            </a:extLst>
          </p:cNvPr>
          <p:cNvSpPr>
            <a:spLocks noGrp="1"/>
          </p:cNvSpPr>
          <p:nvPr/>
        </p:nvSpPr>
        <p:spPr>
          <a:xfrm>
            <a:off x="7143750" y="468630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R$ 19.475.800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AEFF77BA-AF85-4C35-9655-5D289AE62405}"/>
              </a:ext>
            </a:extLst>
          </p:cNvPr>
          <p:cNvSpPr>
            <a:spLocks noGrp="1"/>
          </p:cNvSpPr>
          <p:nvPr/>
        </p:nvSpPr>
        <p:spPr>
          <a:xfrm>
            <a:off x="10814957" y="4565333"/>
            <a:ext cx="2918732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DB2DB388-82F2-457C-A4D2-ADCC5A3C2421}"/>
              </a:ext>
            </a:extLst>
          </p:cNvPr>
          <p:cNvSpPr>
            <a:spLocks noGrp="1"/>
          </p:cNvSpPr>
          <p:nvPr/>
        </p:nvSpPr>
        <p:spPr>
          <a:xfrm>
            <a:off x="10953750" y="4686300"/>
            <a:ext cx="264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R$ 2.988.000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ED9B0B3B-C401-4AA6-94F6-979372A55B7C}"/>
              </a:ext>
            </a:extLst>
          </p:cNvPr>
          <p:cNvSpPr>
            <a:spLocks noGrp="1"/>
          </p:cNvSpPr>
          <p:nvPr/>
        </p:nvSpPr>
        <p:spPr>
          <a:xfrm>
            <a:off x="13847989" y="4565333"/>
            <a:ext cx="3697061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92F2380F-DAA6-4BDA-93D4-4B6D41CC9E9E}"/>
              </a:ext>
            </a:extLst>
          </p:cNvPr>
          <p:cNvSpPr>
            <a:spLocks noGrp="1"/>
          </p:cNvSpPr>
          <p:nvPr/>
        </p:nvSpPr>
        <p:spPr>
          <a:xfrm>
            <a:off x="13982700" y="468630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R$ 16.487.800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722B0C39-7365-4D8D-80AA-CA4DB6EB02A4}"/>
              </a:ext>
            </a:extLst>
          </p:cNvPr>
          <p:cNvSpPr>
            <a:spLocks noGrp="1"/>
          </p:cNvSpPr>
          <p:nvPr/>
        </p:nvSpPr>
        <p:spPr>
          <a:xfrm>
            <a:off x="742950" y="5560695"/>
            <a:ext cx="8296275" cy="4173855"/>
          </a:xfrm>
          <a:prstGeom prst="roundRect">
            <a:avLst>
              <a:gd name="adj" fmla="val 5021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1B864D2F-A2C6-4A97-9633-05B5574773A5}"/>
              </a:ext>
            </a:extLst>
          </p:cNvPr>
          <p:cNvSpPr>
            <a:spLocks noGrp="1"/>
          </p:cNvSpPr>
          <p:nvPr/>
        </p:nvSpPr>
        <p:spPr>
          <a:xfrm>
            <a:off x="952500" y="5772150"/>
            <a:ext cx="78867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Interpretação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07543709-C816-4BFB-BD0C-56FD8EEB6065}"/>
              </a:ext>
            </a:extLst>
          </p:cNvPr>
          <p:cNvSpPr>
            <a:spLocks noGrp="1"/>
          </p:cNvSpPr>
          <p:nvPr/>
        </p:nvSpPr>
        <p:spPr>
          <a:xfrm>
            <a:off x="952500" y="6210300"/>
            <a:ext cx="7886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negócio permanece positivo mesmo em 20% do volume de vendas do plano-base.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5B134C80-FFC4-4BF5-BB43-44C268F00DE0}"/>
              </a:ext>
            </a:extLst>
          </p:cNvPr>
          <p:cNvSpPr>
            <a:spLocks noGrp="1"/>
          </p:cNvSpPr>
          <p:nvPr/>
        </p:nvSpPr>
        <p:spPr>
          <a:xfrm>
            <a:off x="952500" y="6553200"/>
            <a:ext cx="7886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50% das vendas, o resultado líquido estimado já supera R$ 6,7 milhões/ano.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99335C15-82CE-47B3-8DBE-823348021711}"/>
              </a:ext>
            </a:extLst>
          </p:cNvPr>
          <p:cNvSpPr>
            <a:spLocks noGrp="1"/>
          </p:cNvSpPr>
          <p:nvPr/>
        </p:nvSpPr>
        <p:spPr>
          <a:xfrm>
            <a:off x="952500" y="6915150"/>
            <a:ext cx="7886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100%, o resultado líquido anual estimado alcança R$ 16,49 milhões.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CB4BACB9-76F6-44EB-9E1E-20D21CB7CB5B}"/>
              </a:ext>
            </a:extLst>
          </p:cNvPr>
          <p:cNvSpPr>
            <a:spLocks noGrp="1"/>
          </p:cNvSpPr>
          <p:nvPr/>
        </p:nvSpPr>
        <p:spPr>
          <a:xfrm>
            <a:off x="9248775" y="5560695"/>
            <a:ext cx="8296275" cy="4173855"/>
          </a:xfrm>
          <a:prstGeom prst="roundRect">
            <a:avLst>
              <a:gd name="adj" fmla="val 5021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0B45F999-CA9E-453F-B39A-3A31FCC8913C}"/>
              </a:ext>
            </a:extLst>
          </p:cNvPr>
          <p:cNvSpPr>
            <a:spLocks noGrp="1"/>
          </p:cNvSpPr>
          <p:nvPr/>
        </p:nvSpPr>
        <p:spPr>
          <a:xfrm>
            <a:off x="9467850" y="5772150"/>
            <a:ext cx="78867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Premissas do cálculo</a:t>
            </a: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345EFDA5-CBC9-4F92-A239-113933FDAFEF}"/>
              </a:ext>
            </a:extLst>
          </p:cNvPr>
          <p:cNvSpPr>
            <a:spLocks noGrp="1"/>
          </p:cNvSpPr>
          <p:nvPr/>
        </p:nvSpPr>
        <p:spPr>
          <a:xfrm>
            <a:off x="9467850" y="6210300"/>
            <a:ext cx="7886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Receita-base de R$ 42,4 milhões em regime.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890A2921-FF47-484D-8353-9B98ECB4E9F3}"/>
              </a:ext>
            </a:extLst>
          </p:cNvPr>
          <p:cNvSpPr>
            <a:spLocks noGrp="1"/>
          </p:cNvSpPr>
          <p:nvPr/>
        </p:nvSpPr>
        <p:spPr>
          <a:xfrm>
            <a:off x="9467850" y="6553200"/>
            <a:ext cx="7886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Custo fixo anual de R$ 2,988 milhões.</a:t>
            </a:r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0D32B124-1A4C-4927-B039-C308284349BD}"/>
              </a:ext>
            </a:extLst>
          </p:cNvPr>
          <p:cNvSpPr>
            <a:spLocks noGrp="1"/>
          </p:cNvSpPr>
          <p:nvPr/>
        </p:nvSpPr>
        <p:spPr>
          <a:xfrm>
            <a:off x="9467850" y="6915150"/>
            <a:ext cx="7886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Mesma relação de margem de contribuição implícita na modelagem atual.</a:t>
            </a:r>
          </a:p>
        </p:txBody>
      </p:sp>
    </p:spTree>
    <p:extLst>
      <p:ext uri="{BB962C8B-B14F-4D97-AF65-F5344CB8AC3E}">
        <p14:creationId xmlns:p14="http://schemas.microsoft.com/office/powerpoint/2010/main" val="495483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5003E401-37C1-415A-90DB-93CEE7C028BF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6. Investimento necessário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12484EA-490D-4D49-88BE-65919F3CE71A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1C2683C-8E93-4A0D-BDD9-8C7AB690C95F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7048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 dirty="0" err="1">
                <a:solidFill>
                  <a:srgbClr val="475569"/>
                </a:solidFill>
              </a:rPr>
              <a:t>Composição</a:t>
            </a:r>
            <a:r>
              <a:rPr sz="1650" b="0" dirty="0">
                <a:solidFill>
                  <a:srgbClr val="475569"/>
                </a:solidFill>
              </a:rPr>
              <a:t> do </a:t>
            </a:r>
            <a:r>
              <a:rPr sz="1650" b="0" dirty="0" err="1">
                <a:solidFill>
                  <a:srgbClr val="475569"/>
                </a:solidFill>
              </a:rPr>
              <a:t>investimento</a:t>
            </a:r>
            <a:r>
              <a:rPr sz="1650" b="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4E1DAA7-8AC8-4958-8455-97577F34445A}"/>
              </a:ext>
            </a:extLst>
          </p:cNvPr>
          <p:cNvSpPr>
            <a:spLocks noGrp="1"/>
          </p:cNvSpPr>
          <p:nvPr/>
        </p:nvSpPr>
        <p:spPr>
          <a:xfrm>
            <a:off x="838200" y="2036445"/>
            <a:ext cx="5410200" cy="2095500"/>
          </a:xfrm>
          <a:prstGeom prst="roundRect">
            <a:avLst>
              <a:gd name="adj" fmla="val 10000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F5ACB50-F3AB-4C75-A9F4-182501E8A463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499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Capital de giro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A86095E-C12B-48CB-859C-907E30208CB2}"/>
              </a:ext>
            </a:extLst>
          </p:cNvPr>
          <p:cNvSpPr>
            <a:spLocks noGrp="1"/>
          </p:cNvSpPr>
          <p:nvPr/>
        </p:nvSpPr>
        <p:spPr>
          <a:xfrm>
            <a:off x="1047750" y="2590800"/>
            <a:ext cx="4991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R$ 1.500.000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EB6054B-ACB5-4F33-817A-0771A1F7622D}"/>
              </a:ext>
            </a:extLst>
          </p:cNvPr>
          <p:cNvSpPr>
            <a:spLocks noGrp="1"/>
          </p:cNvSpPr>
          <p:nvPr/>
        </p:nvSpPr>
        <p:spPr>
          <a:xfrm>
            <a:off x="6438900" y="2036445"/>
            <a:ext cx="5410200" cy="2095500"/>
          </a:xfrm>
          <a:prstGeom prst="roundRect">
            <a:avLst>
              <a:gd name="adj" fmla="val 10000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847B7BD-EC25-49A2-8E63-99161170FDB0}"/>
              </a:ext>
            </a:extLst>
          </p:cNvPr>
          <p:cNvSpPr>
            <a:spLocks noGrp="1"/>
          </p:cNvSpPr>
          <p:nvPr/>
        </p:nvSpPr>
        <p:spPr>
          <a:xfrm>
            <a:off x="6648450" y="2247900"/>
            <a:ext cx="499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Estoques / containers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291D72E-07C9-493D-A345-0F4505A8FB2E}"/>
              </a:ext>
            </a:extLst>
          </p:cNvPr>
          <p:cNvSpPr>
            <a:spLocks noGrp="1"/>
          </p:cNvSpPr>
          <p:nvPr/>
        </p:nvSpPr>
        <p:spPr>
          <a:xfrm>
            <a:off x="6648450" y="2590800"/>
            <a:ext cx="4991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R$ 8.820.000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1EDDB1A-AF2B-45E6-BDD1-B4167042F0A5}"/>
              </a:ext>
            </a:extLst>
          </p:cNvPr>
          <p:cNvSpPr>
            <a:spLocks noGrp="1"/>
          </p:cNvSpPr>
          <p:nvPr/>
        </p:nvSpPr>
        <p:spPr>
          <a:xfrm>
            <a:off x="12039600" y="2036445"/>
            <a:ext cx="5410200" cy="20955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02F1DA5-067F-42B0-890B-1574BFFDD3DA}"/>
              </a:ext>
            </a:extLst>
          </p:cNvPr>
          <p:cNvSpPr>
            <a:spLocks noGrp="1"/>
          </p:cNvSpPr>
          <p:nvPr/>
        </p:nvSpPr>
        <p:spPr>
          <a:xfrm>
            <a:off x="12249150" y="2247900"/>
            <a:ext cx="499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Investimento total do plano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173040A-45F3-403B-8E87-0402E0D9427B}"/>
              </a:ext>
            </a:extLst>
          </p:cNvPr>
          <p:cNvSpPr>
            <a:spLocks noGrp="1"/>
          </p:cNvSpPr>
          <p:nvPr/>
        </p:nvSpPr>
        <p:spPr>
          <a:xfrm>
            <a:off x="12249150" y="2590800"/>
            <a:ext cx="4991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R$ 11.000.000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86CFEBC-A209-4B86-940D-76F18D6F18AE}"/>
              </a:ext>
            </a:extLst>
          </p:cNvPr>
          <p:cNvSpPr>
            <a:spLocks noGrp="1"/>
          </p:cNvSpPr>
          <p:nvPr/>
        </p:nvSpPr>
        <p:spPr>
          <a:xfrm>
            <a:off x="838200" y="4360545"/>
            <a:ext cx="8201025" cy="5278755"/>
          </a:xfrm>
          <a:prstGeom prst="roundRect">
            <a:avLst>
              <a:gd name="adj" fmla="val 3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35C55A4-30E0-4293-97F5-7124B8E89C15}"/>
              </a:ext>
            </a:extLst>
          </p:cNvPr>
          <p:cNvSpPr>
            <a:spLocks noGrp="1"/>
          </p:cNvSpPr>
          <p:nvPr/>
        </p:nvSpPr>
        <p:spPr>
          <a:xfrm>
            <a:off x="1066800" y="4591050"/>
            <a:ext cx="7753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Detalhamento do investimento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45DF3D1-D92A-4B56-9002-F95284AF0C30}"/>
              </a:ext>
            </a:extLst>
          </p:cNvPr>
          <p:cNvSpPr>
            <a:spLocks noGrp="1"/>
          </p:cNvSpPr>
          <p:nvPr/>
        </p:nvSpPr>
        <p:spPr>
          <a:xfrm>
            <a:off x="1066800" y="504825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6 meses de custos e despesas fixas: R$ 1,5 milhão.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C4B6A32-19BD-40FC-B4FB-E5DD6557F5D9}"/>
              </a:ext>
            </a:extLst>
          </p:cNvPr>
          <p:cNvSpPr>
            <a:spLocks noGrp="1"/>
          </p:cNvSpPr>
          <p:nvPr/>
        </p:nvSpPr>
        <p:spPr>
          <a:xfrm>
            <a:off x="1066800" y="54102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1 container de 36 unidades: R$ 1,764 milhão.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04A0099-8C89-4706-BE2C-323A099CB502}"/>
              </a:ext>
            </a:extLst>
          </p:cNvPr>
          <p:cNvSpPr>
            <a:spLocks noGrp="1"/>
          </p:cNvSpPr>
          <p:nvPr/>
        </p:nvSpPr>
        <p:spPr>
          <a:xfrm>
            <a:off x="1066800" y="57531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3 containers de 36 unidades: R$ 5,292 milhões.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719FFEA-CAA5-421E-9FAD-607135973B35}"/>
              </a:ext>
            </a:extLst>
          </p:cNvPr>
          <p:cNvSpPr>
            <a:spLocks noGrp="1"/>
          </p:cNvSpPr>
          <p:nvPr/>
        </p:nvSpPr>
        <p:spPr>
          <a:xfrm>
            <a:off x="1066800" y="611505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1 container adicional de 36 unidades: R$ 1,764 milhão.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8AAEA51-C425-422C-9739-F002D339812B}"/>
              </a:ext>
            </a:extLst>
          </p:cNvPr>
          <p:cNvSpPr>
            <a:spLocks noGrp="1"/>
          </p:cNvSpPr>
          <p:nvPr/>
        </p:nvSpPr>
        <p:spPr>
          <a:xfrm>
            <a:off x="1066800" y="6477000"/>
            <a:ext cx="77533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Saldo implícito de estrutura/contingência até o aporte total: aproximadamente R$ 680 mil.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7C05E73-0DF8-44AD-A1F4-BC76A0554EAB}"/>
              </a:ext>
            </a:extLst>
          </p:cNvPr>
          <p:cNvSpPr>
            <a:spLocks noGrp="1"/>
          </p:cNvSpPr>
          <p:nvPr/>
        </p:nvSpPr>
        <p:spPr>
          <a:xfrm>
            <a:off x="9248775" y="4360545"/>
            <a:ext cx="8201025" cy="5278755"/>
          </a:xfrm>
          <a:prstGeom prst="roundRect">
            <a:avLst>
              <a:gd name="adj" fmla="val 3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92A05CF-0F18-4E0B-A672-B677437A326F}"/>
              </a:ext>
            </a:extLst>
          </p:cNvPr>
          <p:cNvSpPr>
            <a:spLocks noGrp="1"/>
          </p:cNvSpPr>
          <p:nvPr/>
        </p:nvSpPr>
        <p:spPr>
          <a:xfrm>
            <a:off x="9486900" y="4591050"/>
            <a:ext cx="7753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executiva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D85BD72-9822-47C5-95BB-7D0F7C164B2D}"/>
              </a:ext>
            </a:extLst>
          </p:cNvPr>
          <p:cNvSpPr>
            <a:spLocks noGrp="1"/>
          </p:cNvSpPr>
          <p:nvPr/>
        </p:nvSpPr>
        <p:spPr>
          <a:xfrm>
            <a:off x="9486900" y="504825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investimento é majoritariamente direcionado a estoque e capacidade de entrega.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A8BE51A-B558-4B32-8167-88851031C8F4}"/>
              </a:ext>
            </a:extLst>
          </p:cNvPr>
          <p:cNvSpPr>
            <a:spLocks noGrp="1"/>
          </p:cNvSpPr>
          <p:nvPr/>
        </p:nvSpPr>
        <p:spPr>
          <a:xfrm>
            <a:off x="9486900" y="54102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capital de giro reduz risco de execução no ramp-up.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21272DB-2623-4167-8954-1A17D5C8AD97}"/>
              </a:ext>
            </a:extLst>
          </p:cNvPr>
          <p:cNvSpPr>
            <a:spLocks noGrp="1"/>
          </p:cNvSpPr>
          <p:nvPr/>
        </p:nvSpPr>
        <p:spPr>
          <a:xfrm>
            <a:off x="9486900" y="57531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plano nasce sem dependência de alavancagem financeira externa na largada.</a:t>
            </a:r>
          </a:p>
        </p:txBody>
      </p:sp>
    </p:spTree>
    <p:extLst>
      <p:ext uri="{BB962C8B-B14F-4D97-AF65-F5344CB8AC3E}">
        <p14:creationId xmlns:p14="http://schemas.microsoft.com/office/powerpoint/2010/main" val="1972295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34CB752E-7A6A-4F35-BC47-E3C8CADE344B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7. Premissas financeiras do investidor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D6A3A2E-E4EF-4135-AB45-CF4E4A7497C2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5C85A11-F878-4A9D-A318-DE70579A5DFB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109347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 dirty="0" err="1">
                <a:solidFill>
                  <a:srgbClr val="475569"/>
                </a:solidFill>
              </a:rPr>
              <a:t>Premissas</a:t>
            </a:r>
            <a:r>
              <a:rPr sz="1650" b="0" dirty="0">
                <a:solidFill>
                  <a:srgbClr val="475569"/>
                </a:solidFill>
              </a:rPr>
              <a:t> </a:t>
            </a:r>
            <a:r>
              <a:rPr sz="1650" b="0" dirty="0" err="1">
                <a:solidFill>
                  <a:srgbClr val="475569"/>
                </a:solidFill>
              </a:rPr>
              <a:t>explícitas</a:t>
            </a:r>
            <a:r>
              <a:rPr sz="1650" b="0" dirty="0">
                <a:solidFill>
                  <a:srgbClr val="475569"/>
                </a:solidFill>
              </a:rPr>
              <a:t> do </a:t>
            </a:r>
            <a:r>
              <a:rPr sz="1650" b="0" dirty="0" err="1">
                <a:solidFill>
                  <a:srgbClr val="475569"/>
                </a:solidFill>
              </a:rPr>
              <a:t>relatório</a:t>
            </a:r>
            <a:r>
              <a:rPr sz="1650" b="0" dirty="0">
                <a:solidFill>
                  <a:srgbClr val="475569"/>
                </a:solidFill>
              </a:rPr>
              <a:t> </a:t>
            </a:r>
            <a:r>
              <a:rPr sz="1650" b="0" dirty="0" err="1">
                <a:solidFill>
                  <a:srgbClr val="475569"/>
                </a:solidFill>
              </a:rPr>
              <a:t>combinadas</a:t>
            </a:r>
            <a:r>
              <a:rPr sz="1650" b="0" dirty="0">
                <a:solidFill>
                  <a:srgbClr val="475569"/>
                </a:solidFill>
              </a:rPr>
              <a:t> com </a:t>
            </a:r>
            <a:r>
              <a:rPr sz="1650" b="0" dirty="0" err="1">
                <a:solidFill>
                  <a:srgbClr val="475569"/>
                </a:solidFill>
              </a:rPr>
              <a:t>métricas</a:t>
            </a:r>
            <a:r>
              <a:rPr sz="1650" b="0" dirty="0">
                <a:solidFill>
                  <a:srgbClr val="475569"/>
                </a:solidFill>
              </a:rPr>
              <a:t> </a:t>
            </a:r>
            <a:r>
              <a:rPr sz="1650" b="0" dirty="0" err="1">
                <a:solidFill>
                  <a:srgbClr val="475569"/>
                </a:solidFill>
              </a:rPr>
              <a:t>calculadas</a:t>
            </a:r>
            <a:r>
              <a:rPr sz="1650" b="0" dirty="0">
                <a:solidFill>
                  <a:srgbClr val="475569"/>
                </a:solidFill>
              </a:rPr>
              <a:t> </a:t>
            </a:r>
            <a:r>
              <a:rPr sz="1650" b="0" dirty="0" err="1">
                <a:solidFill>
                  <a:srgbClr val="475569"/>
                </a:solidFill>
              </a:rPr>
              <a:t>em</a:t>
            </a:r>
            <a:r>
              <a:rPr sz="1650" b="0" dirty="0">
                <a:solidFill>
                  <a:srgbClr val="475569"/>
                </a:solidFill>
              </a:rPr>
              <a:t> regime </a:t>
            </a:r>
            <a:r>
              <a:rPr sz="1650" b="0" dirty="0" err="1">
                <a:solidFill>
                  <a:srgbClr val="475569"/>
                </a:solidFill>
              </a:rPr>
              <a:t>estáve</a:t>
            </a:r>
            <a:r>
              <a:rPr lang="pt-BR" sz="1650" b="0" dirty="0">
                <a:solidFill>
                  <a:srgbClr val="475569"/>
                </a:solidFill>
              </a:rPr>
              <a:t>l</a:t>
            </a:r>
            <a:r>
              <a:rPr sz="1650" b="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C2314A8-677C-4520-A69B-D4E093658C1E}"/>
              </a:ext>
            </a:extLst>
          </p:cNvPr>
          <p:cNvSpPr>
            <a:spLocks noGrp="1"/>
          </p:cNvSpPr>
          <p:nvPr/>
        </p:nvSpPr>
        <p:spPr>
          <a:xfrm>
            <a:off x="838200" y="2036445"/>
            <a:ext cx="3185160" cy="2286000"/>
          </a:xfrm>
          <a:prstGeom prst="roundRect">
            <a:avLst>
              <a:gd name="adj" fmla="val 9167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7596898-FEC5-4B43-A8AD-57D3C54CD84D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2762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Distribuição ao investidor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EC61FCF-587C-4ED3-906F-DA164B567697}"/>
              </a:ext>
            </a:extLst>
          </p:cNvPr>
          <p:cNvSpPr>
            <a:spLocks noGrp="1"/>
          </p:cNvSpPr>
          <p:nvPr/>
        </p:nvSpPr>
        <p:spPr>
          <a:xfrm>
            <a:off x="1047750" y="2590800"/>
            <a:ext cx="2762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25%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7FD6317-818A-4DBF-AB0B-A0CD8B1CAA31}"/>
              </a:ext>
            </a:extLst>
          </p:cNvPr>
          <p:cNvSpPr>
            <a:spLocks noGrp="1"/>
          </p:cNvSpPr>
          <p:nvPr/>
        </p:nvSpPr>
        <p:spPr>
          <a:xfrm>
            <a:off x="4194810" y="2036445"/>
            <a:ext cx="3185160" cy="2286000"/>
          </a:xfrm>
          <a:prstGeom prst="roundRect">
            <a:avLst>
              <a:gd name="adj" fmla="val 9167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02F69FC-A000-4DDA-9CB4-4E0DE5D11D83}"/>
              </a:ext>
            </a:extLst>
          </p:cNvPr>
          <p:cNvSpPr>
            <a:spLocks noGrp="1"/>
          </p:cNvSpPr>
          <p:nvPr/>
        </p:nvSpPr>
        <p:spPr>
          <a:xfrm>
            <a:off x="4400550" y="2247900"/>
            <a:ext cx="27622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de oportunidade (assumido)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EF2BB38-480B-47F6-B7FC-0A385264EE21}"/>
              </a:ext>
            </a:extLst>
          </p:cNvPr>
          <p:cNvSpPr>
            <a:spLocks noGrp="1"/>
          </p:cNvSpPr>
          <p:nvPr/>
        </p:nvSpPr>
        <p:spPr>
          <a:xfrm>
            <a:off x="4400550" y="2819400"/>
            <a:ext cx="2762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15% a.a.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6421CE8-5CF7-42E3-92CD-275F40F75833}"/>
              </a:ext>
            </a:extLst>
          </p:cNvPr>
          <p:cNvSpPr>
            <a:spLocks noGrp="1"/>
          </p:cNvSpPr>
          <p:nvPr/>
        </p:nvSpPr>
        <p:spPr>
          <a:xfrm>
            <a:off x="7551420" y="2036445"/>
            <a:ext cx="3185160" cy="2286000"/>
          </a:xfrm>
          <a:prstGeom prst="roundRect">
            <a:avLst>
              <a:gd name="adj" fmla="val 9167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C36A35D-3316-4C37-AE23-76F04F93BEC5}"/>
              </a:ext>
            </a:extLst>
          </p:cNvPr>
          <p:cNvSpPr>
            <a:spLocks noGrp="1"/>
          </p:cNvSpPr>
          <p:nvPr/>
        </p:nvSpPr>
        <p:spPr>
          <a:xfrm>
            <a:off x="7753350" y="2247900"/>
            <a:ext cx="2762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TIR estimada*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0E2649F-04D9-439C-8648-ED37DB746D30}"/>
              </a:ext>
            </a:extLst>
          </p:cNvPr>
          <p:cNvSpPr>
            <a:spLocks noGrp="1"/>
          </p:cNvSpPr>
          <p:nvPr/>
        </p:nvSpPr>
        <p:spPr>
          <a:xfrm>
            <a:off x="7753350" y="2590800"/>
            <a:ext cx="2762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25,4% a.a.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FBFD2CA-30A5-4B97-A017-09E27B0BBAD4}"/>
              </a:ext>
            </a:extLst>
          </p:cNvPr>
          <p:cNvSpPr>
            <a:spLocks noGrp="1"/>
          </p:cNvSpPr>
          <p:nvPr/>
        </p:nvSpPr>
        <p:spPr>
          <a:xfrm>
            <a:off x="10908030" y="2036445"/>
            <a:ext cx="3185160" cy="2286000"/>
          </a:xfrm>
          <a:prstGeom prst="roundRect">
            <a:avLst>
              <a:gd name="adj" fmla="val 9167"/>
            </a:avLst>
          </a:prstGeom>
          <a:solidFill>
            <a:srgbClr val="FCE7F3"/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DC54D89-5EDE-4254-B128-15E37B8F3C47}"/>
              </a:ext>
            </a:extLst>
          </p:cNvPr>
          <p:cNvSpPr>
            <a:spLocks noGrp="1"/>
          </p:cNvSpPr>
          <p:nvPr/>
        </p:nvSpPr>
        <p:spPr>
          <a:xfrm>
            <a:off x="11125200" y="2247900"/>
            <a:ext cx="2762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VPL estimado*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5FE51C4-5D37-44F5-9678-D44B10C15056}"/>
              </a:ext>
            </a:extLst>
          </p:cNvPr>
          <p:cNvSpPr>
            <a:spLocks noGrp="1"/>
          </p:cNvSpPr>
          <p:nvPr/>
        </p:nvSpPr>
        <p:spPr>
          <a:xfrm>
            <a:off x="11125200" y="2590800"/>
            <a:ext cx="2762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R$ 2.817.416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38E3FA4-75AD-4FFB-A4BA-6096A7DE66FD}"/>
              </a:ext>
            </a:extLst>
          </p:cNvPr>
          <p:cNvSpPr>
            <a:spLocks noGrp="1"/>
          </p:cNvSpPr>
          <p:nvPr/>
        </p:nvSpPr>
        <p:spPr>
          <a:xfrm>
            <a:off x="14264640" y="2036445"/>
            <a:ext cx="3185160" cy="2286000"/>
          </a:xfrm>
          <a:prstGeom prst="roundRect">
            <a:avLst>
              <a:gd name="adj" fmla="val 9167"/>
            </a:avLst>
          </a:prstGeom>
          <a:solidFill>
            <a:srgbClr val="EDE9FE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D2D825F-C25C-4CF1-AEDB-984BE71213AC}"/>
              </a:ext>
            </a:extLst>
          </p:cNvPr>
          <p:cNvSpPr>
            <a:spLocks noGrp="1"/>
          </p:cNvSpPr>
          <p:nvPr/>
        </p:nvSpPr>
        <p:spPr>
          <a:xfrm>
            <a:off x="14478000" y="2247900"/>
            <a:ext cx="2762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Payback do investidor*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C1F5E10-BC9A-418A-9A61-41D4C55B5452}"/>
              </a:ext>
            </a:extLst>
          </p:cNvPr>
          <p:cNvSpPr>
            <a:spLocks noGrp="1"/>
          </p:cNvSpPr>
          <p:nvPr/>
        </p:nvSpPr>
        <p:spPr>
          <a:xfrm>
            <a:off x="14478000" y="2590800"/>
            <a:ext cx="2762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2,67 anos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7E3FEBD3-4508-4454-884C-72F5C6933FE7}"/>
              </a:ext>
            </a:extLst>
          </p:cNvPr>
          <p:cNvSpPr>
            <a:spLocks noGrp="1"/>
          </p:cNvSpPr>
          <p:nvPr/>
        </p:nvSpPr>
        <p:spPr>
          <a:xfrm>
            <a:off x="838200" y="4551045"/>
            <a:ext cx="8201025" cy="5088255"/>
          </a:xfrm>
          <a:prstGeom prst="roundRect">
            <a:avLst>
              <a:gd name="adj" fmla="val 4118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BA2C491-01F0-4D69-9426-6C7230E2ED8F}"/>
              </a:ext>
            </a:extLst>
          </p:cNvPr>
          <p:cNvSpPr>
            <a:spLocks noGrp="1"/>
          </p:cNvSpPr>
          <p:nvPr/>
        </p:nvSpPr>
        <p:spPr>
          <a:xfrm>
            <a:off x="1066800" y="4781550"/>
            <a:ext cx="7753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das premissas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76D488E-F6FB-4827-9D0C-0E83E88FA051}"/>
              </a:ext>
            </a:extLst>
          </p:cNvPr>
          <p:cNvSpPr>
            <a:spLocks noGrp="1"/>
          </p:cNvSpPr>
          <p:nvPr/>
        </p:nvSpPr>
        <p:spPr>
          <a:xfrm>
            <a:off x="1066800" y="5238750"/>
            <a:ext cx="77533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relatório explicita distribuição de 25% a partir de nov/2026 para “Outras”, aqui tratada como base do investidor.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09D7A81-6CC3-4B08-92ED-71BE202EF119}"/>
              </a:ext>
            </a:extLst>
          </p:cNvPr>
          <p:cNvSpPr>
            <a:spLocks noGrp="1"/>
          </p:cNvSpPr>
          <p:nvPr/>
        </p:nvSpPr>
        <p:spPr>
          <a:xfrm>
            <a:off x="1066800" y="5848350"/>
            <a:ext cx="77533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investidor participa do upside sem que os 3 produtos a ativar tenham sido considerados no fluxo-base.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535C838-9EE8-436C-B4D7-E8EE4EC841EF}"/>
              </a:ext>
            </a:extLst>
          </p:cNvPr>
          <p:cNvSpPr>
            <a:spLocks noGrp="1"/>
          </p:cNvSpPr>
          <p:nvPr/>
        </p:nvSpPr>
        <p:spPr>
          <a:xfrm>
            <a:off x="1066800" y="64770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retorno calculado não depende de aumento de preço ou redução de custo fixo.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088FB2A8-D811-4BE7-8165-6CDFA231AD1A}"/>
              </a:ext>
            </a:extLst>
          </p:cNvPr>
          <p:cNvSpPr>
            <a:spLocks noGrp="1"/>
          </p:cNvSpPr>
          <p:nvPr/>
        </p:nvSpPr>
        <p:spPr>
          <a:xfrm>
            <a:off x="9248775" y="4551045"/>
            <a:ext cx="8201025" cy="5088255"/>
          </a:xfrm>
          <a:prstGeom prst="roundRect">
            <a:avLst>
              <a:gd name="adj" fmla="val 4118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86811A6-026B-48B0-81B0-4394BCEC07E3}"/>
              </a:ext>
            </a:extLst>
          </p:cNvPr>
          <p:cNvSpPr>
            <a:spLocks noGrp="1"/>
          </p:cNvSpPr>
          <p:nvPr/>
        </p:nvSpPr>
        <p:spPr>
          <a:xfrm>
            <a:off x="9486900" y="4781550"/>
            <a:ext cx="7753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Notas metodológicas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85F3FAC-F3D1-4082-9D89-413B9B977197}"/>
              </a:ext>
            </a:extLst>
          </p:cNvPr>
          <p:cNvSpPr>
            <a:spLocks noGrp="1"/>
          </p:cNvSpPr>
          <p:nvPr/>
        </p:nvSpPr>
        <p:spPr>
          <a:xfrm>
            <a:off x="9486900" y="5238750"/>
            <a:ext cx="77533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TIR, VPL e payback calculados sobre fluxo anual simplificado de 5 anos, sem valor terminal.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C069A54-E312-4E8C-AA37-41C9EB9B402B}"/>
              </a:ext>
            </a:extLst>
          </p:cNvPr>
          <p:cNvSpPr>
            <a:spLocks noGrp="1"/>
          </p:cNvSpPr>
          <p:nvPr/>
        </p:nvSpPr>
        <p:spPr>
          <a:xfrm>
            <a:off x="9486900" y="584835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VPL calculado com custo de oportunidade assumido de 15% a.a.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E263F06-93DB-4242-B0EF-A971224B9887}"/>
              </a:ext>
            </a:extLst>
          </p:cNvPr>
          <p:cNvSpPr>
            <a:spLocks noGrp="1"/>
          </p:cNvSpPr>
          <p:nvPr/>
        </p:nvSpPr>
        <p:spPr>
          <a:xfrm>
            <a:off x="9486900" y="62103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Os indicadores não incorporam upside dos produtos ainda não ativados.</a:t>
            </a:r>
          </a:p>
        </p:txBody>
      </p:sp>
    </p:spTree>
    <p:extLst>
      <p:ext uri="{BB962C8B-B14F-4D97-AF65-F5344CB8AC3E}">
        <p14:creationId xmlns:p14="http://schemas.microsoft.com/office/powerpoint/2010/main" val="1928607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1DBF79A2-CFD5-4BBC-9E5C-83B4C1D9C813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8. Fluxo de caixa do negócio (resumido)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6B3F501-581D-4B6A-96DC-CFE68B19F7A5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E06F84B-5D17-4736-9D29-81ABA3F7E8B4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9372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Corte resumido para set/2027, um mês após o fim do ramp-up, e para o ano cheio de 2028 em regime estável.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C513895-510D-48E3-84B5-8471CAEE8798}"/>
              </a:ext>
            </a:extLst>
          </p:cNvPr>
          <p:cNvSpPr>
            <a:spLocks noGrp="1"/>
          </p:cNvSpPr>
          <p:nvPr/>
        </p:nvSpPr>
        <p:spPr>
          <a:xfrm>
            <a:off x="838200" y="1784985"/>
            <a:ext cx="8201025" cy="2667000"/>
          </a:xfrm>
          <a:prstGeom prst="roundRect">
            <a:avLst>
              <a:gd name="adj" fmla="val 8571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483FCBD-5329-4219-A4B2-693BB33B0E1E}"/>
              </a:ext>
            </a:extLst>
          </p:cNvPr>
          <p:cNvSpPr>
            <a:spLocks noGrp="1"/>
          </p:cNvSpPr>
          <p:nvPr/>
        </p:nvSpPr>
        <p:spPr>
          <a:xfrm>
            <a:off x="1066800" y="2019300"/>
            <a:ext cx="7753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Set/2027 (1 mês após o ramp-up)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103090F-6D97-41B5-B0B6-B3FA4A335112}"/>
              </a:ext>
            </a:extLst>
          </p:cNvPr>
          <p:cNvSpPr>
            <a:spLocks noGrp="1"/>
          </p:cNvSpPr>
          <p:nvPr/>
        </p:nvSpPr>
        <p:spPr>
          <a:xfrm>
            <a:off x="1066800" y="241935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Receita: R$ 3.533.333,3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A51C59C-C819-40D2-837D-B146A245E482}"/>
              </a:ext>
            </a:extLst>
          </p:cNvPr>
          <p:cNvSpPr>
            <a:spLocks noGrp="1"/>
          </p:cNvSpPr>
          <p:nvPr/>
        </p:nvSpPr>
        <p:spPr>
          <a:xfrm>
            <a:off x="1066800" y="281940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Margem de contribuição: R$ 1.622.983,3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3F77698-4F20-40FF-A634-D124DDE7BA08}"/>
              </a:ext>
            </a:extLst>
          </p:cNvPr>
          <p:cNvSpPr>
            <a:spLocks noGrp="1"/>
          </p:cNvSpPr>
          <p:nvPr/>
        </p:nvSpPr>
        <p:spPr>
          <a:xfrm>
            <a:off x="1066800" y="320040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Custo fixo: R$ 249.000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E1E8771-2A81-41F9-A362-0B71A16C66F6}"/>
              </a:ext>
            </a:extLst>
          </p:cNvPr>
          <p:cNvSpPr>
            <a:spLocks noGrp="1"/>
          </p:cNvSpPr>
          <p:nvPr/>
        </p:nvSpPr>
        <p:spPr>
          <a:xfrm>
            <a:off x="1066800" y="360045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Resultado líquido estimado: R$ 1.373.983,3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5D8484F-3D4D-4465-BD8D-80C820558787}"/>
              </a:ext>
            </a:extLst>
          </p:cNvPr>
          <p:cNvSpPr>
            <a:spLocks noGrp="1"/>
          </p:cNvSpPr>
          <p:nvPr/>
        </p:nvSpPr>
        <p:spPr>
          <a:xfrm>
            <a:off x="9248775" y="1784985"/>
            <a:ext cx="8201025" cy="2667000"/>
          </a:xfrm>
          <a:prstGeom prst="roundRect">
            <a:avLst>
              <a:gd name="adj" fmla="val 8571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0DCA4B0-16B5-4A99-921A-387892B9CC61}"/>
              </a:ext>
            </a:extLst>
          </p:cNvPr>
          <p:cNvSpPr>
            <a:spLocks noGrp="1"/>
          </p:cNvSpPr>
          <p:nvPr/>
        </p:nvSpPr>
        <p:spPr>
          <a:xfrm>
            <a:off x="9486900" y="2019300"/>
            <a:ext cx="7753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Ano cheio 2028 (jan-dez)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69830D5-0E13-4C20-AFEE-6801674194BA}"/>
              </a:ext>
            </a:extLst>
          </p:cNvPr>
          <p:cNvSpPr>
            <a:spLocks noGrp="1"/>
          </p:cNvSpPr>
          <p:nvPr/>
        </p:nvSpPr>
        <p:spPr>
          <a:xfrm>
            <a:off x="9486900" y="241935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Receita anual: R$ 42.400.000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C031618-BADF-4E34-AA08-3C4F0CA547C7}"/>
              </a:ext>
            </a:extLst>
          </p:cNvPr>
          <p:cNvSpPr>
            <a:spLocks noGrp="1"/>
          </p:cNvSpPr>
          <p:nvPr/>
        </p:nvSpPr>
        <p:spPr>
          <a:xfrm>
            <a:off x="9486900" y="281940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Margem de contribuição anual: R$ 19.475.800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9008B93-6DA0-41F8-A96F-52D913BE3C17}"/>
              </a:ext>
            </a:extLst>
          </p:cNvPr>
          <p:cNvSpPr>
            <a:spLocks noGrp="1"/>
          </p:cNvSpPr>
          <p:nvPr/>
        </p:nvSpPr>
        <p:spPr>
          <a:xfrm>
            <a:off x="9486900" y="320040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Custo fixo anual: R$ 2.988.000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CCE9D31-F862-480E-9563-1DC5238C397F}"/>
              </a:ext>
            </a:extLst>
          </p:cNvPr>
          <p:cNvSpPr>
            <a:spLocks noGrp="1"/>
          </p:cNvSpPr>
          <p:nvPr/>
        </p:nvSpPr>
        <p:spPr>
          <a:xfrm>
            <a:off x="9486900" y="360045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Resultado líquido anual: R$ 16.487.800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E122029-3EBA-4563-B859-3FFE8FB8BDC3}"/>
              </a:ext>
            </a:extLst>
          </p:cNvPr>
          <p:cNvSpPr>
            <a:spLocks noGrp="1"/>
          </p:cNvSpPr>
          <p:nvPr/>
        </p:nvSpPr>
        <p:spPr>
          <a:xfrm>
            <a:off x="838200" y="4680585"/>
            <a:ext cx="16611600" cy="4958715"/>
          </a:xfrm>
          <a:prstGeom prst="roundRect">
            <a:avLst>
              <a:gd name="adj" fmla="val 4226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D7C0138-F4AB-4496-A967-CD33C700D5DB}"/>
              </a:ext>
            </a:extLst>
          </p:cNvPr>
          <p:cNvSpPr>
            <a:spLocks noGrp="1"/>
          </p:cNvSpPr>
          <p:nvPr/>
        </p:nvSpPr>
        <p:spPr>
          <a:xfrm>
            <a:off x="1066800" y="4914900"/>
            <a:ext cx="16154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complementar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654F92E-023C-4FA1-96B4-D959A6498941}"/>
              </a:ext>
            </a:extLst>
          </p:cNvPr>
          <p:cNvSpPr>
            <a:spLocks noGrp="1"/>
          </p:cNvSpPr>
          <p:nvPr/>
        </p:nvSpPr>
        <p:spPr>
          <a:xfrm>
            <a:off x="1066800" y="537210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regime, o negócio gera aproximadamente R$ 1,37 milhão de resultado líquido por mês.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1EACDCA-748D-4402-88A7-EC764F816D49}"/>
              </a:ext>
            </a:extLst>
          </p:cNvPr>
          <p:cNvSpPr>
            <a:spLocks noGrp="1"/>
          </p:cNvSpPr>
          <p:nvPr/>
        </p:nvSpPr>
        <p:spPr>
          <a:xfrm>
            <a:off x="1066800" y="571500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Se houver distribuição total de 50% do resultado, a retenção anual estimada na companhia seria de cerca de R$ 8,24 milhões.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31260C2-A8CE-4813-A82E-E08F5A535972}"/>
              </a:ext>
            </a:extLst>
          </p:cNvPr>
          <p:cNvSpPr>
            <a:spLocks noGrp="1"/>
          </p:cNvSpPr>
          <p:nvPr/>
        </p:nvSpPr>
        <p:spPr>
          <a:xfrm>
            <a:off x="1066800" y="607695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Essa retenção cria espaço para reforço de capital de giro, expansão e ativação dos produtos remanescentes.</a:t>
            </a:r>
          </a:p>
        </p:txBody>
      </p:sp>
    </p:spTree>
    <p:extLst>
      <p:ext uri="{BB962C8B-B14F-4D97-AF65-F5344CB8AC3E}">
        <p14:creationId xmlns:p14="http://schemas.microsoft.com/office/powerpoint/2010/main" val="1499979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4CD579C-030F-4B7F-9C56-EBEC1B58FE40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9. Fluxo de caixa do investidor (resumido)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8F4FA7B-292B-43C1-BC5C-6BB9BEE2EFD0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53F2E50-77FE-41C8-8AAE-533986595C18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99631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Fluxo de distribuição em regime estável, assumindo participação de 25% sobre o resultado distribuível do plano-base.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7B9DC63-67D1-44FD-968A-51BD75E3BA79}"/>
              </a:ext>
            </a:extLst>
          </p:cNvPr>
          <p:cNvSpPr>
            <a:spLocks noGrp="1"/>
          </p:cNvSpPr>
          <p:nvPr/>
        </p:nvSpPr>
        <p:spPr>
          <a:xfrm>
            <a:off x="838200" y="2036445"/>
            <a:ext cx="5397500" cy="2476500"/>
          </a:xfrm>
          <a:prstGeom prst="roundRect">
            <a:avLst>
              <a:gd name="adj" fmla="val 9231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212EF0D-FDCD-4C31-9DEB-E50207D7FC72}"/>
              </a:ext>
            </a:extLst>
          </p:cNvPr>
          <p:cNvSpPr>
            <a:spLocks noGrp="1"/>
          </p:cNvSpPr>
          <p:nvPr/>
        </p:nvSpPr>
        <p:spPr>
          <a:xfrm>
            <a:off x="1066800" y="2266950"/>
            <a:ext cx="4933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Aporte inicial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1D1754A-006B-4B88-A162-34F1FB7A6A94}"/>
              </a:ext>
            </a:extLst>
          </p:cNvPr>
          <p:cNvSpPr>
            <a:spLocks noGrp="1"/>
          </p:cNvSpPr>
          <p:nvPr/>
        </p:nvSpPr>
        <p:spPr>
          <a:xfrm>
            <a:off x="1066800" y="2686050"/>
            <a:ext cx="49339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DC2626"/>
                </a:solidFill>
              </a:defRPr>
            </a:pPr>
            <a:r>
              <a:rPr sz="3150" b="1">
                <a:solidFill>
                  <a:srgbClr val="DC2626"/>
                </a:solidFill>
              </a:rPr>
              <a:t>R$ 11.000.000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6881F4D-EE43-4B3A-832D-8BFE814AD5A6}"/>
              </a:ext>
            </a:extLst>
          </p:cNvPr>
          <p:cNvSpPr>
            <a:spLocks noGrp="1"/>
          </p:cNvSpPr>
          <p:nvPr/>
        </p:nvSpPr>
        <p:spPr>
          <a:xfrm>
            <a:off x="1066800" y="3276600"/>
            <a:ext cx="4933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Momento-base: jul/2026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C5DB42D-2012-46F9-B15E-0703C4159F45}"/>
              </a:ext>
            </a:extLst>
          </p:cNvPr>
          <p:cNvSpPr>
            <a:spLocks noGrp="1"/>
          </p:cNvSpPr>
          <p:nvPr/>
        </p:nvSpPr>
        <p:spPr>
          <a:xfrm>
            <a:off x="6445250" y="2036445"/>
            <a:ext cx="5397500" cy="2476500"/>
          </a:xfrm>
          <a:prstGeom prst="roundRect">
            <a:avLst>
              <a:gd name="adj" fmla="val 9231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77C99EB-1B35-43A5-A2F5-A5EDD5B2C2B4}"/>
              </a:ext>
            </a:extLst>
          </p:cNvPr>
          <p:cNvSpPr>
            <a:spLocks noGrp="1"/>
          </p:cNvSpPr>
          <p:nvPr/>
        </p:nvSpPr>
        <p:spPr>
          <a:xfrm>
            <a:off x="6667500" y="2266950"/>
            <a:ext cx="4933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Set/2027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27E7989-BCBD-419A-88EA-B49D4A582D79}"/>
              </a:ext>
            </a:extLst>
          </p:cNvPr>
          <p:cNvSpPr>
            <a:spLocks noGrp="1"/>
          </p:cNvSpPr>
          <p:nvPr/>
        </p:nvSpPr>
        <p:spPr>
          <a:xfrm>
            <a:off x="6667500" y="2686050"/>
            <a:ext cx="49339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Distribuição mensal estimada: R$ 343.495,8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4C8BB73-F8EB-4E72-9B30-C7A75ABD35E1}"/>
              </a:ext>
            </a:extLst>
          </p:cNvPr>
          <p:cNvSpPr>
            <a:spLocks noGrp="1"/>
          </p:cNvSpPr>
          <p:nvPr/>
        </p:nvSpPr>
        <p:spPr>
          <a:xfrm>
            <a:off x="6667500" y="3105150"/>
            <a:ext cx="4933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1 mês após o fim do ramp-up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5EAF124-F9C3-466B-8B97-F3DBBF52EE99}"/>
              </a:ext>
            </a:extLst>
          </p:cNvPr>
          <p:cNvSpPr>
            <a:spLocks noGrp="1"/>
          </p:cNvSpPr>
          <p:nvPr/>
        </p:nvSpPr>
        <p:spPr>
          <a:xfrm>
            <a:off x="12052300" y="2036445"/>
            <a:ext cx="5397500" cy="2476500"/>
          </a:xfrm>
          <a:prstGeom prst="roundRect">
            <a:avLst>
              <a:gd name="adj" fmla="val 9231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4429146-C432-4601-AFF0-A2DB2C275C26}"/>
              </a:ext>
            </a:extLst>
          </p:cNvPr>
          <p:cNvSpPr>
            <a:spLocks noGrp="1"/>
          </p:cNvSpPr>
          <p:nvPr/>
        </p:nvSpPr>
        <p:spPr>
          <a:xfrm>
            <a:off x="12287250" y="2266950"/>
            <a:ext cx="4933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Ano cheio 2028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696C30D-6501-46C2-891E-55B6E5964059}"/>
              </a:ext>
            </a:extLst>
          </p:cNvPr>
          <p:cNvSpPr>
            <a:spLocks noGrp="1"/>
          </p:cNvSpPr>
          <p:nvPr/>
        </p:nvSpPr>
        <p:spPr>
          <a:xfrm>
            <a:off x="12287250" y="2686050"/>
            <a:ext cx="49339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Distribuição anual estimada: R$ 4.121.950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BAF40E0-818C-46B0-BCA0-ED9950217AA6}"/>
              </a:ext>
            </a:extLst>
          </p:cNvPr>
          <p:cNvSpPr>
            <a:spLocks noGrp="1"/>
          </p:cNvSpPr>
          <p:nvPr/>
        </p:nvSpPr>
        <p:spPr>
          <a:xfrm>
            <a:off x="12287250" y="3105150"/>
            <a:ext cx="4933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Média mensal: R$ 343.495,8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8E6EAFE-265B-4C67-A72E-23EAFDA17415}"/>
              </a:ext>
            </a:extLst>
          </p:cNvPr>
          <p:cNvSpPr>
            <a:spLocks noGrp="1"/>
          </p:cNvSpPr>
          <p:nvPr/>
        </p:nvSpPr>
        <p:spPr>
          <a:xfrm>
            <a:off x="838200" y="4741545"/>
            <a:ext cx="16611600" cy="4897755"/>
          </a:xfrm>
          <a:prstGeom prst="roundRect">
            <a:avLst>
              <a:gd name="adj" fmla="val 4278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6C99411-8816-49BA-97CA-CBD801155D21}"/>
              </a:ext>
            </a:extLst>
          </p:cNvPr>
          <p:cNvSpPr>
            <a:spLocks noGrp="1"/>
          </p:cNvSpPr>
          <p:nvPr/>
        </p:nvSpPr>
        <p:spPr>
          <a:xfrm>
            <a:off x="1066800" y="4972050"/>
            <a:ext cx="16154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Interpretação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31853DA-CDBA-46A6-BB5F-B2383D936947}"/>
              </a:ext>
            </a:extLst>
          </p:cNvPr>
          <p:cNvSpPr>
            <a:spLocks noGrp="1"/>
          </p:cNvSpPr>
          <p:nvPr/>
        </p:nvSpPr>
        <p:spPr>
          <a:xfrm>
            <a:off x="1066800" y="542925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A remuneração do investidor acontece com base em um fluxo já viável no cenário de 3 produtos modelados.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648FDC7-68C0-4DCF-A90E-ECCC630F70A2}"/>
              </a:ext>
            </a:extLst>
          </p:cNvPr>
          <p:cNvSpPr>
            <a:spLocks noGrp="1"/>
          </p:cNvSpPr>
          <p:nvPr/>
        </p:nvSpPr>
        <p:spPr>
          <a:xfrm>
            <a:off x="1066800" y="579120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retorno adicional associado aos produtos a ativar funciona como upside opcional, não como condição para a tese-base fechar.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FBED051-E5A5-4B65-8D3C-013D648BF46B}"/>
              </a:ext>
            </a:extLst>
          </p:cNvPr>
          <p:cNvSpPr>
            <a:spLocks noGrp="1"/>
          </p:cNvSpPr>
          <p:nvPr/>
        </p:nvSpPr>
        <p:spPr>
          <a:xfrm>
            <a:off x="1066800" y="613410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Esse desenho melhora a assimetria risco-retorno da oportunidade.</a:t>
            </a:r>
          </a:p>
        </p:txBody>
      </p:sp>
    </p:spTree>
    <p:extLst>
      <p:ext uri="{BB962C8B-B14F-4D97-AF65-F5344CB8AC3E}">
        <p14:creationId xmlns:p14="http://schemas.microsoft.com/office/powerpoint/2010/main" val="561594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B4C337D6-F9FE-4D4A-A206-B8DAE09B34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E2A44"/>
          </a:solidFill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663DAB2-FF18-4EE2-9DE5-4F733EF8BC39}"/>
              </a:ext>
            </a:extLst>
          </p:cNvPr>
          <p:cNvSpPr>
            <a:spLocks noGrp="1"/>
          </p:cNvSpPr>
          <p:nvPr/>
        </p:nvSpPr>
        <p:spPr>
          <a:xfrm>
            <a:off x="914400" y="838200"/>
            <a:ext cx="16459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rPr sz="1800" b="1">
                <a:solidFill>
                  <a:srgbClr val="14B8A6"/>
                </a:solidFill>
              </a:rPr>
              <a:t>10. Fechamento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8A75CD0-4FAE-4A8B-8A2F-F84E1E3242B2}"/>
              </a:ext>
            </a:extLst>
          </p:cNvPr>
          <p:cNvSpPr>
            <a:spLocks noGrp="1"/>
          </p:cNvSpPr>
          <p:nvPr/>
        </p:nvSpPr>
        <p:spPr>
          <a:xfrm>
            <a:off x="914400" y="1333500"/>
            <a:ext cx="13011150" cy="2000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 tese funciona com os 3 produtos modelados e melhora ainda mais quando o portfólio de 6 produtos estiver completo.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0BFCCC9-70AC-4DCA-9C7D-A4CBB72851DA}"/>
              </a:ext>
            </a:extLst>
          </p:cNvPr>
          <p:cNvSpPr>
            <a:spLocks noGrp="1"/>
          </p:cNvSpPr>
          <p:nvPr/>
        </p:nvSpPr>
        <p:spPr>
          <a:xfrm>
            <a:off x="914400" y="3558540"/>
            <a:ext cx="14329791" cy="1143000"/>
          </a:xfrm>
          <a:prstGeom prst="roundRect">
            <a:avLst>
              <a:gd name="adj" fmla="val 20000"/>
            </a:avLst>
          </a:prstGeom>
          <a:solidFill>
            <a:srgbClr val="24365B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288DD44-FA6E-4172-BCDB-94EE2571A0A0}"/>
              </a:ext>
            </a:extLst>
          </p:cNvPr>
          <p:cNvSpPr>
            <a:spLocks noGrp="1"/>
          </p:cNvSpPr>
          <p:nvPr/>
        </p:nvSpPr>
        <p:spPr>
          <a:xfrm>
            <a:off x="1181100" y="3790950"/>
            <a:ext cx="137922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E2E8F0"/>
                </a:solidFill>
              </a:defRPr>
            </a:pPr>
            <a:r>
              <a:rPr sz="2250" b="0">
                <a:solidFill>
                  <a:srgbClr val="E2E8F0"/>
                </a:solidFill>
              </a:rPr>
              <a:t>O investidor entra em uma operação com mercado em formação, produto/serviço integrado, resultado positivo mesmo abaixo do volume total do plano e upside relevante ainda não refletido na modelagem atual.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CDB89EB-FAD9-4828-AD2C-ED4256B76598}"/>
              </a:ext>
            </a:extLst>
          </p:cNvPr>
          <p:cNvSpPr>
            <a:spLocks noGrp="1"/>
          </p:cNvSpPr>
          <p:nvPr/>
        </p:nvSpPr>
        <p:spPr>
          <a:xfrm>
            <a:off x="914400" y="4930140"/>
            <a:ext cx="3714750" cy="579120"/>
          </a:xfrm>
          <a:prstGeom prst="roundRect">
            <a:avLst>
              <a:gd name="adj" fmla="val 26316"/>
            </a:avLst>
          </a:prstGeom>
          <a:solidFill>
            <a:srgbClr val="0F766E"/>
          </a:solidFill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E77D62-D87F-4B2D-BC33-53835B1AA468}"/>
              </a:ext>
            </a:extLst>
          </p:cNvPr>
          <p:cNvSpPr>
            <a:spLocks noGrp="1"/>
          </p:cNvSpPr>
          <p:nvPr/>
        </p:nvSpPr>
        <p:spPr>
          <a:xfrm>
            <a:off x="1066800" y="5086350"/>
            <a:ext cx="3409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Mercado com tendência estrutural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959433E-8ABE-4378-9DEF-82B704C7541C}"/>
              </a:ext>
            </a:extLst>
          </p:cNvPr>
          <p:cNvSpPr>
            <a:spLocks noGrp="1"/>
          </p:cNvSpPr>
          <p:nvPr/>
        </p:nvSpPr>
        <p:spPr>
          <a:xfrm>
            <a:off x="4800600" y="4930140"/>
            <a:ext cx="4000500" cy="579120"/>
          </a:xfrm>
          <a:prstGeom prst="roundRect">
            <a:avLst>
              <a:gd name="adj" fmla="val 26316"/>
            </a:avLst>
          </a:prstGeom>
          <a:solidFill>
            <a:srgbClr val="1D4ED8"/>
          </a:solidFill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9C97A90-A7B6-464B-9EBB-C5F80AE3E392}"/>
              </a:ext>
            </a:extLst>
          </p:cNvPr>
          <p:cNvSpPr>
            <a:spLocks noGrp="1"/>
          </p:cNvSpPr>
          <p:nvPr/>
        </p:nvSpPr>
        <p:spPr>
          <a:xfrm>
            <a:off x="4953000" y="5086350"/>
            <a:ext cx="3695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Modelo com recorrência e margem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E7C4B37-53B2-4A6D-A7EE-B73ADB2954DC}"/>
              </a:ext>
            </a:extLst>
          </p:cNvPr>
          <p:cNvSpPr>
            <a:spLocks noGrp="1"/>
          </p:cNvSpPr>
          <p:nvPr/>
        </p:nvSpPr>
        <p:spPr>
          <a:xfrm>
            <a:off x="8972550" y="4930140"/>
            <a:ext cx="4762500" cy="579120"/>
          </a:xfrm>
          <a:prstGeom prst="roundRect">
            <a:avLst>
              <a:gd name="adj" fmla="val 26316"/>
            </a:avLst>
          </a:prstGeom>
          <a:solidFill>
            <a:srgbClr val="B45309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90069FE-C4C5-4673-82FE-EF0E357203E0}"/>
              </a:ext>
            </a:extLst>
          </p:cNvPr>
          <p:cNvSpPr>
            <a:spLocks noGrp="1"/>
          </p:cNvSpPr>
          <p:nvPr/>
        </p:nvSpPr>
        <p:spPr>
          <a:xfrm>
            <a:off x="9124950" y="5086350"/>
            <a:ext cx="4457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Upside fora da conta atual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D215AE2-B404-4E4E-95C6-4B3498560EBC}"/>
              </a:ext>
            </a:extLst>
          </p:cNvPr>
          <p:cNvSpPr>
            <a:spLocks noGrp="1"/>
          </p:cNvSpPr>
          <p:nvPr/>
        </p:nvSpPr>
        <p:spPr>
          <a:xfrm>
            <a:off x="914400" y="5734050"/>
            <a:ext cx="16459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• Base conservadora, não teto de resultado.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90AAC1B-6C87-4F8A-8FD3-02F293D53111}"/>
              </a:ext>
            </a:extLst>
          </p:cNvPr>
          <p:cNvSpPr>
            <a:spLocks noGrp="1"/>
          </p:cNvSpPr>
          <p:nvPr/>
        </p:nvSpPr>
        <p:spPr>
          <a:xfrm>
            <a:off x="914400" y="6115050"/>
            <a:ext cx="16459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• Execução bem-sucedida pode ativar novas avenidas de faturamento.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DE9ADBC-CF36-4272-9230-B9709F802E73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459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• Case atrativo para investidor que busca retorno com assimetria positiva.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7548654-4368-478F-B277-0DB3A6EC064D}"/>
              </a:ext>
            </a:extLst>
          </p:cNvPr>
          <p:cNvSpPr>
            <a:spLocks noGrp="1"/>
          </p:cNvSpPr>
          <p:nvPr/>
        </p:nvSpPr>
        <p:spPr>
          <a:xfrm>
            <a:off x="914400" y="6972300"/>
            <a:ext cx="16459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Base: relatório detalhado de implantação | premissas complementares explicitadas no material</a:t>
            </a:r>
          </a:p>
        </p:txBody>
      </p:sp>
    </p:spTree>
    <p:extLst>
      <p:ext uri="{BB962C8B-B14F-4D97-AF65-F5344CB8AC3E}">
        <p14:creationId xmlns:p14="http://schemas.microsoft.com/office/powerpoint/2010/main" val="13230111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1406</Words>
  <Application>Microsoft Office PowerPoint</Application>
  <DocSecurity>0</DocSecurity>
  <PresentationFormat>Personalizar</PresentationFormat>
  <Paragraphs>219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Fabiano Ferreira</cp:lastModifiedBy>
  <cp:revision>1</cp:revision>
  <dcterms:created xsi:type="dcterms:W3CDTF">2026-05-07T23:11:14Z</dcterms:created>
  <dcterms:modified xsi:type="dcterms:W3CDTF">2026-05-07T23:32:26Z</dcterms:modified>
</cp:coreProperties>
</file>