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70" r:id="rId5"/>
    <p:sldId id="275" r:id="rId6"/>
    <p:sldId id="271" r:id="rId7"/>
    <p:sldId id="273" r:id="rId8"/>
    <p:sldId id="274" r:id="rId9"/>
    <p:sldId id="264" r:id="rId10"/>
    <p:sldId id="266" r:id="rId11"/>
    <p:sldId id="263" r:id="rId12"/>
    <p:sldId id="276" r:id="rId13"/>
    <p:sldId id="265" r:id="rId14"/>
    <p:sldId id="267" r:id="rId15"/>
  </p:sldIdLst>
  <p:sldSz cx="18288000" cy="10287000"/>
  <p:notesSz cx="6858000" cy="9144000"/>
  <p:embeddedFontLst>
    <p:embeddedFont>
      <p:font typeface="Poppins 1" panose="020B0604020202020204" charset="0"/>
      <p:regular r:id="rId16"/>
    </p:embeddedFont>
    <p:embeddedFont>
      <p:font typeface="Poppins 1 Bold" panose="020B0604020202020204" charset="0"/>
      <p:regular r:id="rId17"/>
    </p:embeddedFont>
    <p:embeddedFont>
      <p:font typeface="Poppins 1 Bold Italics" panose="020B0604020202020204" charset="0"/>
      <p:regular r:id="rId18"/>
    </p:embeddedFont>
    <p:embeddedFont>
      <p:font typeface="Poppins 1 Medium" panose="020B0604020202020204" charset="0"/>
      <p:regular r:id="rId19"/>
    </p:embeddedFont>
    <p:embeddedFont>
      <p:font typeface="Poppins 1 Semi-Bold" panose="020B0604020202020204" charset="0"/>
      <p:regular r:id="rId20"/>
    </p:embeddedFont>
    <p:embeddedFont>
      <p:font typeface="Poppins 2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63F"/>
    <a:srgbClr val="39F2AE"/>
    <a:srgbClr val="C9A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62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o Ferreira" userId="0dba1ce1595b1485" providerId="LiveId" clId="{5A9BD635-35EA-45C2-A650-3F351B1B2779}"/>
    <pc:docChg chg="undo custSel delSld modSld">
      <pc:chgData name="Fabiano Ferreira" userId="0dba1ce1595b1485" providerId="LiveId" clId="{5A9BD635-35EA-45C2-A650-3F351B1B2779}" dt="2026-04-11T20:22:07.603" v="53" actId="1036"/>
      <pc:docMkLst>
        <pc:docMk/>
      </pc:docMkLst>
      <pc:sldChg chg="modSp mod">
        <pc:chgData name="Fabiano Ferreira" userId="0dba1ce1595b1485" providerId="LiveId" clId="{5A9BD635-35EA-45C2-A650-3F351B1B2779}" dt="2026-04-11T20:22:07.603" v="53" actId="1036"/>
        <pc:sldMkLst>
          <pc:docMk/>
          <pc:sldMk cId="0" sldId="267"/>
        </pc:sldMkLst>
        <pc:spChg chg="mod">
          <ac:chgData name="Fabiano Ferreira" userId="0dba1ce1595b1485" providerId="LiveId" clId="{5A9BD635-35EA-45C2-A650-3F351B1B2779}" dt="2026-04-11T20:21:59.788" v="49" actId="2710"/>
          <ac:spMkLst>
            <pc:docMk/>
            <pc:sldMk cId="0" sldId="267"/>
            <ac:spMk id="4" creationId="{00000000-0000-0000-0000-000000000000}"/>
          </ac:spMkLst>
        </pc:spChg>
        <pc:spChg chg="mod">
          <ac:chgData name="Fabiano Ferreira" userId="0dba1ce1595b1485" providerId="LiveId" clId="{5A9BD635-35EA-45C2-A650-3F351B1B2779}" dt="2026-04-11T20:22:07.603" v="53" actId="1036"/>
          <ac:spMkLst>
            <pc:docMk/>
            <pc:sldMk cId="0" sldId="267"/>
            <ac:spMk id="12" creationId="{9F0C2C6A-B11F-A20E-509C-9993C681C6D0}"/>
          </ac:spMkLst>
        </pc:spChg>
      </pc:sldChg>
      <pc:sldChg chg="modSp mod">
        <pc:chgData name="Fabiano Ferreira" userId="0dba1ce1595b1485" providerId="LiveId" clId="{5A9BD635-35EA-45C2-A650-3F351B1B2779}" dt="2026-04-11T20:20:41.071" v="43" actId="20577"/>
        <pc:sldMkLst>
          <pc:docMk/>
          <pc:sldMk cId="2020709541" sldId="276"/>
        </pc:sldMkLst>
        <pc:spChg chg="mod">
          <ac:chgData name="Fabiano Ferreira" userId="0dba1ce1595b1485" providerId="LiveId" clId="{5A9BD635-35EA-45C2-A650-3F351B1B2779}" dt="2026-04-11T20:20:41.071" v="43" actId="20577"/>
          <ac:spMkLst>
            <pc:docMk/>
            <pc:sldMk cId="2020709541" sldId="276"/>
            <ac:spMk id="6" creationId="{EAB7D3F3-6710-3AC2-8DA5-F7A9FECF4E00}"/>
          </ac:spMkLst>
        </pc:spChg>
      </pc:sldChg>
      <pc:sldChg chg="del">
        <pc:chgData name="Fabiano Ferreira" userId="0dba1ce1595b1485" providerId="LiveId" clId="{5A9BD635-35EA-45C2-A650-3F351B1B2779}" dt="2026-04-11T20:20:59.312" v="44" actId="47"/>
        <pc:sldMkLst>
          <pc:docMk/>
          <pc:sldMk cId="910534294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122229" y="-1233813"/>
            <a:ext cx="12754625" cy="1275462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17368" y="860146"/>
            <a:ext cx="7841932" cy="2707936"/>
            <a:chOff x="0" y="0"/>
            <a:chExt cx="10455910" cy="36105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55910" cy="2861438"/>
            </a:xfrm>
            <a:custGeom>
              <a:avLst/>
              <a:gdLst/>
              <a:ahLst/>
              <a:cxnLst/>
              <a:rect l="l" t="t" r="r" b="b"/>
              <a:pathLst>
                <a:path w="10455910" h="2861438">
                  <a:moveTo>
                    <a:pt x="0" y="0"/>
                  </a:moveTo>
                  <a:lnTo>
                    <a:pt x="10455910" y="0"/>
                  </a:lnTo>
                  <a:lnTo>
                    <a:pt x="10455910" y="2861438"/>
                  </a:lnTo>
                  <a:lnTo>
                    <a:pt x="0" y="2861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4184" y="2785238"/>
              <a:ext cx="9967543" cy="825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pt-BR" sz="1594" spc="436" noProof="0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AUXILIANDO OS GESTORES E AS ORGANIZAÇÕES NA DEFINIÇÃO E NO ALCANCE DOS SEUS OBJETIVOS!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69735" y="4729368"/>
            <a:ext cx="9737197" cy="895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1"/>
              </a:lnSpc>
            </a:pPr>
            <a:r>
              <a:rPr lang="pt-BR" sz="5000" b="1" noProof="0" dirty="0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-&gt; Proposta Comercial &lt;-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12603" y="7168255"/>
            <a:ext cx="9737197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pt-BR" sz="37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Para: Brasilian Nickel</a:t>
            </a:r>
          </a:p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pt-BR" sz="37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Att. </a:t>
            </a:r>
            <a:r>
              <a:rPr lang="pt-BR" sz="370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Elton Souza</a:t>
            </a:r>
            <a:endParaRPr lang="pt-BR" sz="370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82800" y="8953500"/>
            <a:ext cx="2667000" cy="3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129"/>
              </a:lnSpc>
            </a:pPr>
            <a:r>
              <a:rPr lang="pt-BR" sz="2267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Abril </a:t>
            </a:r>
            <a:r>
              <a:rPr lang="pt-BR" sz="2267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12591067" y="5310448"/>
            <a:ext cx="2919668" cy="1849050"/>
            <a:chOff x="0" y="0"/>
            <a:chExt cx="768966" cy="4869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966" cy="486993"/>
            </a:xfrm>
            <a:custGeom>
              <a:avLst/>
              <a:gdLst/>
              <a:ahLst/>
              <a:cxnLst/>
              <a:rect l="l" t="t" r="r" b="b"/>
              <a:pathLst>
                <a:path w="768966" h="486993">
                  <a:moveTo>
                    <a:pt x="135234" y="0"/>
                  </a:moveTo>
                  <a:lnTo>
                    <a:pt x="633732" y="0"/>
                  </a:lnTo>
                  <a:cubicBezTo>
                    <a:pt x="669598" y="0"/>
                    <a:pt x="703996" y="14248"/>
                    <a:pt x="729357" y="39609"/>
                  </a:cubicBezTo>
                  <a:cubicBezTo>
                    <a:pt x="754718" y="64970"/>
                    <a:pt x="768966" y="99368"/>
                    <a:pt x="768966" y="135234"/>
                  </a:cubicBezTo>
                  <a:lnTo>
                    <a:pt x="768966" y="351759"/>
                  </a:lnTo>
                  <a:cubicBezTo>
                    <a:pt x="768966" y="387625"/>
                    <a:pt x="754718" y="422022"/>
                    <a:pt x="729357" y="447383"/>
                  </a:cubicBezTo>
                  <a:cubicBezTo>
                    <a:pt x="703996" y="472745"/>
                    <a:pt x="669598" y="486993"/>
                    <a:pt x="633732" y="486993"/>
                  </a:cubicBezTo>
                  <a:lnTo>
                    <a:pt x="135234" y="486993"/>
                  </a:lnTo>
                  <a:cubicBezTo>
                    <a:pt x="60546" y="486993"/>
                    <a:pt x="0" y="426446"/>
                    <a:pt x="0" y="351759"/>
                  </a:cubicBezTo>
                  <a:lnTo>
                    <a:pt x="0" y="135234"/>
                  </a:lnTo>
                  <a:cubicBezTo>
                    <a:pt x="0" y="99368"/>
                    <a:pt x="14248" y="64970"/>
                    <a:pt x="39609" y="39609"/>
                  </a:cubicBezTo>
                  <a:cubicBezTo>
                    <a:pt x="64970" y="14248"/>
                    <a:pt x="99368" y="0"/>
                    <a:pt x="135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768966" cy="56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02671" y="5310448"/>
            <a:ext cx="2919668" cy="1849050"/>
            <a:chOff x="0" y="0"/>
            <a:chExt cx="768966" cy="4869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8966" cy="486993"/>
            </a:xfrm>
            <a:custGeom>
              <a:avLst/>
              <a:gdLst/>
              <a:ahLst/>
              <a:cxnLst/>
              <a:rect l="l" t="t" r="r" b="b"/>
              <a:pathLst>
                <a:path w="768966" h="486993">
                  <a:moveTo>
                    <a:pt x="135234" y="0"/>
                  </a:moveTo>
                  <a:lnTo>
                    <a:pt x="633732" y="0"/>
                  </a:lnTo>
                  <a:cubicBezTo>
                    <a:pt x="669598" y="0"/>
                    <a:pt x="703996" y="14248"/>
                    <a:pt x="729357" y="39609"/>
                  </a:cubicBezTo>
                  <a:cubicBezTo>
                    <a:pt x="754718" y="64970"/>
                    <a:pt x="768966" y="99368"/>
                    <a:pt x="768966" y="135234"/>
                  </a:cubicBezTo>
                  <a:lnTo>
                    <a:pt x="768966" y="351759"/>
                  </a:lnTo>
                  <a:cubicBezTo>
                    <a:pt x="768966" y="387625"/>
                    <a:pt x="754718" y="422022"/>
                    <a:pt x="729357" y="447383"/>
                  </a:cubicBezTo>
                  <a:cubicBezTo>
                    <a:pt x="703996" y="472745"/>
                    <a:pt x="669598" y="486993"/>
                    <a:pt x="633732" y="486993"/>
                  </a:cubicBezTo>
                  <a:lnTo>
                    <a:pt x="135234" y="486993"/>
                  </a:lnTo>
                  <a:cubicBezTo>
                    <a:pt x="60546" y="486993"/>
                    <a:pt x="0" y="426446"/>
                    <a:pt x="0" y="351759"/>
                  </a:cubicBezTo>
                  <a:lnTo>
                    <a:pt x="0" y="135234"/>
                  </a:lnTo>
                  <a:cubicBezTo>
                    <a:pt x="0" y="99368"/>
                    <a:pt x="14248" y="64970"/>
                    <a:pt x="39609" y="39609"/>
                  </a:cubicBezTo>
                  <a:cubicBezTo>
                    <a:pt x="64970" y="14248"/>
                    <a:pt x="99368" y="0"/>
                    <a:pt x="135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768966" cy="56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11936" y="5310448"/>
            <a:ext cx="2919668" cy="1849050"/>
            <a:chOff x="0" y="0"/>
            <a:chExt cx="768966" cy="4869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8966" cy="486993"/>
            </a:xfrm>
            <a:custGeom>
              <a:avLst/>
              <a:gdLst/>
              <a:ahLst/>
              <a:cxnLst/>
              <a:rect l="l" t="t" r="r" b="b"/>
              <a:pathLst>
                <a:path w="768966" h="486993">
                  <a:moveTo>
                    <a:pt x="135234" y="0"/>
                  </a:moveTo>
                  <a:lnTo>
                    <a:pt x="633732" y="0"/>
                  </a:lnTo>
                  <a:cubicBezTo>
                    <a:pt x="669598" y="0"/>
                    <a:pt x="703996" y="14248"/>
                    <a:pt x="729357" y="39609"/>
                  </a:cubicBezTo>
                  <a:cubicBezTo>
                    <a:pt x="754718" y="64970"/>
                    <a:pt x="768966" y="99368"/>
                    <a:pt x="768966" y="135234"/>
                  </a:cubicBezTo>
                  <a:lnTo>
                    <a:pt x="768966" y="351759"/>
                  </a:lnTo>
                  <a:cubicBezTo>
                    <a:pt x="768966" y="387625"/>
                    <a:pt x="754718" y="422022"/>
                    <a:pt x="729357" y="447383"/>
                  </a:cubicBezTo>
                  <a:cubicBezTo>
                    <a:pt x="703996" y="472745"/>
                    <a:pt x="669598" y="486993"/>
                    <a:pt x="633732" y="486993"/>
                  </a:cubicBezTo>
                  <a:lnTo>
                    <a:pt x="135234" y="486993"/>
                  </a:lnTo>
                  <a:cubicBezTo>
                    <a:pt x="60546" y="486993"/>
                    <a:pt x="0" y="426446"/>
                    <a:pt x="0" y="351759"/>
                  </a:cubicBezTo>
                  <a:lnTo>
                    <a:pt x="0" y="135234"/>
                  </a:lnTo>
                  <a:cubicBezTo>
                    <a:pt x="0" y="99368"/>
                    <a:pt x="14248" y="64970"/>
                    <a:pt x="39609" y="39609"/>
                  </a:cubicBezTo>
                  <a:cubicBezTo>
                    <a:pt x="64970" y="14248"/>
                    <a:pt x="99368" y="0"/>
                    <a:pt x="135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768966" cy="56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211936" y="962025"/>
            <a:ext cx="9298798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9"/>
              </a:lnSpc>
            </a:pPr>
            <a:r>
              <a:rPr lang="pt-BR" sz="5999" b="1" u="none" strike="noStrike" spc="479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Empreender é uma evolução constante!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11936" y="3513355"/>
            <a:ext cx="9298798" cy="84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pt-BR" sz="2699" spc="134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Por isso, propomos caminhar juntos para que sua empresa se torne:</a:t>
            </a:r>
            <a:r>
              <a:rPr lang="pt-BR" sz="2699" b="1" spc="134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2645" y="5860450"/>
            <a:ext cx="2538249" cy="729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pt-BR" sz="2400" spc="12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Uma operação </a:t>
            </a:r>
            <a:r>
              <a:rPr lang="pt-BR" sz="2400" b="1" spc="12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organizada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3380" y="5860450"/>
            <a:ext cx="2538249" cy="729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pt-BR" sz="2400" spc="12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Um negócio </a:t>
            </a:r>
            <a:r>
              <a:rPr lang="pt-BR" sz="2400" b="1" spc="12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lucrativo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81776" y="5508025"/>
            <a:ext cx="2538249" cy="143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pt-BR" sz="2400" spc="12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Um ambiente com rotinas </a:t>
            </a:r>
            <a:r>
              <a:rPr lang="pt-BR" sz="2400" b="1" spc="12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leves e auditáveis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116328" y="2736526"/>
            <a:ext cx="6380972" cy="1493589"/>
            <a:chOff x="0" y="0"/>
            <a:chExt cx="1680585" cy="3933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16328" y="4444352"/>
            <a:ext cx="6380972" cy="1493589"/>
            <a:chOff x="0" y="0"/>
            <a:chExt cx="1680585" cy="3933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6328" y="6152178"/>
            <a:ext cx="6380972" cy="1493589"/>
            <a:chOff x="0" y="0"/>
            <a:chExt cx="1680585" cy="3933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16328" y="1028700"/>
            <a:ext cx="6380972" cy="1493589"/>
            <a:chOff x="0" y="0"/>
            <a:chExt cx="1680585" cy="3933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6497300" y="1775494"/>
            <a:ext cx="1828186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AutoShape 16"/>
          <p:cNvSpPr/>
          <p:nvPr/>
        </p:nvSpPr>
        <p:spPr>
          <a:xfrm>
            <a:off x="16497300" y="3440447"/>
            <a:ext cx="2079280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AutoShape 17"/>
          <p:cNvSpPr/>
          <p:nvPr/>
        </p:nvSpPr>
        <p:spPr>
          <a:xfrm>
            <a:off x="16497300" y="5143500"/>
            <a:ext cx="2079280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AutoShape 18"/>
          <p:cNvSpPr/>
          <p:nvPr/>
        </p:nvSpPr>
        <p:spPr>
          <a:xfrm>
            <a:off x="16497300" y="6808453"/>
            <a:ext cx="2079280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19" name="Group 19"/>
          <p:cNvGrpSpPr/>
          <p:nvPr/>
        </p:nvGrpSpPr>
        <p:grpSpPr>
          <a:xfrm>
            <a:off x="10116328" y="7860004"/>
            <a:ext cx="6380972" cy="1493589"/>
            <a:chOff x="0" y="0"/>
            <a:chExt cx="1680585" cy="3933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16497300" y="8606799"/>
            <a:ext cx="1828186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Freeform 2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Box 24"/>
          <p:cNvSpPr txBox="1"/>
          <p:nvPr/>
        </p:nvSpPr>
        <p:spPr>
          <a:xfrm>
            <a:off x="10596105" y="2971002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Gestão financeira e orçamentária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6105" y="4678828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Análise de custos e precificação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96105" y="6386655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Consultoria fiscal e contábil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96105" y="1263176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Gestão de Processos de Negócio (bpm)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96105" y="8337368"/>
            <a:ext cx="5421419" cy="5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Auditoria interna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70476" y="2288872"/>
            <a:ext cx="6873524" cy="570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639"/>
              </a:lnSpc>
              <a:spcBef>
                <a:spcPct val="0"/>
              </a:spcBef>
            </a:pPr>
            <a:r>
              <a:rPr lang="pt-BR" sz="3600" u="none" strike="noStrike" spc="233" noProof="0" dirty="0">
                <a:solidFill>
                  <a:srgbClr val="E6C63F"/>
                </a:solidFill>
                <a:latin typeface="Poppins 2"/>
                <a:ea typeface="Poppins 2"/>
                <a:cs typeface="Poppins 2"/>
                <a:sym typeface="Poppins 2"/>
              </a:rPr>
              <a:t>Combinaremos nossas diferentes expertises de forma coordenada e pragmática </a:t>
            </a:r>
            <a:r>
              <a:rPr lang="pt-BR" sz="3600" u="none" strike="noStrike" spc="233" noProof="0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para definir e executar a solução do escopo estabelecido, conforme detalhado a seguir.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7CD81174-90B6-D59A-13F0-A5F95925703A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COMO FAREMOS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6E8B4-9C16-2A2C-3BBE-267E25D2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801376-0FB3-36C4-A288-3F7BC34DC7AC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818F453-01DF-64C3-AC54-3CF9F3902DE0}"/>
              </a:ext>
            </a:extLst>
          </p:cNvPr>
          <p:cNvSpPr txBox="1"/>
          <p:nvPr/>
        </p:nvSpPr>
        <p:spPr>
          <a:xfrm>
            <a:off x="1889301" y="741590"/>
            <a:ext cx="15716576" cy="9257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4000" b="1" u="sng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Solicitação do Cliente:</a:t>
            </a:r>
          </a:p>
          <a:p>
            <a:pPr>
              <a:lnSpc>
                <a:spcPts val="5739"/>
              </a:lnSpc>
            </a:pPr>
            <a:r>
              <a:rPr lang="pt-BR" sz="28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Em reunião com o Sr. </a:t>
            </a:r>
            <a:r>
              <a:rPr lang="pt-BR" sz="2800" b="1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Elton Souza</a:t>
            </a:r>
            <a:r>
              <a:rPr lang="pt-BR" sz="28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, definimos o escopo do trabalho em:</a:t>
            </a:r>
          </a:p>
          <a:p>
            <a:pPr lvl="2"/>
            <a:endParaRPr lang="pt-BR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>
              <a:lnSpc>
                <a:spcPts val="5739"/>
              </a:lnSpc>
            </a:pPr>
            <a:r>
              <a:rPr lang="pt-BR" sz="3600" b="1" spc="271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Estruturação de Processos:</a:t>
            </a:r>
          </a:p>
          <a:p>
            <a:pPr lvl="3"/>
            <a:endParaRPr lang="pt-BR" b="1" spc="271" dirty="0">
              <a:solidFill>
                <a:srgbClr val="C9AF39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Concepção/Atualização da Arquitetura de Processos: que proporcionará visibilidade dos macroprocessos e dos processos de todas as áreas da empresa, com seus respectivos donos de processos;</a:t>
            </a:r>
          </a:p>
          <a:p>
            <a:pPr lvl="3"/>
            <a:endParaRPr lang="pt-BR" sz="3200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Execução parcial da modelagem dos processos: com o objetivo de obter uma visão do fluxo (atividades e encadeamento do processo), bem como dos fornecedores, clientes, insumos e produtos gerados em cada atividade.</a:t>
            </a:r>
            <a:endParaRPr lang="pt-BR" sz="3200" spc="271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81AB081-9332-F3DD-CAB9-A8417572A7B7}"/>
              </a:ext>
            </a:extLst>
          </p:cNvPr>
          <p:cNvGrpSpPr>
            <a:grpSpLocks noChangeAspect="1"/>
          </p:cNvGrpSpPr>
          <p:nvPr/>
        </p:nvGrpSpPr>
        <p:grpSpPr>
          <a:xfrm rot="-9285580">
            <a:off x="-7001331" y="-4811875"/>
            <a:ext cx="13120780" cy="13344752"/>
            <a:chOff x="0" y="0"/>
            <a:chExt cx="17381245" cy="1767794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8947E3-56AE-510E-D8A8-774119C61B01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E107715-E0FD-641C-35DA-88802E259427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ESCOPO</a:t>
            </a:r>
          </a:p>
        </p:txBody>
      </p:sp>
      <p:sp>
        <p:nvSpPr>
          <p:cNvPr id="7" name="Freeform 23">
            <a:extLst>
              <a:ext uri="{FF2B5EF4-FFF2-40B4-BE49-F238E27FC236}">
                <a16:creationId xmlns:a16="http://schemas.microsoft.com/office/drawing/2014/main" id="{3A3AB7D4-FC68-91B5-62AE-887A05C48E7B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2241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01727-BE1A-1B62-0B30-7C493404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0F411C-3F83-85DD-D803-1C04C2044AA0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7006DEC-877E-292F-D17D-539933928FF3}"/>
              </a:ext>
            </a:extLst>
          </p:cNvPr>
          <p:cNvSpPr txBox="1"/>
          <p:nvPr/>
        </p:nvSpPr>
        <p:spPr>
          <a:xfrm>
            <a:off x="2368719" y="741590"/>
            <a:ext cx="15237158" cy="6333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4000" b="1" u="sng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Solicitação do Cliente:</a:t>
            </a:r>
          </a:p>
          <a:p>
            <a:pPr lvl="2"/>
            <a:endParaRPr lang="pt-BR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>
              <a:lnSpc>
                <a:spcPts val="5739"/>
              </a:lnSpc>
            </a:pPr>
            <a:r>
              <a:rPr lang="pt-BR" sz="3600" b="1" spc="271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Entregas:</a:t>
            </a:r>
          </a:p>
          <a:p>
            <a:pPr lvl="3"/>
            <a:endParaRPr lang="pt-BR" b="1" spc="271" dirty="0">
              <a:solidFill>
                <a:srgbClr val="C9AF39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3">
              <a:lnSpc>
                <a:spcPts val="5739"/>
              </a:lnSpc>
            </a:pPr>
            <a:r>
              <a:rPr lang="pt-BR" sz="36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Mapa de Processos;</a:t>
            </a:r>
          </a:p>
          <a:p>
            <a:pPr lvl="3">
              <a:lnSpc>
                <a:spcPts val="5739"/>
              </a:lnSpc>
            </a:pPr>
            <a:endParaRPr lang="pt-BR" sz="3600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3">
              <a:lnSpc>
                <a:spcPts val="5739"/>
              </a:lnSpc>
            </a:pPr>
            <a:r>
              <a:rPr lang="pt-BR" sz="36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Fluxo dos Macroprocessos;</a:t>
            </a:r>
          </a:p>
          <a:p>
            <a:pPr lvl="3">
              <a:lnSpc>
                <a:spcPts val="5739"/>
              </a:lnSpc>
            </a:pPr>
            <a:endParaRPr lang="pt-BR" sz="3600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3">
              <a:lnSpc>
                <a:spcPts val="5739"/>
              </a:lnSpc>
            </a:pPr>
            <a:r>
              <a:rPr lang="pt-BR" sz="36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</a:t>
            </a:r>
            <a:r>
              <a:rPr lang="pt-BR" sz="3600" spc="271" dirty="0" err="1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Sipoc</a:t>
            </a:r>
            <a:r>
              <a:rPr lang="pt-BR" sz="36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 dos Macroprocessos;</a:t>
            </a:r>
          </a:p>
          <a:p>
            <a:pPr lvl="3">
              <a:lnSpc>
                <a:spcPts val="5739"/>
              </a:lnSpc>
            </a:pPr>
            <a:endParaRPr lang="pt-BR" sz="3200" spc="271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6460D3C-6A0A-D6FC-5009-D47A7BF39006}"/>
              </a:ext>
            </a:extLst>
          </p:cNvPr>
          <p:cNvGrpSpPr>
            <a:grpSpLocks noChangeAspect="1"/>
          </p:cNvGrpSpPr>
          <p:nvPr/>
        </p:nvGrpSpPr>
        <p:grpSpPr>
          <a:xfrm rot="-9285580">
            <a:off x="-7001331" y="-4811875"/>
            <a:ext cx="13120780" cy="13344752"/>
            <a:chOff x="0" y="0"/>
            <a:chExt cx="17381245" cy="1767794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590A28F-E43B-A6C4-9547-774795187986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11E0364-0C6C-4890-179F-A971F5D7FD30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ESCOPO</a:t>
            </a:r>
          </a:p>
        </p:txBody>
      </p:sp>
      <p:sp>
        <p:nvSpPr>
          <p:cNvPr id="7" name="Freeform 23">
            <a:extLst>
              <a:ext uri="{FF2B5EF4-FFF2-40B4-BE49-F238E27FC236}">
                <a16:creationId xmlns:a16="http://schemas.microsoft.com/office/drawing/2014/main" id="{E17EA3F5-766F-B693-70C2-EF8838D0B983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256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AF854-FAB7-95FC-02D1-48190319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94D73D-DC78-EA59-51B3-83D1745D00FF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F5B60D-24B3-E501-DA95-99A87B6EE949}"/>
              </a:ext>
            </a:extLst>
          </p:cNvPr>
          <p:cNvSpPr txBox="1"/>
          <p:nvPr/>
        </p:nvSpPr>
        <p:spPr>
          <a:xfrm>
            <a:off x="2362200" y="748847"/>
            <a:ext cx="15237158" cy="7518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4000" b="1" u="sng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Após finalizar o escopo solicitado, este trabalho pode ser evoluído para</a:t>
            </a:r>
            <a:r>
              <a:rPr lang="pt-BR" sz="40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:</a:t>
            </a:r>
          </a:p>
          <a:p>
            <a:pPr algn="l">
              <a:lnSpc>
                <a:spcPts val="5739"/>
              </a:lnSpc>
            </a:pPr>
            <a:endParaRPr lang="pt-BR" sz="4000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/>
            <a:endParaRPr lang="pt-BR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>
              <a:lnSpc>
                <a:spcPts val="5739"/>
              </a:lnSpc>
            </a:pPr>
            <a:r>
              <a:rPr lang="pt-BR" sz="3600" b="1" spc="271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Continuação e Finalização da Estruturação: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Finalização da Modelagem 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		-&gt; </a:t>
            </a:r>
            <a:r>
              <a:rPr lang="pt-BR" sz="3200" spc="271" dirty="0" err="1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POPs</a:t>
            </a:r>
            <a:r>
              <a:rPr lang="pt-BR" sz="32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 (Procedimentos Operacionais Padrão);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		-&gt; Indicadores;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		-&gt; Rotinas;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Assistência na Implantação / Treinamento;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-&gt; Assistência na Estabilização (execução estável);</a:t>
            </a:r>
            <a:endParaRPr lang="pt-BR" sz="3200" b="1" spc="271" dirty="0">
              <a:solidFill>
                <a:srgbClr val="C9AF39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272EFF1-5F99-0C25-74F6-913CEA68C834}"/>
              </a:ext>
            </a:extLst>
          </p:cNvPr>
          <p:cNvGrpSpPr>
            <a:grpSpLocks noChangeAspect="1"/>
          </p:cNvGrpSpPr>
          <p:nvPr/>
        </p:nvGrpSpPr>
        <p:grpSpPr>
          <a:xfrm rot="-9285580">
            <a:off x="-7001331" y="-4811875"/>
            <a:ext cx="13120780" cy="13344752"/>
            <a:chOff x="0" y="0"/>
            <a:chExt cx="17381245" cy="1767794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B74514-CF50-6BE3-EA36-9A6DD115262C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FF9ADE4-ACA8-A6DC-F167-5C70E5E184E3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ESCOPO</a:t>
            </a:r>
          </a:p>
        </p:txBody>
      </p:sp>
      <p:sp>
        <p:nvSpPr>
          <p:cNvPr id="8" name="Freeform 23">
            <a:extLst>
              <a:ext uri="{FF2B5EF4-FFF2-40B4-BE49-F238E27FC236}">
                <a16:creationId xmlns:a16="http://schemas.microsoft.com/office/drawing/2014/main" id="{4A337E2A-B12B-B0C2-6AD8-4A48E2128D92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3147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CF7C8-9993-9152-4F1E-9A94CBA9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E4D082-BBA1-9ADC-FD99-D469B4E8EBCE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DEEDAAA-7A96-2731-654E-9DE966B3B94F}"/>
              </a:ext>
            </a:extLst>
          </p:cNvPr>
          <p:cNvSpPr txBox="1"/>
          <p:nvPr/>
        </p:nvSpPr>
        <p:spPr>
          <a:xfrm>
            <a:off x="2368719" y="731955"/>
            <a:ext cx="15237158" cy="5325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4000" b="1" u="sng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Após finalizar o escopo solicitado, este trabalho pode ser evoluído para</a:t>
            </a:r>
            <a:r>
              <a:rPr lang="pt-BR" sz="4000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:</a:t>
            </a:r>
          </a:p>
          <a:p>
            <a:pPr algn="l">
              <a:lnSpc>
                <a:spcPts val="5739"/>
              </a:lnSpc>
            </a:pPr>
            <a:endParaRPr lang="pt-BR" sz="4000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/>
            <a:endParaRPr lang="pt-BR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>
              <a:lnSpc>
                <a:spcPts val="5739"/>
              </a:lnSpc>
            </a:pPr>
            <a:r>
              <a:rPr lang="pt-BR" sz="3600" b="1" spc="271" dirty="0">
                <a:solidFill>
                  <a:srgbClr val="C9AF39"/>
                </a:solidFill>
                <a:latin typeface="Poppins 1"/>
                <a:cs typeface="Poppins 1"/>
                <a:sym typeface="Poppins 1"/>
              </a:rPr>
              <a:t>Implantação da Gestão por Processos: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cs typeface="Poppins 1"/>
                <a:sym typeface="Poppins 1"/>
              </a:rPr>
              <a:t>-&gt; Acompanhamento da Execução da Rotina;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cs typeface="Poppins 1"/>
                <a:sym typeface="Poppins 1"/>
              </a:rPr>
              <a:t>-&gt; Acompanhamento dos Indicadores;</a:t>
            </a:r>
          </a:p>
          <a:p>
            <a:pPr lvl="3">
              <a:lnSpc>
                <a:spcPts val="5739"/>
              </a:lnSpc>
            </a:pPr>
            <a:r>
              <a:rPr lang="pt-BR" sz="3200" spc="271" dirty="0">
                <a:solidFill>
                  <a:schemeClr val="bg1"/>
                </a:solidFill>
                <a:latin typeface="Poppins 1"/>
                <a:cs typeface="Poppins 1"/>
                <a:sym typeface="Poppins 1"/>
              </a:rPr>
              <a:t>-&gt; PDCA em conjunto com os Donos de Processos;</a:t>
            </a:r>
            <a:endParaRPr lang="pt-BR" sz="3200" spc="271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5C52AB-B4B7-F476-34B8-4A1769D87633}"/>
              </a:ext>
            </a:extLst>
          </p:cNvPr>
          <p:cNvGrpSpPr>
            <a:grpSpLocks noChangeAspect="1"/>
          </p:cNvGrpSpPr>
          <p:nvPr/>
        </p:nvGrpSpPr>
        <p:grpSpPr>
          <a:xfrm rot="-9285580">
            <a:off x="-7001331" y="-4811875"/>
            <a:ext cx="13120780" cy="13344752"/>
            <a:chOff x="0" y="0"/>
            <a:chExt cx="17381245" cy="1767794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C19D5D4-3E5F-240B-F632-EC0F9D14A4F0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BF57BB6-25B8-B1D4-4527-B2F53B8AF324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C9AF39"/>
                </a:solidFill>
                <a:latin typeface="Poppins 1"/>
                <a:ea typeface="Poppins 1"/>
                <a:cs typeface="Poppins 1"/>
                <a:sym typeface="Poppins 1"/>
              </a:rPr>
              <a:t>ESCOPO</a:t>
            </a:r>
          </a:p>
        </p:txBody>
      </p:sp>
      <p:sp>
        <p:nvSpPr>
          <p:cNvPr id="7" name="Freeform 23">
            <a:extLst>
              <a:ext uri="{FF2B5EF4-FFF2-40B4-BE49-F238E27FC236}">
                <a16:creationId xmlns:a16="http://schemas.microsoft.com/office/drawing/2014/main" id="{1F0228D7-5241-353C-99E6-69E13E6097DC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0916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ED94-3C9D-2091-1647-9EE72FB5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076C52-52AC-C47B-FCB9-2A94BC1E50B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C70D708-1E53-3E8C-B81A-279DCC1F0FDE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DD1B7A1-3A31-4DDC-46D8-31A80A3A5DBF}"/>
              </a:ext>
            </a:extLst>
          </p:cNvPr>
          <p:cNvSpPr txBox="1"/>
          <p:nvPr/>
        </p:nvSpPr>
        <p:spPr>
          <a:xfrm>
            <a:off x="2233510" y="4096649"/>
            <a:ext cx="7152168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639"/>
              </a:lnSpc>
              <a:spcBef>
                <a:spcPct val="0"/>
              </a:spcBef>
            </a:pPr>
            <a:r>
              <a:rPr lang="pt-BR" sz="4800" spc="233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Este trabalho poderá, entre outras coisas, dar suporte a:</a:t>
            </a:r>
            <a:endParaRPr lang="pt-BR" sz="4800" u="none" strike="noStrike" spc="233" noProof="0" dirty="0">
              <a:solidFill>
                <a:srgbClr val="39F2AE"/>
              </a:solidFill>
              <a:latin typeface="Poppins 2"/>
              <a:ea typeface="Poppins 2"/>
              <a:cs typeface="Poppins 2"/>
              <a:sym typeface="Poppins 2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31C8AFBB-7976-F34B-07B5-6894882315C4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ESCOPO</a:t>
            </a: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B3303CA6-D52C-76DE-236E-424C6934559A}"/>
              </a:ext>
            </a:extLst>
          </p:cNvPr>
          <p:cNvGrpSpPr/>
          <p:nvPr/>
        </p:nvGrpSpPr>
        <p:grpSpPr>
          <a:xfrm>
            <a:off x="10116327" y="411367"/>
            <a:ext cx="8460252" cy="9525000"/>
            <a:chOff x="10116328" y="495300"/>
            <a:chExt cx="8460252" cy="9525000"/>
          </a:xfrm>
        </p:grpSpPr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7934941B-CD75-A931-FAEB-14226242488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16328" y="3695700"/>
              <a:ext cx="8460252" cy="1493589"/>
              <a:chOff x="10116328" y="3403233"/>
              <a:chExt cx="8460252" cy="1493589"/>
            </a:xfrm>
          </p:grpSpPr>
          <p:grpSp>
            <p:nvGrpSpPr>
              <p:cNvPr id="3" name="Group 3">
                <a:extLst>
                  <a:ext uri="{FF2B5EF4-FFF2-40B4-BE49-F238E27FC236}">
                    <a16:creationId xmlns:a16="http://schemas.microsoft.com/office/drawing/2014/main" id="{C43BF17B-E020-1C9C-BAD9-31B6F34152AA}"/>
                  </a:ext>
                </a:extLst>
              </p:cNvPr>
              <p:cNvGrpSpPr/>
              <p:nvPr/>
            </p:nvGrpSpPr>
            <p:grpSpPr>
              <a:xfrm>
                <a:off x="10116328" y="3403233"/>
                <a:ext cx="6380972" cy="1493589"/>
                <a:chOff x="0" y="0"/>
                <a:chExt cx="1680585" cy="393373"/>
              </a:xfrm>
            </p:grpSpPr>
            <p:sp>
              <p:nvSpPr>
                <p:cNvPr id="4" name="Freeform 4">
                  <a:extLst>
                    <a:ext uri="{FF2B5EF4-FFF2-40B4-BE49-F238E27FC236}">
                      <a16:creationId xmlns:a16="http://schemas.microsoft.com/office/drawing/2014/main" id="{F0982788-6656-8EC4-2AA4-E75F9C099AF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80585" cy="3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585" h="393373">
                      <a:moveTo>
                        <a:pt x="61877" y="0"/>
                      </a:moveTo>
                      <a:lnTo>
                        <a:pt x="1618708" y="0"/>
                      </a:lnTo>
                      <a:cubicBezTo>
                        <a:pt x="1635119" y="0"/>
                        <a:pt x="1650858" y="6519"/>
                        <a:pt x="1662462" y="18123"/>
                      </a:cubicBezTo>
                      <a:cubicBezTo>
                        <a:pt x="1674066" y="29728"/>
                        <a:pt x="1680585" y="45466"/>
                        <a:pt x="1680585" y="61877"/>
                      </a:cubicBezTo>
                      <a:lnTo>
                        <a:pt x="1680585" y="331496"/>
                      </a:lnTo>
                      <a:cubicBezTo>
                        <a:pt x="1680585" y="365670"/>
                        <a:pt x="1652882" y="393373"/>
                        <a:pt x="1618708" y="393373"/>
                      </a:cubicBezTo>
                      <a:lnTo>
                        <a:pt x="61877" y="393373"/>
                      </a:lnTo>
                      <a:cubicBezTo>
                        <a:pt x="45466" y="393373"/>
                        <a:pt x="29728" y="386854"/>
                        <a:pt x="18123" y="375250"/>
                      </a:cubicBezTo>
                      <a:cubicBezTo>
                        <a:pt x="6519" y="363645"/>
                        <a:pt x="0" y="347907"/>
                        <a:pt x="0" y="331496"/>
                      </a:cubicBezTo>
                      <a:lnTo>
                        <a:pt x="0" y="61877"/>
                      </a:lnTo>
                      <a:cubicBezTo>
                        <a:pt x="0" y="27703"/>
                        <a:pt x="27703" y="0"/>
                        <a:pt x="6187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>
                  <a:gradFill>
                    <a:gsLst>
                      <a:gs pos="0">
                        <a:srgbClr val="3AF1AE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3AF1AE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 noProof="0" dirty="0"/>
                </a:p>
              </p:txBody>
            </p:sp>
            <p:sp>
              <p:nvSpPr>
                <p:cNvPr id="5" name="TextBox 5">
                  <a:extLst>
                    <a:ext uri="{FF2B5EF4-FFF2-40B4-BE49-F238E27FC236}">
                      <a16:creationId xmlns:a16="http://schemas.microsoft.com/office/drawing/2014/main" id="{4586E7CC-2B49-73AB-FE7B-FCD0C4BCAA36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680585" cy="4695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 lang="pt-BR" noProof="0" dirty="0"/>
                </a:p>
              </p:txBody>
            </p:sp>
          </p:grpSp>
          <p:sp>
            <p:nvSpPr>
              <p:cNvPr id="16" name="AutoShape 16">
                <a:extLst>
                  <a:ext uri="{FF2B5EF4-FFF2-40B4-BE49-F238E27FC236}">
                    <a16:creationId xmlns:a16="http://schemas.microsoft.com/office/drawing/2014/main" id="{629AAC09-3B85-D91F-D502-C91DDC68AFB5}"/>
                  </a:ext>
                </a:extLst>
              </p:cNvPr>
              <p:cNvSpPr/>
              <p:nvPr/>
            </p:nvSpPr>
            <p:spPr>
              <a:xfrm>
                <a:off x="16497300" y="4107154"/>
                <a:ext cx="2079280" cy="0"/>
              </a:xfrm>
              <a:prstGeom prst="line">
                <a:avLst/>
              </a:prstGeom>
              <a:ln w="38100" cap="flat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16076A7E-22C5-7328-D3F6-D95B908206A8}"/>
                  </a:ext>
                </a:extLst>
              </p:cNvPr>
              <p:cNvSpPr txBox="1"/>
              <p:nvPr/>
            </p:nvSpPr>
            <p:spPr>
              <a:xfrm>
                <a:off x="10596105" y="3866730"/>
                <a:ext cx="5421419" cy="48994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871"/>
                  </a:lnSpc>
                </a:pPr>
                <a:r>
                  <a:rPr lang="pt-BR" sz="3199" spc="159" noProof="0" dirty="0">
                    <a:solidFill>
                      <a:srgbClr val="FFFFFF"/>
                    </a:solidFill>
                    <a:latin typeface="Poppins 1"/>
                    <a:ea typeface="Poppins 1"/>
                    <a:cs typeface="Poppins 1"/>
                    <a:sym typeface="Poppins 1"/>
                  </a:rPr>
                  <a:t>Gestão de Custos</a:t>
                </a:r>
              </a:p>
            </p:txBody>
          </p:sp>
        </p:grp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399F6F86-A1C8-83A2-756E-CD43A51103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16328" y="5295900"/>
              <a:ext cx="8460252" cy="1493589"/>
              <a:chOff x="10116328" y="5111059"/>
              <a:chExt cx="8460252" cy="1493589"/>
            </a:xfrm>
          </p:grpSpPr>
          <p:grpSp>
            <p:nvGrpSpPr>
              <p:cNvPr id="6" name="Group 6">
                <a:extLst>
                  <a:ext uri="{FF2B5EF4-FFF2-40B4-BE49-F238E27FC236}">
                    <a16:creationId xmlns:a16="http://schemas.microsoft.com/office/drawing/2014/main" id="{CB7BDDF9-4DC5-4F23-F7CB-4515B32853C6}"/>
                  </a:ext>
                </a:extLst>
              </p:cNvPr>
              <p:cNvGrpSpPr/>
              <p:nvPr/>
            </p:nvGrpSpPr>
            <p:grpSpPr>
              <a:xfrm>
                <a:off x="10116328" y="5111059"/>
                <a:ext cx="6380972" cy="1493589"/>
                <a:chOff x="0" y="0"/>
                <a:chExt cx="1680585" cy="393373"/>
              </a:xfrm>
            </p:grpSpPr>
            <p:sp>
              <p:nvSpPr>
                <p:cNvPr id="7" name="Freeform 7">
                  <a:extLst>
                    <a:ext uri="{FF2B5EF4-FFF2-40B4-BE49-F238E27FC236}">
                      <a16:creationId xmlns:a16="http://schemas.microsoft.com/office/drawing/2014/main" id="{3DBBE101-E661-67D1-FD1D-44D9C1DAE17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80585" cy="3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585" h="393373">
                      <a:moveTo>
                        <a:pt x="61877" y="0"/>
                      </a:moveTo>
                      <a:lnTo>
                        <a:pt x="1618708" y="0"/>
                      </a:lnTo>
                      <a:cubicBezTo>
                        <a:pt x="1635119" y="0"/>
                        <a:pt x="1650858" y="6519"/>
                        <a:pt x="1662462" y="18123"/>
                      </a:cubicBezTo>
                      <a:cubicBezTo>
                        <a:pt x="1674066" y="29728"/>
                        <a:pt x="1680585" y="45466"/>
                        <a:pt x="1680585" y="61877"/>
                      </a:cubicBezTo>
                      <a:lnTo>
                        <a:pt x="1680585" y="331496"/>
                      </a:lnTo>
                      <a:cubicBezTo>
                        <a:pt x="1680585" y="365670"/>
                        <a:pt x="1652882" y="393373"/>
                        <a:pt x="1618708" y="393373"/>
                      </a:cubicBezTo>
                      <a:lnTo>
                        <a:pt x="61877" y="393373"/>
                      </a:lnTo>
                      <a:cubicBezTo>
                        <a:pt x="45466" y="393373"/>
                        <a:pt x="29728" y="386854"/>
                        <a:pt x="18123" y="375250"/>
                      </a:cubicBezTo>
                      <a:cubicBezTo>
                        <a:pt x="6519" y="363645"/>
                        <a:pt x="0" y="347907"/>
                        <a:pt x="0" y="331496"/>
                      </a:cubicBezTo>
                      <a:lnTo>
                        <a:pt x="0" y="61877"/>
                      </a:lnTo>
                      <a:cubicBezTo>
                        <a:pt x="0" y="27703"/>
                        <a:pt x="27703" y="0"/>
                        <a:pt x="6187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>
                  <a:gradFill>
                    <a:gsLst>
                      <a:gs pos="0">
                        <a:srgbClr val="3AF1AE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3AF1AE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 noProof="0" dirty="0"/>
                </a:p>
              </p:txBody>
            </p:sp>
            <p:sp>
              <p:nvSpPr>
                <p:cNvPr id="8" name="TextBox 8">
                  <a:extLst>
                    <a:ext uri="{FF2B5EF4-FFF2-40B4-BE49-F238E27FC236}">
                      <a16:creationId xmlns:a16="http://schemas.microsoft.com/office/drawing/2014/main" id="{41B2FB7D-C91E-91AE-234A-85EE3B5CF3E8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680585" cy="4695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 lang="pt-BR" noProof="0" dirty="0"/>
                </a:p>
              </p:txBody>
            </p:sp>
          </p:grpSp>
          <p:sp>
            <p:nvSpPr>
              <p:cNvPr id="17" name="AutoShape 17">
                <a:extLst>
                  <a:ext uri="{FF2B5EF4-FFF2-40B4-BE49-F238E27FC236}">
                    <a16:creationId xmlns:a16="http://schemas.microsoft.com/office/drawing/2014/main" id="{3AAF18BE-4B72-4E3E-F85C-47960A18C654}"/>
                  </a:ext>
                </a:extLst>
              </p:cNvPr>
              <p:cNvSpPr/>
              <p:nvPr/>
            </p:nvSpPr>
            <p:spPr>
              <a:xfrm>
                <a:off x="16497300" y="5810207"/>
                <a:ext cx="2079280" cy="0"/>
              </a:xfrm>
              <a:prstGeom prst="line">
                <a:avLst/>
              </a:prstGeom>
              <a:ln w="38100" cap="flat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8564BCAF-E92D-3FA5-5B4C-C3A2EF712830}"/>
                  </a:ext>
                </a:extLst>
              </p:cNvPr>
              <p:cNvSpPr txBox="1"/>
              <p:nvPr/>
            </p:nvSpPr>
            <p:spPr>
              <a:xfrm>
                <a:off x="10596105" y="5345535"/>
                <a:ext cx="5421419" cy="99007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871"/>
                  </a:lnSpc>
                </a:pPr>
                <a:r>
                  <a:rPr lang="pt-BR" sz="3199" spc="159" noProof="0" dirty="0">
                    <a:solidFill>
                      <a:srgbClr val="FFFFFF"/>
                    </a:solidFill>
                    <a:latin typeface="Poppins 1"/>
                    <a:ea typeface="Poppins 1"/>
                    <a:cs typeface="Poppins 1"/>
                    <a:sym typeface="Poppins 1"/>
                  </a:rPr>
                  <a:t>Planejamento e Gestão Estratégicos</a:t>
                </a:r>
              </a:p>
            </p:txBody>
          </p:sp>
        </p:grp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3C274812-CF08-45D0-7B4F-36F276D473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16328" y="6896100"/>
              <a:ext cx="8460252" cy="1493589"/>
              <a:chOff x="10116328" y="6818885"/>
              <a:chExt cx="8460252" cy="1493589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6F24CA44-0418-D77B-719B-E92E0AC4081F}"/>
                  </a:ext>
                </a:extLst>
              </p:cNvPr>
              <p:cNvGrpSpPr/>
              <p:nvPr/>
            </p:nvGrpSpPr>
            <p:grpSpPr>
              <a:xfrm>
                <a:off x="10116328" y="6818885"/>
                <a:ext cx="6380972" cy="1493589"/>
                <a:chOff x="0" y="0"/>
                <a:chExt cx="1680585" cy="393373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AA5D6732-F040-E78A-A141-C6BD12292FD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80585" cy="3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585" h="393373">
                      <a:moveTo>
                        <a:pt x="61877" y="0"/>
                      </a:moveTo>
                      <a:lnTo>
                        <a:pt x="1618708" y="0"/>
                      </a:lnTo>
                      <a:cubicBezTo>
                        <a:pt x="1635119" y="0"/>
                        <a:pt x="1650858" y="6519"/>
                        <a:pt x="1662462" y="18123"/>
                      </a:cubicBezTo>
                      <a:cubicBezTo>
                        <a:pt x="1674066" y="29728"/>
                        <a:pt x="1680585" y="45466"/>
                        <a:pt x="1680585" y="61877"/>
                      </a:cubicBezTo>
                      <a:lnTo>
                        <a:pt x="1680585" y="331496"/>
                      </a:lnTo>
                      <a:cubicBezTo>
                        <a:pt x="1680585" y="365670"/>
                        <a:pt x="1652882" y="393373"/>
                        <a:pt x="1618708" y="393373"/>
                      </a:cubicBezTo>
                      <a:lnTo>
                        <a:pt x="61877" y="393373"/>
                      </a:lnTo>
                      <a:cubicBezTo>
                        <a:pt x="45466" y="393373"/>
                        <a:pt x="29728" y="386854"/>
                        <a:pt x="18123" y="375250"/>
                      </a:cubicBezTo>
                      <a:cubicBezTo>
                        <a:pt x="6519" y="363645"/>
                        <a:pt x="0" y="347907"/>
                        <a:pt x="0" y="331496"/>
                      </a:cubicBezTo>
                      <a:lnTo>
                        <a:pt x="0" y="61877"/>
                      </a:lnTo>
                      <a:cubicBezTo>
                        <a:pt x="0" y="27703"/>
                        <a:pt x="27703" y="0"/>
                        <a:pt x="6187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>
                  <a:gradFill>
                    <a:gsLst>
                      <a:gs pos="0">
                        <a:srgbClr val="3AF1AE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3AF1AE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 noProof="0" dirty="0"/>
                </a:p>
              </p:txBody>
            </p:sp>
            <p:sp>
              <p:nvSpPr>
                <p:cNvPr id="11" name="TextBox 11">
                  <a:extLst>
                    <a:ext uri="{FF2B5EF4-FFF2-40B4-BE49-F238E27FC236}">
                      <a16:creationId xmlns:a16="http://schemas.microsoft.com/office/drawing/2014/main" id="{EF9373BC-98CF-99CB-26C2-BFF7A2AB4C82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680585" cy="4695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 lang="pt-BR" noProof="0" dirty="0"/>
                </a:p>
              </p:txBody>
            </p:sp>
          </p:grpSp>
          <p:sp>
            <p:nvSpPr>
              <p:cNvPr id="18" name="AutoShape 18">
                <a:extLst>
                  <a:ext uri="{FF2B5EF4-FFF2-40B4-BE49-F238E27FC236}">
                    <a16:creationId xmlns:a16="http://schemas.microsoft.com/office/drawing/2014/main" id="{0B88220F-FBC9-AE89-C859-246D42481A75}"/>
                  </a:ext>
                </a:extLst>
              </p:cNvPr>
              <p:cNvSpPr/>
              <p:nvPr/>
            </p:nvSpPr>
            <p:spPr>
              <a:xfrm>
                <a:off x="16497300" y="7475160"/>
                <a:ext cx="2079280" cy="0"/>
              </a:xfrm>
              <a:prstGeom prst="line">
                <a:avLst/>
              </a:prstGeom>
              <a:ln w="38100" cap="flat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26" name="TextBox 26">
                <a:extLst>
                  <a:ext uri="{FF2B5EF4-FFF2-40B4-BE49-F238E27FC236}">
                    <a16:creationId xmlns:a16="http://schemas.microsoft.com/office/drawing/2014/main" id="{9187B490-C648-527B-D987-F8E7C8D60F12}"/>
                  </a:ext>
                </a:extLst>
              </p:cNvPr>
              <p:cNvSpPr txBox="1"/>
              <p:nvPr/>
            </p:nvSpPr>
            <p:spPr>
              <a:xfrm>
                <a:off x="10583299" y="7076071"/>
                <a:ext cx="5421419" cy="99007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871"/>
                  </a:lnSpc>
                </a:pPr>
                <a:r>
                  <a:rPr lang="pt-BR" sz="3199" spc="159" noProof="0" dirty="0">
                    <a:solidFill>
                      <a:srgbClr val="FFFFFF"/>
                    </a:solidFill>
                    <a:latin typeface="Poppins 1"/>
                    <a:ea typeface="Poppins 1"/>
                    <a:cs typeface="Poppins 1"/>
                    <a:sym typeface="Poppins 1"/>
                  </a:rPr>
                  <a:t>Gestão Contábil e Fiscal/Tributário</a:t>
                </a:r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55E0ED05-B3F3-2B13-B3F2-13BEA3424CF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16328" y="2095500"/>
              <a:ext cx="8209158" cy="1493589"/>
              <a:chOff x="10116328" y="1695407"/>
              <a:chExt cx="8209158" cy="1493589"/>
            </a:xfrm>
          </p:grpSpPr>
          <p:grpSp>
            <p:nvGrpSpPr>
              <p:cNvPr id="12" name="Group 12">
                <a:extLst>
                  <a:ext uri="{FF2B5EF4-FFF2-40B4-BE49-F238E27FC236}">
                    <a16:creationId xmlns:a16="http://schemas.microsoft.com/office/drawing/2014/main" id="{2112A145-52F1-7B9A-9B29-280F6F183BE8}"/>
                  </a:ext>
                </a:extLst>
              </p:cNvPr>
              <p:cNvGrpSpPr/>
              <p:nvPr/>
            </p:nvGrpSpPr>
            <p:grpSpPr>
              <a:xfrm>
                <a:off x="10116328" y="1695407"/>
                <a:ext cx="6380972" cy="1493589"/>
                <a:chOff x="0" y="0"/>
                <a:chExt cx="1680585" cy="393373"/>
              </a:xfrm>
            </p:grpSpPr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895DA52C-B8C7-4643-2071-0483DBA905C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80585" cy="3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585" h="393373">
                      <a:moveTo>
                        <a:pt x="61877" y="0"/>
                      </a:moveTo>
                      <a:lnTo>
                        <a:pt x="1618708" y="0"/>
                      </a:lnTo>
                      <a:cubicBezTo>
                        <a:pt x="1635119" y="0"/>
                        <a:pt x="1650858" y="6519"/>
                        <a:pt x="1662462" y="18123"/>
                      </a:cubicBezTo>
                      <a:cubicBezTo>
                        <a:pt x="1674066" y="29728"/>
                        <a:pt x="1680585" y="45466"/>
                        <a:pt x="1680585" y="61877"/>
                      </a:cubicBezTo>
                      <a:lnTo>
                        <a:pt x="1680585" y="331496"/>
                      </a:lnTo>
                      <a:cubicBezTo>
                        <a:pt x="1680585" y="365670"/>
                        <a:pt x="1652882" y="393373"/>
                        <a:pt x="1618708" y="393373"/>
                      </a:cubicBezTo>
                      <a:lnTo>
                        <a:pt x="61877" y="393373"/>
                      </a:lnTo>
                      <a:cubicBezTo>
                        <a:pt x="45466" y="393373"/>
                        <a:pt x="29728" y="386854"/>
                        <a:pt x="18123" y="375250"/>
                      </a:cubicBezTo>
                      <a:cubicBezTo>
                        <a:pt x="6519" y="363645"/>
                        <a:pt x="0" y="347907"/>
                        <a:pt x="0" y="331496"/>
                      </a:cubicBezTo>
                      <a:lnTo>
                        <a:pt x="0" y="61877"/>
                      </a:lnTo>
                      <a:cubicBezTo>
                        <a:pt x="0" y="27703"/>
                        <a:pt x="27703" y="0"/>
                        <a:pt x="6187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>
                  <a:gradFill>
                    <a:gsLst>
                      <a:gs pos="0">
                        <a:srgbClr val="3AF1AE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3AF1AE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 noProof="0" dirty="0"/>
                </a:p>
              </p:txBody>
            </p:sp>
            <p:sp>
              <p:nvSpPr>
                <p:cNvPr id="14" name="TextBox 14">
                  <a:extLst>
                    <a:ext uri="{FF2B5EF4-FFF2-40B4-BE49-F238E27FC236}">
                      <a16:creationId xmlns:a16="http://schemas.microsoft.com/office/drawing/2014/main" id="{9841BEA5-D0FB-CB96-40A1-0519FF5012AF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680585" cy="4695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 lang="pt-BR" noProof="0" dirty="0"/>
                </a:p>
              </p:txBody>
            </p:sp>
          </p:grpSp>
          <p:sp>
            <p:nvSpPr>
              <p:cNvPr id="15" name="AutoShape 15">
                <a:extLst>
                  <a:ext uri="{FF2B5EF4-FFF2-40B4-BE49-F238E27FC236}">
                    <a16:creationId xmlns:a16="http://schemas.microsoft.com/office/drawing/2014/main" id="{5EE1D003-1AF1-722A-21C5-80DD3C1BF70A}"/>
                  </a:ext>
                </a:extLst>
              </p:cNvPr>
              <p:cNvSpPr/>
              <p:nvPr/>
            </p:nvSpPr>
            <p:spPr>
              <a:xfrm>
                <a:off x="16497300" y="2442201"/>
                <a:ext cx="1828186" cy="0"/>
              </a:xfrm>
              <a:prstGeom prst="line">
                <a:avLst/>
              </a:prstGeom>
              <a:ln w="38100" cap="flat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234501CD-8CEF-4130-A5DA-6DB101E74165}"/>
                  </a:ext>
                </a:extLst>
              </p:cNvPr>
              <p:cNvSpPr txBox="1"/>
              <p:nvPr/>
            </p:nvSpPr>
            <p:spPr>
              <a:xfrm>
                <a:off x="10558005" y="1929883"/>
                <a:ext cx="5421419" cy="99007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871"/>
                  </a:lnSpc>
                </a:pPr>
                <a:r>
                  <a:rPr lang="pt-BR" sz="3199" spc="159" noProof="0" dirty="0">
                    <a:solidFill>
                      <a:srgbClr val="FFFFFF"/>
                    </a:solidFill>
                    <a:latin typeface="Poppins 1"/>
                    <a:ea typeface="Poppins 1"/>
                    <a:cs typeface="Poppins 1"/>
                    <a:sym typeface="Poppins 1"/>
                  </a:rPr>
                  <a:t>Gestão Financeira e Orçamentária (OPEX)</a:t>
                </a:r>
              </a:p>
            </p:txBody>
          </p:sp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C63AB2D4-7342-A80E-8050-F6B8C08C93C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16328" y="8526711"/>
              <a:ext cx="8209158" cy="1493589"/>
              <a:chOff x="10116328" y="8526711"/>
              <a:chExt cx="8209158" cy="1493589"/>
            </a:xfrm>
          </p:grpSpPr>
          <p:grpSp>
            <p:nvGrpSpPr>
              <p:cNvPr id="19" name="Group 19">
                <a:extLst>
                  <a:ext uri="{FF2B5EF4-FFF2-40B4-BE49-F238E27FC236}">
                    <a16:creationId xmlns:a16="http://schemas.microsoft.com/office/drawing/2014/main" id="{86AF467D-8926-DA0A-3E33-D8260872201F}"/>
                  </a:ext>
                </a:extLst>
              </p:cNvPr>
              <p:cNvGrpSpPr/>
              <p:nvPr/>
            </p:nvGrpSpPr>
            <p:grpSpPr>
              <a:xfrm>
                <a:off x="10116328" y="8526711"/>
                <a:ext cx="6380972" cy="1493589"/>
                <a:chOff x="0" y="0"/>
                <a:chExt cx="1680585" cy="393373"/>
              </a:xfrm>
            </p:grpSpPr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06ECD4AF-C1C7-1B02-EB52-5D44A44958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80585" cy="3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585" h="393373">
                      <a:moveTo>
                        <a:pt x="61877" y="0"/>
                      </a:moveTo>
                      <a:lnTo>
                        <a:pt x="1618708" y="0"/>
                      </a:lnTo>
                      <a:cubicBezTo>
                        <a:pt x="1635119" y="0"/>
                        <a:pt x="1650858" y="6519"/>
                        <a:pt x="1662462" y="18123"/>
                      </a:cubicBezTo>
                      <a:cubicBezTo>
                        <a:pt x="1674066" y="29728"/>
                        <a:pt x="1680585" y="45466"/>
                        <a:pt x="1680585" y="61877"/>
                      </a:cubicBezTo>
                      <a:lnTo>
                        <a:pt x="1680585" y="331496"/>
                      </a:lnTo>
                      <a:cubicBezTo>
                        <a:pt x="1680585" y="365670"/>
                        <a:pt x="1652882" y="393373"/>
                        <a:pt x="1618708" y="393373"/>
                      </a:cubicBezTo>
                      <a:lnTo>
                        <a:pt x="61877" y="393373"/>
                      </a:lnTo>
                      <a:cubicBezTo>
                        <a:pt x="45466" y="393373"/>
                        <a:pt x="29728" y="386854"/>
                        <a:pt x="18123" y="375250"/>
                      </a:cubicBezTo>
                      <a:cubicBezTo>
                        <a:pt x="6519" y="363645"/>
                        <a:pt x="0" y="347907"/>
                        <a:pt x="0" y="331496"/>
                      </a:cubicBezTo>
                      <a:lnTo>
                        <a:pt x="0" y="61877"/>
                      </a:lnTo>
                      <a:cubicBezTo>
                        <a:pt x="0" y="27703"/>
                        <a:pt x="27703" y="0"/>
                        <a:pt x="6187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>
                  <a:gradFill>
                    <a:gsLst>
                      <a:gs pos="0">
                        <a:srgbClr val="3AF1AE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3AF1AE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 noProof="0" dirty="0"/>
                </a:p>
              </p:txBody>
            </p:sp>
            <p:sp>
              <p:nvSpPr>
                <p:cNvPr id="21" name="TextBox 21">
                  <a:extLst>
                    <a:ext uri="{FF2B5EF4-FFF2-40B4-BE49-F238E27FC236}">
                      <a16:creationId xmlns:a16="http://schemas.microsoft.com/office/drawing/2014/main" id="{B0162FE6-5E2A-31E3-46DA-AFC2E55DC51C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680585" cy="4695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 lang="pt-BR" noProof="0" dirty="0"/>
                </a:p>
              </p:txBody>
            </p:sp>
          </p:grpSp>
          <p:sp>
            <p:nvSpPr>
              <p:cNvPr id="22" name="AutoShape 22">
                <a:extLst>
                  <a:ext uri="{FF2B5EF4-FFF2-40B4-BE49-F238E27FC236}">
                    <a16:creationId xmlns:a16="http://schemas.microsoft.com/office/drawing/2014/main" id="{74A51005-E743-919F-2C91-3B5D306F9DC5}"/>
                  </a:ext>
                </a:extLst>
              </p:cNvPr>
              <p:cNvSpPr/>
              <p:nvPr/>
            </p:nvSpPr>
            <p:spPr>
              <a:xfrm>
                <a:off x="16497300" y="9273506"/>
                <a:ext cx="1828186" cy="0"/>
              </a:xfrm>
              <a:prstGeom prst="line">
                <a:avLst/>
              </a:prstGeom>
              <a:ln w="38100" cap="flat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25F5F0EE-B09C-2F6C-E2A5-BC62ABBC028C}"/>
                  </a:ext>
                </a:extLst>
              </p:cNvPr>
              <p:cNvSpPr txBox="1"/>
              <p:nvPr/>
            </p:nvSpPr>
            <p:spPr>
              <a:xfrm>
                <a:off x="10596105" y="8778465"/>
                <a:ext cx="5421419" cy="99007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871"/>
                  </a:lnSpc>
                </a:pPr>
                <a:r>
                  <a:rPr lang="pt-BR" sz="3199" spc="159" noProof="0" dirty="0">
                    <a:solidFill>
                      <a:srgbClr val="FFFFFF"/>
                    </a:solidFill>
                    <a:latin typeface="Poppins 1"/>
                    <a:ea typeface="Poppins 1"/>
                    <a:cs typeface="Poppins 1"/>
                    <a:sym typeface="Poppins 1"/>
                  </a:rPr>
                  <a:t>Auditoria Interna e Externa</a:t>
                </a:r>
              </a:p>
            </p:txBody>
          </p:sp>
        </p:grpSp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A6177C68-2E66-6FE3-4554-2A10F7F26D3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16328" y="495300"/>
              <a:ext cx="8209158" cy="1493589"/>
              <a:chOff x="10116328" y="1695407"/>
              <a:chExt cx="8209158" cy="1493589"/>
            </a:xfrm>
          </p:grpSpPr>
          <p:grpSp>
            <p:nvGrpSpPr>
              <p:cNvPr id="43" name="Group 12">
                <a:extLst>
                  <a:ext uri="{FF2B5EF4-FFF2-40B4-BE49-F238E27FC236}">
                    <a16:creationId xmlns:a16="http://schemas.microsoft.com/office/drawing/2014/main" id="{F56D168B-9D38-BDC3-8C1F-BC6495B42619}"/>
                  </a:ext>
                </a:extLst>
              </p:cNvPr>
              <p:cNvGrpSpPr/>
              <p:nvPr/>
            </p:nvGrpSpPr>
            <p:grpSpPr>
              <a:xfrm>
                <a:off x="10116328" y="1695407"/>
                <a:ext cx="6380972" cy="1493589"/>
                <a:chOff x="0" y="0"/>
                <a:chExt cx="1680585" cy="393373"/>
              </a:xfrm>
            </p:grpSpPr>
            <p:sp>
              <p:nvSpPr>
                <p:cNvPr id="46" name="Freeform 13">
                  <a:extLst>
                    <a:ext uri="{FF2B5EF4-FFF2-40B4-BE49-F238E27FC236}">
                      <a16:creationId xmlns:a16="http://schemas.microsoft.com/office/drawing/2014/main" id="{07217D69-DD60-7CCD-E872-B3C181B71E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80585" cy="39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585" h="393373">
                      <a:moveTo>
                        <a:pt x="61877" y="0"/>
                      </a:moveTo>
                      <a:lnTo>
                        <a:pt x="1618708" y="0"/>
                      </a:lnTo>
                      <a:cubicBezTo>
                        <a:pt x="1635119" y="0"/>
                        <a:pt x="1650858" y="6519"/>
                        <a:pt x="1662462" y="18123"/>
                      </a:cubicBezTo>
                      <a:cubicBezTo>
                        <a:pt x="1674066" y="29728"/>
                        <a:pt x="1680585" y="45466"/>
                        <a:pt x="1680585" y="61877"/>
                      </a:cubicBezTo>
                      <a:lnTo>
                        <a:pt x="1680585" y="331496"/>
                      </a:lnTo>
                      <a:cubicBezTo>
                        <a:pt x="1680585" y="365670"/>
                        <a:pt x="1652882" y="393373"/>
                        <a:pt x="1618708" y="393373"/>
                      </a:cubicBezTo>
                      <a:lnTo>
                        <a:pt x="61877" y="393373"/>
                      </a:lnTo>
                      <a:cubicBezTo>
                        <a:pt x="45466" y="393373"/>
                        <a:pt x="29728" y="386854"/>
                        <a:pt x="18123" y="375250"/>
                      </a:cubicBezTo>
                      <a:cubicBezTo>
                        <a:pt x="6519" y="363645"/>
                        <a:pt x="0" y="347907"/>
                        <a:pt x="0" y="331496"/>
                      </a:cubicBezTo>
                      <a:lnTo>
                        <a:pt x="0" y="61877"/>
                      </a:lnTo>
                      <a:cubicBezTo>
                        <a:pt x="0" y="27703"/>
                        <a:pt x="27703" y="0"/>
                        <a:pt x="6187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>
                  <a:gradFill>
                    <a:gsLst>
                      <a:gs pos="0">
                        <a:srgbClr val="3AF1AE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3AF1AE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 noProof="0" dirty="0"/>
                </a:p>
              </p:txBody>
            </p:sp>
            <p:sp>
              <p:nvSpPr>
                <p:cNvPr id="47" name="TextBox 14">
                  <a:extLst>
                    <a:ext uri="{FF2B5EF4-FFF2-40B4-BE49-F238E27FC236}">
                      <a16:creationId xmlns:a16="http://schemas.microsoft.com/office/drawing/2014/main" id="{E5566C2D-F733-C312-82A2-A9E2723A6593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680585" cy="46957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 lang="pt-BR" noProof="0" dirty="0"/>
                </a:p>
              </p:txBody>
            </p:sp>
          </p:grpSp>
          <p:sp>
            <p:nvSpPr>
              <p:cNvPr id="44" name="AutoShape 15">
                <a:extLst>
                  <a:ext uri="{FF2B5EF4-FFF2-40B4-BE49-F238E27FC236}">
                    <a16:creationId xmlns:a16="http://schemas.microsoft.com/office/drawing/2014/main" id="{6CB109BB-ABDF-8879-B014-CCA397090653}"/>
                  </a:ext>
                </a:extLst>
              </p:cNvPr>
              <p:cNvSpPr/>
              <p:nvPr/>
            </p:nvSpPr>
            <p:spPr>
              <a:xfrm>
                <a:off x="16497300" y="2442201"/>
                <a:ext cx="1828186" cy="0"/>
              </a:xfrm>
              <a:prstGeom prst="line">
                <a:avLst/>
              </a:prstGeom>
              <a:ln w="38100" cap="flat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45" name="TextBox 27">
                <a:extLst>
                  <a:ext uri="{FF2B5EF4-FFF2-40B4-BE49-F238E27FC236}">
                    <a16:creationId xmlns:a16="http://schemas.microsoft.com/office/drawing/2014/main" id="{B796F5EC-4B0B-8249-8A14-AC887769B4AA}"/>
                  </a:ext>
                </a:extLst>
              </p:cNvPr>
              <p:cNvSpPr txBox="1"/>
              <p:nvPr/>
            </p:nvSpPr>
            <p:spPr>
              <a:xfrm>
                <a:off x="10552757" y="2193544"/>
                <a:ext cx="5421419" cy="48994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871"/>
                  </a:lnSpc>
                </a:pPr>
                <a:r>
                  <a:rPr lang="pt-BR" sz="3199" spc="159" noProof="0" dirty="0">
                    <a:solidFill>
                      <a:srgbClr val="FFFFFF"/>
                    </a:solidFill>
                    <a:latin typeface="Poppins 1"/>
                    <a:ea typeface="Poppins 1"/>
                    <a:cs typeface="Poppins 1"/>
                    <a:sym typeface="Poppins 1"/>
                  </a:rPr>
                  <a:t>Gestão Operacional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823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3241342" y="1638884"/>
            <a:ext cx="14017958" cy="680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Cada </a:t>
            </a:r>
            <a:r>
              <a:rPr lang="pt-BR" sz="3399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frente de </a:t>
            </a:r>
            <a:r>
              <a:rPr lang="pt-BR" sz="3399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trabalho </a:t>
            </a:r>
            <a:r>
              <a:rPr lang="pt-BR" sz="3399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será estruturada </a:t>
            </a:r>
            <a:r>
              <a:rPr lang="pt-BR" sz="3399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como um projeto, com as seguintes fases:</a:t>
            </a:r>
          </a:p>
          <a:p>
            <a:pPr algn="l">
              <a:lnSpc>
                <a:spcPts val="5739"/>
              </a:lnSpc>
            </a:pPr>
            <a:endParaRPr lang="pt-BR" sz="3399" spc="271" noProof="0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a) alinhamento de expectativas;</a:t>
            </a: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b) início do projeto;</a:t>
            </a: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c) acompanhamento da execução;</a:t>
            </a: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d) entrega do projeto conforme alinhamento inicial; </a:t>
            </a:r>
          </a:p>
          <a:p>
            <a:pPr algn="l">
              <a:lnSpc>
                <a:spcPts val="5739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 rot="-9285580">
            <a:off x="-5033558" y="-4243057"/>
            <a:ext cx="13120780" cy="13344752"/>
            <a:chOff x="0" y="0"/>
            <a:chExt cx="17381245" cy="176779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 rot="-5400000">
            <a:off x="-3775736" y="4984432"/>
            <a:ext cx="973645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COMO TRABALHAMOS </a:t>
            </a:r>
          </a:p>
        </p:txBody>
      </p:sp>
      <p:sp>
        <p:nvSpPr>
          <p:cNvPr id="7" name="Freeform 23">
            <a:extLst>
              <a:ext uri="{FF2B5EF4-FFF2-40B4-BE49-F238E27FC236}">
                <a16:creationId xmlns:a16="http://schemas.microsoft.com/office/drawing/2014/main" id="{FB0D8D06-858A-8923-ADAE-DDDCAA13C931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7537567"/>
            <a:ext cx="16230600" cy="1679341"/>
            <a:chOff x="0" y="0"/>
            <a:chExt cx="21640800" cy="2239121"/>
          </a:xfrm>
        </p:grpSpPr>
        <p:sp>
          <p:nvSpPr>
            <p:cNvPr id="4" name="Freeform 4"/>
            <p:cNvSpPr/>
            <p:nvPr/>
          </p:nvSpPr>
          <p:spPr>
            <a:xfrm>
              <a:off x="0" y="96827"/>
              <a:ext cx="3025839" cy="2045467"/>
            </a:xfrm>
            <a:custGeom>
              <a:avLst/>
              <a:gdLst/>
              <a:ahLst/>
              <a:cxnLst/>
              <a:rect l="l" t="t" r="r" b="b"/>
              <a:pathLst>
                <a:path w="3025839" h="2045467">
                  <a:moveTo>
                    <a:pt x="0" y="0"/>
                  </a:moveTo>
                  <a:lnTo>
                    <a:pt x="3025839" y="0"/>
                  </a:lnTo>
                  <a:lnTo>
                    <a:pt x="3025839" y="2045467"/>
                  </a:lnTo>
                  <a:lnTo>
                    <a:pt x="0" y="2045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227654" y="738305"/>
              <a:ext cx="3413146" cy="750408"/>
            </a:xfrm>
            <a:custGeom>
              <a:avLst/>
              <a:gdLst/>
              <a:ahLst/>
              <a:cxnLst/>
              <a:rect l="l" t="t" r="r" b="b"/>
              <a:pathLst>
                <a:path w="3413146" h="750408">
                  <a:moveTo>
                    <a:pt x="0" y="0"/>
                  </a:moveTo>
                  <a:lnTo>
                    <a:pt x="3413146" y="0"/>
                  </a:lnTo>
                  <a:lnTo>
                    <a:pt x="3413146" y="750408"/>
                  </a:lnTo>
                  <a:lnTo>
                    <a:pt x="0" y="750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998" t="-241791" r="-12887" b="-230788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3216864" y="550703"/>
              <a:ext cx="2674842" cy="1137715"/>
            </a:xfrm>
            <a:custGeom>
              <a:avLst/>
              <a:gdLst/>
              <a:ahLst/>
              <a:cxnLst/>
              <a:rect l="l" t="t" r="r" b="b"/>
              <a:pathLst>
                <a:path w="2674842" h="1137715">
                  <a:moveTo>
                    <a:pt x="0" y="0"/>
                  </a:moveTo>
                  <a:lnTo>
                    <a:pt x="2674842" y="0"/>
                  </a:lnTo>
                  <a:lnTo>
                    <a:pt x="2674842" y="1137715"/>
                  </a:lnTo>
                  <a:lnTo>
                    <a:pt x="0" y="1137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702" b="-67404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552494" y="290481"/>
              <a:ext cx="2178604" cy="1658160"/>
            </a:xfrm>
            <a:custGeom>
              <a:avLst/>
              <a:gdLst/>
              <a:ahLst/>
              <a:cxnLst/>
              <a:rect l="l" t="t" r="r" b="b"/>
              <a:pathLst>
                <a:path w="2178604" h="1658160">
                  <a:moveTo>
                    <a:pt x="0" y="0"/>
                  </a:moveTo>
                  <a:lnTo>
                    <a:pt x="2178604" y="0"/>
                  </a:lnTo>
                  <a:lnTo>
                    <a:pt x="2178604" y="1658159"/>
                  </a:lnTo>
                  <a:lnTo>
                    <a:pt x="0" y="165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097463" y="0"/>
              <a:ext cx="1924434" cy="2239121"/>
            </a:xfrm>
            <a:custGeom>
              <a:avLst/>
              <a:gdLst/>
              <a:ahLst/>
              <a:cxnLst/>
              <a:rect l="l" t="t" r="r" b="b"/>
              <a:pathLst>
                <a:path w="1924434" h="2239121">
                  <a:moveTo>
                    <a:pt x="0" y="0"/>
                  </a:moveTo>
                  <a:lnTo>
                    <a:pt x="1924434" y="0"/>
                  </a:lnTo>
                  <a:lnTo>
                    <a:pt x="1924434" y="2239121"/>
                  </a:lnTo>
                  <a:lnTo>
                    <a:pt x="0" y="2239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023" t="-21507" r="-46674" b="-2606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9" name="Freeform 9"/>
            <p:cNvSpPr/>
            <p:nvPr/>
          </p:nvSpPr>
          <p:spPr>
            <a:xfrm>
              <a:off x="9936855" y="278377"/>
              <a:ext cx="3074252" cy="1670263"/>
            </a:xfrm>
            <a:custGeom>
              <a:avLst/>
              <a:gdLst/>
              <a:ahLst/>
              <a:cxnLst/>
              <a:rect l="l" t="t" r="r" b="b"/>
              <a:pathLst>
                <a:path w="3074252" h="1670263">
                  <a:moveTo>
                    <a:pt x="0" y="0"/>
                  </a:moveTo>
                  <a:lnTo>
                    <a:pt x="3074252" y="0"/>
                  </a:lnTo>
                  <a:lnTo>
                    <a:pt x="3074252" y="1670263"/>
                  </a:lnTo>
                  <a:lnTo>
                    <a:pt x="0" y="1670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1894" b="-42163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31596" y="762511"/>
              <a:ext cx="4115141" cy="714098"/>
            </a:xfrm>
            <a:custGeom>
              <a:avLst/>
              <a:gdLst/>
              <a:ahLst/>
              <a:cxnLst/>
              <a:rect l="l" t="t" r="r" b="b"/>
              <a:pathLst>
                <a:path w="4115141" h="714098">
                  <a:moveTo>
                    <a:pt x="0" y="0"/>
                  </a:moveTo>
                  <a:lnTo>
                    <a:pt x="4115141" y="0"/>
                  </a:lnTo>
                  <a:lnTo>
                    <a:pt x="4115141" y="714098"/>
                  </a:lnTo>
                  <a:lnTo>
                    <a:pt x="0" y="714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12" name="Group 12"/>
          <p:cNvGrpSpPr/>
          <p:nvPr/>
        </p:nvGrpSpPr>
        <p:grpSpPr>
          <a:xfrm>
            <a:off x="-1205794" y="3299489"/>
            <a:ext cx="2938144" cy="910590"/>
            <a:chOff x="0" y="0"/>
            <a:chExt cx="773832" cy="239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3832" cy="239826"/>
            </a:xfrm>
            <a:custGeom>
              <a:avLst/>
              <a:gdLst/>
              <a:ahLst/>
              <a:cxnLst/>
              <a:rect l="l" t="t" r="r" b="b"/>
              <a:pathLst>
                <a:path w="773832" h="239826">
                  <a:moveTo>
                    <a:pt x="119913" y="0"/>
                  </a:moveTo>
                  <a:lnTo>
                    <a:pt x="653919" y="0"/>
                  </a:lnTo>
                  <a:cubicBezTo>
                    <a:pt x="685722" y="0"/>
                    <a:pt x="716222" y="12634"/>
                    <a:pt x="738710" y="35122"/>
                  </a:cubicBezTo>
                  <a:cubicBezTo>
                    <a:pt x="761198" y="57610"/>
                    <a:pt x="773832" y="88110"/>
                    <a:pt x="773832" y="119913"/>
                  </a:cubicBezTo>
                  <a:lnTo>
                    <a:pt x="773832" y="119913"/>
                  </a:lnTo>
                  <a:cubicBezTo>
                    <a:pt x="773832" y="151716"/>
                    <a:pt x="761198" y="182216"/>
                    <a:pt x="738710" y="204704"/>
                  </a:cubicBezTo>
                  <a:cubicBezTo>
                    <a:pt x="716222" y="227193"/>
                    <a:pt x="685722" y="239826"/>
                    <a:pt x="653919" y="239826"/>
                  </a:cubicBezTo>
                  <a:lnTo>
                    <a:pt x="119913" y="239826"/>
                  </a:lnTo>
                  <a:cubicBezTo>
                    <a:pt x="88110" y="239826"/>
                    <a:pt x="57610" y="227193"/>
                    <a:pt x="35122" y="204704"/>
                  </a:cubicBezTo>
                  <a:cubicBezTo>
                    <a:pt x="12634" y="182216"/>
                    <a:pt x="0" y="151716"/>
                    <a:pt x="0" y="119913"/>
                  </a:cubicBezTo>
                  <a:lnTo>
                    <a:pt x="0" y="119913"/>
                  </a:lnTo>
                  <a:cubicBezTo>
                    <a:pt x="0" y="88110"/>
                    <a:pt x="12634" y="57610"/>
                    <a:pt x="35122" y="35122"/>
                  </a:cubicBezTo>
                  <a:cubicBezTo>
                    <a:pt x="57610" y="12634"/>
                    <a:pt x="88110" y="0"/>
                    <a:pt x="119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773832" cy="316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205794" y="5038754"/>
            <a:ext cx="2938144" cy="910590"/>
            <a:chOff x="0" y="0"/>
            <a:chExt cx="773832" cy="2398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73832" cy="239826"/>
            </a:xfrm>
            <a:custGeom>
              <a:avLst/>
              <a:gdLst/>
              <a:ahLst/>
              <a:cxnLst/>
              <a:rect l="l" t="t" r="r" b="b"/>
              <a:pathLst>
                <a:path w="773832" h="239826">
                  <a:moveTo>
                    <a:pt x="119913" y="0"/>
                  </a:moveTo>
                  <a:lnTo>
                    <a:pt x="653919" y="0"/>
                  </a:lnTo>
                  <a:cubicBezTo>
                    <a:pt x="685722" y="0"/>
                    <a:pt x="716222" y="12634"/>
                    <a:pt x="738710" y="35122"/>
                  </a:cubicBezTo>
                  <a:cubicBezTo>
                    <a:pt x="761198" y="57610"/>
                    <a:pt x="773832" y="88110"/>
                    <a:pt x="773832" y="119913"/>
                  </a:cubicBezTo>
                  <a:lnTo>
                    <a:pt x="773832" y="119913"/>
                  </a:lnTo>
                  <a:cubicBezTo>
                    <a:pt x="773832" y="151716"/>
                    <a:pt x="761198" y="182216"/>
                    <a:pt x="738710" y="204704"/>
                  </a:cubicBezTo>
                  <a:cubicBezTo>
                    <a:pt x="716222" y="227193"/>
                    <a:pt x="685722" y="239826"/>
                    <a:pt x="653919" y="239826"/>
                  </a:cubicBezTo>
                  <a:lnTo>
                    <a:pt x="119913" y="239826"/>
                  </a:lnTo>
                  <a:cubicBezTo>
                    <a:pt x="88110" y="239826"/>
                    <a:pt x="57610" y="227193"/>
                    <a:pt x="35122" y="204704"/>
                  </a:cubicBezTo>
                  <a:cubicBezTo>
                    <a:pt x="12634" y="182216"/>
                    <a:pt x="0" y="151716"/>
                    <a:pt x="0" y="119913"/>
                  </a:cubicBezTo>
                  <a:lnTo>
                    <a:pt x="0" y="119913"/>
                  </a:lnTo>
                  <a:cubicBezTo>
                    <a:pt x="0" y="88110"/>
                    <a:pt x="12634" y="57610"/>
                    <a:pt x="35122" y="35122"/>
                  </a:cubicBezTo>
                  <a:cubicBezTo>
                    <a:pt x="57610" y="12634"/>
                    <a:pt x="88110" y="0"/>
                    <a:pt x="119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773832" cy="316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43669" y="981075"/>
            <a:ext cx="4504536" cy="8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0"/>
              </a:lnSpc>
            </a:pPr>
            <a:r>
              <a:rPr lang="pt-BR" sz="5000" b="1" spc="400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Histórias 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3669" y="1461930"/>
            <a:ext cx="6072011" cy="146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80"/>
              </a:lnSpc>
            </a:pPr>
            <a:r>
              <a:rPr lang="pt-BR" sz="9157" b="1" spc="732" noProof="0" dirty="0">
                <a:solidFill>
                  <a:srgbClr val="3AF1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SUCESSO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43669" y="3270914"/>
            <a:ext cx="7179133" cy="93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pt-BR" sz="3000" b="1" spc="15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Vários anos de parceria e resultados comprovados!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43669" y="4552979"/>
            <a:ext cx="921369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Há mais de 15 anos no mercado, nossas parcerias de longo prazo refletem nosso compromisso com a excelência e com a geração de valor real para nossos clientes.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30639" y="6928480"/>
            <a:ext cx="4026721" cy="43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pt-BR" sz="2700" spc="135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Clientes Satisfeitos: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994004" y="1585699"/>
            <a:ext cx="6524344" cy="232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0"/>
              </a:lnSpc>
            </a:pPr>
            <a:r>
              <a:rPr lang="pt-BR" sz="5000" b="1" spc="400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Atendimento Híbrido: </a:t>
            </a:r>
            <a:r>
              <a:rPr lang="pt-BR" sz="5000" b="1" spc="40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Remoto e Presencial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4004" y="1000125"/>
            <a:ext cx="6524344" cy="45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88"/>
              </a:lnSpc>
            </a:pPr>
            <a:r>
              <a:rPr lang="pt-BR" sz="2800" spc="14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Como trabalhamos: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57484" y="2044639"/>
            <a:ext cx="9767183" cy="6197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95"/>
              </a:lnSpc>
            </a:pPr>
            <a:r>
              <a:rPr lang="pt-BR" sz="3853" spc="192" noProof="0" dirty="0">
                <a:solidFill>
                  <a:srgbClr val="39F2AE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Acreditamos que a combinação entre a disponibilidade e a acessibilidade proporcionadas pela tecnologia, </a:t>
            </a:r>
            <a:r>
              <a:rPr lang="pt-BR" sz="3853" spc="192" noProof="0" dirty="0">
                <a:solidFill>
                  <a:srgbClr val="E6C63F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aliadas à presença física — essencial para compreender os aspectos não verbais de uma organização </a:t>
            </a:r>
            <a:r>
              <a:rPr lang="pt-BR" sz="3853" spc="192" noProof="0" dirty="0">
                <a:solidFill>
                  <a:schemeClr val="bg1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— é a chave para gerar eficiência e resultados consistentes.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3697B-4328-8B42-43B1-434D9F0F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326ECB-A18B-0FB8-9E08-EDB3D6526986}"/>
              </a:ext>
            </a:extLst>
          </p:cNvPr>
          <p:cNvGrpSpPr>
            <a:grpSpLocks noChangeAspect="1"/>
          </p:cNvGrpSpPr>
          <p:nvPr/>
        </p:nvGrpSpPr>
        <p:grpSpPr>
          <a:xfrm rot="1840200">
            <a:off x="7267607" y="-1559850"/>
            <a:ext cx="13120780" cy="13344752"/>
            <a:chOff x="0" y="0"/>
            <a:chExt cx="17381245" cy="176779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928003-3A1D-7316-41F2-BDE6C0FA5F35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DBA0E95-C702-2AF5-D95B-E4BA90CA5D53}"/>
              </a:ext>
            </a:extLst>
          </p:cNvPr>
          <p:cNvSpPr/>
          <p:nvPr/>
        </p:nvSpPr>
        <p:spPr>
          <a:xfrm>
            <a:off x="-5443" y="-3094827"/>
            <a:ext cx="18288000" cy="12801600"/>
          </a:xfrm>
          <a:custGeom>
            <a:avLst/>
            <a:gdLst/>
            <a:ahLst/>
            <a:cxnLst/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699"/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17360B5-3DA1-F226-A17B-325F4D1B89EB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AB7D3F3-6710-3AC2-8DA5-F7A9FECF4E00}"/>
              </a:ext>
            </a:extLst>
          </p:cNvPr>
          <p:cNvSpPr txBox="1"/>
          <p:nvPr/>
        </p:nvSpPr>
        <p:spPr>
          <a:xfrm>
            <a:off x="2182586" y="534546"/>
            <a:ext cx="15464790" cy="8171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1"/>
              </a:lnSpc>
            </a:pPr>
            <a:r>
              <a:rPr lang="pt-BR" sz="3200" b="1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Nossa proposta é estruturada com base no volume de trabalho, nas técnicas aplicadas e no nível de conhecimento requerido, sendo também balizada pelo retorno que possivelmente a organização terá. Dessa forma, estabelece-se:</a:t>
            </a:r>
          </a:p>
          <a:p>
            <a:pPr>
              <a:lnSpc>
                <a:spcPts val="5401"/>
              </a:lnSpc>
            </a:pPr>
            <a:endParaRPr lang="pt-BR" sz="4400" b="1" spc="271" noProof="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r>
              <a:rPr lang="pt-BR" sz="2800" b="1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-&gt; R$ 350,00 a hora (remoto ou presencial);</a:t>
            </a:r>
          </a:p>
          <a:p>
            <a:endParaRPr lang="pt-BR" sz="1200" b="1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r>
              <a:rPr lang="pt-BR" sz="2800" b="1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-&gt; Faturamento mínimo de 30 (trinta) horas mensais;</a:t>
            </a:r>
          </a:p>
          <a:p>
            <a:endParaRPr lang="pt-BR" sz="2800" b="1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>
              <a:lnSpc>
                <a:spcPct val="150000"/>
              </a:lnSpc>
            </a:pPr>
            <a:r>
              <a:rPr lang="pt-BR" sz="2800" b="1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Para trabalhos presenciais fora da RM de Salvador/BA: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400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Período mínimo de 3 (três) dias (equivalente a 24 horas úteis);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400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Cada hora de deslocamento entre cidades será considerada como 0,5 (meia) hora útil de trabalho;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400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Custos de deslocamento entre cidades, alimentação, deslocamento local e hospedagem serão de responsabilidade do contratante;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400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Agendamento sujeito à disponibilidade.</a:t>
            </a:r>
          </a:p>
          <a:p>
            <a:pPr lvl="1"/>
            <a:endParaRPr lang="pt-BR" sz="2400" spc="271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A7B665-0528-5161-2243-D4E264A0CF9D}"/>
              </a:ext>
            </a:extLst>
          </p:cNvPr>
          <p:cNvSpPr txBox="1"/>
          <p:nvPr/>
        </p:nvSpPr>
        <p:spPr>
          <a:xfrm rot="-5400000">
            <a:off x="-3782378" y="4709160"/>
            <a:ext cx="973645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INVESTIMENTO</a:t>
            </a:r>
          </a:p>
        </p:txBody>
      </p:sp>
      <p:sp>
        <p:nvSpPr>
          <p:cNvPr id="8" name="Freeform 23">
            <a:extLst>
              <a:ext uri="{FF2B5EF4-FFF2-40B4-BE49-F238E27FC236}">
                <a16:creationId xmlns:a16="http://schemas.microsoft.com/office/drawing/2014/main" id="{5FB00293-53D2-F24D-D12F-578BD4EF333B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2070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840200">
            <a:off x="7267607" y="-1559850"/>
            <a:ext cx="13120780" cy="13344752"/>
            <a:chOff x="0" y="0"/>
            <a:chExt cx="17381245" cy="176779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4" name="Freeform 4"/>
          <p:cNvSpPr/>
          <p:nvPr/>
        </p:nvSpPr>
        <p:spPr>
          <a:xfrm>
            <a:off x="-5443" y="-3094827"/>
            <a:ext cx="18288000" cy="12801600"/>
          </a:xfrm>
          <a:custGeom>
            <a:avLst/>
            <a:gdLst/>
            <a:ahLst/>
            <a:cxnLst/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699"/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2171700" y="1717305"/>
            <a:ext cx="15464790" cy="6852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1"/>
              </a:lnSpc>
            </a:pPr>
            <a:r>
              <a:rPr lang="pt-BR" sz="2800" b="1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Com base no escopo apresentado, estimamos a necessidade de aproximadamente 90 horas de trabalho.</a:t>
            </a:r>
          </a:p>
          <a:p>
            <a:pPr>
              <a:lnSpc>
                <a:spcPts val="5401"/>
              </a:lnSpc>
            </a:pPr>
            <a:endParaRPr lang="pt-BR" sz="2800" b="1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>
              <a:lnSpc>
                <a:spcPts val="5401"/>
              </a:lnSpc>
            </a:pPr>
            <a:r>
              <a:rPr lang="pt-BR" sz="2800" b="1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Ressaltamos que se trata de uma estimativa, pois o ritmo do trabalho dependerá principalmente do engajamento e da agilidade de resposta da organização e de seus colaboradores, podendo, inclusive, ser menor.</a:t>
            </a:r>
          </a:p>
          <a:p>
            <a:pPr>
              <a:lnSpc>
                <a:spcPts val="5401"/>
              </a:lnSpc>
            </a:pPr>
            <a:endParaRPr lang="pt-BR" sz="2800" b="1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>
              <a:lnSpc>
                <a:spcPts val="5401"/>
              </a:lnSpc>
            </a:pPr>
            <a:r>
              <a:rPr lang="pt-BR" sz="2800" b="1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Além disso, confiamos no valor que entregamos, por isso nosso contrato não possui fidelidade nem prazo mínimo, podendo ser encerrado a qualquer momento, sem multa.</a:t>
            </a:r>
            <a:endParaRPr lang="pt-BR" sz="2800" b="1" spc="271" dirty="0">
              <a:solidFill>
                <a:srgbClr val="E6C63F"/>
              </a:solidFill>
              <a:latin typeface="Poppins 1"/>
              <a:cs typeface="Poppins 1"/>
              <a:sym typeface="Poppins 1"/>
            </a:endParaRPr>
          </a:p>
        </p:txBody>
      </p:sp>
      <p:sp>
        <p:nvSpPr>
          <p:cNvPr id="7" name="TextBox 7"/>
          <p:cNvSpPr txBox="1"/>
          <p:nvPr/>
        </p:nvSpPr>
        <p:spPr>
          <a:xfrm rot="-5400000">
            <a:off x="-3782378" y="4709160"/>
            <a:ext cx="973645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INVESTIMENTO</a:t>
            </a:r>
          </a:p>
        </p:txBody>
      </p:sp>
      <p:sp>
        <p:nvSpPr>
          <p:cNvPr id="8" name="Freeform 23">
            <a:extLst>
              <a:ext uri="{FF2B5EF4-FFF2-40B4-BE49-F238E27FC236}">
                <a16:creationId xmlns:a16="http://schemas.microsoft.com/office/drawing/2014/main" id="{4C5357A0-B438-79EC-4CA1-1ED5285A228B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32073" y="6972300"/>
            <a:ext cx="9696575" cy="2653633"/>
          </a:xfrm>
          <a:custGeom>
            <a:avLst/>
            <a:gdLst/>
            <a:ahLst/>
            <a:cxnLst/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1085850" y="768846"/>
            <a:ext cx="16116300" cy="3785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800" b="1" spc="150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Ficamos à disposição para esclarecimentos adicionais.</a:t>
            </a:r>
            <a:endParaRPr lang="pt-BR" sz="3000" spc="15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ctr">
              <a:lnSpc>
                <a:spcPts val="3629"/>
              </a:lnSpc>
            </a:pPr>
            <a:b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</a:br>
            <a: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Caso já se sinta à vontade, pedimos a gentileza de responder a esta mensagem com </a:t>
            </a:r>
            <a:r>
              <a:rPr lang="pt-BR" sz="3000" spc="15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o CNPJ e o e-mail </a:t>
            </a:r>
            <a: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da empresa, para que possamos preparar o contrato e dar início imediato a essa parceria.</a:t>
            </a:r>
            <a:endParaRPr lang="pt-BR" sz="3000" spc="15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ctr">
              <a:lnSpc>
                <a:spcPts val="3629"/>
              </a:lnSpc>
            </a:pPr>
            <a:endParaRPr lang="pt-BR" sz="3000" spc="15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7387936"/>
            <a:ext cx="452263" cy="2632364"/>
          </a:xfrm>
          <a:custGeom>
            <a:avLst/>
            <a:gdLst/>
            <a:ahLst/>
            <a:cxnLst/>
            <a:rect l="l" t="t" r="r" b="b"/>
            <a:pathLst>
              <a:path w="452263" h="2632364">
                <a:moveTo>
                  <a:pt x="0" y="0"/>
                </a:moveTo>
                <a:lnTo>
                  <a:pt x="452263" y="0"/>
                </a:lnTo>
                <a:lnTo>
                  <a:pt x="452263" y="2632364"/>
                </a:lnTo>
                <a:lnTo>
                  <a:pt x="0" y="263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94" r="-207004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1047750" y="5304378"/>
            <a:ext cx="10020300" cy="11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1"/>
              </a:lnSpc>
            </a:pPr>
            <a:r>
              <a:rPr lang="pt-BR" sz="3765" b="1" spc="131" noProof="0" dirty="0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Fabiano Ferreira</a:t>
            </a:r>
          </a:p>
          <a:p>
            <a:pPr algn="l">
              <a:lnSpc>
                <a:spcPts val="3568"/>
              </a:lnSpc>
            </a:pPr>
            <a:r>
              <a:rPr lang="pt-BR" sz="2548" b="1" spc="89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fabiano@gestaoversus.com.br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8450" y="7440680"/>
            <a:ext cx="5133350" cy="456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(71) 9 9642-6565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8450" y="8031163"/>
            <a:ext cx="2364696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@gestaoversus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8450" y="8510976"/>
            <a:ext cx="3463161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 err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gestaoversusoficial</a:t>
            </a:r>
            <a:endParaRPr lang="pt-BR" sz="2011" b="1" spc="70" noProof="0" dirty="0">
              <a:solidFill>
                <a:srgbClr val="FFFFFF"/>
              </a:solidFill>
              <a:latin typeface="Poppins 1 Medium"/>
              <a:ea typeface="Poppins 1 Medium"/>
              <a:cs typeface="Poppins 1 Medium"/>
              <a:sym typeface="Poppins 1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48450" y="9481775"/>
            <a:ext cx="4936896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facebook.com/</a:t>
            </a:r>
            <a:r>
              <a:rPr lang="pt-BR" sz="2011" b="1" spc="70" noProof="0" dirty="0" err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VersusConsultoria</a:t>
            </a:r>
            <a:endParaRPr lang="pt-BR" sz="2011" b="1" spc="70" noProof="0" dirty="0">
              <a:solidFill>
                <a:srgbClr val="FFFFFF"/>
              </a:solidFill>
              <a:latin typeface="Poppins 1 Medium"/>
              <a:ea typeface="Poppins 1 Medium"/>
              <a:cs typeface="Poppins 1 Medium"/>
              <a:sym typeface="Poppins 1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48450" y="8996375"/>
            <a:ext cx="3650796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www.gestaoversus.com.br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F0C2C6A-B11F-A20E-509C-9993C681C6D0}"/>
              </a:ext>
            </a:extLst>
          </p:cNvPr>
          <p:cNvSpPr txBox="1"/>
          <p:nvPr/>
        </p:nvSpPr>
        <p:spPr>
          <a:xfrm>
            <a:off x="1028700" y="4548696"/>
            <a:ext cx="16116300" cy="518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pt-BR" sz="48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Obrigado!</a:t>
            </a:r>
            <a:endParaRPr lang="pt-BR" sz="4000" spc="150" noProof="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791</Words>
  <Application>Microsoft Office PowerPoint</Application>
  <PresentationFormat>Personalizar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Poppins 1 Semi-Bold</vt:lpstr>
      <vt:lpstr>Arial</vt:lpstr>
      <vt:lpstr>Poppins 1 Bold Italics</vt:lpstr>
      <vt:lpstr>Poppins 2</vt:lpstr>
      <vt:lpstr>Poppins 1</vt:lpstr>
      <vt:lpstr>Poppins 1 Medium</vt:lpstr>
      <vt:lpstr>Wingdings</vt:lpstr>
      <vt:lpstr>Poppins 1 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Versus Desktop - 5.0</dc:title>
  <dc:creator>Fabiano Ferreira</dc:creator>
  <cp:lastModifiedBy>Fabiano Ferreira</cp:lastModifiedBy>
  <cp:revision>6</cp:revision>
  <dcterms:created xsi:type="dcterms:W3CDTF">2006-08-16T00:00:00Z</dcterms:created>
  <dcterms:modified xsi:type="dcterms:W3CDTF">2026-04-11T20:22:12Z</dcterms:modified>
  <dc:identifier>DAGdZ71uFnM</dc:identifier>
</cp:coreProperties>
</file>