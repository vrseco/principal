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72a2e825f446fb" /><Relationship Type="http://schemas.openxmlformats.org/officeDocument/2006/relationships/extended-properties" Target="/docProps/app.xml" Id="R43113bcaffe748a2" /><Relationship Type="http://schemas.openxmlformats.org/officeDocument/2006/relationships/officeDocument" Target="/ppt/presentation.xml" Id="Rd6e365b66fdd41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0b7ddd30b54c5f"/>
  </p:sldMasterIdLst>
  <p:notesMasterIdLst>
    <p:notesMasterId xmlns:r="http://schemas.openxmlformats.org/officeDocument/2006/relationships" r:id="Rafc673335fab44cd"/>
  </p:notesMasterIdLst>
  <p:sldIdLst>
    <p:sldId xmlns:r="http://schemas.openxmlformats.org/officeDocument/2006/relationships" id="256" r:id="Rfb5401b139ff43a5"/>
    <p:sldId xmlns:r="http://schemas.openxmlformats.org/officeDocument/2006/relationships" id="257" r:id="Re93a26d245724f1c"/>
    <p:sldId xmlns:r="http://schemas.openxmlformats.org/officeDocument/2006/relationships" id="258" r:id="R86de911ce2524873"/>
    <p:sldId xmlns:r="http://schemas.openxmlformats.org/officeDocument/2006/relationships" id="259" r:id="Re2049cad2ace4d11"/>
    <p:sldId xmlns:r="http://schemas.openxmlformats.org/officeDocument/2006/relationships" id="260" r:id="Re188f22ceb134a49"/>
    <p:sldId xmlns:r="http://schemas.openxmlformats.org/officeDocument/2006/relationships" id="261" r:id="R5d119efebb264ce2"/>
    <p:sldId xmlns:r="http://schemas.openxmlformats.org/officeDocument/2006/relationships" id="262" r:id="R2572250bfa144bf4"/>
    <p:sldId xmlns:r="http://schemas.openxmlformats.org/officeDocument/2006/relationships" id="263" r:id="R42361dee99ee4f4d"/>
    <p:sldId xmlns:r="http://schemas.openxmlformats.org/officeDocument/2006/relationships" id="264" r:id="R6f57171b4dab4334"/>
    <p:sldId xmlns:r="http://schemas.openxmlformats.org/officeDocument/2006/relationships" id="265" r:id="Ra1fdbec6fc1649f5"/>
    <p:sldId xmlns:r="http://schemas.openxmlformats.org/officeDocument/2006/relationships" id="266" r:id="R9c7cd7179379437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0b7ddd30b54c5f" /><Relationship Type="http://schemas.openxmlformats.org/officeDocument/2006/relationships/theme" Target="/ppt/theme/theme1.xml" Id="R6b8d0f1b4ce0476c" /><Relationship Type="http://schemas.openxmlformats.org/officeDocument/2006/relationships/notesMaster" Target="/ppt/notesMasters/notesMaster1.xml" Id="Rafc673335fab44cd" /><Relationship Type="http://schemas.openxmlformats.org/officeDocument/2006/relationships/presProps" Target="/ppt/presProps.xml" Id="R3e887486c57f4cf9" /><Relationship Type="http://schemas.openxmlformats.org/officeDocument/2006/relationships/viewProps" Target="/ppt/viewProps.xml" Id="R6dea862ee01a408e" /><Relationship Type="http://schemas.openxmlformats.org/officeDocument/2006/relationships/tableStyles" Target="/ppt/tableStyles.xml" Id="Rcc3933238df7471a" /><Relationship Type="http://schemas.openxmlformats.org/officeDocument/2006/relationships/slide" Target="/ppt/slides/slide1.xml" Id="Rfb5401b139ff43a5" /><Relationship Type="http://schemas.openxmlformats.org/officeDocument/2006/relationships/slide" Target="/ppt/slides/slide2.xml" Id="Re93a26d245724f1c" /><Relationship Type="http://schemas.openxmlformats.org/officeDocument/2006/relationships/slide" Target="/ppt/slides/slide3.xml" Id="R86de911ce2524873" /><Relationship Type="http://schemas.openxmlformats.org/officeDocument/2006/relationships/slide" Target="/ppt/slides/slide4.xml" Id="Re2049cad2ace4d11" /><Relationship Type="http://schemas.openxmlformats.org/officeDocument/2006/relationships/slide" Target="/ppt/slides/slide5.xml" Id="Re188f22ceb134a49" /><Relationship Type="http://schemas.openxmlformats.org/officeDocument/2006/relationships/slide" Target="/ppt/slides/slide6.xml" Id="R5d119efebb264ce2" /><Relationship Type="http://schemas.openxmlformats.org/officeDocument/2006/relationships/slide" Target="/ppt/slides/slide7.xml" Id="R2572250bfa144bf4" /><Relationship Type="http://schemas.openxmlformats.org/officeDocument/2006/relationships/slide" Target="/ppt/slides/slide8.xml" Id="R42361dee99ee4f4d" /><Relationship Type="http://schemas.openxmlformats.org/officeDocument/2006/relationships/slide" Target="/ppt/slides/slide9.xml" Id="R6f57171b4dab4334" /><Relationship Type="http://schemas.openxmlformats.org/officeDocument/2006/relationships/slide" Target="/ppt/slides/slide10.xml" Id="Ra1fdbec6fc1649f5" /><Relationship Type="http://schemas.openxmlformats.org/officeDocument/2006/relationships/slide" Target="/ppt/slides/slide11.xml" Id="R9c7cd717937943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8bf6174d36445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dc7df063274c03" /><Relationship Type="http://schemas.openxmlformats.org/officeDocument/2006/relationships/notesMaster" Target="/ppt/notesMasters/notesMaster1.xml" Id="R26e1a86bf1ec44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039efe9348481a" /><Relationship Type="http://schemas.openxmlformats.org/officeDocument/2006/relationships/notesMaster" Target="/ppt/notesMasters/notesMaster1.xml" Id="Rbe5e78ebd3b94a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f0b49aff6e498e" /><Relationship Type="http://schemas.openxmlformats.org/officeDocument/2006/relationships/notesMaster" Target="/ppt/notesMasters/notesMaster1.xml" Id="R86ec3def827a40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74ecf6a4224448" /><Relationship Type="http://schemas.openxmlformats.org/officeDocument/2006/relationships/notesMaster" Target="/ppt/notesMasters/notesMaster1.xml" Id="Rdbf7af3a759649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a2a103a2f445b0" /><Relationship Type="http://schemas.openxmlformats.org/officeDocument/2006/relationships/notesMaster" Target="/ppt/notesMasters/notesMaster1.xml" Id="R31dd02b7ace241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e785e8990d4a0a" /><Relationship Type="http://schemas.openxmlformats.org/officeDocument/2006/relationships/notesMaster" Target="/ppt/notesMasters/notesMaster1.xml" Id="R982211f4d6aa48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dad3675e5d405d" /><Relationship Type="http://schemas.openxmlformats.org/officeDocument/2006/relationships/notesMaster" Target="/ppt/notesMasters/notesMaster1.xml" Id="Rd6183fa6ec7642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cd9199234e4ca4" /><Relationship Type="http://schemas.openxmlformats.org/officeDocument/2006/relationships/notesMaster" Target="/ppt/notesMasters/notesMaster1.xml" Id="Raec3a0c1b8b24c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e8eb4e45ff49f1" /><Relationship Type="http://schemas.openxmlformats.org/officeDocument/2006/relationships/notesMaster" Target="/ppt/notesMasters/notesMaster1.xml" Id="R5ad537c1661b41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58670e7a3e4062" /><Relationship Type="http://schemas.openxmlformats.org/officeDocument/2006/relationships/notesMaster" Target="/ppt/notesMasters/notesMaster1.xml" Id="Rd7fa61eea01a41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89704306b948ae" /><Relationship Type="http://schemas.openxmlformats.org/officeDocument/2006/relationships/notesMaster" Target="/ppt/notesMasters/notesMaster1.xml" Id="R6615879454fc44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a3c784adc1421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cc62841b7ae43ba" /><Relationship Type="http://schemas.openxmlformats.org/officeDocument/2006/relationships/slideLayout" Target="/ppt/slideLayouts/slideLayout2.xml" Id="R039c4e0c27d748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9c4e0c27d748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ce8de148ba449c" /><Relationship Type="http://schemas.openxmlformats.org/officeDocument/2006/relationships/notesSlide" Target="/ppt/notesSlides/notesSlide1.xml" Id="R60ef9c4d8f354f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e01507b8e541be" /><Relationship Type="http://schemas.openxmlformats.org/officeDocument/2006/relationships/notesSlide" Target="/ppt/notesSlides/notesSlide2.xml" Id="R4dd1879a60f84c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dfa0233ee4456f" /><Relationship Type="http://schemas.openxmlformats.org/officeDocument/2006/relationships/notesSlide" Target="/ppt/notesSlides/notesSlide3.xml" Id="R61f4cb06fac942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18e9c92f9b4a6f" /><Relationship Type="http://schemas.openxmlformats.org/officeDocument/2006/relationships/notesSlide" Target="/ppt/notesSlides/notesSlide4.xml" Id="R3c7c162dd9bb4d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3eb5216d814708" /><Relationship Type="http://schemas.openxmlformats.org/officeDocument/2006/relationships/notesSlide" Target="/ppt/notesSlides/notesSlide5.xml" Id="Ra47ae921656942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6a38b5bac24608" /><Relationship Type="http://schemas.openxmlformats.org/officeDocument/2006/relationships/notesSlide" Target="/ppt/notesSlides/notesSlide6.xml" Id="Re605f617429546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cc7db133244768" /><Relationship Type="http://schemas.openxmlformats.org/officeDocument/2006/relationships/notesSlide" Target="/ppt/notesSlides/notesSlide7.xml" Id="R2e27b35c351b45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9992c8dff4454f" /><Relationship Type="http://schemas.openxmlformats.org/officeDocument/2006/relationships/notesSlide" Target="/ppt/notesSlides/notesSlide8.xml" Id="R06971ffb8f354e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afb11e9aea45c6" /><Relationship Type="http://schemas.openxmlformats.org/officeDocument/2006/relationships/notesSlide" Target="/ppt/notesSlides/notesSlide9.xml" Id="R249c1f1e5c5d43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d45cfe5d434e44" /><Relationship Type="http://schemas.openxmlformats.org/officeDocument/2006/relationships/notesSlide" Target="/ppt/notesSlides/notesSlide10.xml" Id="R38116f1470e142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a06b03229446ed" /><Relationship Type="http://schemas.openxmlformats.org/officeDocument/2006/relationships/notesSlide" Target="/ppt/notesSlides/notesSlide11.xml" Id="R7fe496d644234f6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1B26CE-EBEB-4A4C-9ADA-C324E9EE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DA719-4892-4C6D-9C62-3E4148CC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533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55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00559-9A5C-4C1D-91A7-9C48D0F9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1050"/>
            <a:ext cx="16535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B8A6"/>
                </a:solidFill>
              </a:defRPr>
            </a:pPr>
            <a:r>
              <a:rPr sz="1650" b="1">
                <a:solidFill>
                  <a:srgbClr val="14B8A6"/>
                </a:solidFill>
              </a:rPr>
              <a:t>PIT DE INVESTIMENTO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73E05-B65A-4050-919E-C5540BA6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38250"/>
            <a:ext cx="10858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Infraestrutura de recarga elétrica: visão para investidores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9C562-3A53-438C-9F03-EB637174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971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Empresa, produtos, estrutura, cenários de resultado, investimento e retorno do investidor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201F6-F595-4BF6-BA05-2E501C71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8520"/>
            <a:ext cx="10756106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162748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B8CD1-D108-45B3-82C2-6B7D15B8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103060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Mensagem-chave: a operação foi desenhada com 06 produtos, mas a modelagem atual considera apenas 03. Isso torna a tese financeira conservadora e preserva upside relevante.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516E2-14E4-417A-8016-0CFB5507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7770"/>
            <a:ext cx="4000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EDA00-81F7-42C7-BE82-780E30FD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62550"/>
            <a:ext cx="369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Ramp-up até ago/2027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BBFBC-6231-4F7B-AA8E-74A8819B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17770"/>
            <a:ext cx="3619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D4ED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24468-444B-45BE-B644-B3C00E52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162550"/>
            <a:ext cx="3314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Aporte: R$ 11,0 mi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AC531-463E-49D9-8B8E-14CDE8CE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17770"/>
            <a:ext cx="4000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3230D-9116-421D-999A-6F838B2B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62550"/>
            <a:ext cx="369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Payback-base: até 18 meses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65F52-6DE1-44AA-A3F7-67D6C5EB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Elaboração executiva com base no relatório detalhado de implantação | maio/2026</a:t>
            </a:r>
          </a:p>
        </p:txBody>
      </p:sp>
    </p:spTree>
    <p:extLst>
      <p:ext uri="{BB962C8B-B14F-4D97-AF65-F5344CB8AC3E}">
        <p14:creationId xmlns:p14="http://schemas.microsoft.com/office/powerpoint/2010/main" val="10551467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A6A3E9-2ECF-4DAD-88ED-944EEA4A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1. A empresa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02400-DA7C-4B45-8046-69628A7B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060E9-E781-4A05-9783-46870C7B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7010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Síntese do núcleo societário, valores e objetivos financeiros presentes no relatório.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B3A44-FA03-4BCA-8CD0-99AAA9D5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5495"/>
            <a:ext cx="53975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68AAD-926B-4FE4-ADE7-6641C356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Sócios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607EE-0E26-4964-9425-1243BB2D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497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03 sócios mapeados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8622E-DEE3-48BC-9ECE-88AE75E1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055495"/>
            <a:ext cx="53975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72214-5576-4F68-962B-AB891D14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669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Liderança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573A9-3419-4427-BDE6-DA44B0F7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09850"/>
            <a:ext cx="4972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CEO César Lisboa na condução estratégica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3E41F-7F79-426C-81EA-DCBEE107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2055495"/>
            <a:ext cx="53975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2B36B-3AB3-49F6-A86E-482AA2DA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2669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Capital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52D8A-4DFD-4B5A-BA67-37DF00F5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609850"/>
            <a:ext cx="497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100% próprio na largada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0F1B3-40A0-449A-AEB9-822DB98A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3895"/>
            <a:ext cx="8191500" cy="5145405"/>
          </a:xfrm>
          <a:prstGeom xmlns:a="http://schemas.openxmlformats.org/drawingml/2006/main" prst="roundRect">
            <a:avLst>
              <a:gd name="adj" fmla="val 407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77C300-AB16-4E2B-B712-C78506EC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7734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Valores e diretrizes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915F7-0384-40C8-AA1F-2FB67785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Respeito aos valores do negócio e dos sócios.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E8B1D-5BAC-40A3-9855-71BA2ED1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6260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Segurança do investimento e da operação.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8C8383-EAD4-4471-9C01-FA3F0767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4360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Prioridade ao longo prazo e à execução por etapas.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E2B84A-7D03-4C1C-9B86-CAEBB06D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93895"/>
            <a:ext cx="8191500" cy="5145405"/>
          </a:xfrm>
          <a:prstGeom xmlns:a="http://schemas.openxmlformats.org/drawingml/2006/main" prst="roundRect">
            <a:avLst>
              <a:gd name="adj" fmla="val 407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4237D-1F11-4194-B521-5A943458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24400"/>
            <a:ext cx="7734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Objetivos financeiros-base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365295-920B-44DD-9A9D-CF71CABB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8160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Payback estimado em até 18 meses.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E042DB-7002-4267-986E-44E8C2A3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62600"/>
            <a:ext cx="7734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Investimentos acionados conforme evolução de vendas, embora o plano consolide tudo em jul/2026.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54EFA6-C02C-4BD6-8D68-229BD24B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22935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Formação de base recorrente e monetização da infraestrutura instalada.</a:t>
            </a:r>
          </a:p>
        </p:txBody>
      </p:sp>
    </p:spTree>
    <p:extLst>
      <p:ext uri="{BB962C8B-B14F-4D97-AF65-F5344CB8AC3E}">
        <p14:creationId xmlns:p14="http://schemas.microsoft.com/office/powerpoint/2010/main" val="14966764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35EFA4-5915-4179-8F70-1FF6BF22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6802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2. Produtos: ativados e a ativar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9BE47-F6B6-4F9D-B12C-01DCC807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858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1BCAE-1908-4258-BD47-6DA807C4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6438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Receita pós ramp-up e margem de contribuição dos produtos já modelados.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D1E2A-B3F5-4291-9BB6-3E1D050C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0685"/>
            <a:ext cx="5943600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3BBDA-2B93-4BA8-89F3-ABFCA3A1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5676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Produto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C20CB-B777-4D6E-B2D3-C070BBAE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70685"/>
            <a:ext cx="2600325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06C70-89C1-41E5-A0E3-C4938F2E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9070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A8DE7-95F6-4879-8506-9E5F3966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670685"/>
            <a:ext cx="3529012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1958F-FA8F-43AD-B55E-9DCB2D2D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90700"/>
            <a:ext cx="325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Faturamento pós ramp-up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8B487-222D-48F5-8905-1FB5C5D8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8788" y="1670685"/>
            <a:ext cx="1671637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AED51-B8D6-4076-B95F-74901E62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790700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C4AB4-977A-4E9C-B554-2AF0D07B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1670685"/>
            <a:ext cx="2600325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93F75D-8D87-4701-8AD9-A787754C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179070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em R$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89D61-DAF6-43BF-B234-651CCDCB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68756"/>
            <a:ext cx="5943600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51C95F-ECF4-49F6-8C95-B0AA4DB2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5676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Kit / equipamento principal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5EE2B-D269-4905-85C6-69009AAC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68756"/>
            <a:ext cx="2600325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0607B-06AA-48E6-B21F-D0CC17AB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8605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59669"/>
                </a:solidFill>
              </a:defRPr>
            </a:pPr>
            <a:r>
              <a:rPr sz="1425" b="1">
                <a:solidFill>
                  <a:srgbClr val="059669"/>
                </a:solidFill>
              </a:rPr>
              <a:t>Ativado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54453-9462-4DE7-84F5-1147C7F7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568756"/>
            <a:ext cx="3529012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F0744B-9475-4B1C-89BB-FC16CD70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86050"/>
            <a:ext cx="325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R$ 24.000.000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2E6970-B2F1-4396-AA38-78AC9492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8788" y="2568756"/>
            <a:ext cx="1671637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7F3D02-9EDC-4542-B697-1E71775D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2686050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33,4%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ACCC21-6BC7-4D60-9906-C1CF6FAD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8756"/>
            <a:ext cx="2600325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26AD6C-AA01-4DC7-AD86-4AD08AB9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268605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R$ 26.736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4FAE20-DA31-4306-8114-42BE4860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6828"/>
            <a:ext cx="5943600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003A33-30AE-42D4-80A4-820D46E0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5676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Implantação / instalação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3E6B4D-EB35-4380-96FA-6464BCE1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66828"/>
            <a:ext cx="2600325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AC58FE-1EF1-45C1-BCDB-79F051D0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8140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59669"/>
                </a:solidFill>
              </a:defRPr>
            </a:pPr>
            <a:r>
              <a:rPr sz="1425" b="1">
                <a:solidFill>
                  <a:srgbClr val="059669"/>
                </a:solidFill>
              </a:rPr>
              <a:t>Ativado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677DE0-8CAE-45CF-80FC-D91DC124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466828"/>
            <a:ext cx="3529012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E1B1CE-1FEC-4544-8B1B-BA142A08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81400"/>
            <a:ext cx="325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R$ 12.000.000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EBCF58-7B9D-4A77-82A0-FC971E78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8788" y="3466828"/>
            <a:ext cx="1671637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636C63-BF73-42AB-8FC3-91CD1D7B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581400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35,3%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3349BD-0364-4BDE-804C-8D81014E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466828"/>
            <a:ext cx="2600325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D441C8-F016-49F5-8826-C91FF6E2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358140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R$ 14.120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D6E06B-A231-45DA-B5CC-A8CA559F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4899"/>
            <a:ext cx="5943600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9C6E6B-8B76-4ED8-94AD-C1ED50A4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5676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Software de gestão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218859-D219-462C-9C9E-C70E3E93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64899"/>
            <a:ext cx="2600325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967EF3-65E9-42C4-A6B4-1AA2DE7D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7675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59669"/>
                </a:solidFill>
              </a:defRPr>
            </a:pPr>
            <a:r>
              <a:rPr sz="1425" b="1">
                <a:solidFill>
                  <a:srgbClr val="059669"/>
                </a:solidFill>
              </a:rPr>
              <a:t>Ativado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883E65-BDAA-42F0-B528-00104376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364899"/>
            <a:ext cx="3529012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3CC949-13C7-455E-A1CD-2898361B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476750"/>
            <a:ext cx="325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R$ 6.400.000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42459F-489C-44A5-A4D3-6D839165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8788" y="4364899"/>
            <a:ext cx="1671637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FA358D-65A6-48EE-A44F-DFF5242C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476750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70,0%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75E011-1424-4334-AD52-326AC640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4364899"/>
            <a:ext cx="2600325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6A8D29-B40E-4D9A-B73B-9985117B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447675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R$ 1.120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FABF40-5F79-4E89-AF4B-1733E1DE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62971"/>
            <a:ext cx="5943600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D4D1AC-FF15-4C49-9874-37457D67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5676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Estudo de viabilidade / assessoria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DF6852-0E1F-40C9-A3CB-C548B467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62971"/>
            <a:ext cx="2600325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8D7B20-95A4-4821-AC98-31E2E189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37210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97706"/>
                </a:solidFill>
              </a:defRPr>
            </a:pPr>
            <a:r>
              <a:rPr sz="1425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982502-9683-4EA8-8AE3-3A9F54D3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262971"/>
            <a:ext cx="3529012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285EC4-E79A-42E8-B018-2C43F1A6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372100"/>
            <a:ext cx="325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A estruturar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26A69D-70B0-4CD2-80F4-28985024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8788" y="5262971"/>
            <a:ext cx="1671637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CF2209-45E6-401C-BF98-0F058EC0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372100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-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A443DF-9C21-4F24-90A9-624E5361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262971"/>
            <a:ext cx="2600325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514AFE-1B8D-4A2B-85F7-2D46D628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537210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-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454405-3002-4F2D-B392-DC4051E0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61042"/>
            <a:ext cx="5943600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0CA0F7-33EF-436C-902B-E7259099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67450"/>
            <a:ext cx="5676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Peças e upgrades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42C5072-BB32-4157-9991-72C622F6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161042"/>
            <a:ext cx="2600325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D7F5C10-4C75-474D-9A02-7D551895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26745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97706"/>
                </a:solidFill>
              </a:defRPr>
            </a:pPr>
            <a:r>
              <a:rPr sz="1425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56B3569-DE35-432A-BDF6-C01B6BC9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6161042"/>
            <a:ext cx="3529012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5FDC64-5C93-4B15-B98E-7B384749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267450"/>
            <a:ext cx="325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A estruturar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978462F-F5F7-41CA-A368-4132974D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8788" y="6161042"/>
            <a:ext cx="1671637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3113358-66CE-43DD-99D8-95178914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6267450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-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7FCC23E-1ECC-4FB4-A640-2BFC6584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6161042"/>
            <a:ext cx="2600325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620E25D-36FF-433C-BFF3-7C8E5B96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626745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-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C18095C-E005-46FB-BEC1-1868B1A0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59114"/>
            <a:ext cx="5943600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B9B19D3-EE52-431A-A96D-E43FAA65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81850"/>
            <a:ext cx="5676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Manutenção especializada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C81C5EE-2D15-4408-AF47-0D4633A4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7059114"/>
            <a:ext cx="2600325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8157BDD-80C6-4F21-A900-AB14B807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718185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97706"/>
                </a:solidFill>
              </a:defRPr>
            </a:pPr>
            <a:r>
              <a:rPr sz="1425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E85A3BF-BDF4-412D-BF3F-004EE313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7059114"/>
            <a:ext cx="3529012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4888F49-EA46-448F-A329-67E171EB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7181850"/>
            <a:ext cx="325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A estruturar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EE26780-ABC9-4289-AC79-B01DB106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8788" y="7059114"/>
            <a:ext cx="1671637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9B7E59F-9071-4358-AB85-159DF8CF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7181850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-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BF95653-5756-4B3D-8E7E-4A0E75FB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7059114"/>
            <a:ext cx="2600325" cy="802821"/>
          </a:xfrm>
          <a:prstGeom xmlns:a="http://schemas.openxmlformats.org/drawingml/2006/main" prst="roundRect">
            <a:avLst>
              <a:gd name="adj" fmla="val 1661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F92E819-F698-4CD0-BF9A-DB110763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718185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-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5A39706-D793-45F1-BC85-A9F786A9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71485"/>
            <a:ext cx="16802100" cy="891540"/>
          </a:xfrm>
          <a:prstGeom xmlns:a="http://schemas.openxmlformats.org/drawingml/2006/main" prst="roundRect">
            <a:avLst>
              <a:gd name="adj" fmla="val 21368"/>
            </a:avLst>
          </a:prstGeom>
          <a:solidFill xmlns:a="http://schemas.openxmlformats.org/drawingml/2006/main">
            <a:srgbClr val="ECFDF5"/>
          </a:solidFill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5F3A73A-7881-4C6F-9C51-D7E19B91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48650"/>
            <a:ext cx="16459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65F46"/>
                </a:solidFill>
              </a:defRPr>
            </a:pPr>
            <a:r>
              <a:rPr sz="1800" b="1">
                <a:solidFill>
                  <a:srgbClr val="065F46"/>
                </a:solidFill>
              </a:rPr>
              <a:t>Leitura de investidores: o faturamento anual pós ramp-up hoje modelado soma R$ 42,4 milhões. Os produtos a ativar podem ampliar receita, margem, recorrência e defesa competitiva.</a:t>
            </a:r>
          </a:p>
        </p:txBody>
      </p:sp>
    </p:spTree>
    <p:extLst>
      <p:ext uri="{BB962C8B-B14F-4D97-AF65-F5344CB8AC3E}">
        <p14:creationId xmlns:p14="http://schemas.microsoft.com/office/powerpoint/2010/main" val="2140822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D79970-A8FD-4B2B-8B92-64F500BE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3. Demanda do mercado / market share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FE967-9F98-4115-8BF4-D77D9B24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AB427-E5F5-4926-9C07-64197B43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12973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Premissa adotada para este material: mercado Brasil com 5.000 kits e 5.000 instalações vendidos por mês, durante todo o período do estudo (60 meses).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88F40-5F55-46B9-8EF2-F8A072AA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4985"/>
            <a:ext cx="53975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935EA-0E41-4EBB-A81C-CA4B2B14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Mercado anual Brasil (proxy)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BA1B5-F400-4B25-A6D1-C685D651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497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R$ 7.200.000.000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35531-95FC-4A86-9A7E-CB0538E8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1784985"/>
            <a:ext cx="53975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9E7DA-550B-4476-BBF5-1E051732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002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Mercado total do estudo (60 meses)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75D4C-EEFB-4D5B-BA69-31BB1C7B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24100"/>
            <a:ext cx="497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R$ 36.000.000.000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D9E43-2560-4167-AD1D-19D8973C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1784985"/>
            <a:ext cx="53975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C8295-2893-432A-AD58-BBD8A7B3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0002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Share do plano por receita anual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0370A-A81D-4520-9F14-080CCD9E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324100"/>
            <a:ext cx="497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0,6%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DDD11-309A-4DEA-8238-588B3CE1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9085"/>
            <a:ext cx="540385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ED18D-C023-425A-80FF-6DAF56A5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2910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Linha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200FC-4196-4CF8-B3A6-140D89C8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4109085"/>
            <a:ext cx="315224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0FD8C-3D57-4009-9EAE-30A3A86C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29100"/>
            <a:ext cx="2876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Unidades do plano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A97C3-3C33-4D84-A0CD-1C4BA77D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996" y="4109085"/>
            <a:ext cx="4278048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EC67B5-D248-4D54-B229-2DDFF16D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2910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Mercado Brasil no estudo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3C2F05-214C-41F2-B19F-1BB6948F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2394" y="4109085"/>
            <a:ext cx="337740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B47E7D-D3CF-4C76-B313-EF6CB342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4229100"/>
            <a:ext cx="310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Share proxy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5FD6EB-6940-4DDA-835D-A6290CC1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33023"/>
            <a:ext cx="540385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77B417-C490-4E7D-BFFD-2E8FAA9B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387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Kits / equipamentos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2B372D-2768-4095-A60A-1F6C6C55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5133023"/>
            <a:ext cx="315224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50A919-1846-44A4-9679-8BB0029B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38750"/>
            <a:ext cx="2876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300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18E147-EBE6-4596-A890-F010DE6C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996" y="5133023"/>
            <a:ext cx="4278048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1201F3-C277-4BB5-B38E-313E030A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3875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300.000 kits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8C8082-504D-4053-A43D-75597E99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2394" y="5133023"/>
            <a:ext cx="337740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4666FF-C7B0-4A62-BC61-5712155F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5238750"/>
            <a:ext cx="310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0,1%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913E9F-3DD2-46EE-9FDF-9C375431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6960"/>
            <a:ext cx="540385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B39B85-752A-4A5B-9033-54AC06A9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674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Implantações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10567A-C26C-4A22-BDEB-2FEAA201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6156960"/>
            <a:ext cx="315224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C46DC4-0960-434C-87DC-2CCA7247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67450"/>
            <a:ext cx="2876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300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A57DD0-2FFF-4FA6-9585-7535D7E4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996" y="6156960"/>
            <a:ext cx="4278048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351813-4EB5-469E-BCC0-60FEB726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26745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300.000 instalações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5E8523-0A72-48C1-99C1-746E85D7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2394" y="6156960"/>
            <a:ext cx="337740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B49818-05E6-4C50-A089-FF2AE2A2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6267450"/>
            <a:ext cx="310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0,1%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54E73B-C404-470C-9E78-B8FD3143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80898"/>
            <a:ext cx="540385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2FFD22-7B6F-49E4-8829-D9F22F98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961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Software / base ativa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7D0678-929F-4F97-A0EE-F3274C9E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7180898"/>
            <a:ext cx="315224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67BFF2-2C67-4FCC-9AEC-E4E998A1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296150"/>
            <a:ext cx="2876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4.000 ativos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F64E4D-4E97-4064-BF66-142C91B6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996" y="7180898"/>
            <a:ext cx="4278048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9C460E-B566-439D-8E9A-E883379E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29615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Não aplicável nesta premissa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A0CB6B-D6D3-4F6A-BDFC-AE62D466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2394" y="7180898"/>
            <a:ext cx="337740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E8DDB6-AF1C-40FF-BC25-61B77DE6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7296150"/>
            <a:ext cx="310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75569"/>
                </a:solidFill>
              </a:defRPr>
            </a:pPr>
            <a:r>
              <a:rPr sz="1500" b="1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6E13B5-D431-43B1-AB5C-F3DE0CF8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439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Nota: nesta versão, o market share foi recalculado a partir da premissa informada pelo usuário para kits e instalações no mercado nacional ao longo de todo o período do estudo.</a:t>
            </a:r>
          </a:p>
        </p:txBody>
      </p:sp>
    </p:spTree>
    <p:extLst>
      <p:ext uri="{BB962C8B-B14F-4D97-AF65-F5344CB8AC3E}">
        <p14:creationId xmlns:p14="http://schemas.microsoft.com/office/powerpoint/2010/main" val="4020504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8131DC-DD30-499D-B6DC-8714B98C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4. Estrutura: Comercial, Operacional e Adm-Fin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7DD66-B11D-4DF0-9551-CE26D7B9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726FA-B46E-43DD-AE68-1FAB088F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9963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Custos de estrutura resumidos a partir das frentes planejadas e do total mensal de custos/despesas fixas do relatório.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D16A9-FDC5-4873-A215-956C8E1F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6445"/>
            <a:ext cx="54102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3EDB8-170D-46AD-A319-D9082A6B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Setup total das frentes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A7717-E8D0-404F-9680-CC4D917E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R$ 723.500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7804D-6A95-49C5-997C-009DBED0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6445"/>
            <a:ext cx="54102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D5028-5CB0-4F8E-B798-F5F0DCF2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fixo mensal total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E0873-361E-41F5-A9D0-43406614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R$ 249.000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9F430-9644-450E-9F90-97398A0D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036445"/>
            <a:ext cx="54102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4B0C3-4DE5-434D-AF82-596F70A4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fixo anual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F867B-E683-4370-9293-CAFF932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R$ 2.988.000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B6AA7-4AB4-42D8-A308-74149AEA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52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F9A52-2710-4EA0-BA80-E4405D5B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320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Estrutura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96F2F2-49BB-4E64-A32C-B42830E4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426529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A9AAE-3EE6-4598-A310-1CBE8DC6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81500"/>
            <a:ext cx="274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de setup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3AAC4-5C1B-42CE-8801-E6328B45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2652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6BF6C3-93D3-4FD9-9D72-80D1E16D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320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fixo mensal (rateio)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B3BADF-3C84-4E16-A955-74FC97E1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426529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337DA-0688-49AD-8E6C-1CD104C0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38150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Leitura resumida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4C2DAF-4FB7-4676-8C13-4FF854C6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25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C89CA7-4D3A-40B1-B0A1-1271BD01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387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Comercial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1FE6F3-07DD-4174-A0B7-21DF6059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512254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1353C6-7D37-453C-8124-898DC981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3875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R$ 340.000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7630EF-A547-4E72-BC45-94E8F57E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1225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816F70-051D-47A2-8826-C84DE213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387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R$ 117.083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E4750A-25F0-4763-85AD-19462FE3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512254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63289D-D82C-4B8C-924A-CFEB19CD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23875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Prospecção, vendas e ativação de receita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7BD49A-A2A1-4EA3-840A-04DEEC75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97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0E5C09-8EB4-46FB-BBAB-F2B7DC14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9600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Operacional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A02D93-F86B-47A9-8D89-9E5BB012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597979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CB4862-AE78-42A9-AFDF-5F564717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9600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R$ 331.000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C839AC-CA8E-4D63-B9C4-65E97BCE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9797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B63A14-D30E-4B69-BB9F-E409A35D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09600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R$ 113.983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BD2163-152E-4541-90EF-E65AAADA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597979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5E982D-D813-4153-B814-885E070B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09600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Implantação, suporte técnico e entrega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42B7F4-BEEF-4EBE-AFEA-D16BC7EC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370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7A7B6C-946E-48B1-A2BE-D82F21C8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9532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Adm-Fin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9B3869-02EF-447F-A640-5588AC3B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683704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C74632-317F-48E8-8A39-29B989C1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95325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R$ 52.500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2C6737-C445-4B91-AD28-DA1A13ED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68370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A171E7-D56C-47E5-89D2-69B609BE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9532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R$ 17.934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C00E18-F4FF-409E-B37B-C6A5E316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683704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390660-4144-422C-AB6A-1F5D08D1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95325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Backoffice, gestão financeira e administração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4C715D-E020-4194-8D5C-4F1C7606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8295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Premissa de rateio: o custo fixo mensal de R$ 249 mil foi distribuído proporcionalmente aos valores planejados por frente de estrutura.</a:t>
            </a:r>
          </a:p>
        </p:txBody>
      </p:sp>
    </p:spTree>
    <p:extLst>
      <p:ext uri="{BB962C8B-B14F-4D97-AF65-F5344CB8AC3E}">
        <p14:creationId xmlns:p14="http://schemas.microsoft.com/office/powerpoint/2010/main" val="6431699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7CBB93-F653-4764-BE98-2B51E98B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6802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5. Resultado líquido: 20%, 50% e 100% das vendas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6E74E-53CD-4D9E-8CCA-57EF160F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858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600DF-491A-44BF-8406-F4E4658F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8877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Cenários mantendo a mesma base de custo fixo anual e a mesma estrutura de margem do modelo atual.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B5891-08D8-4812-A082-F1F544D5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2145"/>
            <a:ext cx="272415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DE9C8-BFB5-48AC-9B94-97BBFC31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Cenário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16A31-275F-4AE5-8333-8B6487FD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22145"/>
            <a:ext cx="330789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5DBF2-10CA-4490-A662-8EFD34FA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383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Receita anual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1D3AE-67AC-4675-A23A-79B0EFEB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596" y="1922145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0CC50-1E8E-47EF-A555-870FB995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383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Margem de contribuição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7E971-07F7-4478-BE0A-C3D17BA8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957" y="1922145"/>
            <a:ext cx="2918732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A759C-66B9-4E13-91BE-47E314B9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38350"/>
            <a:ext cx="264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fixo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E426B-B2F4-43C3-8A22-EC10DAAB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989" y="1922145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C7CBC-844F-4D87-8A0B-D30EC25D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20383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Resultado líquido estimado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E4B2E-16B3-42DA-B75A-6A39EDB2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3208"/>
            <a:ext cx="272415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7E320-2AF4-4079-81C4-D43DC6ED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20% das vendas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DC64A-5AA8-4647-AAB7-109A7C98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03208"/>
            <a:ext cx="330789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1B6F5-DE32-4D55-B042-F01C2703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146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R$ 8.480.000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170C5C-1691-49AD-9679-6B93E2F6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596" y="2803208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1B526-815A-4953-AC62-CA9D9A76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146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R$ 3.895.160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51379B-5E88-4D7C-BA0A-B90FF03D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957" y="2803208"/>
            <a:ext cx="2918732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AD7784-7261-4F42-A22F-E6765129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914650"/>
            <a:ext cx="264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R$ 2.988.000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D32EF3-575E-4498-8A47-AFDE2267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989" y="2803208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6D5240-B321-48AC-B7C3-C6C15AA4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29146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R$ 907.160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E95F3D-543D-4E4F-A044-06F478DE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4270"/>
            <a:ext cx="272415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1D49C4-E3E9-4F43-BF54-B9679E83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50% das vendas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2681CE-D510-4F62-8602-FF2938F1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84270"/>
            <a:ext cx="330789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7BBD9A-9DDB-437D-B74F-0F2ABA3C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R$ 21.200.000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0B454B-B781-494C-B2B4-42D0BB11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596" y="3684270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635B58-661A-46D5-8070-1C1608F3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909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R$ 9.737.900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76B854-4E8C-4D9E-8499-9BEF9C38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957" y="3684270"/>
            <a:ext cx="2918732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F6985C-51AC-46BB-BBA7-73564B31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90950"/>
            <a:ext cx="264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R$ 2.988.000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804A76-59B6-4689-A890-F99935BA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989" y="3684270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98E6CA-B72B-4120-8A19-02244186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7909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R$ 6.749.900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E5449D-472D-4A4F-8E56-F30EFCBD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65333"/>
            <a:ext cx="272415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BC8501-987D-4415-999D-64C44393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100% das vendas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476453-4BA2-4516-9D23-20E1D82D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565333"/>
            <a:ext cx="330789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5A7DE4-DEAA-4F8B-AE7C-E03C7708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863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R$ 42.400.000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CE3128-EF2D-41DB-A23E-A05F85C0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596" y="4565333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B8434E-BC70-485C-BD84-66330421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863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R$ 19.475.800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5ABB2A-02BD-4122-9E7C-7D5B8BD8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957" y="4565333"/>
            <a:ext cx="2918732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601C00-308A-4C83-9EB7-C122CFC5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686300"/>
            <a:ext cx="264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R$ 2.988.000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846987-8A95-4126-B339-1B9A8B89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989" y="4565333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1163DC-9FC2-45F7-AC4D-AC18DCC9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46863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R$ 16.487.800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A2AF52-C689-4E4F-BB2E-EEAD98A9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0695"/>
            <a:ext cx="8296275" cy="4173855"/>
          </a:xfrm>
          <a:prstGeom xmlns:a="http://schemas.openxmlformats.org/drawingml/2006/main" prst="roundRect">
            <a:avLst>
              <a:gd name="adj" fmla="val 50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6382CC-8D4E-4B0D-9E7C-DF7C5906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7215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Interpretação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5B836B-44D2-4B9F-A628-E790D3BD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1030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negócio permanece positivo mesmo em 20% do volume de vendas do plano-base.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386170-24F8-44CE-AD54-E093DA52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5320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Em 50% das vendas, o resultado líquido estimado já supera R$ 6,7 milhões/ano.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7950B3-A9E8-4A15-BC24-A46304DB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91515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Em 100%, o resultado líquido anual estimado alcança R$ 16,49 milhões.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CE9FFD-AD13-4646-A8FA-1504C753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560695"/>
            <a:ext cx="8296275" cy="4173855"/>
          </a:xfrm>
          <a:prstGeom xmlns:a="http://schemas.openxmlformats.org/drawingml/2006/main" prst="roundRect">
            <a:avLst>
              <a:gd name="adj" fmla="val 50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E5DCDB-9B05-49EA-935F-4936E449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77215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Premissas do cálculo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45975B-C4C2-450E-9E78-5F072537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21030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Receita-base de R$ 42,4 milhões em regime.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3F3A5B-8D25-4189-95C5-249FA119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55320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Custo fixo anual de R$ 2,988 milhões.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D52554-5104-4133-8030-0AF8F291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91515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Mesma relação de margem de contribuição implícita na modelagem atual.</a:t>
            </a:r>
          </a:p>
        </p:txBody>
      </p:sp>
    </p:spTree>
    <p:extLst>
      <p:ext uri="{BB962C8B-B14F-4D97-AF65-F5344CB8AC3E}">
        <p14:creationId xmlns:p14="http://schemas.microsoft.com/office/powerpoint/2010/main" val="7146854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C00C58-56A9-4B2F-BB04-ED519AAC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6. Investimento necessário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FD89E-B392-4646-9788-7246C066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C2C74-8F7E-4C6C-8D5C-9EE91716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7048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Composição do investimento segundo o relatório e leitura prática para o investidor.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304C9-A2C5-4338-887A-9DDE75FE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6445"/>
            <a:ext cx="54102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784A3-C2D3-4AFB-A326-06881FC5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Capital de giro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88355-A30B-4205-AE5D-FBBA1887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R$ 1.500.000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9BE5A-182B-4298-9D23-1936CC44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6445"/>
            <a:ext cx="54102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9CB58-A6E6-4B27-ABC9-3076967F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Estoques / containers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D71A7-B3CC-4B32-B3D6-CDC46929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R$ 8.820.000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7FBBB-2391-4A70-BFF7-E0F1A7E5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036445"/>
            <a:ext cx="54102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2EDCB-3846-42F3-90A4-95132519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Investimento total do plano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6667A-73C0-4292-882D-48A48603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R$ 11.000.000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85951-7C04-4856-968D-098CD40A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0545"/>
            <a:ext cx="8201025" cy="5278755"/>
          </a:xfrm>
          <a:prstGeom xmlns:a="http://schemas.openxmlformats.org/drawingml/2006/main" prst="roundRect">
            <a:avLst>
              <a:gd name="adj" fmla="val 3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4F0B9-AA57-44A1-A037-A95A80EF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Detalhamento do investimento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3F249-500D-454C-9C98-20C645AA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6 meses de custos e despesas fixas: R$ 1,5 milhão.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6DC2B-37AE-4DD0-9C90-CD535080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1 container de 36 unidades: R$ 1,764 milhão.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9FA26-8E94-4BBB-B9DE-37A1ABE9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3 containers de 36 unidades: R$ 5,292 milhões.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A6815-0C4C-4C01-A4EC-1177BB9D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150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1 container adicional de 36 unidades: R$ 1,764 milhão.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EE79C9-7B69-47D4-BAE2-91C4B595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77000"/>
            <a:ext cx="7753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Saldo implícito de estrutura/contingência até o aporte total: aproximadamente R$ 680 mil.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1F4FF3-79F9-4DCB-B7E4-AD10D23A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360545"/>
            <a:ext cx="8201025" cy="5278755"/>
          </a:xfrm>
          <a:prstGeom xmlns:a="http://schemas.openxmlformats.org/drawingml/2006/main" prst="roundRect">
            <a:avLst>
              <a:gd name="adj" fmla="val 3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9D3B02-16E3-44A1-9D4C-E65D3D42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910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executiva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962912-2C09-4557-8E70-0A059A86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482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investimento é majoritariamente direcionado a estoque e capacidade de entrega.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2B9844-FB64-462A-818D-33056243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102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capital de giro reduz risco de execução no ramp-up.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2FDAA3-A150-408F-BF02-DA410BA4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7531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plano nasce sem dependência de alavancagem financeira externa na largada.</a:t>
            </a:r>
          </a:p>
        </p:txBody>
      </p:sp>
    </p:spTree>
    <p:extLst>
      <p:ext uri="{BB962C8B-B14F-4D97-AF65-F5344CB8AC3E}">
        <p14:creationId xmlns:p14="http://schemas.microsoft.com/office/powerpoint/2010/main" val="369951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9DA6FE-B37F-4711-9B15-E7DC5E78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7. Premissas financeiras do investidor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C78B6-94EE-4AC3-A3C4-AED28BD0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F19FF-8692-4988-9EC2-F19E8244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10934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Premissas explícitas do relatório combinadas com métricas calculadas em regime estável para apoiar a conversa de investimento.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7A58C-9152-4378-A282-E80CCAD4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644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4CA9F-B788-4AFC-839D-E0230F5F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Distribuição ao investidor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F51AB-41AE-4BB5-80B6-6767AE19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25%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4024F-F2F1-4944-BCAC-3CE3CAA2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810" y="203644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33F24-003C-4427-998F-21F445A9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47900"/>
            <a:ext cx="2762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de oportunidade (assumido)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FD6DF-945D-46FB-B1F7-FE327E6E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194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15% a.a.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D1402-7A1B-43FB-B642-FA8EB4AB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420" y="203644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B5C09-929B-417B-99D0-1A90AEE2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4790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TIR estimada*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8693A-8208-48D6-AE49-F7CBAB8E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908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25,4% a.a.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D0E2AE-F20D-4729-BE9E-20F1500D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030" y="203644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FCE7F3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7B88B-B7BF-4346-B89B-FEB88E7F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24790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VPL estimado*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19ED4F-3814-4167-8A66-47F09844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908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R$ 2.817.416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34F54-C0F2-462A-B743-007ED66B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0" y="203644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EDE9FE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37DA8F-22CC-4D81-9E5B-64813C44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24790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Payback do investidor*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919D66-D602-4A35-83BA-16C61FAE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5908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2,67 anos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8DC2F-00FE-4DB0-B365-B05C3165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1045"/>
            <a:ext cx="8201025" cy="5088255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AA329-D352-4D5C-8838-D91F4CAB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das premissas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2F01AD-F89D-4F5D-8C9C-6C1AB32B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7753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relatório explicita distribuição de 25% a partir de nov/2026 para “Outras”, aqui tratada como base do investidor.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8870D2-C7BC-4494-BCD5-63EA2A3D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48350"/>
            <a:ext cx="7753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investidor participa do upside sem que os 3 produtos a ativar tenham sido considerados no fluxo-base.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441CDA-6F5E-40D5-B221-16ACA891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770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retorno calculado não depende de aumento de preço ou redução de custo fixo.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F3185B-AC76-4BB7-AE79-7E4BE9DB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51045"/>
            <a:ext cx="8201025" cy="5088255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EF8953-4444-4C8E-BFA9-7481DCA7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815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Notas metodológicas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35F5D8-F3CB-432C-B457-74124397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238750"/>
            <a:ext cx="7753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TIR, VPL e payback calculados sobre fluxo anual simplificado de 5 anos, sem valor terminal.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9FB6C9-EBB8-4F10-B34E-44C232BC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8483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VPL calculado com custo de oportunidade assumido de 15% a.a.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B91B57-E6C6-45B1-A12C-4707ED12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2103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Os indicadores não incorporam upside dos produtos ainda não ativados.</a:t>
            </a:r>
          </a:p>
        </p:txBody>
      </p:sp>
    </p:spTree>
    <p:extLst>
      <p:ext uri="{BB962C8B-B14F-4D97-AF65-F5344CB8AC3E}">
        <p14:creationId xmlns:p14="http://schemas.microsoft.com/office/powerpoint/2010/main" val="984634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F820FF-3F0D-4059-B822-6D1B4DCD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8. Fluxo de caixa do negócio (resumido)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51BE9-774E-4BA3-901B-EEC011B1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D7561-CB97-49D9-BE01-F9D6912C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9372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Corte resumido para set/2027, um mês após o fim do ramp-up, e para o ano cheio de 2028 em regime estável.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47761-73BB-49D5-AA3B-9851A7AE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4985"/>
            <a:ext cx="8201025" cy="2667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96B7B-9996-46A3-96F7-6198A864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775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Set/2027 (1 mês após o ramp-up)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77F51-480E-4603-8906-C6D0DD2B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Receita: R$ 3.533.333,3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6C00A-BDA3-4C4C-89BF-8B860DDD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Margem de contribuição: R$ 1.622.983,3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BE51F9-9D6B-405F-BFE1-E69D4C4F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Custo fixo: R$ 249.000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6EEEA-5517-46A3-A35F-D3A84562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Resultado líquido estimado: R$ 1.373.983,3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9B05E-92B3-475A-BA13-E94F2C8E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784985"/>
            <a:ext cx="8201025" cy="2667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775DF2-7BCC-46D0-B67F-6C9BB8CA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19300"/>
            <a:ext cx="775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Ano cheio 2028 (jan-dez)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5AA4F-E5A5-4F82-87DB-470B5EC3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193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Receita anual: R$ 42.400.000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48722-1381-41B6-A744-C6F30928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1940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Margem de contribuição anual: R$ 19.475.800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A8338-7965-4870-82DE-AFD87EAF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0040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Custo fixo anual: R$ 2.988.000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26482-3B5E-4319-A0CA-1349C318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004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Resultado líquido anual: R$ 16.487.800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B1C90-4BA4-4ACD-B7F0-7012C437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0585"/>
            <a:ext cx="16611600" cy="4958715"/>
          </a:xfrm>
          <a:prstGeom xmlns:a="http://schemas.openxmlformats.org/drawingml/2006/main" prst="roundRect">
            <a:avLst>
              <a:gd name="adj" fmla="val 4226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530CF8-3C8B-41C6-98CB-7F7D4B7D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6154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complementar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422169-27B4-4E56-B562-21A29A04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Em regime, o negócio gera aproximadamente R$ 1,37 milhão de resultado líquido por mês.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12B09-1DC2-442B-A82D-83613401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150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Se houver distribuição total de 50% do resultado, a retenção anual estimada na companhia seria de cerca de R$ 8,24 milhões.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F5EF4A-DE4D-4BF2-9D8C-B7428E65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7695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Essa retenção cria espaço para reforço de capital de giro, expansão e ativação dos produtos remanescentes.</a:t>
            </a:r>
          </a:p>
        </p:txBody>
      </p:sp>
    </p:spTree>
    <p:extLst>
      <p:ext uri="{BB962C8B-B14F-4D97-AF65-F5344CB8AC3E}">
        <p14:creationId xmlns:p14="http://schemas.microsoft.com/office/powerpoint/2010/main" val="13778226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C4D731-E9EB-4FC1-8CC9-4988E029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9. Fluxo de caixa do investidor (resumido)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98966-6968-445D-992A-23BE6765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3D109-9165-48A7-B8D6-866205D0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9963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Fluxo de distribuição em regime estável, assumindo participação de 25% sobre o resultado distribuível do plano-base.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5F39E-97BA-42FC-AD48-017BE8FE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6445"/>
            <a:ext cx="5397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488B4-AADF-4B21-B5BF-9C54EBF9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Aporte inicial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3CE91-E941-40C3-9756-E30F1A34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493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C2626"/>
                </a:solidFill>
              </a:defRPr>
            </a:pPr>
            <a:r>
              <a:rPr sz="3150" b="1">
                <a:solidFill>
                  <a:srgbClr val="DC2626"/>
                </a:solidFill>
              </a:rPr>
              <a:t>R$ 11.000.000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D756E-233D-4F54-BACC-106BA36D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Momento-base: jul/2026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60D8B-819F-4368-A1A9-6C059F95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036445"/>
            <a:ext cx="5397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9BE38-F17A-4032-95CC-AA138D4F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Set/2027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1DB89-870E-4AB6-97B0-D7C87926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93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Distribuição mensal estimada: R$ 343.495,8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A60D3-BAED-4C11-8EB6-ADB70200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1 mês após o fim do ramp-up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1B320-0038-4F60-9999-1AA9F973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2036445"/>
            <a:ext cx="5397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DE89ED-3604-4FAE-9D01-9364FF2C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26695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Ano cheio 2028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F5A00-8D8F-41D4-92B0-79076A9B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686050"/>
            <a:ext cx="493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Distribuição anual estimada: R$ 4.121.950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F8811-3F80-4250-B626-28660783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1051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Média mensal: R$ 343.495,8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0FA942-0A66-449F-9E1D-971EFA36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1545"/>
            <a:ext cx="16611600" cy="4897755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CB7D5F-E0F4-4596-9D42-351FA9AA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16154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Interpretação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75DAD-8790-4614-9B8B-BBEFA21B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A remuneração do investidor acontece com base em um fluxo já viável no cenário de 3 produtos modelados.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5A4612-D2A7-403D-864A-E83639CA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912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retorno adicional associado aos produtos a ativar funciona como upside opcional, não como condição para a tese-base fechar.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10079D-56EE-47CC-9D4E-DAB99355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341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Esse desenho melhora a assimetria risco-retorno da oportunidade.</a:t>
            </a:r>
          </a:p>
        </p:txBody>
      </p:sp>
    </p:spTree>
    <p:extLst>
      <p:ext uri="{BB962C8B-B14F-4D97-AF65-F5344CB8AC3E}">
        <p14:creationId xmlns:p14="http://schemas.microsoft.com/office/powerpoint/2010/main" val="20301343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441982-51F6-43B9-80CA-03C2C016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4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B31FE-9176-4FE3-8832-B4C07487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B8A6"/>
                </a:solidFill>
              </a:defRPr>
            </a:pPr>
            <a:r>
              <a:rPr sz="1800" b="1">
                <a:solidFill>
                  <a:srgbClr val="14B8A6"/>
                </a:solidFill>
              </a:rPr>
              <a:t>10. Fechamento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B2542-6AAC-44B3-B837-D6FFE4DB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130111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 tese funciona com os 3 produtos modelados e melhora ainda mais quando o portfólio de 6 produtos estiver completo.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1A1F0-C0AE-4F2D-B4F3-ABB76958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58540"/>
            <a:ext cx="14329791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4365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AA0ED-56E5-4D2F-A311-A27F094F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13792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2E8F0"/>
                </a:solidFill>
              </a:defRPr>
            </a:pPr>
            <a:r>
              <a:rPr sz="2250" b="0">
                <a:solidFill>
                  <a:srgbClr val="E2E8F0"/>
                </a:solidFill>
              </a:rPr>
              <a:t>O investidor entra em uma operação com mercado em formação, produto/serviço integrado, resultado positivo mesmo abaixo do volume total do plano e upside relevante ainda não refletido na modelagem atual.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E43F4-7BEF-4159-9A5E-71235C54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0140"/>
            <a:ext cx="371475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636E6-884F-451D-B497-B15B2D0B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86350"/>
            <a:ext cx="3409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Mercado com tendência estrutural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7B3B5-3F6A-431E-86A7-C68C81B8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930140"/>
            <a:ext cx="4000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D4ED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B4CDC-A9CB-449F-A944-615939CC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86350"/>
            <a:ext cx="369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Modelo com recorrência e margem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54FC5-F7D9-4B5E-8006-E5585E24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30140"/>
            <a:ext cx="4762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8766C-B893-4B42-A859-71C583F2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86350"/>
            <a:ext cx="4457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Upside fora da conta atual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BCAF9-4FDB-4A6D-BFDB-03822E5E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• Base conservadora, não teto de resultado.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9BA4C-6518-4301-8C3E-C39F86D6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1505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• Execução bem-sucedida pode ativar novas avenidas de faturamento.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C1F96F-6DC0-4C20-9F0E-4CAD9929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• Case atrativo para investidor que busca retorno com assimetria positiva.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A16C0-6CCC-4A05-BEB9-F16CDDFF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7230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Base: relatório detalhado de implantação | premissas complementares explicitadas no material</a:t>
            </a:r>
          </a:p>
        </p:txBody>
      </p:sp>
    </p:spTree>
    <p:extLst>
      <p:ext uri="{BB962C8B-B14F-4D97-AF65-F5344CB8AC3E}">
        <p14:creationId xmlns:p14="http://schemas.microsoft.com/office/powerpoint/2010/main" val="773181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2026-05-07T23:26:09.3510000Z</dcterms:created>
  <dcterms:modified xsi:type="dcterms:W3CDTF">2026-05-07T23:26:09.3510000Z</dcterms:modified>
</coreProperties>
</file>