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39" d="100"/>
          <a:sy n="3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AC886EFF-C1E1-4B98-B5A1-4FA7F2FA9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9D21B9F-79B3-4337-8DA5-FE0FB6B616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334000" cy="5334000"/>
          </a:xfrm>
          <a:prstGeom prst="roundRect">
            <a:avLst>
              <a:gd name="adj" fmla="val 50000"/>
            </a:avLst>
          </a:prstGeom>
          <a:solidFill>
            <a:srgbClr val="17355E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6729CE1-14FE-4CFD-895B-5475FB18DA1E}"/>
              </a:ext>
            </a:extLst>
          </p:cNvPr>
          <p:cNvSpPr>
            <a:spLocks noGrp="1"/>
          </p:cNvSpPr>
          <p:nvPr/>
        </p:nvSpPr>
        <p:spPr>
          <a:xfrm>
            <a:off x="876300" y="781050"/>
            <a:ext cx="16535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4B8A6"/>
                </a:solidFill>
              </a:defRPr>
            </a:pPr>
            <a:r>
              <a:rPr sz="1650" b="1">
                <a:solidFill>
                  <a:srgbClr val="14B8A6"/>
                </a:solidFill>
              </a:rPr>
              <a:t>PIT DE INVESTIMENTO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D2AE44-2B9C-405F-8CDA-9C8FD486BB69}"/>
              </a:ext>
            </a:extLst>
          </p:cNvPr>
          <p:cNvSpPr>
            <a:spLocks noGrp="1"/>
          </p:cNvSpPr>
          <p:nvPr/>
        </p:nvSpPr>
        <p:spPr>
          <a:xfrm>
            <a:off x="876300" y="1238250"/>
            <a:ext cx="9296400" cy="1428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650" b="1">
                <a:solidFill>
                  <a:srgbClr val="FFFFFF"/>
                </a:solidFill>
              </a:defRPr>
            </a:pPr>
            <a:r>
              <a:rPr lang="pt-BR" sz="4650" b="1" dirty="0">
                <a:solidFill>
                  <a:srgbClr val="FFFFFF"/>
                </a:solidFill>
              </a:rPr>
              <a:t>Eletropostos para EV </a:t>
            </a:r>
            <a:r>
              <a:rPr lang="pt-BR" sz="2800" b="1" dirty="0">
                <a:solidFill>
                  <a:srgbClr val="FFFFFF"/>
                </a:solidFill>
              </a:rPr>
              <a:t>(veículos elétricos)</a:t>
            </a:r>
            <a:r>
              <a:rPr lang="pt-BR" sz="4650" b="1" dirty="0">
                <a:solidFill>
                  <a:srgbClr val="FFFFFF"/>
                </a:solidFill>
              </a:rPr>
              <a:t>: visão para investidores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E92CBC8-3DBB-47B4-8823-E08181AFBF48}"/>
              </a:ext>
            </a:extLst>
          </p:cNvPr>
          <p:cNvSpPr>
            <a:spLocks noGrp="1"/>
          </p:cNvSpPr>
          <p:nvPr/>
        </p:nvSpPr>
        <p:spPr>
          <a:xfrm>
            <a:off x="876300" y="2868930"/>
            <a:ext cx="11109579" cy="1066800"/>
          </a:xfrm>
          <a:prstGeom prst="roundRect">
            <a:avLst>
              <a:gd name="adj" fmla="val 19643"/>
            </a:avLst>
          </a:prstGeom>
          <a:solidFill>
            <a:srgbClr val="162748"/>
          </a:solidFill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A6DE548-731E-4A17-850D-83464266990C}"/>
              </a:ext>
            </a:extLst>
          </p:cNvPr>
          <p:cNvSpPr>
            <a:spLocks noGrp="1"/>
          </p:cNvSpPr>
          <p:nvPr/>
        </p:nvSpPr>
        <p:spPr>
          <a:xfrm>
            <a:off x="1104900" y="3067050"/>
            <a:ext cx="106489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 operação foi desenhada com 06 produtos, mas a modelagem atual considera apenas 02. Isso torna a tese financeira conservadora e preserva upside relevante.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9225819-9E6F-469A-AFD1-737E308FA3C6}"/>
              </a:ext>
            </a:extLst>
          </p:cNvPr>
          <p:cNvSpPr>
            <a:spLocks noGrp="1"/>
          </p:cNvSpPr>
          <p:nvPr/>
        </p:nvSpPr>
        <p:spPr>
          <a:xfrm>
            <a:off x="876300" y="4145280"/>
            <a:ext cx="4000500" cy="579120"/>
          </a:xfrm>
          <a:prstGeom prst="roundRect">
            <a:avLst>
              <a:gd name="adj" fmla="val 26316"/>
            </a:avLst>
          </a:prstGeom>
          <a:solidFill>
            <a:srgbClr val="0F766E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30F563C-43C4-4EFE-8360-6427E11BC9D5}"/>
              </a:ext>
            </a:extLst>
          </p:cNvPr>
          <p:cNvSpPr>
            <a:spLocks noGrp="1"/>
          </p:cNvSpPr>
          <p:nvPr/>
        </p:nvSpPr>
        <p:spPr>
          <a:xfrm>
            <a:off x="1028700" y="430530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Ramp-up até ago/2027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49DA7E7B-CC85-470D-A4A1-F9871BCB92B8}"/>
              </a:ext>
            </a:extLst>
          </p:cNvPr>
          <p:cNvSpPr>
            <a:spLocks noGrp="1"/>
          </p:cNvSpPr>
          <p:nvPr/>
        </p:nvSpPr>
        <p:spPr>
          <a:xfrm>
            <a:off x="5048250" y="4145280"/>
            <a:ext cx="3619500" cy="579120"/>
          </a:xfrm>
          <a:prstGeom prst="roundRect">
            <a:avLst>
              <a:gd name="adj" fmla="val 26316"/>
            </a:avLst>
          </a:prstGeom>
          <a:solidFill>
            <a:srgbClr val="1D4ED8"/>
          </a:solidFill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307507E-F13D-47C8-A648-0D466CE181A6}"/>
              </a:ext>
            </a:extLst>
          </p:cNvPr>
          <p:cNvSpPr>
            <a:spLocks noGrp="1"/>
          </p:cNvSpPr>
          <p:nvPr/>
        </p:nvSpPr>
        <p:spPr>
          <a:xfrm>
            <a:off x="5200650" y="4305300"/>
            <a:ext cx="3314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Aporte: R$ 11,5 mi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62A3E51-398B-4E9E-87BB-244D1BFA3EB8}"/>
              </a:ext>
            </a:extLst>
          </p:cNvPr>
          <p:cNvSpPr>
            <a:spLocks noGrp="1"/>
          </p:cNvSpPr>
          <p:nvPr/>
        </p:nvSpPr>
        <p:spPr>
          <a:xfrm>
            <a:off x="8839200" y="4145280"/>
            <a:ext cx="4000500" cy="853440"/>
          </a:xfrm>
          <a:prstGeom prst="roundRect">
            <a:avLst>
              <a:gd name="adj" fmla="val 17857"/>
            </a:avLst>
          </a:prstGeom>
          <a:solidFill>
            <a:srgbClr val="B45309"/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C3C1FF9-A41F-4F84-8C31-3550F12AAE4D}"/>
              </a:ext>
            </a:extLst>
          </p:cNvPr>
          <p:cNvSpPr>
            <a:spLocks noGrp="1"/>
          </p:cNvSpPr>
          <p:nvPr/>
        </p:nvSpPr>
        <p:spPr>
          <a:xfrm>
            <a:off x="8991600" y="4305300"/>
            <a:ext cx="36957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Payback: 36m conservador | ~12m otimista</a:t>
            </a:r>
          </a:p>
        </p:txBody>
      </p:sp>
    </p:spTree>
    <p:extLst>
      <p:ext uri="{BB962C8B-B14F-4D97-AF65-F5344CB8AC3E}">
        <p14:creationId xmlns:p14="http://schemas.microsoft.com/office/powerpoint/2010/main" val="264094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EBA5F3CA-E426-4F3C-BD0E-8A352F69E9F9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1. A empresa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A737B0E-41FC-4557-828F-56EAF4A8233E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141DEB-1F7C-44C5-A654-2930AEAC73EF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65532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Síntese da governança, valores e objetivos financeiros presentes no relatório.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1348525-0331-41D0-8EDA-B91F2E51C7D1}"/>
              </a:ext>
            </a:extLst>
          </p:cNvPr>
          <p:cNvSpPr>
            <a:spLocks noGrp="1"/>
          </p:cNvSpPr>
          <p:nvPr/>
        </p:nvSpPr>
        <p:spPr>
          <a:xfrm>
            <a:off x="838200" y="180403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E6A91C8-4E85-452F-A969-05389F695D0E}"/>
              </a:ext>
            </a:extLst>
          </p:cNvPr>
          <p:cNvSpPr>
            <a:spLocks noGrp="1"/>
          </p:cNvSpPr>
          <p:nvPr/>
        </p:nvSpPr>
        <p:spPr>
          <a:xfrm>
            <a:off x="1047750" y="201930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Gestão e Governança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290784-CC90-436A-916F-BC5450760C89}"/>
              </a:ext>
            </a:extLst>
          </p:cNvPr>
          <p:cNvSpPr>
            <a:spLocks noGrp="1"/>
          </p:cNvSpPr>
          <p:nvPr/>
        </p:nvSpPr>
        <p:spPr>
          <a:xfrm>
            <a:off x="1047750" y="2343150"/>
            <a:ext cx="4972050" cy="1657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Previsão de conselho de administração, diretoria e gerências (coml, operacional, adm-fin)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0D4C7B-D24F-43AE-878B-A224DF3AB0C5}"/>
              </a:ext>
            </a:extLst>
          </p:cNvPr>
          <p:cNvSpPr>
            <a:spLocks noGrp="1"/>
          </p:cNvSpPr>
          <p:nvPr/>
        </p:nvSpPr>
        <p:spPr>
          <a:xfrm>
            <a:off x="6445250" y="180403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422A843-4C92-4FAE-B315-424EBF5BC6EA}"/>
              </a:ext>
            </a:extLst>
          </p:cNvPr>
          <p:cNvSpPr>
            <a:spLocks noGrp="1"/>
          </p:cNvSpPr>
          <p:nvPr/>
        </p:nvSpPr>
        <p:spPr>
          <a:xfrm>
            <a:off x="6648450" y="201930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lang="pt-BR" sz="1575" b="1" dirty="0">
                <a:solidFill>
                  <a:srgbClr val="475569"/>
                </a:solidFill>
              </a:rPr>
              <a:t>Sócios</a:t>
            </a:r>
            <a:endParaRPr sz="1575" b="1" dirty="0">
              <a:solidFill>
                <a:srgbClr val="475569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6D2EF52-7F45-43D9-A7AE-D92BA3D4C925}"/>
              </a:ext>
            </a:extLst>
          </p:cNvPr>
          <p:cNvSpPr>
            <a:spLocks noGrp="1"/>
          </p:cNvSpPr>
          <p:nvPr/>
        </p:nvSpPr>
        <p:spPr>
          <a:xfrm>
            <a:off x="6648450" y="2343150"/>
            <a:ext cx="49720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 dirty="0">
                <a:solidFill>
                  <a:srgbClr val="0B1324"/>
                </a:solidFill>
              </a:rPr>
              <a:t>César Lisboa</a:t>
            </a:r>
            <a:r>
              <a:rPr lang="pt-BR" sz="2700" b="1" dirty="0">
                <a:solidFill>
                  <a:srgbClr val="0B1324"/>
                </a:solidFill>
              </a:rPr>
              <a:t> – Comercial</a:t>
            </a:r>
          </a:p>
          <a:p>
            <a:pPr>
              <a:defRPr sz="2700" b="1">
                <a:solidFill>
                  <a:srgbClr val="0B1324"/>
                </a:solidFill>
              </a:defRPr>
            </a:pPr>
            <a:r>
              <a:rPr lang="pt-BR" sz="2700" b="1" dirty="0">
                <a:solidFill>
                  <a:srgbClr val="0B1324"/>
                </a:solidFill>
              </a:rPr>
              <a:t>André Lima – Operação</a:t>
            </a:r>
          </a:p>
          <a:p>
            <a:pPr>
              <a:defRPr sz="2700" b="1">
                <a:solidFill>
                  <a:srgbClr val="0B1324"/>
                </a:solidFill>
              </a:defRPr>
            </a:pPr>
            <a:r>
              <a:rPr lang="pt-BR" sz="2700" b="1" dirty="0">
                <a:solidFill>
                  <a:srgbClr val="0B1324"/>
                </a:solidFill>
              </a:rPr>
              <a:t>Fabiano Ferreira – </a:t>
            </a:r>
            <a:r>
              <a:rPr lang="pt-BR" sz="2700" b="1" dirty="0" err="1">
                <a:solidFill>
                  <a:srgbClr val="0B1324"/>
                </a:solidFill>
              </a:rPr>
              <a:t>Adm</a:t>
            </a:r>
            <a:r>
              <a:rPr lang="pt-BR" sz="2700" b="1" dirty="0">
                <a:solidFill>
                  <a:srgbClr val="0B1324"/>
                </a:solidFill>
              </a:rPr>
              <a:t> / Fin</a:t>
            </a:r>
            <a:endParaRPr sz="2700" b="1" dirty="0">
              <a:solidFill>
                <a:srgbClr val="0B1324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AEA2AA4-7FF9-4024-90FE-82D1A53FE14F}"/>
              </a:ext>
            </a:extLst>
          </p:cNvPr>
          <p:cNvSpPr>
            <a:spLocks noGrp="1"/>
          </p:cNvSpPr>
          <p:nvPr/>
        </p:nvSpPr>
        <p:spPr>
          <a:xfrm>
            <a:off x="12052300" y="1804035"/>
            <a:ext cx="5397500" cy="2190750"/>
          </a:xfrm>
          <a:prstGeom prst="roundRect">
            <a:avLst>
              <a:gd name="adj" fmla="val 9565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91C155-3DDE-4214-B8EA-5BE056A0A95B}"/>
              </a:ext>
            </a:extLst>
          </p:cNvPr>
          <p:cNvSpPr>
            <a:spLocks noGrp="1"/>
          </p:cNvSpPr>
          <p:nvPr/>
        </p:nvSpPr>
        <p:spPr>
          <a:xfrm>
            <a:off x="12268200" y="2019300"/>
            <a:ext cx="49720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Capital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AB2D514-683B-4B9A-8D5E-AC75E6CBE910}"/>
              </a:ext>
            </a:extLst>
          </p:cNvPr>
          <p:cNvSpPr>
            <a:spLocks noGrp="1"/>
          </p:cNvSpPr>
          <p:nvPr/>
        </p:nvSpPr>
        <p:spPr>
          <a:xfrm>
            <a:off x="12268200" y="2343150"/>
            <a:ext cx="49720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100% próprio na largada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F322588-BF69-4DE4-99E3-8DEB9C03B4DF}"/>
              </a:ext>
            </a:extLst>
          </p:cNvPr>
          <p:cNvSpPr>
            <a:spLocks noGrp="1"/>
          </p:cNvSpPr>
          <p:nvPr/>
        </p:nvSpPr>
        <p:spPr>
          <a:xfrm>
            <a:off x="838200" y="4242435"/>
            <a:ext cx="8191500" cy="5396865"/>
          </a:xfrm>
          <a:prstGeom prst="roundRect">
            <a:avLst>
              <a:gd name="adj" fmla="val 388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D35AF19-F9AA-4581-833B-E7E63CED2F30}"/>
              </a:ext>
            </a:extLst>
          </p:cNvPr>
          <p:cNvSpPr>
            <a:spLocks noGrp="1"/>
          </p:cNvSpPr>
          <p:nvPr/>
        </p:nvSpPr>
        <p:spPr>
          <a:xfrm>
            <a:off x="1066800" y="4476750"/>
            <a:ext cx="7734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Valores e diretrizes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A268DF0-D0E4-424D-AF05-D6F733433AF4}"/>
              </a:ext>
            </a:extLst>
          </p:cNvPr>
          <p:cNvSpPr>
            <a:spLocks noGrp="1"/>
          </p:cNvSpPr>
          <p:nvPr/>
        </p:nvSpPr>
        <p:spPr>
          <a:xfrm>
            <a:off x="1066800" y="49339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Respeito aos valores do negócio e dos sócios.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3150D4C-C4AD-44A6-961D-8CD2D920D0C0}"/>
              </a:ext>
            </a:extLst>
          </p:cNvPr>
          <p:cNvSpPr>
            <a:spLocks noGrp="1"/>
          </p:cNvSpPr>
          <p:nvPr/>
        </p:nvSpPr>
        <p:spPr>
          <a:xfrm>
            <a:off x="1066800" y="53149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Segurança do investimento e da operação.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9F916ED-A7F4-4F93-A2E6-C2E7EBECCBA9}"/>
              </a:ext>
            </a:extLst>
          </p:cNvPr>
          <p:cNvSpPr>
            <a:spLocks noGrp="1"/>
          </p:cNvSpPr>
          <p:nvPr/>
        </p:nvSpPr>
        <p:spPr>
          <a:xfrm>
            <a:off x="1066800" y="56959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Prioridade ao longo prazo e à execução por etapas.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AFFBDFE-A923-4694-8ED9-30406CB3FC3F}"/>
              </a:ext>
            </a:extLst>
          </p:cNvPr>
          <p:cNvSpPr>
            <a:spLocks noGrp="1"/>
          </p:cNvSpPr>
          <p:nvPr/>
        </p:nvSpPr>
        <p:spPr>
          <a:xfrm>
            <a:off x="1066800" y="6076950"/>
            <a:ext cx="77343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Valorização e respeito da cadeia produtiva: colaboradores, fornecedores e clientes.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FF38AA7-8005-49F1-970D-0A46EE782000}"/>
              </a:ext>
            </a:extLst>
          </p:cNvPr>
          <p:cNvSpPr>
            <a:spLocks noGrp="1"/>
          </p:cNvSpPr>
          <p:nvPr/>
        </p:nvSpPr>
        <p:spPr>
          <a:xfrm>
            <a:off x="9258300" y="4242435"/>
            <a:ext cx="8191500" cy="5396865"/>
          </a:xfrm>
          <a:prstGeom prst="roundRect">
            <a:avLst>
              <a:gd name="adj" fmla="val 388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427BC66-52B3-4602-8F3C-D923BF60A62B}"/>
              </a:ext>
            </a:extLst>
          </p:cNvPr>
          <p:cNvSpPr>
            <a:spLocks noGrp="1"/>
          </p:cNvSpPr>
          <p:nvPr/>
        </p:nvSpPr>
        <p:spPr>
          <a:xfrm>
            <a:off x="9486900" y="4476750"/>
            <a:ext cx="77343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Objetivos financeiros-base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0C07472-F6AA-4D30-8667-577176ED7CAE}"/>
              </a:ext>
            </a:extLst>
          </p:cNvPr>
          <p:cNvSpPr>
            <a:spLocks noGrp="1"/>
          </p:cNvSpPr>
          <p:nvPr/>
        </p:nvSpPr>
        <p:spPr>
          <a:xfrm>
            <a:off x="9486900" y="4933950"/>
            <a:ext cx="77343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Payback conservador de 36 meses, com leitura otimista próxima de 12 meses no fluxo projetado.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A4A4FD5-CF11-4A2F-B226-85E7C1E3EAF3}"/>
              </a:ext>
            </a:extLst>
          </p:cNvPr>
          <p:cNvSpPr>
            <a:spLocks noGrp="1"/>
          </p:cNvSpPr>
          <p:nvPr/>
        </p:nvSpPr>
        <p:spPr>
          <a:xfrm>
            <a:off x="9486900" y="5600700"/>
            <a:ext cx="77343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Investimentos acionados conforme evolução de vendas, embora o plano consolide tudo em jul/2026.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C90CECB-7FD6-4EC7-BB75-5D1F8E57C4C5}"/>
              </a:ext>
            </a:extLst>
          </p:cNvPr>
          <p:cNvSpPr>
            <a:spLocks noGrp="1"/>
          </p:cNvSpPr>
          <p:nvPr/>
        </p:nvSpPr>
        <p:spPr>
          <a:xfrm>
            <a:off x="9486900" y="6267450"/>
            <a:ext cx="7734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• Formação de base recorrente e monetização da infraestrutura instalada.</a:t>
            </a:r>
          </a:p>
        </p:txBody>
      </p:sp>
    </p:spTree>
    <p:extLst>
      <p:ext uri="{BB962C8B-B14F-4D97-AF65-F5344CB8AC3E}">
        <p14:creationId xmlns:p14="http://schemas.microsoft.com/office/powerpoint/2010/main" val="27004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>
            <a:extLst>
              <a:ext uri="{FF2B5EF4-FFF2-40B4-BE49-F238E27FC236}">
                <a16:creationId xmlns:a16="http://schemas.microsoft.com/office/drawing/2014/main" id="{7A739D35-3D8E-4B72-A6E4-A39EA52AB40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06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2. Produtos ativados: visão detalhada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55B40A9-38BD-4139-8BA0-D4B2ACD31981}"/>
              </a:ext>
            </a:extLst>
          </p:cNvPr>
          <p:cNvSpPr>
            <a:spLocks noGrp="1"/>
          </p:cNvSpPr>
          <p:nvPr/>
        </p:nvSpPr>
        <p:spPr>
          <a:xfrm>
            <a:off x="590550" y="104775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B39DA91-F21C-4EB1-B921-C21DB8D03B6C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10725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Detalhamento dos produtos hoje modelados, com quantidade vendida pós-ramp-up, valor unitário e margem de contribuição.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E41BD20-C735-48C9-A16C-505D8F1A286D}"/>
              </a:ext>
            </a:extLst>
          </p:cNvPr>
          <p:cNvSpPr>
            <a:spLocks noGrp="1"/>
          </p:cNvSpPr>
          <p:nvPr/>
        </p:nvSpPr>
        <p:spPr>
          <a:xfrm>
            <a:off x="590550" y="1845945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7D5F05D-423F-4056-89EF-386EF9E8859D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4019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8E6BF38-8A18-4381-BC99-E89B8DFBF68C}"/>
              </a:ext>
            </a:extLst>
          </p:cNvPr>
          <p:cNvSpPr>
            <a:spLocks noGrp="1"/>
          </p:cNvSpPr>
          <p:nvPr/>
        </p:nvSpPr>
        <p:spPr>
          <a:xfrm>
            <a:off x="4974947" y="1845945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1EE33D-025E-4D84-8C0C-3F52869B3F37}"/>
              </a:ext>
            </a:extLst>
          </p:cNvPr>
          <p:cNvSpPr>
            <a:spLocks noGrp="1"/>
          </p:cNvSpPr>
          <p:nvPr/>
        </p:nvSpPr>
        <p:spPr>
          <a:xfrm>
            <a:off x="5105400" y="1962150"/>
            <a:ext cx="1562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4C06D7-35E5-4DA3-998D-5443E902DC19}"/>
              </a:ext>
            </a:extLst>
          </p:cNvPr>
          <p:cNvSpPr>
            <a:spLocks noGrp="1"/>
          </p:cNvSpPr>
          <p:nvPr/>
        </p:nvSpPr>
        <p:spPr>
          <a:xfrm>
            <a:off x="6904177" y="1845945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F71F07B-FCF5-46D5-B630-33CD50FAD212}"/>
              </a:ext>
            </a:extLst>
          </p:cNvPr>
          <p:cNvSpPr>
            <a:spLocks noGrp="1"/>
          </p:cNvSpPr>
          <p:nvPr/>
        </p:nvSpPr>
        <p:spPr>
          <a:xfrm>
            <a:off x="7029450" y="1962150"/>
            <a:ext cx="2152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F964E9E-35B2-459D-9467-C71DC570FABD}"/>
              </a:ext>
            </a:extLst>
          </p:cNvPr>
          <p:cNvSpPr>
            <a:spLocks noGrp="1"/>
          </p:cNvSpPr>
          <p:nvPr/>
        </p:nvSpPr>
        <p:spPr>
          <a:xfrm>
            <a:off x="9425013" y="1845945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632F304-7F4A-4BE5-9F86-48BAFC04E45A}"/>
              </a:ext>
            </a:extLst>
          </p:cNvPr>
          <p:cNvSpPr>
            <a:spLocks noGrp="1"/>
          </p:cNvSpPr>
          <p:nvPr/>
        </p:nvSpPr>
        <p:spPr>
          <a:xfrm>
            <a:off x="9563100" y="1962150"/>
            <a:ext cx="1981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994734F-13AD-4AC2-8CDA-2B6E7B73287B}"/>
              </a:ext>
            </a:extLst>
          </p:cNvPr>
          <p:cNvSpPr>
            <a:spLocks noGrp="1"/>
          </p:cNvSpPr>
          <p:nvPr/>
        </p:nvSpPr>
        <p:spPr>
          <a:xfrm>
            <a:off x="11768368" y="1845945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467ABE3-7F58-4168-B9B1-36CE3B044286}"/>
              </a:ext>
            </a:extLst>
          </p:cNvPr>
          <p:cNvSpPr>
            <a:spLocks noGrp="1"/>
          </p:cNvSpPr>
          <p:nvPr/>
        </p:nvSpPr>
        <p:spPr>
          <a:xfrm>
            <a:off x="11906250" y="1962150"/>
            <a:ext cx="971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E17BE57-7540-4537-ACBB-DF231057E1DC}"/>
              </a:ext>
            </a:extLst>
          </p:cNvPr>
          <p:cNvSpPr>
            <a:spLocks noGrp="1"/>
          </p:cNvSpPr>
          <p:nvPr/>
        </p:nvSpPr>
        <p:spPr>
          <a:xfrm>
            <a:off x="13105991" y="1845945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8220B24-9BCF-4F5C-A51C-F1BDE0728601}"/>
              </a:ext>
            </a:extLst>
          </p:cNvPr>
          <p:cNvSpPr>
            <a:spLocks noGrp="1"/>
          </p:cNvSpPr>
          <p:nvPr/>
        </p:nvSpPr>
        <p:spPr>
          <a:xfrm>
            <a:off x="13239750" y="1962150"/>
            <a:ext cx="186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8041BC4-4F61-4399-ABD4-8045533988A1}"/>
              </a:ext>
            </a:extLst>
          </p:cNvPr>
          <p:cNvSpPr>
            <a:spLocks noGrp="1"/>
          </p:cNvSpPr>
          <p:nvPr/>
        </p:nvSpPr>
        <p:spPr>
          <a:xfrm>
            <a:off x="15331024" y="1845945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3F53A42-0715-4C36-A942-376FE8C3E8BB}"/>
              </a:ext>
            </a:extLst>
          </p:cNvPr>
          <p:cNvSpPr>
            <a:spLocks noGrp="1"/>
          </p:cNvSpPr>
          <p:nvPr/>
        </p:nvSpPr>
        <p:spPr>
          <a:xfrm>
            <a:off x="15468600" y="1962150"/>
            <a:ext cx="2095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0ABD252-64D4-4BA1-972F-209B513591CB}"/>
              </a:ext>
            </a:extLst>
          </p:cNvPr>
          <p:cNvSpPr>
            <a:spLocks noGrp="1"/>
          </p:cNvSpPr>
          <p:nvPr/>
        </p:nvSpPr>
        <p:spPr>
          <a:xfrm>
            <a:off x="590550" y="2869883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C177151-2D5C-44F9-BDC7-5CF18A7F0148}"/>
              </a:ext>
            </a:extLst>
          </p:cNvPr>
          <p:cNvSpPr>
            <a:spLocks noGrp="1"/>
          </p:cNvSpPr>
          <p:nvPr/>
        </p:nvSpPr>
        <p:spPr>
          <a:xfrm>
            <a:off x="723900" y="299085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Kit / equipamento principal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993B87E3-98DD-4D5B-B290-FADFDD79135D}"/>
              </a:ext>
            </a:extLst>
          </p:cNvPr>
          <p:cNvSpPr>
            <a:spLocks noGrp="1"/>
          </p:cNvSpPr>
          <p:nvPr/>
        </p:nvSpPr>
        <p:spPr>
          <a:xfrm>
            <a:off x="4974947" y="2869883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3C8798C-B9A9-4B44-B1CD-5AE6B95910CD}"/>
              </a:ext>
            </a:extLst>
          </p:cNvPr>
          <p:cNvSpPr>
            <a:spLocks noGrp="1"/>
          </p:cNvSpPr>
          <p:nvPr/>
        </p:nvSpPr>
        <p:spPr>
          <a:xfrm>
            <a:off x="5105400" y="299085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A830E30-1DA5-4BEC-90B6-FB80B3AA6A3A}"/>
              </a:ext>
            </a:extLst>
          </p:cNvPr>
          <p:cNvSpPr>
            <a:spLocks noGrp="1"/>
          </p:cNvSpPr>
          <p:nvPr/>
        </p:nvSpPr>
        <p:spPr>
          <a:xfrm>
            <a:off x="6904177" y="2869883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DA65738-B71E-4AAA-B37B-A7D59C81B7E7}"/>
              </a:ext>
            </a:extLst>
          </p:cNvPr>
          <p:cNvSpPr>
            <a:spLocks noGrp="1"/>
          </p:cNvSpPr>
          <p:nvPr/>
        </p:nvSpPr>
        <p:spPr>
          <a:xfrm>
            <a:off x="7029450" y="299085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300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D980543B-3051-4488-9B96-236315978C96}"/>
              </a:ext>
            </a:extLst>
          </p:cNvPr>
          <p:cNvSpPr>
            <a:spLocks noGrp="1"/>
          </p:cNvSpPr>
          <p:nvPr/>
        </p:nvSpPr>
        <p:spPr>
          <a:xfrm>
            <a:off x="9425013" y="2869883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A87A230-58B9-4EC3-BD9B-4697145B5E6D}"/>
              </a:ext>
            </a:extLst>
          </p:cNvPr>
          <p:cNvSpPr>
            <a:spLocks noGrp="1"/>
          </p:cNvSpPr>
          <p:nvPr/>
        </p:nvSpPr>
        <p:spPr>
          <a:xfrm>
            <a:off x="9563100" y="299085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R$ 80.000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94B8E6D-FFD5-4F6B-915D-91520C1CD629}"/>
              </a:ext>
            </a:extLst>
          </p:cNvPr>
          <p:cNvSpPr>
            <a:spLocks noGrp="1"/>
          </p:cNvSpPr>
          <p:nvPr/>
        </p:nvSpPr>
        <p:spPr>
          <a:xfrm>
            <a:off x="11768368" y="2869883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DDD7D16-54FD-4273-A43C-1371C936B5FE}"/>
              </a:ext>
            </a:extLst>
          </p:cNvPr>
          <p:cNvSpPr>
            <a:spLocks noGrp="1"/>
          </p:cNvSpPr>
          <p:nvPr/>
        </p:nvSpPr>
        <p:spPr>
          <a:xfrm>
            <a:off x="11906250" y="299085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33,4%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C16C22C8-70B9-4F0A-8E42-6D2EB61D2A76}"/>
              </a:ext>
            </a:extLst>
          </p:cNvPr>
          <p:cNvSpPr>
            <a:spLocks noGrp="1"/>
          </p:cNvSpPr>
          <p:nvPr/>
        </p:nvSpPr>
        <p:spPr>
          <a:xfrm>
            <a:off x="13105991" y="2869883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837D797-A494-4890-92A7-CC67043CC6FA}"/>
              </a:ext>
            </a:extLst>
          </p:cNvPr>
          <p:cNvSpPr>
            <a:spLocks noGrp="1"/>
          </p:cNvSpPr>
          <p:nvPr/>
        </p:nvSpPr>
        <p:spPr>
          <a:xfrm>
            <a:off x="13239750" y="299085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R$ 26.736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E39C969F-8020-462C-B132-8D660907E968}"/>
              </a:ext>
            </a:extLst>
          </p:cNvPr>
          <p:cNvSpPr>
            <a:spLocks noGrp="1"/>
          </p:cNvSpPr>
          <p:nvPr/>
        </p:nvSpPr>
        <p:spPr>
          <a:xfrm>
            <a:off x="15331024" y="2869883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56472D8-0489-4A03-895C-6348B46C55EC}"/>
              </a:ext>
            </a:extLst>
          </p:cNvPr>
          <p:cNvSpPr>
            <a:spLocks noGrp="1"/>
          </p:cNvSpPr>
          <p:nvPr/>
        </p:nvSpPr>
        <p:spPr>
          <a:xfrm>
            <a:off x="15468600" y="299085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R$ 8.020.800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83EFC02-ACBB-439A-AFE7-565C5EDD29E1}"/>
              </a:ext>
            </a:extLst>
          </p:cNvPr>
          <p:cNvSpPr>
            <a:spLocks noGrp="1"/>
          </p:cNvSpPr>
          <p:nvPr/>
        </p:nvSpPr>
        <p:spPr>
          <a:xfrm>
            <a:off x="590550" y="3893820"/>
            <a:ext cx="4289147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46A9353-A91F-496D-9B9D-7D8B60ED9BFE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Software de gestão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DF1B2811-86AB-4969-8885-7C2A4F796B1C}"/>
              </a:ext>
            </a:extLst>
          </p:cNvPr>
          <p:cNvSpPr>
            <a:spLocks noGrp="1"/>
          </p:cNvSpPr>
          <p:nvPr/>
        </p:nvSpPr>
        <p:spPr>
          <a:xfrm>
            <a:off x="4974947" y="3893820"/>
            <a:ext cx="1833980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7EB0FC6-1758-418F-B0AF-08CBC7819C79}"/>
              </a:ext>
            </a:extLst>
          </p:cNvPr>
          <p:cNvSpPr>
            <a:spLocks noGrp="1"/>
          </p:cNvSpPr>
          <p:nvPr/>
        </p:nvSpPr>
        <p:spPr>
          <a:xfrm>
            <a:off x="5105400" y="400050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59669"/>
                </a:solidFill>
              </a:defRPr>
            </a:pPr>
            <a:r>
              <a:rPr sz="1350" b="1">
                <a:solidFill>
                  <a:srgbClr val="059669"/>
                </a:solidFill>
              </a:rPr>
              <a:t>Ativado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8B8D9DBA-5103-49E0-920D-203ABE44BB29}"/>
              </a:ext>
            </a:extLst>
          </p:cNvPr>
          <p:cNvSpPr>
            <a:spLocks noGrp="1"/>
          </p:cNvSpPr>
          <p:nvPr/>
        </p:nvSpPr>
        <p:spPr>
          <a:xfrm>
            <a:off x="6904177" y="3893820"/>
            <a:ext cx="242558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B8B5A3BA-81E9-46E1-88B0-6FB8CA658E34}"/>
              </a:ext>
            </a:extLst>
          </p:cNvPr>
          <p:cNvSpPr>
            <a:spLocks noGrp="1"/>
          </p:cNvSpPr>
          <p:nvPr/>
        </p:nvSpPr>
        <p:spPr>
          <a:xfrm>
            <a:off x="7029450" y="40005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4000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48B5075E-68B0-4CD0-B118-A9B5D576A802}"/>
              </a:ext>
            </a:extLst>
          </p:cNvPr>
          <p:cNvSpPr>
            <a:spLocks noGrp="1"/>
          </p:cNvSpPr>
          <p:nvPr/>
        </p:nvSpPr>
        <p:spPr>
          <a:xfrm>
            <a:off x="9425013" y="3893820"/>
            <a:ext cx="2248104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0758856-370E-41A7-8FDC-E831079667EE}"/>
              </a:ext>
            </a:extLst>
          </p:cNvPr>
          <p:cNvSpPr>
            <a:spLocks noGrp="1"/>
          </p:cNvSpPr>
          <p:nvPr/>
        </p:nvSpPr>
        <p:spPr>
          <a:xfrm>
            <a:off x="9563100" y="400050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R$ 1.600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91EA4731-42B9-4353-85D6-F8CC61790590}"/>
              </a:ext>
            </a:extLst>
          </p:cNvPr>
          <p:cNvSpPr>
            <a:spLocks noGrp="1"/>
          </p:cNvSpPr>
          <p:nvPr/>
        </p:nvSpPr>
        <p:spPr>
          <a:xfrm>
            <a:off x="11768368" y="3893820"/>
            <a:ext cx="1242374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B3F5259B-D88E-4D22-827B-095467C6F1AE}"/>
              </a:ext>
            </a:extLst>
          </p:cNvPr>
          <p:cNvSpPr>
            <a:spLocks noGrp="1"/>
          </p:cNvSpPr>
          <p:nvPr/>
        </p:nvSpPr>
        <p:spPr>
          <a:xfrm>
            <a:off x="11906250" y="400050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75,8%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32633B9-ABC3-475A-B8F0-346D1A955BE5}"/>
              </a:ext>
            </a:extLst>
          </p:cNvPr>
          <p:cNvSpPr>
            <a:spLocks noGrp="1"/>
          </p:cNvSpPr>
          <p:nvPr/>
        </p:nvSpPr>
        <p:spPr>
          <a:xfrm>
            <a:off x="13105991" y="3893820"/>
            <a:ext cx="2129783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1F2608C1-0EB4-4612-96F9-C479AC42CD2B}"/>
              </a:ext>
            </a:extLst>
          </p:cNvPr>
          <p:cNvSpPr>
            <a:spLocks noGrp="1"/>
          </p:cNvSpPr>
          <p:nvPr/>
        </p:nvSpPr>
        <p:spPr>
          <a:xfrm>
            <a:off x="13239750" y="400050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R$ 1.212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5E5AC11E-E0D5-408A-BD40-8237C4E10023}"/>
              </a:ext>
            </a:extLst>
          </p:cNvPr>
          <p:cNvSpPr>
            <a:spLocks noGrp="1"/>
          </p:cNvSpPr>
          <p:nvPr/>
        </p:nvSpPr>
        <p:spPr>
          <a:xfrm>
            <a:off x="15331024" y="3893820"/>
            <a:ext cx="2366426" cy="928688"/>
          </a:xfrm>
          <a:prstGeom prst="roundRect">
            <a:avLst>
              <a:gd name="adj" fmla="val 14359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5545A31B-BC5D-4FB2-A6AD-F582045951F2}"/>
              </a:ext>
            </a:extLst>
          </p:cNvPr>
          <p:cNvSpPr>
            <a:spLocks noGrp="1"/>
          </p:cNvSpPr>
          <p:nvPr/>
        </p:nvSpPr>
        <p:spPr>
          <a:xfrm>
            <a:off x="15468600" y="400050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B1324"/>
                </a:solidFill>
              </a:defRPr>
            </a:pPr>
            <a:r>
              <a:rPr sz="1350" b="1">
                <a:solidFill>
                  <a:srgbClr val="0B1324"/>
                </a:solidFill>
              </a:rPr>
              <a:t>R$ 4.848.000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92221B90-F6DB-4519-AF33-BD196A1BCF36}"/>
              </a:ext>
            </a:extLst>
          </p:cNvPr>
          <p:cNvSpPr>
            <a:spLocks noGrp="1"/>
          </p:cNvSpPr>
          <p:nvPr/>
        </p:nvSpPr>
        <p:spPr>
          <a:xfrm>
            <a:off x="590550" y="6017895"/>
            <a:ext cx="5588000" cy="3027045"/>
          </a:xfrm>
          <a:prstGeom prst="roundRect">
            <a:avLst>
              <a:gd name="adj" fmla="val 6923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FB574872-427A-4DF7-9C25-38BFEAF4FD4F}"/>
              </a:ext>
            </a:extLst>
          </p:cNvPr>
          <p:cNvSpPr>
            <a:spLocks noGrp="1"/>
          </p:cNvSpPr>
          <p:nvPr/>
        </p:nvSpPr>
        <p:spPr>
          <a:xfrm>
            <a:off x="800100" y="6229350"/>
            <a:ext cx="5162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Faturamento mensal pós-ramp-up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9C703399-CE9E-4523-8DC3-2561C62D170F}"/>
              </a:ext>
            </a:extLst>
          </p:cNvPr>
          <p:cNvSpPr>
            <a:spLocks noGrp="1"/>
          </p:cNvSpPr>
          <p:nvPr/>
        </p:nvSpPr>
        <p:spPr>
          <a:xfrm>
            <a:off x="800100" y="6572250"/>
            <a:ext cx="5162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R$ 30.400.000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525A651B-5C1B-478A-9A5F-C67E112658A3}"/>
              </a:ext>
            </a:extLst>
          </p:cNvPr>
          <p:cNvSpPr>
            <a:spLocks noGrp="1"/>
          </p:cNvSpPr>
          <p:nvPr/>
        </p:nvSpPr>
        <p:spPr>
          <a:xfrm>
            <a:off x="6350000" y="6017895"/>
            <a:ext cx="5588000" cy="3027045"/>
          </a:xfrm>
          <a:prstGeom prst="roundRect">
            <a:avLst>
              <a:gd name="adj" fmla="val 6923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1F400534-8252-449B-A260-C5B2E235B6FE}"/>
              </a:ext>
            </a:extLst>
          </p:cNvPr>
          <p:cNvSpPr>
            <a:spLocks noGrp="1"/>
          </p:cNvSpPr>
          <p:nvPr/>
        </p:nvSpPr>
        <p:spPr>
          <a:xfrm>
            <a:off x="6553200" y="6229350"/>
            <a:ext cx="5162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 dirty="0">
                <a:solidFill>
                  <a:srgbClr val="475569"/>
                </a:solidFill>
              </a:rPr>
              <a:t>MC mensal do plano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6E8911AC-B629-4BA9-AAF0-6ADF49D1EB72}"/>
              </a:ext>
            </a:extLst>
          </p:cNvPr>
          <p:cNvSpPr>
            <a:spLocks noGrp="1"/>
          </p:cNvSpPr>
          <p:nvPr/>
        </p:nvSpPr>
        <p:spPr>
          <a:xfrm>
            <a:off x="6553200" y="6572250"/>
            <a:ext cx="5162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R$ 12.868.800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488EBF70-3BFF-4D95-8FA5-D620151A112A}"/>
              </a:ext>
            </a:extLst>
          </p:cNvPr>
          <p:cNvSpPr>
            <a:spLocks noGrp="1"/>
          </p:cNvSpPr>
          <p:nvPr/>
        </p:nvSpPr>
        <p:spPr>
          <a:xfrm>
            <a:off x="12109450" y="6017895"/>
            <a:ext cx="5588000" cy="3027045"/>
          </a:xfrm>
          <a:prstGeom prst="roundRect">
            <a:avLst>
              <a:gd name="adj" fmla="val 6923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9C3BE32F-D763-4A97-86C4-A9BFBC8E68A5}"/>
              </a:ext>
            </a:extLst>
          </p:cNvPr>
          <p:cNvSpPr>
            <a:spLocks noGrp="1"/>
          </p:cNvSpPr>
          <p:nvPr/>
        </p:nvSpPr>
        <p:spPr>
          <a:xfrm>
            <a:off x="12325350" y="6229350"/>
            <a:ext cx="51625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Produtos com rampa efetiva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30D24028-1BFF-4A5A-A74C-AC23029CFA1B}"/>
              </a:ext>
            </a:extLst>
          </p:cNvPr>
          <p:cNvSpPr>
            <a:spLocks noGrp="1"/>
          </p:cNvSpPr>
          <p:nvPr/>
        </p:nvSpPr>
        <p:spPr>
          <a:xfrm>
            <a:off x="12325350" y="6572250"/>
            <a:ext cx="51625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02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8ACDACF1-C6F1-4C5A-83B4-E39F698A38AC}"/>
              </a:ext>
            </a:extLst>
          </p:cNvPr>
          <p:cNvSpPr>
            <a:spLocks noGrp="1"/>
          </p:cNvSpPr>
          <p:nvPr/>
        </p:nvSpPr>
        <p:spPr>
          <a:xfrm>
            <a:off x="590550" y="9216390"/>
            <a:ext cx="17106900" cy="556260"/>
          </a:xfrm>
          <a:prstGeom prst="roundRect">
            <a:avLst>
              <a:gd name="adj" fmla="val 30822"/>
            </a:avLst>
          </a:prstGeom>
          <a:solidFill>
            <a:srgbClr val="ECFDF5"/>
          </a:solidFill>
        </p:spPr>
        <p:txBody>
          <a:bodyPr/>
          <a:lstStyle/>
          <a:p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7CCF8E8F-5788-4CC6-8C81-7D3481CD504F}"/>
              </a:ext>
            </a:extLst>
          </p:cNvPr>
          <p:cNvSpPr>
            <a:spLocks noGrp="1"/>
          </p:cNvSpPr>
          <p:nvPr/>
        </p:nvSpPr>
        <p:spPr>
          <a:xfrm>
            <a:off x="742950" y="9372600"/>
            <a:ext cx="16802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65F46"/>
                </a:solidFill>
              </a:defRPr>
            </a:pPr>
            <a:r>
              <a:rPr sz="1650" b="1">
                <a:solidFill>
                  <a:srgbClr val="065F46"/>
                </a:solidFill>
              </a:rPr>
              <a:t>Os 2 produtos acima sustentam a receita, a margem e o resultado pós-ramp-up do plano atual.</a:t>
            </a:r>
          </a:p>
        </p:txBody>
      </p:sp>
    </p:spTree>
    <p:extLst>
      <p:ext uri="{BB962C8B-B14F-4D97-AF65-F5344CB8AC3E}">
        <p14:creationId xmlns:p14="http://schemas.microsoft.com/office/powerpoint/2010/main" val="132445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tângulo 84">
            <a:extLst>
              <a:ext uri="{FF2B5EF4-FFF2-40B4-BE49-F238E27FC236}">
                <a16:creationId xmlns:a16="http://schemas.microsoft.com/office/drawing/2014/main" id="{BB478EAA-FD8C-433D-8D97-5CF59D72AFE5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7106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3. Produtos a ativar: espaço de upside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DED52DC-679D-4D5D-85D1-AA78B0643F55}"/>
              </a:ext>
            </a:extLst>
          </p:cNvPr>
          <p:cNvSpPr>
            <a:spLocks noGrp="1"/>
          </p:cNvSpPr>
          <p:nvPr/>
        </p:nvSpPr>
        <p:spPr>
          <a:xfrm>
            <a:off x="590550" y="104775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3D1DBE9-60F7-407A-B272-F19640D9B026}"/>
              </a:ext>
            </a:extLst>
          </p:cNvPr>
          <p:cNvSpPr>
            <a:spLocks noGrp="1"/>
          </p:cNvSpPr>
          <p:nvPr/>
        </p:nvSpPr>
        <p:spPr>
          <a:xfrm>
            <a:off x="590550" y="1181100"/>
            <a:ext cx="94869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Há 4 frentes adicionais passíveis de ativação ao longo da execução, sem depender delas para a tese-base fechar.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81DE542-683D-424C-92E2-2A70A2312B8D}"/>
              </a:ext>
            </a:extLst>
          </p:cNvPr>
          <p:cNvSpPr>
            <a:spLocks noGrp="1"/>
          </p:cNvSpPr>
          <p:nvPr/>
        </p:nvSpPr>
        <p:spPr>
          <a:xfrm>
            <a:off x="590550" y="1594485"/>
            <a:ext cx="4289147" cy="723900"/>
          </a:xfrm>
          <a:prstGeom prst="roundRect">
            <a:avLst>
              <a:gd name="adj" fmla="val 18421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7B54EBA-6108-4FE3-A606-F9B51477DDC2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019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8528DD2-8C91-4272-92D7-80A315C440FC}"/>
              </a:ext>
            </a:extLst>
          </p:cNvPr>
          <p:cNvSpPr>
            <a:spLocks noGrp="1"/>
          </p:cNvSpPr>
          <p:nvPr/>
        </p:nvSpPr>
        <p:spPr>
          <a:xfrm>
            <a:off x="4974947" y="1594485"/>
            <a:ext cx="1833980" cy="723900"/>
          </a:xfrm>
          <a:prstGeom prst="roundRect">
            <a:avLst>
              <a:gd name="adj" fmla="val 18421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BB07528-6269-4AA9-B39E-1ADB2CA0B795}"/>
              </a:ext>
            </a:extLst>
          </p:cNvPr>
          <p:cNvSpPr>
            <a:spLocks noGrp="1"/>
          </p:cNvSpPr>
          <p:nvPr/>
        </p:nvSpPr>
        <p:spPr>
          <a:xfrm>
            <a:off x="5105400" y="1714500"/>
            <a:ext cx="1562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0090AD2-998D-42E9-8767-6B6C232DADDB}"/>
              </a:ext>
            </a:extLst>
          </p:cNvPr>
          <p:cNvSpPr>
            <a:spLocks noGrp="1"/>
          </p:cNvSpPr>
          <p:nvPr/>
        </p:nvSpPr>
        <p:spPr>
          <a:xfrm>
            <a:off x="6904177" y="1594485"/>
            <a:ext cx="2425586" cy="723900"/>
          </a:xfrm>
          <a:prstGeom prst="roundRect">
            <a:avLst>
              <a:gd name="adj" fmla="val 18421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6F414AD-C83A-4BD2-889E-6F5C9D7918CC}"/>
              </a:ext>
            </a:extLst>
          </p:cNvPr>
          <p:cNvSpPr>
            <a:spLocks noGrp="1"/>
          </p:cNvSpPr>
          <p:nvPr/>
        </p:nvSpPr>
        <p:spPr>
          <a:xfrm>
            <a:off x="7029450" y="1714500"/>
            <a:ext cx="21526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Qtd. vendida pós-ramp-up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25F9712-C7FF-4DFF-ADEA-EC497D5E8CFE}"/>
              </a:ext>
            </a:extLst>
          </p:cNvPr>
          <p:cNvSpPr>
            <a:spLocks noGrp="1"/>
          </p:cNvSpPr>
          <p:nvPr/>
        </p:nvSpPr>
        <p:spPr>
          <a:xfrm>
            <a:off x="9425013" y="1594485"/>
            <a:ext cx="2248104" cy="723900"/>
          </a:xfrm>
          <a:prstGeom prst="roundRect">
            <a:avLst>
              <a:gd name="adj" fmla="val 18421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1C7E44A-39F0-457F-9DEE-E1E1058B5C48}"/>
              </a:ext>
            </a:extLst>
          </p:cNvPr>
          <p:cNvSpPr>
            <a:spLocks noGrp="1"/>
          </p:cNvSpPr>
          <p:nvPr/>
        </p:nvSpPr>
        <p:spPr>
          <a:xfrm>
            <a:off x="9563100" y="1714500"/>
            <a:ext cx="1981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Valor unitário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6C50815-3E9E-4A3B-BAEE-72C5D66E6C9A}"/>
              </a:ext>
            </a:extLst>
          </p:cNvPr>
          <p:cNvSpPr>
            <a:spLocks noGrp="1"/>
          </p:cNvSpPr>
          <p:nvPr/>
        </p:nvSpPr>
        <p:spPr>
          <a:xfrm>
            <a:off x="11768368" y="1594485"/>
            <a:ext cx="1242374" cy="723900"/>
          </a:xfrm>
          <a:prstGeom prst="roundRect">
            <a:avLst>
              <a:gd name="adj" fmla="val 18421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F527547-2C5F-4F7E-B152-63E1C29F6862}"/>
              </a:ext>
            </a:extLst>
          </p:cNvPr>
          <p:cNvSpPr>
            <a:spLocks noGrp="1"/>
          </p:cNvSpPr>
          <p:nvPr/>
        </p:nvSpPr>
        <p:spPr>
          <a:xfrm>
            <a:off x="11906250" y="1714500"/>
            <a:ext cx="9715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%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35F3C69-0496-46B3-A67D-0BEAAC2CB685}"/>
              </a:ext>
            </a:extLst>
          </p:cNvPr>
          <p:cNvSpPr>
            <a:spLocks noGrp="1"/>
          </p:cNvSpPr>
          <p:nvPr/>
        </p:nvSpPr>
        <p:spPr>
          <a:xfrm>
            <a:off x="13105991" y="1594485"/>
            <a:ext cx="2129783" cy="723900"/>
          </a:xfrm>
          <a:prstGeom prst="roundRect">
            <a:avLst>
              <a:gd name="adj" fmla="val 18421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AD086C2-8231-4AB4-8DED-56E283B0FF3B}"/>
              </a:ext>
            </a:extLst>
          </p:cNvPr>
          <p:cNvSpPr>
            <a:spLocks noGrp="1"/>
          </p:cNvSpPr>
          <p:nvPr/>
        </p:nvSpPr>
        <p:spPr>
          <a:xfrm>
            <a:off x="13239750" y="1714500"/>
            <a:ext cx="1866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unitária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EA2581B-B220-40B8-B02D-2B0FE46BFA59}"/>
              </a:ext>
            </a:extLst>
          </p:cNvPr>
          <p:cNvSpPr>
            <a:spLocks noGrp="1"/>
          </p:cNvSpPr>
          <p:nvPr/>
        </p:nvSpPr>
        <p:spPr>
          <a:xfrm>
            <a:off x="15331024" y="1594485"/>
            <a:ext cx="2366426" cy="723900"/>
          </a:xfrm>
          <a:prstGeom prst="roundRect">
            <a:avLst>
              <a:gd name="adj" fmla="val 18421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2DB0F1D-591B-4DE7-8194-C6675DF04F10}"/>
              </a:ext>
            </a:extLst>
          </p:cNvPr>
          <p:cNvSpPr>
            <a:spLocks noGrp="1"/>
          </p:cNvSpPr>
          <p:nvPr/>
        </p:nvSpPr>
        <p:spPr>
          <a:xfrm>
            <a:off x="15468600" y="1714500"/>
            <a:ext cx="2095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MC total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67876D7-1912-498B-B423-75CB06E0A805}"/>
              </a:ext>
            </a:extLst>
          </p:cNvPr>
          <p:cNvSpPr>
            <a:spLocks noGrp="1"/>
          </p:cNvSpPr>
          <p:nvPr/>
        </p:nvSpPr>
        <p:spPr>
          <a:xfrm>
            <a:off x="590550" y="2413635"/>
            <a:ext cx="4289147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51195C5-E440-4A65-847E-3B1E187AFCDE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Implantação / instalação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3505614-E1FF-405C-A4EE-EF8F490297AE}"/>
              </a:ext>
            </a:extLst>
          </p:cNvPr>
          <p:cNvSpPr>
            <a:spLocks noGrp="1"/>
          </p:cNvSpPr>
          <p:nvPr/>
        </p:nvSpPr>
        <p:spPr>
          <a:xfrm>
            <a:off x="4974947" y="2413635"/>
            <a:ext cx="1833980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D1F00A7-B402-414B-9391-33CFEE69A2C5}"/>
              </a:ext>
            </a:extLst>
          </p:cNvPr>
          <p:cNvSpPr>
            <a:spLocks noGrp="1"/>
          </p:cNvSpPr>
          <p:nvPr/>
        </p:nvSpPr>
        <p:spPr>
          <a:xfrm>
            <a:off x="5105400" y="253365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C6F2801-75EB-4AEA-B667-8B6E5FEDA41E}"/>
              </a:ext>
            </a:extLst>
          </p:cNvPr>
          <p:cNvSpPr>
            <a:spLocks noGrp="1"/>
          </p:cNvSpPr>
          <p:nvPr/>
        </p:nvSpPr>
        <p:spPr>
          <a:xfrm>
            <a:off x="6904177" y="2413635"/>
            <a:ext cx="2425586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2936EEC-4776-41C5-9944-6B6E9B3F35BE}"/>
              </a:ext>
            </a:extLst>
          </p:cNvPr>
          <p:cNvSpPr>
            <a:spLocks noGrp="1"/>
          </p:cNvSpPr>
          <p:nvPr/>
        </p:nvSpPr>
        <p:spPr>
          <a:xfrm>
            <a:off x="7029450" y="253365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CD8AA4CE-BEA5-48E2-962C-33D219D3D8AF}"/>
              </a:ext>
            </a:extLst>
          </p:cNvPr>
          <p:cNvSpPr>
            <a:spLocks noGrp="1"/>
          </p:cNvSpPr>
          <p:nvPr/>
        </p:nvSpPr>
        <p:spPr>
          <a:xfrm>
            <a:off x="9425013" y="2413635"/>
            <a:ext cx="2248104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6B474DB-B12E-4373-83DE-DB5C6E8C235B}"/>
              </a:ext>
            </a:extLst>
          </p:cNvPr>
          <p:cNvSpPr>
            <a:spLocks noGrp="1"/>
          </p:cNvSpPr>
          <p:nvPr/>
        </p:nvSpPr>
        <p:spPr>
          <a:xfrm>
            <a:off x="9563100" y="253365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B203388-E9AE-4C6C-B624-A1E97FD550E9}"/>
              </a:ext>
            </a:extLst>
          </p:cNvPr>
          <p:cNvSpPr>
            <a:spLocks noGrp="1"/>
          </p:cNvSpPr>
          <p:nvPr/>
        </p:nvSpPr>
        <p:spPr>
          <a:xfrm>
            <a:off x="11768368" y="2413635"/>
            <a:ext cx="1242374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2EED861-0ED0-427A-A3F2-33E98D17F5A8}"/>
              </a:ext>
            </a:extLst>
          </p:cNvPr>
          <p:cNvSpPr>
            <a:spLocks noGrp="1"/>
          </p:cNvSpPr>
          <p:nvPr/>
        </p:nvSpPr>
        <p:spPr>
          <a:xfrm>
            <a:off x="11906250" y="253365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87E3708-3627-4462-97A4-AC755DCA40E0}"/>
              </a:ext>
            </a:extLst>
          </p:cNvPr>
          <p:cNvSpPr>
            <a:spLocks noGrp="1"/>
          </p:cNvSpPr>
          <p:nvPr/>
        </p:nvSpPr>
        <p:spPr>
          <a:xfrm>
            <a:off x="13105991" y="2413635"/>
            <a:ext cx="2129783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5AA2C76-8F45-4B84-AA52-667AE8E6CAA8}"/>
              </a:ext>
            </a:extLst>
          </p:cNvPr>
          <p:cNvSpPr>
            <a:spLocks noGrp="1"/>
          </p:cNvSpPr>
          <p:nvPr/>
        </p:nvSpPr>
        <p:spPr>
          <a:xfrm>
            <a:off x="13239750" y="253365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706645DF-5BA8-4E92-BF2A-6BBF6D7D5EF5}"/>
              </a:ext>
            </a:extLst>
          </p:cNvPr>
          <p:cNvSpPr>
            <a:spLocks noGrp="1"/>
          </p:cNvSpPr>
          <p:nvPr/>
        </p:nvSpPr>
        <p:spPr>
          <a:xfrm>
            <a:off x="15331024" y="2413635"/>
            <a:ext cx="2366426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A907636-278A-4F40-9875-E9420DE130DF}"/>
              </a:ext>
            </a:extLst>
          </p:cNvPr>
          <p:cNvSpPr>
            <a:spLocks noGrp="1"/>
          </p:cNvSpPr>
          <p:nvPr/>
        </p:nvSpPr>
        <p:spPr>
          <a:xfrm>
            <a:off x="15468600" y="253365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02C8F1EA-3655-4767-972C-EBEE55764DB6}"/>
              </a:ext>
            </a:extLst>
          </p:cNvPr>
          <p:cNvSpPr>
            <a:spLocks noGrp="1"/>
          </p:cNvSpPr>
          <p:nvPr/>
        </p:nvSpPr>
        <p:spPr>
          <a:xfrm>
            <a:off x="590550" y="3232785"/>
            <a:ext cx="4289147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4BC9237-729F-4C7C-8940-6DC0BA0AAFAF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Estudo de viabilidade / assessoria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887ACC6-CA85-4224-84E9-7FEB039B9FC0}"/>
              </a:ext>
            </a:extLst>
          </p:cNvPr>
          <p:cNvSpPr>
            <a:spLocks noGrp="1"/>
          </p:cNvSpPr>
          <p:nvPr/>
        </p:nvSpPr>
        <p:spPr>
          <a:xfrm>
            <a:off x="4974947" y="3232785"/>
            <a:ext cx="1833980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F1A4825-7CEA-41AB-A5A8-2450365EE7CA}"/>
              </a:ext>
            </a:extLst>
          </p:cNvPr>
          <p:cNvSpPr>
            <a:spLocks noGrp="1"/>
          </p:cNvSpPr>
          <p:nvPr/>
        </p:nvSpPr>
        <p:spPr>
          <a:xfrm>
            <a:off x="5105400" y="335280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296EB25-9FEE-4D5E-AD0B-153EF844DA15}"/>
              </a:ext>
            </a:extLst>
          </p:cNvPr>
          <p:cNvSpPr>
            <a:spLocks noGrp="1"/>
          </p:cNvSpPr>
          <p:nvPr/>
        </p:nvSpPr>
        <p:spPr>
          <a:xfrm>
            <a:off x="6904177" y="3232785"/>
            <a:ext cx="2425586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A10F604-0512-4259-94AB-7E7C125AFC6E}"/>
              </a:ext>
            </a:extLst>
          </p:cNvPr>
          <p:cNvSpPr>
            <a:spLocks noGrp="1"/>
          </p:cNvSpPr>
          <p:nvPr/>
        </p:nvSpPr>
        <p:spPr>
          <a:xfrm>
            <a:off x="7029450" y="33528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44A9D1CE-1DA5-4DBA-8194-45D19F30F696}"/>
              </a:ext>
            </a:extLst>
          </p:cNvPr>
          <p:cNvSpPr>
            <a:spLocks noGrp="1"/>
          </p:cNvSpPr>
          <p:nvPr/>
        </p:nvSpPr>
        <p:spPr>
          <a:xfrm>
            <a:off x="9425013" y="3232785"/>
            <a:ext cx="2248104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FD7541C-8035-4FAC-B4A7-DA6E1C2AF460}"/>
              </a:ext>
            </a:extLst>
          </p:cNvPr>
          <p:cNvSpPr>
            <a:spLocks noGrp="1"/>
          </p:cNvSpPr>
          <p:nvPr/>
        </p:nvSpPr>
        <p:spPr>
          <a:xfrm>
            <a:off x="9563100" y="335280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2BBF73C6-00BC-4AAF-94DF-E9BE839041E9}"/>
              </a:ext>
            </a:extLst>
          </p:cNvPr>
          <p:cNvSpPr>
            <a:spLocks noGrp="1"/>
          </p:cNvSpPr>
          <p:nvPr/>
        </p:nvSpPr>
        <p:spPr>
          <a:xfrm>
            <a:off x="11768368" y="3232785"/>
            <a:ext cx="1242374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1636054F-AC3C-4BE3-9447-B4C11E94BE10}"/>
              </a:ext>
            </a:extLst>
          </p:cNvPr>
          <p:cNvSpPr>
            <a:spLocks noGrp="1"/>
          </p:cNvSpPr>
          <p:nvPr/>
        </p:nvSpPr>
        <p:spPr>
          <a:xfrm>
            <a:off x="11906250" y="335280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DDAD5A74-44A8-4291-928E-47206DF9E57A}"/>
              </a:ext>
            </a:extLst>
          </p:cNvPr>
          <p:cNvSpPr>
            <a:spLocks noGrp="1"/>
          </p:cNvSpPr>
          <p:nvPr/>
        </p:nvSpPr>
        <p:spPr>
          <a:xfrm>
            <a:off x="13105991" y="3232785"/>
            <a:ext cx="2129783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4DC84554-D6A4-463F-BAC3-C164E3A5723F}"/>
              </a:ext>
            </a:extLst>
          </p:cNvPr>
          <p:cNvSpPr>
            <a:spLocks noGrp="1"/>
          </p:cNvSpPr>
          <p:nvPr/>
        </p:nvSpPr>
        <p:spPr>
          <a:xfrm>
            <a:off x="13239750" y="335280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EF16B0B9-77A1-4A42-A266-8F99E1BB38E9}"/>
              </a:ext>
            </a:extLst>
          </p:cNvPr>
          <p:cNvSpPr>
            <a:spLocks noGrp="1"/>
          </p:cNvSpPr>
          <p:nvPr/>
        </p:nvSpPr>
        <p:spPr>
          <a:xfrm>
            <a:off x="15331024" y="3232785"/>
            <a:ext cx="2366426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8C39110-29C4-4E2C-98B4-82FC45181927}"/>
              </a:ext>
            </a:extLst>
          </p:cNvPr>
          <p:cNvSpPr>
            <a:spLocks noGrp="1"/>
          </p:cNvSpPr>
          <p:nvPr/>
        </p:nvSpPr>
        <p:spPr>
          <a:xfrm>
            <a:off x="15468600" y="335280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FF7DCAF7-283F-40E1-86E6-89897068C6D7}"/>
              </a:ext>
            </a:extLst>
          </p:cNvPr>
          <p:cNvSpPr>
            <a:spLocks noGrp="1"/>
          </p:cNvSpPr>
          <p:nvPr/>
        </p:nvSpPr>
        <p:spPr>
          <a:xfrm>
            <a:off x="590550" y="4051935"/>
            <a:ext cx="4289147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D00C535F-4F21-488E-AFA9-90FA934ACF14}"/>
              </a:ext>
            </a:extLst>
          </p:cNvPr>
          <p:cNvSpPr>
            <a:spLocks noGrp="1"/>
          </p:cNvSpPr>
          <p:nvPr/>
        </p:nvSpPr>
        <p:spPr>
          <a:xfrm>
            <a:off x="723900" y="417195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Peças e upgrades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3295C5FF-ABA3-4B92-B5DE-68DA0D2F9AE9}"/>
              </a:ext>
            </a:extLst>
          </p:cNvPr>
          <p:cNvSpPr>
            <a:spLocks noGrp="1"/>
          </p:cNvSpPr>
          <p:nvPr/>
        </p:nvSpPr>
        <p:spPr>
          <a:xfrm>
            <a:off x="4974947" y="4051935"/>
            <a:ext cx="1833980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94E917A1-1FD9-4118-AD30-48F09C9D133F}"/>
              </a:ext>
            </a:extLst>
          </p:cNvPr>
          <p:cNvSpPr>
            <a:spLocks noGrp="1"/>
          </p:cNvSpPr>
          <p:nvPr/>
        </p:nvSpPr>
        <p:spPr>
          <a:xfrm>
            <a:off x="5105400" y="417195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5AC5458B-343A-479B-A0E2-41929394E61B}"/>
              </a:ext>
            </a:extLst>
          </p:cNvPr>
          <p:cNvSpPr>
            <a:spLocks noGrp="1"/>
          </p:cNvSpPr>
          <p:nvPr/>
        </p:nvSpPr>
        <p:spPr>
          <a:xfrm>
            <a:off x="6904177" y="4051935"/>
            <a:ext cx="2425586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F9D54B20-2D69-4607-B6CD-18C9A0A21089}"/>
              </a:ext>
            </a:extLst>
          </p:cNvPr>
          <p:cNvSpPr>
            <a:spLocks noGrp="1"/>
          </p:cNvSpPr>
          <p:nvPr/>
        </p:nvSpPr>
        <p:spPr>
          <a:xfrm>
            <a:off x="7029450" y="417195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99703955-C6D0-417E-8660-93B5BD8778F2}"/>
              </a:ext>
            </a:extLst>
          </p:cNvPr>
          <p:cNvSpPr>
            <a:spLocks noGrp="1"/>
          </p:cNvSpPr>
          <p:nvPr/>
        </p:nvSpPr>
        <p:spPr>
          <a:xfrm>
            <a:off x="9425013" y="4051935"/>
            <a:ext cx="2248104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305D9EA7-1673-4B01-8562-84260CAA4E58}"/>
              </a:ext>
            </a:extLst>
          </p:cNvPr>
          <p:cNvSpPr>
            <a:spLocks noGrp="1"/>
          </p:cNvSpPr>
          <p:nvPr/>
        </p:nvSpPr>
        <p:spPr>
          <a:xfrm>
            <a:off x="9563100" y="417195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5F0BB821-4287-432E-B068-061F52A6FFD6}"/>
              </a:ext>
            </a:extLst>
          </p:cNvPr>
          <p:cNvSpPr>
            <a:spLocks noGrp="1"/>
          </p:cNvSpPr>
          <p:nvPr/>
        </p:nvSpPr>
        <p:spPr>
          <a:xfrm>
            <a:off x="11768368" y="4051935"/>
            <a:ext cx="1242374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AB957F5F-7857-4808-BC52-B532A4ADF8B4}"/>
              </a:ext>
            </a:extLst>
          </p:cNvPr>
          <p:cNvSpPr>
            <a:spLocks noGrp="1"/>
          </p:cNvSpPr>
          <p:nvPr/>
        </p:nvSpPr>
        <p:spPr>
          <a:xfrm>
            <a:off x="11906250" y="417195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3EB8F647-4B7E-4450-A7AE-EBB428A1BE82}"/>
              </a:ext>
            </a:extLst>
          </p:cNvPr>
          <p:cNvSpPr>
            <a:spLocks noGrp="1"/>
          </p:cNvSpPr>
          <p:nvPr/>
        </p:nvSpPr>
        <p:spPr>
          <a:xfrm>
            <a:off x="13105991" y="4051935"/>
            <a:ext cx="2129783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21FAA275-ADCF-40B3-9939-A4733383FD4F}"/>
              </a:ext>
            </a:extLst>
          </p:cNvPr>
          <p:cNvSpPr>
            <a:spLocks noGrp="1"/>
          </p:cNvSpPr>
          <p:nvPr/>
        </p:nvSpPr>
        <p:spPr>
          <a:xfrm>
            <a:off x="13239750" y="417195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B91EBC5D-016A-45F3-B14E-77460104900F}"/>
              </a:ext>
            </a:extLst>
          </p:cNvPr>
          <p:cNvSpPr>
            <a:spLocks noGrp="1"/>
          </p:cNvSpPr>
          <p:nvPr/>
        </p:nvSpPr>
        <p:spPr>
          <a:xfrm>
            <a:off x="15331024" y="4051935"/>
            <a:ext cx="2366426" cy="723900"/>
          </a:xfrm>
          <a:prstGeom prst="roundRect">
            <a:avLst>
              <a:gd name="adj" fmla="val 18421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4ECECAB4-FC5B-49C2-B275-F35DD6C4E3C9}"/>
              </a:ext>
            </a:extLst>
          </p:cNvPr>
          <p:cNvSpPr>
            <a:spLocks noGrp="1"/>
          </p:cNvSpPr>
          <p:nvPr/>
        </p:nvSpPr>
        <p:spPr>
          <a:xfrm>
            <a:off x="15468600" y="417195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39E962D5-D3D8-4B43-8ADF-43A7556060C8}"/>
              </a:ext>
            </a:extLst>
          </p:cNvPr>
          <p:cNvSpPr>
            <a:spLocks noGrp="1"/>
          </p:cNvSpPr>
          <p:nvPr/>
        </p:nvSpPr>
        <p:spPr>
          <a:xfrm>
            <a:off x="590550" y="4871085"/>
            <a:ext cx="4289147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FA53553C-66A5-48F1-8634-EEEF31C87DD8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4019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Manutenção especializada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BE09A0F7-B6F5-495C-909C-32A534138404}"/>
              </a:ext>
            </a:extLst>
          </p:cNvPr>
          <p:cNvSpPr>
            <a:spLocks noGrp="1"/>
          </p:cNvSpPr>
          <p:nvPr/>
        </p:nvSpPr>
        <p:spPr>
          <a:xfrm>
            <a:off x="4974947" y="4871085"/>
            <a:ext cx="1833980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691EB6BF-1148-4234-9934-5E341B68D9E5}"/>
              </a:ext>
            </a:extLst>
          </p:cNvPr>
          <p:cNvSpPr>
            <a:spLocks noGrp="1"/>
          </p:cNvSpPr>
          <p:nvPr/>
        </p:nvSpPr>
        <p:spPr>
          <a:xfrm>
            <a:off x="5105400" y="4991100"/>
            <a:ext cx="15621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A ativar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C84CD2AB-46AF-4602-A88B-2075C12EAA49}"/>
              </a:ext>
            </a:extLst>
          </p:cNvPr>
          <p:cNvSpPr>
            <a:spLocks noGrp="1"/>
          </p:cNvSpPr>
          <p:nvPr/>
        </p:nvSpPr>
        <p:spPr>
          <a:xfrm>
            <a:off x="6904177" y="4871085"/>
            <a:ext cx="2425586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DA6E64BF-9614-491B-844B-5B772E914858}"/>
              </a:ext>
            </a:extLst>
          </p:cNvPr>
          <p:cNvSpPr>
            <a:spLocks noGrp="1"/>
          </p:cNvSpPr>
          <p:nvPr/>
        </p:nvSpPr>
        <p:spPr>
          <a:xfrm>
            <a:off x="7029450" y="4991100"/>
            <a:ext cx="21526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89BA06B5-E93A-4FC1-8ADA-582B5A664570}"/>
              </a:ext>
            </a:extLst>
          </p:cNvPr>
          <p:cNvSpPr>
            <a:spLocks noGrp="1"/>
          </p:cNvSpPr>
          <p:nvPr/>
        </p:nvSpPr>
        <p:spPr>
          <a:xfrm>
            <a:off x="9425013" y="4871085"/>
            <a:ext cx="2248104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6AE70688-505A-47CA-9485-127A5B1E6732}"/>
              </a:ext>
            </a:extLst>
          </p:cNvPr>
          <p:cNvSpPr>
            <a:spLocks noGrp="1"/>
          </p:cNvSpPr>
          <p:nvPr/>
        </p:nvSpPr>
        <p:spPr>
          <a:xfrm>
            <a:off x="9563100" y="4991100"/>
            <a:ext cx="19812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 estruturar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E6AE03AA-9335-4D31-8D71-B7253AFBEFC7}"/>
              </a:ext>
            </a:extLst>
          </p:cNvPr>
          <p:cNvSpPr>
            <a:spLocks noGrp="1"/>
          </p:cNvSpPr>
          <p:nvPr/>
        </p:nvSpPr>
        <p:spPr>
          <a:xfrm>
            <a:off x="11768368" y="4871085"/>
            <a:ext cx="1242374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26BF4AFC-3E69-446D-A8F1-AD653892F053}"/>
              </a:ext>
            </a:extLst>
          </p:cNvPr>
          <p:cNvSpPr>
            <a:spLocks noGrp="1"/>
          </p:cNvSpPr>
          <p:nvPr/>
        </p:nvSpPr>
        <p:spPr>
          <a:xfrm>
            <a:off x="11906250" y="4991100"/>
            <a:ext cx="971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C6414EB0-998C-455C-9022-66843A7849C9}"/>
              </a:ext>
            </a:extLst>
          </p:cNvPr>
          <p:cNvSpPr>
            <a:spLocks noGrp="1"/>
          </p:cNvSpPr>
          <p:nvPr/>
        </p:nvSpPr>
        <p:spPr>
          <a:xfrm>
            <a:off x="13105991" y="4871085"/>
            <a:ext cx="2129783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2AB52778-553D-4FCE-B006-6A96CE059BA6}"/>
              </a:ext>
            </a:extLst>
          </p:cNvPr>
          <p:cNvSpPr>
            <a:spLocks noGrp="1"/>
          </p:cNvSpPr>
          <p:nvPr/>
        </p:nvSpPr>
        <p:spPr>
          <a:xfrm>
            <a:off x="13239750" y="4991100"/>
            <a:ext cx="18669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6141DE54-4F05-419D-8E21-23F940571944}"/>
              </a:ext>
            </a:extLst>
          </p:cNvPr>
          <p:cNvSpPr>
            <a:spLocks noGrp="1"/>
          </p:cNvSpPr>
          <p:nvPr/>
        </p:nvSpPr>
        <p:spPr>
          <a:xfrm>
            <a:off x="15331024" y="4871085"/>
            <a:ext cx="2366426" cy="723900"/>
          </a:xfrm>
          <a:prstGeom prst="roundRect">
            <a:avLst>
              <a:gd name="adj" fmla="val 18421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5FE01B2A-D203-4707-AC94-5D72D6BCD59F}"/>
              </a:ext>
            </a:extLst>
          </p:cNvPr>
          <p:cNvSpPr>
            <a:spLocks noGrp="1"/>
          </p:cNvSpPr>
          <p:nvPr/>
        </p:nvSpPr>
        <p:spPr>
          <a:xfrm>
            <a:off x="15468600" y="4991100"/>
            <a:ext cx="20955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-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DBA3BFD2-0F3E-45DC-ADDE-BA2DE9C40493}"/>
              </a:ext>
            </a:extLst>
          </p:cNvPr>
          <p:cNvSpPr>
            <a:spLocks noGrp="1"/>
          </p:cNvSpPr>
          <p:nvPr/>
        </p:nvSpPr>
        <p:spPr>
          <a:xfrm>
            <a:off x="590550" y="5766435"/>
            <a:ext cx="8467725" cy="4006215"/>
          </a:xfrm>
          <a:prstGeom prst="roundRect">
            <a:avLst>
              <a:gd name="adj" fmla="val 4755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6C25E24D-FBDC-46BC-BBB8-A885F711A057}"/>
              </a:ext>
            </a:extLst>
          </p:cNvPr>
          <p:cNvSpPr>
            <a:spLocks noGrp="1"/>
          </p:cNvSpPr>
          <p:nvPr/>
        </p:nvSpPr>
        <p:spPr>
          <a:xfrm>
            <a:off x="781050" y="5962650"/>
            <a:ext cx="8096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O que esses produtos podem adicionar</a:t>
            </a:r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407A6E28-8955-4F11-B5A4-FA5352D639C6}"/>
              </a:ext>
            </a:extLst>
          </p:cNvPr>
          <p:cNvSpPr>
            <a:spLocks noGrp="1"/>
          </p:cNvSpPr>
          <p:nvPr/>
        </p:nvSpPr>
        <p:spPr>
          <a:xfrm>
            <a:off x="781050" y="634365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Mais recorrência e maior captura de valor por cliente.</a:t>
            </a: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484B176C-FAF0-48E1-9FD4-B6EEAFEF7D2D}"/>
              </a:ext>
            </a:extLst>
          </p:cNvPr>
          <p:cNvSpPr>
            <a:spLocks noGrp="1"/>
          </p:cNvSpPr>
          <p:nvPr/>
        </p:nvSpPr>
        <p:spPr>
          <a:xfrm>
            <a:off x="781050" y="668655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Elevação de ticket médio e extensão do ciclo de monetização.</a:t>
            </a: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06FBB233-EC10-4974-85FD-120901A63BFB}"/>
              </a:ext>
            </a:extLst>
          </p:cNvPr>
          <p:cNvSpPr>
            <a:spLocks noGrp="1"/>
          </p:cNvSpPr>
          <p:nvPr/>
        </p:nvSpPr>
        <p:spPr>
          <a:xfrm>
            <a:off x="781050" y="70104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Redução de dependência exclusiva do hardware e implantação.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D9EBF1B0-62E9-4FE6-8D62-A23944843665}"/>
              </a:ext>
            </a:extLst>
          </p:cNvPr>
          <p:cNvSpPr>
            <a:spLocks noGrp="1"/>
          </p:cNvSpPr>
          <p:nvPr/>
        </p:nvSpPr>
        <p:spPr>
          <a:xfrm>
            <a:off x="9229725" y="5766435"/>
            <a:ext cx="8467725" cy="4006215"/>
          </a:xfrm>
          <a:prstGeom prst="roundRect">
            <a:avLst>
              <a:gd name="adj" fmla="val 4755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713775D0-D12E-4870-8BE3-DA4E08F39535}"/>
              </a:ext>
            </a:extLst>
          </p:cNvPr>
          <p:cNvSpPr>
            <a:spLocks noGrp="1"/>
          </p:cNvSpPr>
          <p:nvPr/>
        </p:nvSpPr>
        <p:spPr>
          <a:xfrm>
            <a:off x="9429750" y="5962650"/>
            <a:ext cx="80962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B1324"/>
                </a:solidFill>
              </a:defRPr>
            </a:pPr>
            <a:r>
              <a:rPr sz="1800" b="1">
                <a:solidFill>
                  <a:srgbClr val="0B1324"/>
                </a:solidFill>
              </a:rPr>
              <a:t>Mensagem para investidores</a:t>
            </a:r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AA172562-64F7-42F5-9557-27F4344BEF3B}"/>
              </a:ext>
            </a:extLst>
          </p:cNvPr>
          <p:cNvSpPr>
            <a:spLocks noGrp="1"/>
          </p:cNvSpPr>
          <p:nvPr/>
        </p:nvSpPr>
        <p:spPr>
          <a:xfrm>
            <a:off x="9429750" y="634365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 operação já fecha com 2 produtos contribuindo para o resultado.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3BEDCF2D-BF81-4871-9314-6D07903CB454}"/>
              </a:ext>
            </a:extLst>
          </p:cNvPr>
          <p:cNvSpPr>
            <a:spLocks noGrp="1"/>
          </p:cNvSpPr>
          <p:nvPr/>
        </p:nvSpPr>
        <p:spPr>
          <a:xfrm>
            <a:off x="9429750" y="668655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Ainda há 4 frentes adicionais passíveis de ativação.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E76C1D21-CFC6-479F-B719-1D134FD41227}"/>
              </a:ext>
            </a:extLst>
          </p:cNvPr>
          <p:cNvSpPr>
            <a:spLocks noGrp="1"/>
          </p:cNvSpPr>
          <p:nvPr/>
        </p:nvSpPr>
        <p:spPr>
          <a:xfrm>
            <a:off x="9429750" y="70104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Portanto, o resultado atual é conservador.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3628FD0B-22ED-48E3-9540-575E78A5080B}"/>
              </a:ext>
            </a:extLst>
          </p:cNvPr>
          <p:cNvSpPr>
            <a:spLocks noGrp="1"/>
          </p:cNvSpPr>
          <p:nvPr/>
        </p:nvSpPr>
        <p:spPr>
          <a:xfrm>
            <a:off x="9429750" y="7353300"/>
            <a:ext cx="8096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O upside está na ativação organizada desse segundo bloco do portfólio.</a:t>
            </a:r>
          </a:p>
        </p:txBody>
      </p:sp>
    </p:spTree>
    <p:extLst>
      <p:ext uri="{BB962C8B-B14F-4D97-AF65-F5344CB8AC3E}">
        <p14:creationId xmlns:p14="http://schemas.microsoft.com/office/powerpoint/2010/main" val="641491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tângulo 76">
            <a:extLst>
              <a:ext uri="{FF2B5EF4-FFF2-40B4-BE49-F238E27FC236}">
                <a16:creationId xmlns:a16="http://schemas.microsoft.com/office/drawing/2014/main" id="{4E6471BC-C250-4A1C-ADBE-9AF09DCCFBEE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4. Demanda do mercado / déficit de infraestrutura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7CD1890-5FB2-4BF7-B597-1FF1B8A4C896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49E958E-5DE9-4B90-87DE-BDFED65C5F22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117157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Base observada: 411,9 mil veículos plug-in e 21,1 mil pontos públicos/semi-públicos. Cenário-base de demanda calibrado para 2026-2030.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CEF2A27-F016-4BC3-A4B4-EE5223A692F6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3995738" cy="20955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C0E6A05-4928-4552-8B74-179ACFDAC964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3581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Frota plug-in atual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2248C7E-6AB9-45E7-A597-3FC49372DAB5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35814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411.869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66311B3-3D3D-4CFB-AD5A-B836DBE90BDE}"/>
              </a:ext>
            </a:extLst>
          </p:cNvPr>
          <p:cNvSpPr>
            <a:spLocks noGrp="1"/>
          </p:cNvSpPr>
          <p:nvPr/>
        </p:nvSpPr>
        <p:spPr>
          <a:xfrm>
            <a:off x="5043488" y="2036445"/>
            <a:ext cx="3995738" cy="20955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F01ACB9-9EE3-4787-9833-71D51B6C7F71}"/>
              </a:ext>
            </a:extLst>
          </p:cNvPr>
          <p:cNvSpPr>
            <a:spLocks noGrp="1"/>
          </p:cNvSpPr>
          <p:nvPr/>
        </p:nvSpPr>
        <p:spPr>
          <a:xfrm>
            <a:off x="5257800" y="2247900"/>
            <a:ext cx="3581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Pontos atuais de recarga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55D0981-8568-4692-96EE-558CC60DB2AA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35814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21.061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9BE4535-A161-4589-85BA-D7DE3FC62C9A}"/>
              </a:ext>
            </a:extLst>
          </p:cNvPr>
          <p:cNvSpPr>
            <a:spLocks noGrp="1"/>
          </p:cNvSpPr>
          <p:nvPr/>
        </p:nvSpPr>
        <p:spPr>
          <a:xfrm>
            <a:off x="9248775" y="2036445"/>
            <a:ext cx="3995738" cy="20955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20619A2-3CAC-4F55-8655-EABF16D3601B}"/>
              </a:ext>
            </a:extLst>
          </p:cNvPr>
          <p:cNvSpPr>
            <a:spLocks noGrp="1"/>
          </p:cNvSpPr>
          <p:nvPr/>
        </p:nvSpPr>
        <p:spPr>
          <a:xfrm>
            <a:off x="9467850" y="2247900"/>
            <a:ext cx="3581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Relação atual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DA30089-0AA6-4CA2-BDDA-28F8CC1EEA27}"/>
              </a:ext>
            </a:extLst>
          </p:cNvPr>
          <p:cNvSpPr>
            <a:spLocks noGrp="1"/>
          </p:cNvSpPr>
          <p:nvPr/>
        </p:nvSpPr>
        <p:spPr>
          <a:xfrm>
            <a:off x="9467850" y="2590800"/>
            <a:ext cx="35814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19,6:1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FC921C8-CAAD-4FF2-A7C5-6A0891129073}"/>
              </a:ext>
            </a:extLst>
          </p:cNvPr>
          <p:cNvSpPr>
            <a:spLocks noGrp="1"/>
          </p:cNvSpPr>
          <p:nvPr/>
        </p:nvSpPr>
        <p:spPr>
          <a:xfrm>
            <a:off x="13454063" y="2036445"/>
            <a:ext cx="3995738" cy="2095500"/>
          </a:xfrm>
          <a:prstGeom prst="roundRect">
            <a:avLst>
              <a:gd name="adj" fmla="val 10000"/>
            </a:avLst>
          </a:prstGeom>
          <a:solidFill>
            <a:srgbClr val="FCE7F3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1F1DE3A-A874-42DD-B395-DDADA20DAF09}"/>
              </a:ext>
            </a:extLst>
          </p:cNvPr>
          <p:cNvSpPr>
            <a:spLocks noGrp="1"/>
          </p:cNvSpPr>
          <p:nvPr/>
        </p:nvSpPr>
        <p:spPr>
          <a:xfrm>
            <a:off x="13658850" y="2247900"/>
            <a:ext cx="3581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Déficit atual p/ 10:1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1624047-0F6E-4126-B823-085A9B2C021A}"/>
              </a:ext>
            </a:extLst>
          </p:cNvPr>
          <p:cNvSpPr>
            <a:spLocks noGrp="1"/>
          </p:cNvSpPr>
          <p:nvPr/>
        </p:nvSpPr>
        <p:spPr>
          <a:xfrm>
            <a:off x="13658850" y="2590800"/>
            <a:ext cx="35814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20.126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3540E69-3867-4795-B42A-50CADE52F197}"/>
              </a:ext>
            </a:extLst>
          </p:cNvPr>
          <p:cNvSpPr>
            <a:spLocks noGrp="1"/>
          </p:cNvSpPr>
          <p:nvPr/>
        </p:nvSpPr>
        <p:spPr>
          <a:xfrm>
            <a:off x="838200" y="4360545"/>
            <a:ext cx="1990590" cy="587375"/>
          </a:xfrm>
          <a:prstGeom prst="roundRect">
            <a:avLst>
              <a:gd name="adj" fmla="val 22703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16C4D5F-57BE-496C-89F9-0769162A14A3}"/>
              </a:ext>
            </a:extLst>
          </p:cNvPr>
          <p:cNvSpPr>
            <a:spLocks noGrp="1"/>
          </p:cNvSpPr>
          <p:nvPr/>
        </p:nvSpPr>
        <p:spPr>
          <a:xfrm>
            <a:off x="971550" y="44767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5658EB2-15F0-4727-BF77-F7E3A7067181}"/>
              </a:ext>
            </a:extLst>
          </p:cNvPr>
          <p:cNvSpPr>
            <a:spLocks noGrp="1"/>
          </p:cNvSpPr>
          <p:nvPr/>
        </p:nvSpPr>
        <p:spPr>
          <a:xfrm>
            <a:off x="2943090" y="4360545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5DE1008-4DAA-4938-9192-80A0D7424ADF}"/>
              </a:ext>
            </a:extLst>
          </p:cNvPr>
          <p:cNvSpPr>
            <a:spLocks noGrp="1"/>
          </p:cNvSpPr>
          <p:nvPr/>
        </p:nvSpPr>
        <p:spPr>
          <a:xfrm>
            <a:off x="3067050" y="447675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Frota projetada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4E62EA7-2B62-445D-833B-4743E235CBE3}"/>
              </a:ext>
            </a:extLst>
          </p:cNvPr>
          <p:cNvSpPr>
            <a:spLocks noGrp="1"/>
          </p:cNvSpPr>
          <p:nvPr/>
        </p:nvSpPr>
        <p:spPr>
          <a:xfrm>
            <a:off x="6502641" y="4360545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D5995D0-2920-4722-B879-BBED75B2F96B}"/>
              </a:ext>
            </a:extLst>
          </p:cNvPr>
          <p:cNvSpPr>
            <a:spLocks noGrp="1"/>
          </p:cNvSpPr>
          <p:nvPr/>
        </p:nvSpPr>
        <p:spPr>
          <a:xfrm>
            <a:off x="6629400" y="447675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Pontos necessários (10:1)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8B070E1-41C5-4C66-AF67-367F3666B2AE}"/>
              </a:ext>
            </a:extLst>
          </p:cNvPr>
          <p:cNvSpPr>
            <a:spLocks noGrp="1"/>
          </p:cNvSpPr>
          <p:nvPr/>
        </p:nvSpPr>
        <p:spPr>
          <a:xfrm>
            <a:off x="10062192" y="4360545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08F6C9D-2C17-4258-87CA-EE7DE65403D1}"/>
              </a:ext>
            </a:extLst>
          </p:cNvPr>
          <p:cNvSpPr>
            <a:spLocks noGrp="1"/>
          </p:cNvSpPr>
          <p:nvPr/>
        </p:nvSpPr>
        <p:spPr>
          <a:xfrm>
            <a:off x="10191750" y="447675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Déficit acumulado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B7FB0E8-C727-460E-9623-955D79BE6E81}"/>
              </a:ext>
            </a:extLst>
          </p:cNvPr>
          <p:cNvSpPr>
            <a:spLocks noGrp="1"/>
          </p:cNvSpPr>
          <p:nvPr/>
        </p:nvSpPr>
        <p:spPr>
          <a:xfrm>
            <a:off x="13813146" y="4360545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60E5756-4216-4254-A173-3AF2AD5F5795}"/>
              </a:ext>
            </a:extLst>
          </p:cNvPr>
          <p:cNvSpPr>
            <a:spLocks noGrp="1"/>
          </p:cNvSpPr>
          <p:nvPr/>
        </p:nvSpPr>
        <p:spPr>
          <a:xfrm>
            <a:off x="13944600" y="447675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Demanda incremental no ano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B312232-C6C6-48F7-B9C1-2B1170701001}"/>
              </a:ext>
            </a:extLst>
          </p:cNvPr>
          <p:cNvSpPr>
            <a:spLocks noGrp="1"/>
          </p:cNvSpPr>
          <p:nvPr/>
        </p:nvSpPr>
        <p:spPr>
          <a:xfrm>
            <a:off x="838200" y="5043170"/>
            <a:ext cx="1990590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D133E5D-2C17-4664-8295-25AB4F471170}"/>
              </a:ext>
            </a:extLst>
          </p:cNvPr>
          <p:cNvSpPr>
            <a:spLocks noGrp="1"/>
          </p:cNvSpPr>
          <p:nvPr/>
        </p:nvSpPr>
        <p:spPr>
          <a:xfrm>
            <a:off x="971550" y="51625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2026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630DD078-A945-433A-9644-0CA5AC90BF10}"/>
              </a:ext>
            </a:extLst>
          </p:cNvPr>
          <p:cNvSpPr>
            <a:spLocks noGrp="1"/>
          </p:cNvSpPr>
          <p:nvPr/>
        </p:nvSpPr>
        <p:spPr>
          <a:xfrm>
            <a:off x="2943090" y="5043170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D210C56-5E6F-44EA-8290-EB54AF5B42E7}"/>
              </a:ext>
            </a:extLst>
          </p:cNvPr>
          <p:cNvSpPr>
            <a:spLocks noGrp="1"/>
          </p:cNvSpPr>
          <p:nvPr/>
        </p:nvSpPr>
        <p:spPr>
          <a:xfrm>
            <a:off x="3067050" y="516255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639.869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28FAC77-0903-466B-8EB3-ABBDE5A8DEB0}"/>
              </a:ext>
            </a:extLst>
          </p:cNvPr>
          <p:cNvSpPr>
            <a:spLocks noGrp="1"/>
          </p:cNvSpPr>
          <p:nvPr/>
        </p:nvSpPr>
        <p:spPr>
          <a:xfrm>
            <a:off x="6502641" y="5043170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EAAE9EE-63F2-4138-B4EE-D8A8E956A1F8}"/>
              </a:ext>
            </a:extLst>
          </p:cNvPr>
          <p:cNvSpPr>
            <a:spLocks noGrp="1"/>
          </p:cNvSpPr>
          <p:nvPr/>
        </p:nvSpPr>
        <p:spPr>
          <a:xfrm>
            <a:off x="6629400" y="516255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63.987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B957464-CBF6-4685-8FDD-5C00ADC13424}"/>
              </a:ext>
            </a:extLst>
          </p:cNvPr>
          <p:cNvSpPr>
            <a:spLocks noGrp="1"/>
          </p:cNvSpPr>
          <p:nvPr/>
        </p:nvSpPr>
        <p:spPr>
          <a:xfrm>
            <a:off x="10062192" y="5043170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53F63AC-83E8-4457-A01F-6B382EF72884}"/>
              </a:ext>
            </a:extLst>
          </p:cNvPr>
          <p:cNvSpPr>
            <a:spLocks noGrp="1"/>
          </p:cNvSpPr>
          <p:nvPr/>
        </p:nvSpPr>
        <p:spPr>
          <a:xfrm>
            <a:off x="10191750" y="516255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42.926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4ED0379-4CFC-4BF3-8074-B05ECAF4CE25}"/>
              </a:ext>
            </a:extLst>
          </p:cNvPr>
          <p:cNvSpPr>
            <a:spLocks noGrp="1"/>
          </p:cNvSpPr>
          <p:nvPr/>
        </p:nvSpPr>
        <p:spPr>
          <a:xfrm>
            <a:off x="13813146" y="5043170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7C73DF4-FEDE-47C3-8E5B-8DEC6A200FD0}"/>
              </a:ext>
            </a:extLst>
          </p:cNvPr>
          <p:cNvSpPr>
            <a:spLocks noGrp="1"/>
          </p:cNvSpPr>
          <p:nvPr/>
        </p:nvSpPr>
        <p:spPr>
          <a:xfrm>
            <a:off x="13944600" y="516255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22.800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58F072CF-41F2-4BC5-BAD7-EBF4B539926F}"/>
              </a:ext>
            </a:extLst>
          </p:cNvPr>
          <p:cNvSpPr>
            <a:spLocks noGrp="1"/>
          </p:cNvSpPr>
          <p:nvPr/>
        </p:nvSpPr>
        <p:spPr>
          <a:xfrm>
            <a:off x="838200" y="5725795"/>
            <a:ext cx="1990590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15BA65C-E0DF-42F8-B58B-750D1FB1CDAB}"/>
              </a:ext>
            </a:extLst>
          </p:cNvPr>
          <p:cNvSpPr>
            <a:spLocks noGrp="1"/>
          </p:cNvSpPr>
          <p:nvPr/>
        </p:nvSpPr>
        <p:spPr>
          <a:xfrm>
            <a:off x="971550" y="584835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2027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D270ED8E-1337-4D3A-98D8-8C316C00BD01}"/>
              </a:ext>
            </a:extLst>
          </p:cNvPr>
          <p:cNvSpPr>
            <a:spLocks noGrp="1"/>
          </p:cNvSpPr>
          <p:nvPr/>
        </p:nvSpPr>
        <p:spPr>
          <a:xfrm>
            <a:off x="2943090" y="5725795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54B3CFA0-5FDB-4E8D-837B-60F66FF2D8E4}"/>
              </a:ext>
            </a:extLst>
          </p:cNvPr>
          <p:cNvSpPr>
            <a:spLocks noGrp="1"/>
          </p:cNvSpPr>
          <p:nvPr/>
        </p:nvSpPr>
        <p:spPr>
          <a:xfrm>
            <a:off x="3067050" y="584835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1.004.869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2D7D969D-3274-4520-9658-EBFCCE725248}"/>
              </a:ext>
            </a:extLst>
          </p:cNvPr>
          <p:cNvSpPr>
            <a:spLocks noGrp="1"/>
          </p:cNvSpPr>
          <p:nvPr/>
        </p:nvSpPr>
        <p:spPr>
          <a:xfrm>
            <a:off x="6502641" y="5725795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E7E9821A-F8D5-420E-A939-9934536953CD}"/>
              </a:ext>
            </a:extLst>
          </p:cNvPr>
          <p:cNvSpPr>
            <a:spLocks noGrp="1"/>
          </p:cNvSpPr>
          <p:nvPr/>
        </p:nvSpPr>
        <p:spPr>
          <a:xfrm>
            <a:off x="6629400" y="584835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100.487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985763CD-EBA2-485D-8F96-87051E002EBE}"/>
              </a:ext>
            </a:extLst>
          </p:cNvPr>
          <p:cNvSpPr>
            <a:spLocks noGrp="1"/>
          </p:cNvSpPr>
          <p:nvPr/>
        </p:nvSpPr>
        <p:spPr>
          <a:xfrm>
            <a:off x="10062192" y="5725795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7E1AFECA-4EA1-4D48-8A98-9A1ACFDEFC01}"/>
              </a:ext>
            </a:extLst>
          </p:cNvPr>
          <p:cNvSpPr>
            <a:spLocks noGrp="1"/>
          </p:cNvSpPr>
          <p:nvPr/>
        </p:nvSpPr>
        <p:spPr>
          <a:xfrm>
            <a:off x="10191750" y="584835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79.426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0C967495-5955-4BC4-A702-2141AD3EA1CB}"/>
              </a:ext>
            </a:extLst>
          </p:cNvPr>
          <p:cNvSpPr>
            <a:spLocks noGrp="1"/>
          </p:cNvSpPr>
          <p:nvPr/>
        </p:nvSpPr>
        <p:spPr>
          <a:xfrm>
            <a:off x="13813146" y="5725795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62E06627-6C74-4BEB-9683-177B60163B6C}"/>
              </a:ext>
            </a:extLst>
          </p:cNvPr>
          <p:cNvSpPr>
            <a:spLocks noGrp="1"/>
          </p:cNvSpPr>
          <p:nvPr/>
        </p:nvSpPr>
        <p:spPr>
          <a:xfrm>
            <a:off x="13944600" y="584835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36.500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DAA8C7D7-B00E-4F07-96A2-E14975631129}"/>
              </a:ext>
            </a:extLst>
          </p:cNvPr>
          <p:cNvSpPr>
            <a:spLocks noGrp="1"/>
          </p:cNvSpPr>
          <p:nvPr/>
        </p:nvSpPr>
        <p:spPr>
          <a:xfrm>
            <a:off x="838200" y="6408420"/>
            <a:ext cx="1990590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DFC966E-EEBF-4F16-B32E-157647C1EAB4}"/>
              </a:ext>
            </a:extLst>
          </p:cNvPr>
          <p:cNvSpPr>
            <a:spLocks noGrp="1"/>
          </p:cNvSpPr>
          <p:nvPr/>
        </p:nvSpPr>
        <p:spPr>
          <a:xfrm>
            <a:off x="971550" y="651510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2028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17240CDC-4BC2-4D26-A8CE-8852ECEEC8A5}"/>
              </a:ext>
            </a:extLst>
          </p:cNvPr>
          <p:cNvSpPr>
            <a:spLocks noGrp="1"/>
          </p:cNvSpPr>
          <p:nvPr/>
        </p:nvSpPr>
        <p:spPr>
          <a:xfrm>
            <a:off x="2943090" y="6408420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A9C0457E-8EE0-467F-A082-19D036B8339A}"/>
              </a:ext>
            </a:extLst>
          </p:cNvPr>
          <p:cNvSpPr>
            <a:spLocks noGrp="1"/>
          </p:cNvSpPr>
          <p:nvPr/>
        </p:nvSpPr>
        <p:spPr>
          <a:xfrm>
            <a:off x="3067050" y="651510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1.588.869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5A82E2E1-D906-4023-A328-8EE1E8FEB476}"/>
              </a:ext>
            </a:extLst>
          </p:cNvPr>
          <p:cNvSpPr>
            <a:spLocks noGrp="1"/>
          </p:cNvSpPr>
          <p:nvPr/>
        </p:nvSpPr>
        <p:spPr>
          <a:xfrm>
            <a:off x="6502641" y="6408420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290B1DC9-2773-4E4D-A216-C66FC2C863A0}"/>
              </a:ext>
            </a:extLst>
          </p:cNvPr>
          <p:cNvSpPr>
            <a:spLocks noGrp="1"/>
          </p:cNvSpPr>
          <p:nvPr/>
        </p:nvSpPr>
        <p:spPr>
          <a:xfrm>
            <a:off x="6629400" y="651510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158.887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DD1701A5-1C68-4817-8EB3-9BCF37B5FD60}"/>
              </a:ext>
            </a:extLst>
          </p:cNvPr>
          <p:cNvSpPr>
            <a:spLocks noGrp="1"/>
          </p:cNvSpPr>
          <p:nvPr/>
        </p:nvSpPr>
        <p:spPr>
          <a:xfrm>
            <a:off x="10062192" y="6408420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A86E938F-506D-4AD8-92C8-B43FB7BF80F1}"/>
              </a:ext>
            </a:extLst>
          </p:cNvPr>
          <p:cNvSpPr>
            <a:spLocks noGrp="1"/>
          </p:cNvSpPr>
          <p:nvPr/>
        </p:nvSpPr>
        <p:spPr>
          <a:xfrm>
            <a:off x="10191750" y="651510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137.826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3587449A-1E02-40BA-BEF9-59B3C4CD7956}"/>
              </a:ext>
            </a:extLst>
          </p:cNvPr>
          <p:cNvSpPr>
            <a:spLocks noGrp="1"/>
          </p:cNvSpPr>
          <p:nvPr/>
        </p:nvSpPr>
        <p:spPr>
          <a:xfrm>
            <a:off x="13813146" y="6408420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7EEA5B52-CABF-4405-9795-7205A65082DC}"/>
              </a:ext>
            </a:extLst>
          </p:cNvPr>
          <p:cNvSpPr>
            <a:spLocks noGrp="1"/>
          </p:cNvSpPr>
          <p:nvPr/>
        </p:nvSpPr>
        <p:spPr>
          <a:xfrm>
            <a:off x="13944600" y="651510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58.400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BFF9380E-1C21-4623-86E7-398BA1841274}"/>
              </a:ext>
            </a:extLst>
          </p:cNvPr>
          <p:cNvSpPr>
            <a:spLocks noGrp="1"/>
          </p:cNvSpPr>
          <p:nvPr/>
        </p:nvSpPr>
        <p:spPr>
          <a:xfrm>
            <a:off x="838200" y="7091045"/>
            <a:ext cx="1990590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0956E6D9-A545-40FB-AEF2-14BFCEA1F146}"/>
              </a:ext>
            </a:extLst>
          </p:cNvPr>
          <p:cNvSpPr>
            <a:spLocks noGrp="1"/>
          </p:cNvSpPr>
          <p:nvPr/>
        </p:nvSpPr>
        <p:spPr>
          <a:xfrm>
            <a:off x="971550" y="720090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2029</a:t>
            </a:r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D97777B7-6501-4017-9ED1-15C6A41E44CA}"/>
              </a:ext>
            </a:extLst>
          </p:cNvPr>
          <p:cNvSpPr>
            <a:spLocks noGrp="1"/>
          </p:cNvSpPr>
          <p:nvPr/>
        </p:nvSpPr>
        <p:spPr>
          <a:xfrm>
            <a:off x="2943090" y="7091045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89F35189-60BB-48BE-AA6D-FFCE01CD0C58}"/>
              </a:ext>
            </a:extLst>
          </p:cNvPr>
          <p:cNvSpPr>
            <a:spLocks noGrp="1"/>
          </p:cNvSpPr>
          <p:nvPr/>
        </p:nvSpPr>
        <p:spPr>
          <a:xfrm>
            <a:off x="3067050" y="720090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2.523.869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BA8B1532-33C8-455F-B678-3988FC5E9D81}"/>
              </a:ext>
            </a:extLst>
          </p:cNvPr>
          <p:cNvSpPr>
            <a:spLocks noGrp="1"/>
          </p:cNvSpPr>
          <p:nvPr/>
        </p:nvSpPr>
        <p:spPr>
          <a:xfrm>
            <a:off x="6502641" y="7091045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92ABAE6D-852B-4E27-A518-785DB6FF25E5}"/>
              </a:ext>
            </a:extLst>
          </p:cNvPr>
          <p:cNvSpPr>
            <a:spLocks noGrp="1"/>
          </p:cNvSpPr>
          <p:nvPr/>
        </p:nvSpPr>
        <p:spPr>
          <a:xfrm>
            <a:off x="6629400" y="720090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252.387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6B5BDA69-CD47-4B20-95DF-D77924D4B8A9}"/>
              </a:ext>
            </a:extLst>
          </p:cNvPr>
          <p:cNvSpPr>
            <a:spLocks noGrp="1"/>
          </p:cNvSpPr>
          <p:nvPr/>
        </p:nvSpPr>
        <p:spPr>
          <a:xfrm>
            <a:off x="10062192" y="7091045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3" name="Retângulo 62">
            <a:extLst>
              <a:ext uri="{FF2B5EF4-FFF2-40B4-BE49-F238E27FC236}">
                <a16:creationId xmlns:a16="http://schemas.microsoft.com/office/drawing/2014/main" id="{86530FCE-50DE-43ED-B2F1-370A83A6D692}"/>
              </a:ext>
            </a:extLst>
          </p:cNvPr>
          <p:cNvSpPr>
            <a:spLocks noGrp="1"/>
          </p:cNvSpPr>
          <p:nvPr/>
        </p:nvSpPr>
        <p:spPr>
          <a:xfrm>
            <a:off x="10191750" y="720090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231.326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F9141530-6DC2-4508-B2A7-ABE44B6C90EC}"/>
              </a:ext>
            </a:extLst>
          </p:cNvPr>
          <p:cNvSpPr>
            <a:spLocks noGrp="1"/>
          </p:cNvSpPr>
          <p:nvPr/>
        </p:nvSpPr>
        <p:spPr>
          <a:xfrm>
            <a:off x="13813146" y="7091045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F32EED3C-DF69-42C2-803E-234146A74BBA}"/>
              </a:ext>
            </a:extLst>
          </p:cNvPr>
          <p:cNvSpPr>
            <a:spLocks noGrp="1"/>
          </p:cNvSpPr>
          <p:nvPr/>
        </p:nvSpPr>
        <p:spPr>
          <a:xfrm>
            <a:off x="13944600" y="720090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93.500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ADEA4869-BC6B-43CD-9210-A929B9141308}"/>
              </a:ext>
            </a:extLst>
          </p:cNvPr>
          <p:cNvSpPr>
            <a:spLocks noGrp="1"/>
          </p:cNvSpPr>
          <p:nvPr/>
        </p:nvSpPr>
        <p:spPr>
          <a:xfrm>
            <a:off x="838200" y="7773670"/>
            <a:ext cx="1990590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0B99A7F6-31A1-4089-BD77-20609BF79675}"/>
              </a:ext>
            </a:extLst>
          </p:cNvPr>
          <p:cNvSpPr>
            <a:spLocks noGrp="1"/>
          </p:cNvSpPr>
          <p:nvPr/>
        </p:nvSpPr>
        <p:spPr>
          <a:xfrm>
            <a:off x="971550" y="7886700"/>
            <a:ext cx="1714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2030</a:t>
            </a: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4F71A6F3-E503-46AA-96A9-ACB6A568A543}"/>
              </a:ext>
            </a:extLst>
          </p:cNvPr>
          <p:cNvSpPr>
            <a:spLocks noGrp="1"/>
          </p:cNvSpPr>
          <p:nvPr/>
        </p:nvSpPr>
        <p:spPr>
          <a:xfrm>
            <a:off x="2943090" y="7773670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DEC28CF0-E742-4EEC-9A1B-8582A961B785}"/>
              </a:ext>
            </a:extLst>
          </p:cNvPr>
          <p:cNvSpPr>
            <a:spLocks noGrp="1"/>
          </p:cNvSpPr>
          <p:nvPr/>
        </p:nvSpPr>
        <p:spPr>
          <a:xfrm>
            <a:off x="3067050" y="788670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4.023.869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4C04C4FF-63CF-428B-A536-82F13F03BFC3}"/>
              </a:ext>
            </a:extLst>
          </p:cNvPr>
          <p:cNvSpPr>
            <a:spLocks noGrp="1"/>
          </p:cNvSpPr>
          <p:nvPr/>
        </p:nvSpPr>
        <p:spPr>
          <a:xfrm>
            <a:off x="6502641" y="7773670"/>
            <a:ext cx="3445251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28AFB2A2-845A-42D8-AB84-BAAB2D2894FF}"/>
              </a:ext>
            </a:extLst>
          </p:cNvPr>
          <p:cNvSpPr>
            <a:spLocks noGrp="1"/>
          </p:cNvSpPr>
          <p:nvPr/>
        </p:nvSpPr>
        <p:spPr>
          <a:xfrm>
            <a:off x="6629400" y="7886700"/>
            <a:ext cx="3181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402.387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3247C362-2DA0-4FA5-8803-959F3942E281}"/>
              </a:ext>
            </a:extLst>
          </p:cNvPr>
          <p:cNvSpPr>
            <a:spLocks noGrp="1"/>
          </p:cNvSpPr>
          <p:nvPr/>
        </p:nvSpPr>
        <p:spPr>
          <a:xfrm>
            <a:off x="10062192" y="7773670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F06E22E8-F011-458B-AC1B-19F3C0991293}"/>
              </a:ext>
            </a:extLst>
          </p:cNvPr>
          <p:cNvSpPr>
            <a:spLocks noGrp="1"/>
          </p:cNvSpPr>
          <p:nvPr/>
        </p:nvSpPr>
        <p:spPr>
          <a:xfrm>
            <a:off x="10191750" y="788670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381.326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F74E8DEC-EBB5-432A-AB67-30BE548B1C83}"/>
              </a:ext>
            </a:extLst>
          </p:cNvPr>
          <p:cNvSpPr>
            <a:spLocks noGrp="1"/>
          </p:cNvSpPr>
          <p:nvPr/>
        </p:nvSpPr>
        <p:spPr>
          <a:xfrm>
            <a:off x="13813146" y="7773670"/>
            <a:ext cx="3636654" cy="587375"/>
          </a:xfrm>
          <a:prstGeom prst="roundRect">
            <a:avLst>
              <a:gd name="adj" fmla="val 22703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1D20616F-207D-493A-B88D-ED1C8B8EC65B}"/>
              </a:ext>
            </a:extLst>
          </p:cNvPr>
          <p:cNvSpPr>
            <a:spLocks noGrp="1"/>
          </p:cNvSpPr>
          <p:nvPr/>
        </p:nvSpPr>
        <p:spPr>
          <a:xfrm>
            <a:off x="13944600" y="7886700"/>
            <a:ext cx="33718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150.000</a:t>
            </a:r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5DEEE14F-F287-4331-81F7-89E7DDE01766}"/>
              </a:ext>
            </a:extLst>
          </p:cNvPr>
          <p:cNvSpPr>
            <a:spLocks noGrp="1"/>
          </p:cNvSpPr>
          <p:nvPr/>
        </p:nvSpPr>
        <p:spPr>
          <a:xfrm>
            <a:off x="838200" y="8591550"/>
            <a:ext cx="16611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0">
                <a:solidFill>
                  <a:srgbClr val="475569"/>
                </a:solidFill>
              </a:defRPr>
            </a:pPr>
            <a:r>
              <a:rPr sz="1350" b="0" dirty="0">
                <a:solidFill>
                  <a:srgbClr val="475569"/>
                </a:solidFill>
              </a:rPr>
              <a:t>Nota: </a:t>
            </a:r>
            <a:r>
              <a:rPr sz="1350" b="0" dirty="0" err="1">
                <a:solidFill>
                  <a:srgbClr val="475569"/>
                </a:solidFill>
              </a:rPr>
              <a:t>relação</a:t>
            </a:r>
            <a:r>
              <a:rPr sz="1350" b="0" dirty="0">
                <a:solidFill>
                  <a:srgbClr val="475569"/>
                </a:solidFill>
              </a:rPr>
              <a:t> ideal de 10 </a:t>
            </a:r>
            <a:r>
              <a:rPr sz="1350" b="0" dirty="0" err="1">
                <a:solidFill>
                  <a:srgbClr val="475569"/>
                </a:solidFill>
              </a:rPr>
              <a:t>veículos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por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ponto</a:t>
            </a:r>
            <a:r>
              <a:rPr sz="1350" b="0" dirty="0">
                <a:solidFill>
                  <a:srgbClr val="475569"/>
                </a:solidFill>
              </a:rPr>
              <a:t>; 2027-2030 </a:t>
            </a:r>
            <a:r>
              <a:rPr sz="1350" b="0" dirty="0" err="1">
                <a:solidFill>
                  <a:srgbClr val="475569"/>
                </a:solidFill>
              </a:rPr>
              <a:t>projetados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em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cenário</a:t>
            </a:r>
            <a:r>
              <a:rPr sz="1350" b="0" dirty="0">
                <a:solidFill>
                  <a:srgbClr val="475569"/>
                </a:solidFill>
              </a:rPr>
              <a:t>-base de </a:t>
            </a:r>
            <a:r>
              <a:rPr sz="1350" b="0" dirty="0" err="1">
                <a:solidFill>
                  <a:srgbClr val="475569"/>
                </a:solidFill>
              </a:rPr>
              <a:t>planejamento</a:t>
            </a:r>
            <a:r>
              <a:rPr sz="1350" b="0" dirty="0">
                <a:solidFill>
                  <a:srgbClr val="475569"/>
                </a:solidFill>
              </a:rPr>
              <a:t>, </a:t>
            </a:r>
            <a:r>
              <a:rPr sz="1350" b="0" dirty="0" err="1">
                <a:solidFill>
                  <a:srgbClr val="475569"/>
                </a:solidFill>
              </a:rPr>
              <a:t>alinhado</a:t>
            </a:r>
            <a:r>
              <a:rPr sz="1350" b="0" dirty="0">
                <a:solidFill>
                  <a:srgbClr val="475569"/>
                </a:solidFill>
              </a:rPr>
              <a:t> à </a:t>
            </a:r>
            <a:r>
              <a:rPr sz="1350" b="0" dirty="0" err="1">
                <a:solidFill>
                  <a:srgbClr val="475569"/>
                </a:solidFill>
              </a:rPr>
              <a:t>tendência</a:t>
            </a:r>
            <a:r>
              <a:rPr sz="1350" b="0" dirty="0">
                <a:solidFill>
                  <a:srgbClr val="475569"/>
                </a:solidFill>
              </a:rPr>
              <a:t> </a:t>
            </a:r>
            <a:r>
              <a:rPr sz="1350" b="0" dirty="0" err="1">
                <a:solidFill>
                  <a:srgbClr val="475569"/>
                </a:solidFill>
              </a:rPr>
              <a:t>setorial</a:t>
            </a:r>
            <a:r>
              <a:rPr sz="1350" b="0" dirty="0">
                <a:solidFill>
                  <a:srgbClr val="475569"/>
                </a:solidFill>
              </a:rPr>
              <a:t> de </a:t>
            </a:r>
            <a:r>
              <a:rPr sz="1350" b="0" dirty="0" err="1">
                <a:solidFill>
                  <a:srgbClr val="475569"/>
                </a:solidFill>
              </a:rPr>
              <a:t>expansão</a:t>
            </a:r>
            <a:r>
              <a:rPr sz="1350" b="0" dirty="0">
                <a:solidFill>
                  <a:srgbClr val="475569"/>
                </a:solidFill>
              </a:rPr>
              <a:t> da </a:t>
            </a:r>
            <a:r>
              <a:rPr sz="1350" b="0" dirty="0" err="1">
                <a:solidFill>
                  <a:srgbClr val="475569"/>
                </a:solidFill>
              </a:rPr>
              <a:t>frota</a:t>
            </a:r>
            <a:r>
              <a:rPr sz="1350" b="0" dirty="0">
                <a:solidFill>
                  <a:srgbClr val="475569"/>
                </a:solidFill>
              </a:rPr>
              <a:t>.</a:t>
            </a:r>
            <a:br>
              <a:rPr lang="pt-BR" sz="1350" dirty="0">
                <a:solidFill>
                  <a:srgbClr val="475569"/>
                </a:solidFill>
              </a:rPr>
            </a:br>
            <a:r>
              <a:rPr lang="pt-BR" sz="1350" dirty="0">
                <a:solidFill>
                  <a:srgbClr val="475569"/>
                </a:solidFill>
              </a:rPr>
              <a:t>Fontes:</a:t>
            </a:r>
            <a:br>
              <a:rPr lang="pt-BR" sz="1350" dirty="0">
                <a:solidFill>
                  <a:srgbClr val="475569"/>
                </a:solidFill>
              </a:rPr>
            </a:br>
            <a:r>
              <a:rPr lang="pt-BR" sz="1350" dirty="0">
                <a:solidFill>
                  <a:srgbClr val="475569"/>
                </a:solidFill>
              </a:rPr>
              <a:t>https://abve.org.br/recarga-publica-rapida-cresce-167-em-12-meses-e-ja-atinge-31-dos-21-mil-eletropostos-da-rede/</a:t>
            </a:r>
            <a:br>
              <a:rPr lang="pt-BR" sz="1350" dirty="0">
                <a:solidFill>
                  <a:srgbClr val="475569"/>
                </a:solidFill>
              </a:rPr>
            </a:br>
            <a:r>
              <a:rPr lang="pt-BR" sz="1350" dirty="0">
                <a:solidFill>
                  <a:srgbClr val="475569"/>
                </a:solidFill>
              </a:rPr>
              <a:t>https://abve.org.br/vendas-de-eletrificados-seguem-em-ritmo-intenso-e-atingem-16-de-participacao-de-mercado-em-abril/</a:t>
            </a:r>
            <a:br>
              <a:rPr lang="pt-BR" sz="1350" dirty="0">
                <a:solidFill>
                  <a:srgbClr val="475569"/>
                </a:solidFill>
              </a:rPr>
            </a:br>
            <a:r>
              <a:rPr lang="pt-BR" sz="1350" dirty="0">
                <a:solidFill>
                  <a:srgbClr val="475569"/>
                </a:solidFill>
              </a:rPr>
              <a:t>https://abve.org.br/venda-recorde-de-35-mil-eletrificados-em-marco-ja-reflete-nova-norma-de-recarga-dos-bombeiros/</a:t>
            </a:r>
            <a:br>
              <a:rPr lang="pt-BR" sz="1350" dirty="0">
                <a:solidFill>
                  <a:srgbClr val="475569"/>
                </a:solidFill>
              </a:rPr>
            </a:br>
            <a:r>
              <a:rPr lang="pt-BR" sz="1350" dirty="0">
                <a:solidFill>
                  <a:srgbClr val="475569"/>
                </a:solidFill>
              </a:rPr>
              <a:t>https://anfavea.com.br/site/wp-content/uploads/2024/10/Release-Estudo-ANFAVEA-BCG-2024.pdf</a:t>
            </a:r>
            <a:endParaRPr sz="1350" b="0" dirty="0">
              <a:solidFill>
                <a:srgbClr val="47556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482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tângulo 44">
            <a:extLst>
              <a:ext uri="{FF2B5EF4-FFF2-40B4-BE49-F238E27FC236}">
                <a16:creationId xmlns:a16="http://schemas.microsoft.com/office/drawing/2014/main" id="{E6D5A2F7-2394-4661-8414-592A7A84FDA3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5. Estrutura: Comercial, Operacional e Adm-Fin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CFF311-4C88-44F3-93CF-FC133E67B889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145B722-FD05-4830-9BC2-7DA90A5A6895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98298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Custos de estrutura resumidos a partir das frentes planejadas e do total mensal de custos/despesas fixas do PDF 03.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C44F63B-D514-4815-8ECA-A1B274FC50CC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DDE606E-71F8-4CE6-B325-0B603C6CA491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Setup total das frentes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0C9F3F3-40E1-42AF-9523-95D6C3F037FB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R$ 773.500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4A4FA0C0-E8B6-4F68-A1DC-65A7901BC03E}"/>
              </a:ext>
            </a:extLst>
          </p:cNvPr>
          <p:cNvSpPr>
            <a:spLocks noGrp="1"/>
          </p:cNvSpPr>
          <p:nvPr/>
        </p:nvSpPr>
        <p:spPr>
          <a:xfrm>
            <a:off x="64389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E37A87-98A4-46B7-A958-154C6783BB1C}"/>
              </a:ext>
            </a:extLst>
          </p:cNvPr>
          <p:cNvSpPr>
            <a:spLocks noGrp="1"/>
          </p:cNvSpPr>
          <p:nvPr/>
        </p:nvSpPr>
        <p:spPr>
          <a:xfrm>
            <a:off x="66484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mensal total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CC87002-4D21-4245-AE65-96F9DBBC30E7}"/>
              </a:ext>
            </a:extLst>
          </p:cNvPr>
          <p:cNvSpPr>
            <a:spLocks noGrp="1"/>
          </p:cNvSpPr>
          <p:nvPr/>
        </p:nvSpPr>
        <p:spPr>
          <a:xfrm>
            <a:off x="66484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R$ 311.500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A9F50980-DF71-425E-9EA8-7F076B2012FB}"/>
              </a:ext>
            </a:extLst>
          </p:cNvPr>
          <p:cNvSpPr>
            <a:spLocks noGrp="1"/>
          </p:cNvSpPr>
          <p:nvPr/>
        </p:nvSpPr>
        <p:spPr>
          <a:xfrm>
            <a:off x="12039600" y="2036445"/>
            <a:ext cx="5410200" cy="2000250"/>
          </a:xfrm>
          <a:prstGeom prst="roundRect">
            <a:avLst>
              <a:gd name="adj" fmla="val 10476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73D8DA6-3FAC-4DBA-A093-B39496E78893}"/>
              </a:ext>
            </a:extLst>
          </p:cNvPr>
          <p:cNvSpPr>
            <a:spLocks noGrp="1"/>
          </p:cNvSpPr>
          <p:nvPr/>
        </p:nvSpPr>
        <p:spPr>
          <a:xfrm>
            <a:off x="12249150" y="2247900"/>
            <a:ext cx="49911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fixo anual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4CFA864-870C-4041-AE5F-89C900FAA8FD}"/>
              </a:ext>
            </a:extLst>
          </p:cNvPr>
          <p:cNvSpPr>
            <a:spLocks noGrp="1"/>
          </p:cNvSpPr>
          <p:nvPr/>
        </p:nvSpPr>
        <p:spPr>
          <a:xfrm>
            <a:off x="12249150" y="2590800"/>
            <a:ext cx="4991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R$ 3.738.000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9B2D550-8943-4B12-AAD9-2CE420842BB7}"/>
              </a:ext>
            </a:extLst>
          </p:cNvPr>
          <p:cNvSpPr>
            <a:spLocks noGrp="1"/>
          </p:cNvSpPr>
          <p:nvPr/>
        </p:nvSpPr>
        <p:spPr>
          <a:xfrm>
            <a:off x="838200" y="42652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F04DE81-33E1-4FC9-A8BE-9FE51449B96D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Estrutura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5E07C27-AE98-4530-A349-95F164F239CB}"/>
              </a:ext>
            </a:extLst>
          </p:cNvPr>
          <p:cNvSpPr>
            <a:spLocks noGrp="1"/>
          </p:cNvSpPr>
          <p:nvPr/>
        </p:nvSpPr>
        <p:spPr>
          <a:xfrm>
            <a:off x="4445454" y="426529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F12AB6B-EAF5-460C-A86A-8122C231DAAE}"/>
              </a:ext>
            </a:extLst>
          </p:cNvPr>
          <p:cNvSpPr>
            <a:spLocks noGrp="1"/>
          </p:cNvSpPr>
          <p:nvPr/>
        </p:nvSpPr>
        <p:spPr>
          <a:xfrm>
            <a:off x="4572000" y="4381500"/>
            <a:ext cx="2743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de setup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DA982B5-520A-4A04-878C-F84E9003B45B}"/>
              </a:ext>
            </a:extLst>
          </p:cNvPr>
          <p:cNvSpPr>
            <a:spLocks noGrp="1"/>
          </p:cNvSpPr>
          <p:nvPr/>
        </p:nvSpPr>
        <p:spPr>
          <a:xfrm>
            <a:off x="7589520" y="42652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0066914-CE16-41BB-B77E-CD8A6A6A21D6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32004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662C6C4-481A-484D-84FF-A68E82483228}"/>
              </a:ext>
            </a:extLst>
          </p:cNvPr>
          <p:cNvSpPr>
            <a:spLocks noGrp="1"/>
          </p:cNvSpPr>
          <p:nvPr/>
        </p:nvSpPr>
        <p:spPr>
          <a:xfrm>
            <a:off x="11196774" y="426529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30BBEAF-DD78-487B-B4E4-3E7BD8052334}"/>
              </a:ext>
            </a:extLst>
          </p:cNvPr>
          <p:cNvSpPr>
            <a:spLocks noGrp="1"/>
          </p:cNvSpPr>
          <p:nvPr/>
        </p:nvSpPr>
        <p:spPr>
          <a:xfrm>
            <a:off x="11334750" y="438150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Leitura resumida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B18E2BC-1CA9-4069-8E52-4A0CC85F415C}"/>
              </a:ext>
            </a:extLst>
          </p:cNvPr>
          <p:cNvSpPr>
            <a:spLocks noGrp="1"/>
          </p:cNvSpPr>
          <p:nvPr/>
        </p:nvSpPr>
        <p:spPr>
          <a:xfrm>
            <a:off x="838200" y="51225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4DB1400-F8A6-4CBC-8AAC-F3EFFAB730BE}"/>
              </a:ext>
            </a:extLst>
          </p:cNvPr>
          <p:cNvSpPr>
            <a:spLocks noGrp="1"/>
          </p:cNvSpPr>
          <p:nvPr/>
        </p:nvSpPr>
        <p:spPr>
          <a:xfrm>
            <a:off x="971550" y="52387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Comercial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1B79CE2-8543-4091-AAD8-C7EE1320C36F}"/>
              </a:ext>
            </a:extLst>
          </p:cNvPr>
          <p:cNvSpPr>
            <a:spLocks noGrp="1"/>
          </p:cNvSpPr>
          <p:nvPr/>
        </p:nvSpPr>
        <p:spPr>
          <a:xfrm>
            <a:off x="4445454" y="512254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64782FD-4836-4E40-A2B6-7EF21169A0BB}"/>
              </a:ext>
            </a:extLst>
          </p:cNvPr>
          <p:cNvSpPr>
            <a:spLocks noGrp="1"/>
          </p:cNvSpPr>
          <p:nvPr/>
        </p:nvSpPr>
        <p:spPr>
          <a:xfrm>
            <a:off x="4572000" y="523875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R$ 340.000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5BB8A910-6A63-4561-AC73-615CDE0752FE}"/>
              </a:ext>
            </a:extLst>
          </p:cNvPr>
          <p:cNvSpPr>
            <a:spLocks noGrp="1"/>
          </p:cNvSpPr>
          <p:nvPr/>
        </p:nvSpPr>
        <p:spPr>
          <a:xfrm>
            <a:off x="7589520" y="51225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20AAE1E-1C66-4B40-B2ED-A3F2907A54BB}"/>
              </a:ext>
            </a:extLst>
          </p:cNvPr>
          <p:cNvSpPr>
            <a:spLocks noGrp="1"/>
          </p:cNvSpPr>
          <p:nvPr/>
        </p:nvSpPr>
        <p:spPr>
          <a:xfrm>
            <a:off x="7715250" y="52387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R$ 110.000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AFA8FE8A-89FC-4320-BD0F-B1CD9448DD50}"/>
              </a:ext>
            </a:extLst>
          </p:cNvPr>
          <p:cNvSpPr>
            <a:spLocks noGrp="1"/>
          </p:cNvSpPr>
          <p:nvPr/>
        </p:nvSpPr>
        <p:spPr>
          <a:xfrm>
            <a:off x="11196774" y="512254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702186D-2D41-4800-BF45-2BF32FD8605A}"/>
              </a:ext>
            </a:extLst>
          </p:cNvPr>
          <p:cNvSpPr>
            <a:spLocks noGrp="1"/>
          </p:cNvSpPr>
          <p:nvPr/>
        </p:nvSpPr>
        <p:spPr>
          <a:xfrm>
            <a:off x="11334750" y="523875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Prospecção, vendas e ativação de receita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C705CCC2-6CB4-45CE-AE64-2982643A52BA}"/>
              </a:ext>
            </a:extLst>
          </p:cNvPr>
          <p:cNvSpPr>
            <a:spLocks noGrp="1"/>
          </p:cNvSpPr>
          <p:nvPr/>
        </p:nvSpPr>
        <p:spPr>
          <a:xfrm>
            <a:off x="838200" y="59797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AA0B5A72-BD2D-4A87-8E41-7339FDF87E35}"/>
              </a:ext>
            </a:extLst>
          </p:cNvPr>
          <p:cNvSpPr>
            <a:spLocks noGrp="1"/>
          </p:cNvSpPr>
          <p:nvPr/>
        </p:nvSpPr>
        <p:spPr>
          <a:xfrm>
            <a:off x="971550" y="609600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Operacional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8EFF6D2E-93B0-4F33-98C8-810FD5940423}"/>
              </a:ext>
            </a:extLst>
          </p:cNvPr>
          <p:cNvSpPr>
            <a:spLocks noGrp="1"/>
          </p:cNvSpPr>
          <p:nvPr/>
        </p:nvSpPr>
        <p:spPr>
          <a:xfrm>
            <a:off x="4445454" y="597979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D1D83B0F-704D-4DD9-A570-A66FEDF16C40}"/>
              </a:ext>
            </a:extLst>
          </p:cNvPr>
          <p:cNvSpPr>
            <a:spLocks noGrp="1"/>
          </p:cNvSpPr>
          <p:nvPr/>
        </p:nvSpPr>
        <p:spPr>
          <a:xfrm>
            <a:off x="4572000" y="609600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R$ 331.000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D2FFC9A-F955-421B-A265-F1D0C0F9DBB8}"/>
              </a:ext>
            </a:extLst>
          </p:cNvPr>
          <p:cNvSpPr>
            <a:spLocks noGrp="1"/>
          </p:cNvSpPr>
          <p:nvPr/>
        </p:nvSpPr>
        <p:spPr>
          <a:xfrm>
            <a:off x="7589520" y="597979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5383BCD-DC3B-4090-B2C4-047B2BC25AAA}"/>
              </a:ext>
            </a:extLst>
          </p:cNvPr>
          <p:cNvSpPr>
            <a:spLocks noGrp="1"/>
          </p:cNvSpPr>
          <p:nvPr/>
        </p:nvSpPr>
        <p:spPr>
          <a:xfrm>
            <a:off x="7715250" y="609600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R$ 109.000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D67E6F03-E38C-42BF-9813-A46D72846C47}"/>
              </a:ext>
            </a:extLst>
          </p:cNvPr>
          <p:cNvSpPr>
            <a:spLocks noGrp="1"/>
          </p:cNvSpPr>
          <p:nvPr/>
        </p:nvSpPr>
        <p:spPr>
          <a:xfrm>
            <a:off x="11196774" y="597979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964A4311-E266-40C8-AFD2-D99F092E1ABA}"/>
              </a:ext>
            </a:extLst>
          </p:cNvPr>
          <p:cNvSpPr>
            <a:spLocks noGrp="1"/>
          </p:cNvSpPr>
          <p:nvPr/>
        </p:nvSpPr>
        <p:spPr>
          <a:xfrm>
            <a:off x="11334750" y="609600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Implantação, suporte técnico e entrega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83E1E8AD-6959-45C6-BFB1-7A3D6E50A47B}"/>
              </a:ext>
            </a:extLst>
          </p:cNvPr>
          <p:cNvSpPr>
            <a:spLocks noGrp="1"/>
          </p:cNvSpPr>
          <p:nvPr/>
        </p:nvSpPr>
        <p:spPr>
          <a:xfrm>
            <a:off x="838200" y="68370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5D070CB-FC6A-48F5-864E-D6E88BAD4275}"/>
              </a:ext>
            </a:extLst>
          </p:cNvPr>
          <p:cNvSpPr>
            <a:spLocks noGrp="1"/>
          </p:cNvSpPr>
          <p:nvPr/>
        </p:nvSpPr>
        <p:spPr>
          <a:xfrm>
            <a:off x="971550" y="69532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Adm/Fin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A416E7D-B485-4B03-B846-7DFB9CD90FA0}"/>
              </a:ext>
            </a:extLst>
          </p:cNvPr>
          <p:cNvSpPr>
            <a:spLocks noGrp="1"/>
          </p:cNvSpPr>
          <p:nvPr/>
        </p:nvSpPr>
        <p:spPr>
          <a:xfrm>
            <a:off x="4445454" y="6837045"/>
            <a:ext cx="301071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AC23C37-8BF3-4037-AF9B-15BE7810F2CE}"/>
              </a:ext>
            </a:extLst>
          </p:cNvPr>
          <p:cNvSpPr>
            <a:spLocks noGrp="1"/>
          </p:cNvSpPr>
          <p:nvPr/>
        </p:nvSpPr>
        <p:spPr>
          <a:xfrm>
            <a:off x="4572000" y="6953250"/>
            <a:ext cx="2743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R$ 102.500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85238148-7C6F-4020-BA73-8ACCD8BC8473}"/>
              </a:ext>
            </a:extLst>
          </p:cNvPr>
          <p:cNvSpPr>
            <a:spLocks noGrp="1"/>
          </p:cNvSpPr>
          <p:nvPr/>
        </p:nvSpPr>
        <p:spPr>
          <a:xfrm>
            <a:off x="7589520" y="6837045"/>
            <a:ext cx="3473904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C64DE60-33E2-49A4-9C19-0FF8193AE46D}"/>
              </a:ext>
            </a:extLst>
          </p:cNvPr>
          <p:cNvSpPr>
            <a:spLocks noGrp="1"/>
          </p:cNvSpPr>
          <p:nvPr/>
        </p:nvSpPr>
        <p:spPr>
          <a:xfrm>
            <a:off x="7715250" y="6953250"/>
            <a:ext cx="32004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R$ 92.500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8A41486-31F4-42D7-AC49-35A3913F962A}"/>
              </a:ext>
            </a:extLst>
          </p:cNvPr>
          <p:cNvSpPr>
            <a:spLocks noGrp="1"/>
          </p:cNvSpPr>
          <p:nvPr/>
        </p:nvSpPr>
        <p:spPr>
          <a:xfrm>
            <a:off x="11196774" y="6837045"/>
            <a:ext cx="6253026" cy="762000"/>
          </a:xfrm>
          <a:prstGeom prst="roundRect">
            <a:avLst>
              <a:gd name="adj" fmla="val 1750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7F655403-9449-4EC7-BB80-57A691D14AA7}"/>
              </a:ext>
            </a:extLst>
          </p:cNvPr>
          <p:cNvSpPr>
            <a:spLocks noGrp="1"/>
          </p:cNvSpPr>
          <p:nvPr/>
        </p:nvSpPr>
        <p:spPr>
          <a:xfrm>
            <a:off x="11334750" y="6953250"/>
            <a:ext cx="5981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Backoffice, gestão financeira e administração</a:t>
            </a:r>
          </a:p>
        </p:txBody>
      </p:sp>
    </p:spTree>
    <p:extLst>
      <p:ext uri="{BB962C8B-B14F-4D97-AF65-F5344CB8AC3E}">
        <p14:creationId xmlns:p14="http://schemas.microsoft.com/office/powerpoint/2010/main" val="83885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tângulo 61">
            <a:extLst>
              <a:ext uri="{FF2B5EF4-FFF2-40B4-BE49-F238E27FC236}">
                <a16:creationId xmlns:a16="http://schemas.microsoft.com/office/drawing/2014/main" id="{759C5D62-7182-41CD-8DCE-2CA05763AFDF}"/>
              </a:ext>
            </a:extLst>
          </p:cNvPr>
          <p:cNvSpPr>
            <a:spLocks noGrp="1"/>
          </p:cNvSpPr>
          <p:nvPr/>
        </p:nvSpPr>
        <p:spPr>
          <a:xfrm>
            <a:off x="742950" y="552450"/>
            <a:ext cx="168021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6. Resultado líquido: 20%, 50% e 100% das vendas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5B38EFA-6152-4395-93D9-5FF9FF14BAE4}"/>
              </a:ext>
            </a:extLst>
          </p:cNvPr>
          <p:cNvSpPr>
            <a:spLocks noGrp="1"/>
          </p:cNvSpPr>
          <p:nvPr/>
        </p:nvSpPr>
        <p:spPr>
          <a:xfrm>
            <a:off x="742950" y="108585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CF379AA-8C8C-4241-A394-24A2CFCCC44B}"/>
              </a:ext>
            </a:extLst>
          </p:cNvPr>
          <p:cNvSpPr>
            <a:spLocks noGrp="1"/>
          </p:cNvSpPr>
          <p:nvPr/>
        </p:nvSpPr>
        <p:spPr>
          <a:xfrm>
            <a:off x="742950" y="1219200"/>
            <a:ext cx="12077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Cenários mensais pós-ramp-up, mantendo a mesma base de custo fixo e a mesma estrutura de margem/tributação do planejamento revisado.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23BC974-3F2F-46C8-AF87-F363432A336E}"/>
              </a:ext>
            </a:extLst>
          </p:cNvPr>
          <p:cNvSpPr>
            <a:spLocks noGrp="1"/>
          </p:cNvSpPr>
          <p:nvPr/>
        </p:nvSpPr>
        <p:spPr>
          <a:xfrm>
            <a:off x="742950" y="1670685"/>
            <a:ext cx="2286000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92E6723-823C-4582-98B6-1A815D51CECF}"/>
              </a:ext>
            </a:extLst>
          </p:cNvPr>
          <p:cNvSpPr>
            <a:spLocks noGrp="1"/>
          </p:cNvSpPr>
          <p:nvPr/>
        </p:nvSpPr>
        <p:spPr>
          <a:xfrm>
            <a:off x="876300" y="1790700"/>
            <a:ext cx="2019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Cenário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67A7104-4D47-4A47-9702-3BF4E8753D2C}"/>
              </a:ext>
            </a:extLst>
          </p:cNvPr>
          <p:cNvSpPr>
            <a:spLocks noGrp="1"/>
          </p:cNvSpPr>
          <p:nvPr/>
        </p:nvSpPr>
        <p:spPr>
          <a:xfrm>
            <a:off x="3143250" y="1670685"/>
            <a:ext cx="2677886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B155151-124B-4A8E-B592-A4FBA4196D65}"/>
              </a:ext>
            </a:extLst>
          </p:cNvPr>
          <p:cNvSpPr>
            <a:spLocks noGrp="1"/>
          </p:cNvSpPr>
          <p:nvPr/>
        </p:nvSpPr>
        <p:spPr>
          <a:xfrm>
            <a:off x="3276600" y="1790700"/>
            <a:ext cx="2419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Receita mensal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505ECA6-18B7-411F-9003-0E744232FE32}"/>
              </a:ext>
            </a:extLst>
          </p:cNvPr>
          <p:cNvSpPr>
            <a:spLocks noGrp="1"/>
          </p:cNvSpPr>
          <p:nvPr/>
        </p:nvSpPr>
        <p:spPr>
          <a:xfrm>
            <a:off x="5935436" y="1670685"/>
            <a:ext cx="3102429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D202E7A-E739-41F4-85C1-4D1237174D84}"/>
              </a:ext>
            </a:extLst>
          </p:cNvPr>
          <p:cNvSpPr>
            <a:spLocks noGrp="1"/>
          </p:cNvSpPr>
          <p:nvPr/>
        </p:nvSpPr>
        <p:spPr>
          <a:xfrm>
            <a:off x="6076950" y="1790700"/>
            <a:ext cx="2838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Margem de contribuição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7E7EA32-1D1D-4313-AF4A-CDC17C5B4E58}"/>
              </a:ext>
            </a:extLst>
          </p:cNvPr>
          <p:cNvSpPr>
            <a:spLocks noGrp="1"/>
          </p:cNvSpPr>
          <p:nvPr/>
        </p:nvSpPr>
        <p:spPr>
          <a:xfrm>
            <a:off x="9152164" y="1670685"/>
            <a:ext cx="2612571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F44FF54-D7A9-46A8-9AAE-EE440CA37DAC}"/>
              </a:ext>
            </a:extLst>
          </p:cNvPr>
          <p:cNvSpPr>
            <a:spLocks noGrp="1"/>
          </p:cNvSpPr>
          <p:nvPr/>
        </p:nvSpPr>
        <p:spPr>
          <a:xfrm>
            <a:off x="9277350" y="1790700"/>
            <a:ext cx="2343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Custo fixo mensal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87675D8-2BA5-4DA8-A142-3EC77208ED08}"/>
              </a:ext>
            </a:extLst>
          </p:cNvPr>
          <p:cNvSpPr>
            <a:spLocks noGrp="1"/>
          </p:cNvSpPr>
          <p:nvPr/>
        </p:nvSpPr>
        <p:spPr>
          <a:xfrm>
            <a:off x="11879036" y="1670685"/>
            <a:ext cx="2449286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66F8427-2B85-4FBD-904A-1AB4DD03ACD9}"/>
              </a:ext>
            </a:extLst>
          </p:cNvPr>
          <p:cNvSpPr>
            <a:spLocks noGrp="1"/>
          </p:cNvSpPr>
          <p:nvPr/>
        </p:nvSpPr>
        <p:spPr>
          <a:xfrm>
            <a:off x="12020550" y="179070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Impostos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B53C411-5FE9-4D5E-B024-91431FBB2CB9}"/>
              </a:ext>
            </a:extLst>
          </p:cNvPr>
          <p:cNvSpPr>
            <a:spLocks noGrp="1"/>
          </p:cNvSpPr>
          <p:nvPr/>
        </p:nvSpPr>
        <p:spPr>
          <a:xfrm>
            <a:off x="14442621" y="1670685"/>
            <a:ext cx="3102429" cy="785813"/>
          </a:xfrm>
          <a:prstGeom prst="roundRect">
            <a:avLst>
              <a:gd name="adj" fmla="val 16970"/>
            </a:avLst>
          </a:prstGeom>
          <a:solidFill>
            <a:srgbClr val="0B1324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3C919C3-F45F-4E47-8584-9F5DBA3666BC}"/>
              </a:ext>
            </a:extLst>
          </p:cNvPr>
          <p:cNvSpPr>
            <a:spLocks noGrp="1"/>
          </p:cNvSpPr>
          <p:nvPr/>
        </p:nvSpPr>
        <p:spPr>
          <a:xfrm>
            <a:off x="14573250" y="1790700"/>
            <a:ext cx="2838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Resultado líquido mensal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FA8E03C-1C77-49C4-BB6F-897C20F4AD42}"/>
              </a:ext>
            </a:extLst>
          </p:cNvPr>
          <p:cNvSpPr>
            <a:spLocks noGrp="1"/>
          </p:cNvSpPr>
          <p:nvPr/>
        </p:nvSpPr>
        <p:spPr>
          <a:xfrm>
            <a:off x="742950" y="2551748"/>
            <a:ext cx="2286000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C7E3D13-18C5-4CDD-B08F-0C148AF8A4C7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2019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20% das vendas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0CCA18B-DF7F-48BD-BA39-151717F9D63A}"/>
              </a:ext>
            </a:extLst>
          </p:cNvPr>
          <p:cNvSpPr>
            <a:spLocks noGrp="1"/>
          </p:cNvSpPr>
          <p:nvPr/>
        </p:nvSpPr>
        <p:spPr>
          <a:xfrm>
            <a:off x="3143250" y="2551748"/>
            <a:ext cx="2677886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81007C7-D401-47B8-91DA-8AC1725556DB}"/>
              </a:ext>
            </a:extLst>
          </p:cNvPr>
          <p:cNvSpPr>
            <a:spLocks noGrp="1"/>
          </p:cNvSpPr>
          <p:nvPr/>
        </p:nvSpPr>
        <p:spPr>
          <a:xfrm>
            <a:off x="3276600" y="2667000"/>
            <a:ext cx="2419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R$ 6.080.000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B4CD355-BC98-476A-B809-F3AF4A6FF86E}"/>
              </a:ext>
            </a:extLst>
          </p:cNvPr>
          <p:cNvSpPr>
            <a:spLocks noGrp="1"/>
          </p:cNvSpPr>
          <p:nvPr/>
        </p:nvSpPr>
        <p:spPr>
          <a:xfrm>
            <a:off x="5935436" y="2551748"/>
            <a:ext cx="3102429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EECD98EA-BE91-4E3C-86AF-464F5EDCD479}"/>
              </a:ext>
            </a:extLst>
          </p:cNvPr>
          <p:cNvSpPr>
            <a:spLocks noGrp="1"/>
          </p:cNvSpPr>
          <p:nvPr/>
        </p:nvSpPr>
        <p:spPr>
          <a:xfrm>
            <a:off x="6076950" y="2667000"/>
            <a:ext cx="2838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R$ 2.573.760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086E1C6-9044-49C2-8F44-C1A94D2AE12E}"/>
              </a:ext>
            </a:extLst>
          </p:cNvPr>
          <p:cNvSpPr>
            <a:spLocks noGrp="1"/>
          </p:cNvSpPr>
          <p:nvPr/>
        </p:nvSpPr>
        <p:spPr>
          <a:xfrm>
            <a:off x="9152164" y="2551748"/>
            <a:ext cx="261257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D552D05-4C60-4E2F-A98F-15F542179EF3}"/>
              </a:ext>
            </a:extLst>
          </p:cNvPr>
          <p:cNvSpPr>
            <a:spLocks noGrp="1"/>
          </p:cNvSpPr>
          <p:nvPr/>
        </p:nvSpPr>
        <p:spPr>
          <a:xfrm>
            <a:off x="9277350" y="2667000"/>
            <a:ext cx="2343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R$ 311.500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964C1A0-3F68-497D-A208-EF3740C37360}"/>
              </a:ext>
            </a:extLst>
          </p:cNvPr>
          <p:cNvSpPr>
            <a:spLocks noGrp="1"/>
          </p:cNvSpPr>
          <p:nvPr/>
        </p:nvSpPr>
        <p:spPr>
          <a:xfrm>
            <a:off x="11879036" y="2551748"/>
            <a:ext cx="2449286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6CDC43F-F9EA-484E-8AF2-C7AEA74B57DF}"/>
              </a:ext>
            </a:extLst>
          </p:cNvPr>
          <p:cNvSpPr>
            <a:spLocks noGrp="1"/>
          </p:cNvSpPr>
          <p:nvPr/>
        </p:nvSpPr>
        <p:spPr>
          <a:xfrm>
            <a:off x="12020550" y="266700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R$ 837.036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8AC9F50-2449-40FD-B13F-EB3C590433AB}"/>
              </a:ext>
            </a:extLst>
          </p:cNvPr>
          <p:cNvSpPr>
            <a:spLocks noGrp="1"/>
          </p:cNvSpPr>
          <p:nvPr/>
        </p:nvSpPr>
        <p:spPr>
          <a:xfrm>
            <a:off x="14442621" y="2551748"/>
            <a:ext cx="3102429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68D352F-2A2E-4376-930A-2A5F426B3479}"/>
              </a:ext>
            </a:extLst>
          </p:cNvPr>
          <p:cNvSpPr>
            <a:spLocks noGrp="1"/>
          </p:cNvSpPr>
          <p:nvPr/>
        </p:nvSpPr>
        <p:spPr>
          <a:xfrm>
            <a:off x="14573250" y="2667000"/>
            <a:ext cx="2838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R$ 1.425.224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DBB62DA-1B3E-4CEC-A940-E6B7596FB7C1}"/>
              </a:ext>
            </a:extLst>
          </p:cNvPr>
          <p:cNvSpPr>
            <a:spLocks noGrp="1"/>
          </p:cNvSpPr>
          <p:nvPr/>
        </p:nvSpPr>
        <p:spPr>
          <a:xfrm>
            <a:off x="742950" y="3432810"/>
            <a:ext cx="2286000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493E75F-6DCC-4410-A9EB-E847EF601460}"/>
              </a:ext>
            </a:extLst>
          </p:cNvPr>
          <p:cNvSpPr>
            <a:spLocks noGrp="1"/>
          </p:cNvSpPr>
          <p:nvPr/>
        </p:nvSpPr>
        <p:spPr>
          <a:xfrm>
            <a:off x="876300" y="3543300"/>
            <a:ext cx="2019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50% das vendas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CD750D9-F18A-4442-8987-33DD1465AA1D}"/>
              </a:ext>
            </a:extLst>
          </p:cNvPr>
          <p:cNvSpPr>
            <a:spLocks noGrp="1"/>
          </p:cNvSpPr>
          <p:nvPr/>
        </p:nvSpPr>
        <p:spPr>
          <a:xfrm>
            <a:off x="3143250" y="3432810"/>
            <a:ext cx="2677886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D16EE13-87CD-4656-AECB-60BFB204AB2A}"/>
              </a:ext>
            </a:extLst>
          </p:cNvPr>
          <p:cNvSpPr>
            <a:spLocks noGrp="1"/>
          </p:cNvSpPr>
          <p:nvPr/>
        </p:nvSpPr>
        <p:spPr>
          <a:xfrm>
            <a:off x="3276600" y="3543300"/>
            <a:ext cx="2419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R$ 15.200.000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D711C9F4-78A3-4316-9A7A-0C764DD4F5EB}"/>
              </a:ext>
            </a:extLst>
          </p:cNvPr>
          <p:cNvSpPr>
            <a:spLocks noGrp="1"/>
          </p:cNvSpPr>
          <p:nvPr/>
        </p:nvSpPr>
        <p:spPr>
          <a:xfrm>
            <a:off x="5935436" y="3432810"/>
            <a:ext cx="3102429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B628FF2-6B44-43DF-A0FF-CE3C2DA260FB}"/>
              </a:ext>
            </a:extLst>
          </p:cNvPr>
          <p:cNvSpPr>
            <a:spLocks noGrp="1"/>
          </p:cNvSpPr>
          <p:nvPr/>
        </p:nvSpPr>
        <p:spPr>
          <a:xfrm>
            <a:off x="6076950" y="3543300"/>
            <a:ext cx="2838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R$ 6.434.400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4662044-EE60-42B0-B0FD-4ED091ABFE84}"/>
              </a:ext>
            </a:extLst>
          </p:cNvPr>
          <p:cNvSpPr>
            <a:spLocks noGrp="1"/>
          </p:cNvSpPr>
          <p:nvPr/>
        </p:nvSpPr>
        <p:spPr>
          <a:xfrm>
            <a:off x="9152164" y="3432810"/>
            <a:ext cx="2612571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13C79DA-BACA-4653-B79E-136B81B23C63}"/>
              </a:ext>
            </a:extLst>
          </p:cNvPr>
          <p:cNvSpPr>
            <a:spLocks noGrp="1"/>
          </p:cNvSpPr>
          <p:nvPr/>
        </p:nvSpPr>
        <p:spPr>
          <a:xfrm>
            <a:off x="9277350" y="3543300"/>
            <a:ext cx="2343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R$ 311.500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0686A28-B7AB-46CC-8B8C-143CB1E59CAC}"/>
              </a:ext>
            </a:extLst>
          </p:cNvPr>
          <p:cNvSpPr>
            <a:spLocks noGrp="1"/>
          </p:cNvSpPr>
          <p:nvPr/>
        </p:nvSpPr>
        <p:spPr>
          <a:xfrm>
            <a:off x="11879036" y="3432810"/>
            <a:ext cx="2449286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B57CBC6A-5E8E-4C22-9953-699601A46685}"/>
              </a:ext>
            </a:extLst>
          </p:cNvPr>
          <p:cNvSpPr>
            <a:spLocks noGrp="1"/>
          </p:cNvSpPr>
          <p:nvPr/>
        </p:nvSpPr>
        <p:spPr>
          <a:xfrm>
            <a:off x="12020550" y="354330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R$ 2.265.473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1DC16030-D28F-4766-8D91-29DB63F00196}"/>
              </a:ext>
            </a:extLst>
          </p:cNvPr>
          <p:cNvSpPr>
            <a:spLocks noGrp="1"/>
          </p:cNvSpPr>
          <p:nvPr/>
        </p:nvSpPr>
        <p:spPr>
          <a:xfrm>
            <a:off x="14442621" y="3432810"/>
            <a:ext cx="3102429" cy="785813"/>
          </a:xfrm>
          <a:prstGeom prst="roundRect">
            <a:avLst>
              <a:gd name="adj" fmla="val 16970"/>
            </a:avLst>
          </a:prstGeom>
          <a:solidFill>
            <a:srgbClr val="EEF2F7"/>
          </a:solidFill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D07325C-0910-4C96-B0AC-DDF506A871CE}"/>
              </a:ext>
            </a:extLst>
          </p:cNvPr>
          <p:cNvSpPr>
            <a:spLocks noGrp="1"/>
          </p:cNvSpPr>
          <p:nvPr/>
        </p:nvSpPr>
        <p:spPr>
          <a:xfrm>
            <a:off x="14573250" y="3543300"/>
            <a:ext cx="2838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R$ 3.857.427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E007DC59-F234-4CC9-A223-E3BFF8B562D8}"/>
              </a:ext>
            </a:extLst>
          </p:cNvPr>
          <p:cNvSpPr>
            <a:spLocks noGrp="1"/>
          </p:cNvSpPr>
          <p:nvPr/>
        </p:nvSpPr>
        <p:spPr>
          <a:xfrm>
            <a:off x="742950" y="4313873"/>
            <a:ext cx="2286000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C5061E12-5F1F-4D80-AC91-950B01E122C2}"/>
              </a:ext>
            </a:extLst>
          </p:cNvPr>
          <p:cNvSpPr>
            <a:spLocks noGrp="1"/>
          </p:cNvSpPr>
          <p:nvPr/>
        </p:nvSpPr>
        <p:spPr>
          <a:xfrm>
            <a:off x="876300" y="4419600"/>
            <a:ext cx="2019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100% das vendas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8552A8F0-CBD8-48B7-93E4-AC2F5BB3D692}"/>
              </a:ext>
            </a:extLst>
          </p:cNvPr>
          <p:cNvSpPr>
            <a:spLocks noGrp="1"/>
          </p:cNvSpPr>
          <p:nvPr/>
        </p:nvSpPr>
        <p:spPr>
          <a:xfrm>
            <a:off x="3143250" y="4313873"/>
            <a:ext cx="2677886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418B6607-26BA-4AD4-AF0F-4D8D22D76DE3}"/>
              </a:ext>
            </a:extLst>
          </p:cNvPr>
          <p:cNvSpPr>
            <a:spLocks noGrp="1"/>
          </p:cNvSpPr>
          <p:nvPr/>
        </p:nvSpPr>
        <p:spPr>
          <a:xfrm>
            <a:off x="3276600" y="4419600"/>
            <a:ext cx="24193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R$ 30.400.000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9B1AD523-FAD7-4458-83FD-2BBC3DF1DA26}"/>
              </a:ext>
            </a:extLst>
          </p:cNvPr>
          <p:cNvSpPr>
            <a:spLocks noGrp="1"/>
          </p:cNvSpPr>
          <p:nvPr/>
        </p:nvSpPr>
        <p:spPr>
          <a:xfrm>
            <a:off x="5935436" y="4313873"/>
            <a:ext cx="3102429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DAE688CD-5FD9-4BFF-9E35-FAECBD46B3BD}"/>
              </a:ext>
            </a:extLst>
          </p:cNvPr>
          <p:cNvSpPr>
            <a:spLocks noGrp="1"/>
          </p:cNvSpPr>
          <p:nvPr/>
        </p:nvSpPr>
        <p:spPr>
          <a:xfrm>
            <a:off x="6076950" y="4419600"/>
            <a:ext cx="2838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R$ 12.868.800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ACB7CC70-601A-4CF3-9FC0-25E0656C68CF}"/>
              </a:ext>
            </a:extLst>
          </p:cNvPr>
          <p:cNvSpPr>
            <a:spLocks noGrp="1"/>
          </p:cNvSpPr>
          <p:nvPr/>
        </p:nvSpPr>
        <p:spPr>
          <a:xfrm>
            <a:off x="9152164" y="4313873"/>
            <a:ext cx="2612571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67EDAC30-CAA1-466A-B1D5-417A02B766F4}"/>
              </a:ext>
            </a:extLst>
          </p:cNvPr>
          <p:cNvSpPr>
            <a:spLocks noGrp="1"/>
          </p:cNvSpPr>
          <p:nvPr/>
        </p:nvSpPr>
        <p:spPr>
          <a:xfrm>
            <a:off x="9277350" y="4419600"/>
            <a:ext cx="2343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R$ 311.500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56E38902-2CC3-4C28-AE8A-A4178C2AFC28}"/>
              </a:ext>
            </a:extLst>
          </p:cNvPr>
          <p:cNvSpPr>
            <a:spLocks noGrp="1"/>
          </p:cNvSpPr>
          <p:nvPr/>
        </p:nvSpPr>
        <p:spPr>
          <a:xfrm>
            <a:off x="11879036" y="4313873"/>
            <a:ext cx="2449286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122F5FC0-6E08-4520-BB25-621CE4F09F8C}"/>
              </a:ext>
            </a:extLst>
          </p:cNvPr>
          <p:cNvSpPr>
            <a:spLocks noGrp="1"/>
          </p:cNvSpPr>
          <p:nvPr/>
        </p:nvSpPr>
        <p:spPr>
          <a:xfrm>
            <a:off x="12020550" y="4419600"/>
            <a:ext cx="2190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R$ 4.646.201</a:t>
            </a:r>
          </a:p>
        </p:txBody>
      </p: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6F3E7374-F781-4233-977D-E80C29E07127}"/>
              </a:ext>
            </a:extLst>
          </p:cNvPr>
          <p:cNvSpPr>
            <a:spLocks noGrp="1"/>
          </p:cNvSpPr>
          <p:nvPr/>
        </p:nvSpPr>
        <p:spPr>
          <a:xfrm>
            <a:off x="14442621" y="4313873"/>
            <a:ext cx="3102429" cy="785813"/>
          </a:xfrm>
          <a:prstGeom prst="roundRect">
            <a:avLst>
              <a:gd name="adj" fmla="val 16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7CAA93C7-1090-408B-B05D-3F85172335A3}"/>
              </a:ext>
            </a:extLst>
          </p:cNvPr>
          <p:cNvSpPr>
            <a:spLocks noGrp="1"/>
          </p:cNvSpPr>
          <p:nvPr/>
        </p:nvSpPr>
        <p:spPr>
          <a:xfrm>
            <a:off x="14573250" y="4419600"/>
            <a:ext cx="2838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R$ 7.911.099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A52470B1-0C4F-4D0E-9307-FA401014216B}"/>
              </a:ext>
            </a:extLst>
          </p:cNvPr>
          <p:cNvSpPr>
            <a:spLocks noGrp="1"/>
          </p:cNvSpPr>
          <p:nvPr/>
        </p:nvSpPr>
        <p:spPr>
          <a:xfrm>
            <a:off x="742950" y="5309235"/>
            <a:ext cx="8296275" cy="4425315"/>
          </a:xfrm>
          <a:prstGeom prst="roundRect">
            <a:avLst>
              <a:gd name="adj" fmla="val 4735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87A4641C-87AF-407B-A3A1-CF876A00E557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7886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E45C1EE2-908C-458C-A6D4-E66737453E0D}"/>
              </a:ext>
            </a:extLst>
          </p:cNvPr>
          <p:cNvSpPr>
            <a:spLocks noGrp="1"/>
          </p:cNvSpPr>
          <p:nvPr/>
        </p:nvSpPr>
        <p:spPr>
          <a:xfrm>
            <a:off x="952500" y="5943600"/>
            <a:ext cx="78867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negócio permanece positivo mesmo em 20% do volume de vendas do plano revisado.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8B89445F-13F1-4BE1-84C1-BB62F8002C98}"/>
              </a:ext>
            </a:extLst>
          </p:cNvPr>
          <p:cNvSpPr>
            <a:spLocks noGrp="1"/>
          </p:cNvSpPr>
          <p:nvPr/>
        </p:nvSpPr>
        <p:spPr>
          <a:xfrm>
            <a:off x="952500" y="657225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50% das vendas, o resultado líquido mensal já supera R$ 3,86 milhões.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1EEBBE3A-F81B-4D50-BF5B-7332366A7D50}"/>
              </a:ext>
            </a:extLst>
          </p:cNvPr>
          <p:cNvSpPr>
            <a:spLocks noGrp="1"/>
          </p:cNvSpPr>
          <p:nvPr/>
        </p:nvSpPr>
        <p:spPr>
          <a:xfrm>
            <a:off x="952500" y="69342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Em 100%, o resultado líquido mensal alcança R$ 7,91 milhões.</a:t>
            </a:r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FD96F7DB-2E0E-4E6F-A231-2C0FB1703ECA}"/>
              </a:ext>
            </a:extLst>
          </p:cNvPr>
          <p:cNvSpPr>
            <a:spLocks noGrp="1"/>
          </p:cNvSpPr>
          <p:nvPr/>
        </p:nvSpPr>
        <p:spPr>
          <a:xfrm>
            <a:off x="9248775" y="5309235"/>
            <a:ext cx="8296275" cy="4425315"/>
          </a:xfrm>
          <a:prstGeom prst="roundRect">
            <a:avLst>
              <a:gd name="adj" fmla="val 4735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17FE3C04-D7C2-4BE6-8C85-FB2E2FE5FC97}"/>
              </a:ext>
            </a:extLst>
          </p:cNvPr>
          <p:cNvSpPr>
            <a:spLocks noGrp="1"/>
          </p:cNvSpPr>
          <p:nvPr/>
        </p:nvSpPr>
        <p:spPr>
          <a:xfrm>
            <a:off x="9467850" y="5524500"/>
            <a:ext cx="7886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Premissas do cálculo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DF3D8C3B-6E00-41D6-BCA2-14AF9002D2B4}"/>
              </a:ext>
            </a:extLst>
          </p:cNvPr>
          <p:cNvSpPr>
            <a:spLocks noGrp="1"/>
          </p:cNvSpPr>
          <p:nvPr/>
        </p:nvSpPr>
        <p:spPr>
          <a:xfrm>
            <a:off x="9467850" y="59436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Receita mensal pós-ramp-up de R$ 30,4 milhões no cenário de 100%.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10E0950A-3A22-4EAB-B253-43FF8EDE2712}"/>
              </a:ext>
            </a:extLst>
          </p:cNvPr>
          <p:cNvSpPr>
            <a:spLocks noGrp="1"/>
          </p:cNvSpPr>
          <p:nvPr/>
        </p:nvSpPr>
        <p:spPr>
          <a:xfrm>
            <a:off x="9467850" y="630555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Custo fixo mensal de R$ 311,5 mil.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03EF5B68-1F94-4BB2-B5D9-3F08AFA77272}"/>
              </a:ext>
            </a:extLst>
          </p:cNvPr>
          <p:cNvSpPr>
            <a:spLocks noGrp="1"/>
          </p:cNvSpPr>
          <p:nvPr/>
        </p:nvSpPr>
        <p:spPr>
          <a:xfrm>
            <a:off x="9467850" y="6667500"/>
            <a:ext cx="78867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Mesma relação de margem e mesma carga tributária efetiva observada no PDF 03.</a:t>
            </a:r>
          </a:p>
        </p:txBody>
      </p:sp>
    </p:spTree>
    <p:extLst>
      <p:ext uri="{BB962C8B-B14F-4D97-AF65-F5344CB8AC3E}">
        <p14:creationId xmlns:p14="http://schemas.microsoft.com/office/powerpoint/2010/main" val="686517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35FB8D2B-1DC8-44DF-AB41-1A0C2DC45809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7. Investimento necessário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F7731DB-EF53-4A3E-AA6D-B62135E96762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F3456C-E7B6-488A-A363-8121DD8D43F5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69151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Composição do investimento segundo o PDF 03 e leitura prática para o investidor.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FB67F2F-AB76-41BE-B867-1030F61E7BE0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4010025" cy="2095500"/>
          </a:xfrm>
          <a:prstGeom prst="roundRect">
            <a:avLst>
              <a:gd name="adj" fmla="val 10000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607930-0449-427F-9A9A-E542B4583FC4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3600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Caixa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487A106-7550-4AC8-90CA-E86FE9E2E9B8}"/>
              </a:ext>
            </a:extLst>
          </p:cNvPr>
          <p:cNvSpPr>
            <a:spLocks noGrp="1"/>
          </p:cNvSpPr>
          <p:nvPr/>
        </p:nvSpPr>
        <p:spPr>
          <a:xfrm>
            <a:off x="1047750" y="2590800"/>
            <a:ext cx="3600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R$ 1.900.000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71C04E3-3698-46D4-9E68-416AD635D79F}"/>
              </a:ext>
            </a:extLst>
          </p:cNvPr>
          <p:cNvSpPr>
            <a:spLocks noGrp="1"/>
          </p:cNvSpPr>
          <p:nvPr/>
        </p:nvSpPr>
        <p:spPr>
          <a:xfrm>
            <a:off x="5038725" y="2036445"/>
            <a:ext cx="4010025" cy="2095500"/>
          </a:xfrm>
          <a:prstGeom prst="roundRect">
            <a:avLst>
              <a:gd name="adj" fmla="val 10000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3C392D4-3F47-463B-BA5A-130617AABEB0}"/>
              </a:ext>
            </a:extLst>
          </p:cNvPr>
          <p:cNvSpPr>
            <a:spLocks noGrp="1"/>
          </p:cNvSpPr>
          <p:nvPr/>
        </p:nvSpPr>
        <p:spPr>
          <a:xfrm>
            <a:off x="5257800" y="2247900"/>
            <a:ext cx="3600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Estoques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7DDFA7-EDC3-49B3-8592-D1D4F3581B20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3600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R$ 8.820.000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67157B2-9742-4B70-88F3-009A5B83BC4B}"/>
              </a:ext>
            </a:extLst>
          </p:cNvPr>
          <p:cNvSpPr>
            <a:spLocks noGrp="1"/>
          </p:cNvSpPr>
          <p:nvPr/>
        </p:nvSpPr>
        <p:spPr>
          <a:xfrm>
            <a:off x="9239250" y="2036445"/>
            <a:ext cx="4010025" cy="20955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56F8E1-99E5-4D11-B11A-0401E4A24B5A}"/>
              </a:ext>
            </a:extLst>
          </p:cNvPr>
          <p:cNvSpPr>
            <a:spLocks noGrp="1"/>
          </p:cNvSpPr>
          <p:nvPr/>
        </p:nvSpPr>
        <p:spPr>
          <a:xfrm>
            <a:off x="9448800" y="2247900"/>
            <a:ext cx="3600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Investimentos fixos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DB4667B-D71B-4FA8-B04A-3D0394F74CB9}"/>
              </a:ext>
            </a:extLst>
          </p:cNvPr>
          <p:cNvSpPr>
            <a:spLocks noGrp="1"/>
          </p:cNvSpPr>
          <p:nvPr/>
        </p:nvSpPr>
        <p:spPr>
          <a:xfrm>
            <a:off x="9448800" y="2590800"/>
            <a:ext cx="3600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R$ 462.000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19867C8-CF30-4D02-B6C7-0DC1F2556F25}"/>
              </a:ext>
            </a:extLst>
          </p:cNvPr>
          <p:cNvSpPr>
            <a:spLocks noGrp="1"/>
          </p:cNvSpPr>
          <p:nvPr/>
        </p:nvSpPr>
        <p:spPr>
          <a:xfrm>
            <a:off x="13439775" y="2036445"/>
            <a:ext cx="4010025" cy="2095500"/>
          </a:xfrm>
          <a:prstGeom prst="roundRect">
            <a:avLst>
              <a:gd name="adj" fmla="val 10000"/>
            </a:avLst>
          </a:prstGeom>
          <a:solidFill>
            <a:srgbClr val="FCE7F3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75C4F2-AE67-401B-A913-93E6B34C6E32}"/>
              </a:ext>
            </a:extLst>
          </p:cNvPr>
          <p:cNvSpPr>
            <a:spLocks noGrp="1"/>
          </p:cNvSpPr>
          <p:nvPr/>
        </p:nvSpPr>
        <p:spPr>
          <a:xfrm>
            <a:off x="13658850" y="2247900"/>
            <a:ext cx="3600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Total investimento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3CE3CBE-FB10-47AE-965C-E6FD4EF21AF5}"/>
              </a:ext>
            </a:extLst>
          </p:cNvPr>
          <p:cNvSpPr>
            <a:spLocks noGrp="1"/>
          </p:cNvSpPr>
          <p:nvPr/>
        </p:nvSpPr>
        <p:spPr>
          <a:xfrm>
            <a:off x="13658850" y="2590800"/>
            <a:ext cx="36004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R$ 11.500.000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CE35719E-BCD1-4CD8-A461-42DC5AF60B59}"/>
              </a:ext>
            </a:extLst>
          </p:cNvPr>
          <p:cNvSpPr>
            <a:spLocks noGrp="1"/>
          </p:cNvSpPr>
          <p:nvPr/>
        </p:nvSpPr>
        <p:spPr>
          <a:xfrm>
            <a:off x="838200" y="4360545"/>
            <a:ext cx="8201025" cy="5278755"/>
          </a:xfrm>
          <a:prstGeom prst="roundRect">
            <a:avLst>
              <a:gd name="adj" fmla="val 3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2CA7BF5-7D46-4772-9CE8-FB245E11A900}"/>
              </a:ext>
            </a:extLst>
          </p:cNvPr>
          <p:cNvSpPr>
            <a:spLocks noGrp="1"/>
          </p:cNvSpPr>
          <p:nvPr/>
        </p:nvSpPr>
        <p:spPr>
          <a:xfrm>
            <a:off x="1066800" y="45910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Detalhamento do investimento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CF7E1CF-68B0-4283-8697-05F14D467EA3}"/>
              </a:ext>
            </a:extLst>
          </p:cNvPr>
          <p:cNvSpPr>
            <a:spLocks noGrp="1"/>
          </p:cNvSpPr>
          <p:nvPr/>
        </p:nvSpPr>
        <p:spPr>
          <a:xfrm>
            <a:off x="1066800" y="50482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6 meses de custos e despesas fixas: R$ 1,9 milhão.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6F5838D-5E48-45A0-B9E0-4AA05E7315C6}"/>
              </a:ext>
            </a:extLst>
          </p:cNvPr>
          <p:cNvSpPr>
            <a:spLocks noGrp="1"/>
          </p:cNvSpPr>
          <p:nvPr/>
        </p:nvSpPr>
        <p:spPr>
          <a:xfrm>
            <a:off x="1066800" y="54102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de 36 unidades: R$ 1,764 milhão.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702E737-514D-4BE5-8AFB-7ABA296D034F}"/>
              </a:ext>
            </a:extLst>
          </p:cNvPr>
          <p:cNvSpPr>
            <a:spLocks noGrp="1"/>
          </p:cNvSpPr>
          <p:nvPr/>
        </p:nvSpPr>
        <p:spPr>
          <a:xfrm>
            <a:off x="1066800" y="57531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3 containers de 36 unidades: R$ 5,292 milhões.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D31A84F-B9D6-4B9D-A2A9-32A566849018}"/>
              </a:ext>
            </a:extLst>
          </p:cNvPr>
          <p:cNvSpPr>
            <a:spLocks noGrp="1"/>
          </p:cNvSpPr>
          <p:nvPr/>
        </p:nvSpPr>
        <p:spPr>
          <a:xfrm>
            <a:off x="1066800" y="61150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1 container adicional de 36 unidades: R$ 1,764 milhão.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7AF2C80-AF7F-4182-A40C-F472E8568C8E}"/>
              </a:ext>
            </a:extLst>
          </p:cNvPr>
          <p:cNvSpPr>
            <a:spLocks noGrp="1"/>
          </p:cNvSpPr>
          <p:nvPr/>
        </p:nvSpPr>
        <p:spPr>
          <a:xfrm>
            <a:off x="1066800" y="64770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Investimentos fixos mapeados no plano: aproximadamente R$ 462 mil.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B9531C4-E85F-4B9B-9A7F-E78FA41AD6BA}"/>
              </a:ext>
            </a:extLst>
          </p:cNvPr>
          <p:cNvSpPr>
            <a:spLocks noGrp="1"/>
          </p:cNvSpPr>
          <p:nvPr/>
        </p:nvSpPr>
        <p:spPr>
          <a:xfrm>
            <a:off x="1066800" y="68389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Taxa de dólar considerada no modelo: R$ 5,00.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5284C1B-54BC-47B9-9553-96EE2BD5B93F}"/>
              </a:ext>
            </a:extLst>
          </p:cNvPr>
          <p:cNvSpPr>
            <a:spLocks noGrp="1"/>
          </p:cNvSpPr>
          <p:nvPr/>
        </p:nvSpPr>
        <p:spPr>
          <a:xfrm>
            <a:off x="9248775" y="4360545"/>
            <a:ext cx="8201025" cy="5278755"/>
          </a:xfrm>
          <a:prstGeom prst="roundRect">
            <a:avLst>
              <a:gd name="adj" fmla="val 39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32123BF-2276-4316-820B-A5962FB078E9}"/>
              </a:ext>
            </a:extLst>
          </p:cNvPr>
          <p:cNvSpPr>
            <a:spLocks noGrp="1"/>
          </p:cNvSpPr>
          <p:nvPr/>
        </p:nvSpPr>
        <p:spPr>
          <a:xfrm>
            <a:off x="9486900" y="459105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executiva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B30B41A-95A0-4001-9166-A391E7282B6F}"/>
              </a:ext>
            </a:extLst>
          </p:cNvPr>
          <p:cNvSpPr>
            <a:spLocks noGrp="1"/>
          </p:cNvSpPr>
          <p:nvPr/>
        </p:nvSpPr>
        <p:spPr>
          <a:xfrm>
            <a:off x="9486900" y="50482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investimento é majoritariamente direcionado a estoque e capacidade de entrega.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7789559-3E80-4DB6-A7A4-8A17C8B9BEF4}"/>
              </a:ext>
            </a:extLst>
          </p:cNvPr>
          <p:cNvSpPr>
            <a:spLocks noGrp="1"/>
          </p:cNvSpPr>
          <p:nvPr/>
        </p:nvSpPr>
        <p:spPr>
          <a:xfrm>
            <a:off x="9486900" y="54102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capital de giro reduz risco de execução no ramp-up.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5165D17-8E47-4567-8F11-25EED75A62E9}"/>
              </a:ext>
            </a:extLst>
          </p:cNvPr>
          <p:cNvSpPr>
            <a:spLocks noGrp="1"/>
          </p:cNvSpPr>
          <p:nvPr/>
        </p:nvSpPr>
        <p:spPr>
          <a:xfrm>
            <a:off x="9486900" y="57531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plano nasce sem dependência de alavancagem financeira externa na largada.</a:t>
            </a:r>
          </a:p>
        </p:txBody>
      </p:sp>
    </p:spTree>
    <p:extLst>
      <p:ext uri="{BB962C8B-B14F-4D97-AF65-F5344CB8AC3E}">
        <p14:creationId xmlns:p14="http://schemas.microsoft.com/office/powerpoint/2010/main" val="1804000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E3E3D67C-4DBB-4A57-8DE6-10CA5B7A2E4D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8. Premissas financeiras do investidor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F783B5C-D050-4A1B-B957-E71271C4B01B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3EFB47-7CA8-4F6F-A0B1-9C3B80EA75B0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83248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Premissas do PDF 03 combinadas com o fluxo mensal revisado do investidor, a partir de nov/2026.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157D677-1C5A-45BA-9AAC-C5111A6CBD09}"/>
              </a:ext>
            </a:extLst>
          </p:cNvPr>
          <p:cNvSpPr>
            <a:spLocks noGrp="1"/>
          </p:cNvSpPr>
          <p:nvPr/>
        </p:nvSpPr>
        <p:spPr>
          <a:xfrm>
            <a:off x="838200" y="178498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CA2737E-133B-44DA-A4FA-EAAF0FBD39E6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Distribuição ao investidor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0F1D94B-C7FB-4420-B304-91AB9CBD75E3}"/>
              </a:ext>
            </a:extLst>
          </p:cNvPr>
          <p:cNvSpPr>
            <a:spLocks noGrp="1"/>
          </p:cNvSpPr>
          <p:nvPr/>
        </p:nvSpPr>
        <p:spPr>
          <a:xfrm>
            <a:off x="1047750" y="23241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25%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047860B-545C-42C1-A602-A01B3BAE8424}"/>
              </a:ext>
            </a:extLst>
          </p:cNvPr>
          <p:cNvSpPr>
            <a:spLocks noGrp="1"/>
          </p:cNvSpPr>
          <p:nvPr/>
        </p:nvSpPr>
        <p:spPr>
          <a:xfrm>
            <a:off x="4194810" y="178498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1D1F6FD-91AF-49E8-9D09-85D3A67A4975}"/>
              </a:ext>
            </a:extLst>
          </p:cNvPr>
          <p:cNvSpPr>
            <a:spLocks noGrp="1"/>
          </p:cNvSpPr>
          <p:nvPr/>
        </p:nvSpPr>
        <p:spPr>
          <a:xfrm>
            <a:off x="4400550" y="200025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Custo de oportunidade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1EC8AC2-8561-43F0-8496-C228B9A0328A}"/>
              </a:ext>
            </a:extLst>
          </p:cNvPr>
          <p:cNvSpPr>
            <a:spLocks noGrp="1"/>
          </p:cNvSpPr>
          <p:nvPr/>
        </p:nvSpPr>
        <p:spPr>
          <a:xfrm>
            <a:off x="4400550" y="23241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12% a.a.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8055B78-9CE8-4D06-89BC-28674E02B2F6}"/>
              </a:ext>
            </a:extLst>
          </p:cNvPr>
          <p:cNvSpPr>
            <a:spLocks noGrp="1"/>
          </p:cNvSpPr>
          <p:nvPr/>
        </p:nvSpPr>
        <p:spPr>
          <a:xfrm>
            <a:off x="7551420" y="178498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1289B5-0D2E-4D72-A703-F06231971A51}"/>
              </a:ext>
            </a:extLst>
          </p:cNvPr>
          <p:cNvSpPr>
            <a:spLocks noGrp="1"/>
          </p:cNvSpPr>
          <p:nvPr/>
        </p:nvSpPr>
        <p:spPr>
          <a:xfrm>
            <a:off x="7753350" y="200025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TIR estimada*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43D67C8-29BB-46B9-87D6-FDE31C85C67F}"/>
              </a:ext>
            </a:extLst>
          </p:cNvPr>
          <p:cNvSpPr>
            <a:spLocks noGrp="1"/>
          </p:cNvSpPr>
          <p:nvPr/>
        </p:nvSpPr>
        <p:spPr>
          <a:xfrm>
            <a:off x="7753350" y="23241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142,2% a.a.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8B98461-C215-4056-AC03-586FD93CA242}"/>
              </a:ext>
            </a:extLst>
          </p:cNvPr>
          <p:cNvSpPr>
            <a:spLocks noGrp="1"/>
          </p:cNvSpPr>
          <p:nvPr/>
        </p:nvSpPr>
        <p:spPr>
          <a:xfrm>
            <a:off x="10908030" y="178498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FCE7F3"/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A09DFEA-CF90-4EEF-9C5F-D21DAEE9C47B}"/>
              </a:ext>
            </a:extLst>
          </p:cNvPr>
          <p:cNvSpPr>
            <a:spLocks noGrp="1"/>
          </p:cNvSpPr>
          <p:nvPr/>
        </p:nvSpPr>
        <p:spPr>
          <a:xfrm>
            <a:off x="11125200" y="200025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VPL estimado*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B6DD3AD-8419-414C-9B77-129CF58D582D}"/>
              </a:ext>
            </a:extLst>
          </p:cNvPr>
          <p:cNvSpPr>
            <a:spLocks noGrp="1"/>
          </p:cNvSpPr>
          <p:nvPr/>
        </p:nvSpPr>
        <p:spPr>
          <a:xfrm>
            <a:off x="11125200" y="23241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R$ 10.797.483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5A90BEE-8808-4CEF-8225-9EA1E588177B}"/>
              </a:ext>
            </a:extLst>
          </p:cNvPr>
          <p:cNvSpPr>
            <a:spLocks noGrp="1"/>
          </p:cNvSpPr>
          <p:nvPr/>
        </p:nvSpPr>
        <p:spPr>
          <a:xfrm>
            <a:off x="14264640" y="1784985"/>
            <a:ext cx="3185160" cy="2286000"/>
          </a:xfrm>
          <a:prstGeom prst="roundRect">
            <a:avLst>
              <a:gd name="adj" fmla="val 9167"/>
            </a:avLst>
          </a:prstGeom>
          <a:solidFill>
            <a:srgbClr val="EDE9FE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D248325-D6D7-406B-B04A-8E409ACB3721}"/>
              </a:ext>
            </a:extLst>
          </p:cNvPr>
          <p:cNvSpPr>
            <a:spLocks noGrp="1"/>
          </p:cNvSpPr>
          <p:nvPr/>
        </p:nvSpPr>
        <p:spPr>
          <a:xfrm>
            <a:off x="14478000" y="2000250"/>
            <a:ext cx="2762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 b="1">
                <a:solidFill>
                  <a:srgbClr val="475569"/>
                </a:solidFill>
              </a:defRPr>
            </a:pPr>
            <a:r>
              <a:rPr sz="1575" b="1">
                <a:solidFill>
                  <a:srgbClr val="475569"/>
                </a:solidFill>
              </a:rPr>
              <a:t>Payback do investidor*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3CBB94B-1543-4511-B04E-5E1FE125D53A}"/>
              </a:ext>
            </a:extLst>
          </p:cNvPr>
          <p:cNvSpPr>
            <a:spLocks noGrp="1"/>
          </p:cNvSpPr>
          <p:nvPr/>
        </p:nvSpPr>
        <p:spPr>
          <a:xfrm>
            <a:off x="14478000" y="2324100"/>
            <a:ext cx="27622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B1324"/>
                </a:solidFill>
              </a:defRPr>
            </a:pPr>
            <a:r>
              <a:rPr sz="2700" b="1">
                <a:solidFill>
                  <a:srgbClr val="0B1324"/>
                </a:solidFill>
              </a:rPr>
              <a:t>~10,2 meses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366404F-520B-4742-BDD8-2B233E4DE2D8}"/>
              </a:ext>
            </a:extLst>
          </p:cNvPr>
          <p:cNvSpPr>
            <a:spLocks noGrp="1"/>
          </p:cNvSpPr>
          <p:nvPr/>
        </p:nvSpPr>
        <p:spPr>
          <a:xfrm>
            <a:off x="838200" y="4299585"/>
            <a:ext cx="8201025" cy="5339715"/>
          </a:xfrm>
          <a:prstGeom prst="roundRect">
            <a:avLst>
              <a:gd name="adj" fmla="val 3924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A09200A-53E5-490E-AD69-8E1CFA48E629}"/>
              </a:ext>
            </a:extLst>
          </p:cNvPr>
          <p:cNvSpPr>
            <a:spLocks noGrp="1"/>
          </p:cNvSpPr>
          <p:nvPr/>
        </p:nvSpPr>
        <p:spPr>
          <a:xfrm>
            <a:off x="1066800" y="453390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das premissas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D04F190-8F23-4131-BEC2-82101CD90B9A}"/>
              </a:ext>
            </a:extLst>
          </p:cNvPr>
          <p:cNvSpPr>
            <a:spLocks noGrp="1"/>
          </p:cNvSpPr>
          <p:nvPr/>
        </p:nvSpPr>
        <p:spPr>
          <a:xfrm>
            <a:off x="1066800" y="499110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PDF 03 explicita distribuição de 25% a partir de nov/2026; nesta versão, a métrica foi recalculada com o fluxo mensal do próprio plano.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2B4D922A-6D75-48C6-BB8B-196FC7629616}"/>
              </a:ext>
            </a:extLst>
          </p:cNvPr>
          <p:cNvSpPr>
            <a:spLocks noGrp="1"/>
          </p:cNvSpPr>
          <p:nvPr/>
        </p:nvSpPr>
        <p:spPr>
          <a:xfrm>
            <a:off x="1066800" y="5600700"/>
            <a:ext cx="77533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investidor participa do upside sem depender da ativação das outras 4 frentes de produto.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E4B50A3-9B05-43C5-ACEB-11287477C858}"/>
              </a:ext>
            </a:extLst>
          </p:cNvPr>
          <p:cNvSpPr>
            <a:spLocks noGrp="1"/>
          </p:cNvSpPr>
          <p:nvPr/>
        </p:nvSpPr>
        <p:spPr>
          <a:xfrm>
            <a:off x="1066800" y="62293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 retorno calculado não depende de aumento de preço ou redução de custo fixo.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F40B6576-E0E0-474C-B73A-5820DEE8DB2B}"/>
              </a:ext>
            </a:extLst>
          </p:cNvPr>
          <p:cNvSpPr>
            <a:spLocks noGrp="1"/>
          </p:cNvSpPr>
          <p:nvPr/>
        </p:nvSpPr>
        <p:spPr>
          <a:xfrm>
            <a:off x="9248775" y="4299585"/>
            <a:ext cx="8201025" cy="5339715"/>
          </a:xfrm>
          <a:prstGeom prst="roundRect">
            <a:avLst>
              <a:gd name="adj" fmla="val 3924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8DDA30F-AE08-4B61-8C0F-1E3A3E034501}"/>
              </a:ext>
            </a:extLst>
          </p:cNvPr>
          <p:cNvSpPr>
            <a:spLocks noGrp="1"/>
          </p:cNvSpPr>
          <p:nvPr/>
        </p:nvSpPr>
        <p:spPr>
          <a:xfrm>
            <a:off x="9486900" y="4533900"/>
            <a:ext cx="77533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Notas metodológicas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561A3AA-2D8C-4E42-9F46-E07244AA4FD6}"/>
              </a:ext>
            </a:extLst>
          </p:cNvPr>
          <p:cNvSpPr>
            <a:spLocks noGrp="1"/>
          </p:cNvSpPr>
          <p:nvPr/>
        </p:nvSpPr>
        <p:spPr>
          <a:xfrm>
            <a:off x="9486900" y="49911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TIR anualizada a partir da TIR mensal do fluxo jul/2026 a dez/2027.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2F8B487-3ECA-473F-B236-DEFA622B8CCB}"/>
              </a:ext>
            </a:extLst>
          </p:cNvPr>
          <p:cNvSpPr>
            <a:spLocks noGrp="1"/>
          </p:cNvSpPr>
          <p:nvPr/>
        </p:nvSpPr>
        <p:spPr>
          <a:xfrm>
            <a:off x="9486900" y="53340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VPL calculado com custo de oportunidade de 12% a.a., convertido para taxa mensal.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15C784E-CEB0-45CC-A77C-DA4AB475B4C8}"/>
              </a:ext>
            </a:extLst>
          </p:cNvPr>
          <p:cNvSpPr>
            <a:spLocks noGrp="1"/>
          </p:cNvSpPr>
          <p:nvPr/>
        </p:nvSpPr>
        <p:spPr>
          <a:xfrm>
            <a:off x="9486900" y="569595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Taxa de dólar considerada no modelo: R$ 5,00.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2AE39DD-18CC-48D6-98C7-C679B3EBD62A}"/>
              </a:ext>
            </a:extLst>
          </p:cNvPr>
          <p:cNvSpPr>
            <a:spLocks noGrp="1"/>
          </p:cNvSpPr>
          <p:nvPr/>
        </p:nvSpPr>
        <p:spPr>
          <a:xfrm>
            <a:off x="9486900" y="6057900"/>
            <a:ext cx="77533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Os indicadores não incorporam upside dos produtos ainda não ativados.</a:t>
            </a:r>
          </a:p>
        </p:txBody>
      </p:sp>
    </p:spTree>
    <p:extLst>
      <p:ext uri="{BB962C8B-B14F-4D97-AF65-F5344CB8AC3E}">
        <p14:creationId xmlns:p14="http://schemas.microsoft.com/office/powerpoint/2010/main" val="1736944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0A45E61D-2FDD-4AAA-BE41-6D25E58E49E6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9. Fluxo de caixa do negócio (resumido)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6C7068-7DB8-42A1-B19C-A5079BC048AE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3742606-0897-426F-8E11-C51ED49108FE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113157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Set/2027 foi tratado como o primeiro mês cheio após o ramp-up; 2028 representa sua equivalência anualizada em 12 meses estáveis.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3A0BE76-B5FD-4653-82E2-5188885635E6}"/>
              </a:ext>
            </a:extLst>
          </p:cNvPr>
          <p:cNvSpPr>
            <a:spLocks noGrp="1"/>
          </p:cNvSpPr>
          <p:nvPr/>
        </p:nvSpPr>
        <p:spPr>
          <a:xfrm>
            <a:off x="838200" y="2036445"/>
            <a:ext cx="8201025" cy="2667000"/>
          </a:xfrm>
          <a:prstGeom prst="roundRect">
            <a:avLst>
              <a:gd name="adj" fmla="val 8571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97C8C7-F8A5-4CD6-BB96-BE9D4D741B2F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7753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 (1 mês após o ramp-up)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6677BC-9F73-4DC3-A211-0B17EC71FF45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Receita: R$ 30.400.000,0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E5E3AA2-7936-4241-859D-ACDE703A5D17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contribuição: R$ 12.868.800,0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4325FB-16E1-43C0-9212-C278B87EFFDF}"/>
              </a:ext>
            </a:extLst>
          </p:cNvPr>
          <p:cNvSpPr>
            <a:spLocks noGrp="1"/>
          </p:cNvSpPr>
          <p:nvPr/>
        </p:nvSpPr>
        <p:spPr>
          <a:xfrm>
            <a:off x="1066800" y="34480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fixo: R$ 311.500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E980337-DC59-429B-92BB-AFAEDA10DB20}"/>
              </a:ext>
            </a:extLst>
          </p:cNvPr>
          <p:cNvSpPr>
            <a:spLocks noGrp="1"/>
          </p:cNvSpPr>
          <p:nvPr/>
        </p:nvSpPr>
        <p:spPr>
          <a:xfrm>
            <a:off x="1066800" y="38481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estimado: R$ 7.911.099,0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24D4404-F1B2-436A-8A6F-AE2CF3F280BF}"/>
              </a:ext>
            </a:extLst>
          </p:cNvPr>
          <p:cNvSpPr>
            <a:spLocks noGrp="1"/>
          </p:cNvSpPr>
          <p:nvPr/>
        </p:nvSpPr>
        <p:spPr>
          <a:xfrm>
            <a:off x="9248775" y="2036445"/>
            <a:ext cx="8201025" cy="2667000"/>
          </a:xfrm>
          <a:prstGeom prst="roundRect">
            <a:avLst>
              <a:gd name="adj" fmla="val 8571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EEB319-A3BB-4066-9CF0-EA579CC05F30}"/>
              </a:ext>
            </a:extLst>
          </p:cNvPr>
          <p:cNvSpPr>
            <a:spLocks noGrp="1"/>
          </p:cNvSpPr>
          <p:nvPr/>
        </p:nvSpPr>
        <p:spPr>
          <a:xfrm>
            <a:off x="9486900" y="2266950"/>
            <a:ext cx="7753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 (jan-dez)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21E642A-645A-4565-AAB2-9DD463CCC273}"/>
              </a:ext>
            </a:extLst>
          </p:cNvPr>
          <p:cNvSpPr>
            <a:spLocks noGrp="1"/>
          </p:cNvSpPr>
          <p:nvPr/>
        </p:nvSpPr>
        <p:spPr>
          <a:xfrm>
            <a:off x="9486900" y="26860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Receita anual: R$ 364.800.000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0D637C1-C480-4517-B2AC-91F40DB8F295}"/>
              </a:ext>
            </a:extLst>
          </p:cNvPr>
          <p:cNvSpPr>
            <a:spLocks noGrp="1"/>
          </p:cNvSpPr>
          <p:nvPr/>
        </p:nvSpPr>
        <p:spPr>
          <a:xfrm>
            <a:off x="9486900" y="30670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Margem de contribuição anualizada: R$ 154.425.600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CD1BEC9-D371-4EB8-A9B0-0A5A0F372815}"/>
              </a:ext>
            </a:extLst>
          </p:cNvPr>
          <p:cNvSpPr>
            <a:spLocks noGrp="1"/>
          </p:cNvSpPr>
          <p:nvPr/>
        </p:nvSpPr>
        <p:spPr>
          <a:xfrm>
            <a:off x="9486900" y="344805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Custo fixo anual: R$ 3.738.000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6306219-0A33-461E-8A9D-6B77736C2E96}"/>
              </a:ext>
            </a:extLst>
          </p:cNvPr>
          <p:cNvSpPr>
            <a:spLocks noGrp="1"/>
          </p:cNvSpPr>
          <p:nvPr/>
        </p:nvSpPr>
        <p:spPr>
          <a:xfrm>
            <a:off x="9486900" y="3848100"/>
            <a:ext cx="77533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Resultado líquido anualizado: R$ 94.933.188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2E82A4A-B1B4-4443-B65E-B3EAAC3FEB13}"/>
              </a:ext>
            </a:extLst>
          </p:cNvPr>
          <p:cNvSpPr>
            <a:spLocks noGrp="1"/>
          </p:cNvSpPr>
          <p:nvPr/>
        </p:nvSpPr>
        <p:spPr>
          <a:xfrm>
            <a:off x="838200" y="4932045"/>
            <a:ext cx="16611600" cy="4707255"/>
          </a:xfrm>
          <a:prstGeom prst="roundRect">
            <a:avLst>
              <a:gd name="adj" fmla="val 4452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24FB05C-774C-4DAC-8D3F-4E44114F02FB}"/>
              </a:ext>
            </a:extLst>
          </p:cNvPr>
          <p:cNvSpPr>
            <a:spLocks noGrp="1"/>
          </p:cNvSpPr>
          <p:nvPr/>
        </p:nvSpPr>
        <p:spPr>
          <a:xfrm>
            <a:off x="1066800" y="5162550"/>
            <a:ext cx="16154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Leitura complementar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CF45E8C-724D-4261-81EB-0708F9306ED0}"/>
              </a:ext>
            </a:extLst>
          </p:cNvPr>
          <p:cNvSpPr>
            <a:spLocks noGrp="1"/>
          </p:cNvSpPr>
          <p:nvPr/>
        </p:nvSpPr>
        <p:spPr>
          <a:xfrm>
            <a:off x="1066800" y="56197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No planejamento revisado, o mês pós-ramp-up entrega cerca de R$ 7,91 milhões de resultado líquido.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C66C029-554C-4280-821A-3C27BF80FC33}"/>
              </a:ext>
            </a:extLst>
          </p:cNvPr>
          <p:cNvSpPr>
            <a:spLocks noGrp="1"/>
          </p:cNvSpPr>
          <p:nvPr/>
        </p:nvSpPr>
        <p:spPr>
          <a:xfrm>
            <a:off x="1066800" y="59817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equivalência anualizada desse mesmo patamar leva o resultado para R$ 94,93 milhões.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52C3D2C-5E67-47C9-B1B3-008FF12ED41D}"/>
              </a:ext>
            </a:extLst>
          </p:cNvPr>
          <p:cNvSpPr>
            <a:spLocks noGrp="1"/>
          </p:cNvSpPr>
          <p:nvPr/>
        </p:nvSpPr>
        <p:spPr>
          <a:xfrm>
            <a:off x="1066800" y="63246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Isso reforça a leitura de forte alavancagem após a fase de implantação e ativação comercial.</a:t>
            </a:r>
          </a:p>
        </p:txBody>
      </p:sp>
    </p:spTree>
    <p:extLst>
      <p:ext uri="{BB962C8B-B14F-4D97-AF65-F5344CB8AC3E}">
        <p14:creationId xmlns:p14="http://schemas.microsoft.com/office/powerpoint/2010/main" val="832716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95CC149A-C9FC-4554-BA60-820C86ECF266}"/>
              </a:ext>
            </a:extLst>
          </p:cNvPr>
          <p:cNvSpPr>
            <a:spLocks noGrp="1"/>
          </p:cNvSpPr>
          <p:nvPr/>
        </p:nvSpPr>
        <p:spPr>
          <a:xfrm>
            <a:off x="838200" y="647700"/>
            <a:ext cx="166116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000" b="1">
                <a:solidFill>
                  <a:srgbClr val="0B1324"/>
                </a:solidFill>
              </a:defRPr>
            </a:pPr>
            <a:r>
              <a:rPr sz="3000" b="1">
                <a:solidFill>
                  <a:srgbClr val="0B1324"/>
                </a:solidFill>
              </a:rPr>
              <a:t>10. Fluxo de caixa do investidor (resumido)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1AD884C-C503-44C5-AF71-427B5A476CB4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1524000" cy="47625"/>
          </a:xfrm>
          <a:prstGeom prst="rect">
            <a:avLst/>
          </a:prstGeom>
          <a:solidFill>
            <a:srgbClr val="14B8A6"/>
          </a:solidFill>
          <a:ln w="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E9EFF7-A006-40A4-A769-7B50B7A68E5E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128016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Distribuição do investidor em um mês após o ramp-up e na equivalência anualizada, mantendo 25% de participação sobre o resultado líquido revisado.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49ADD0C-F56B-4A22-B1D3-DB8E7A15A824}"/>
              </a:ext>
            </a:extLst>
          </p:cNvPr>
          <p:cNvSpPr>
            <a:spLocks noGrp="1"/>
          </p:cNvSpPr>
          <p:nvPr/>
        </p:nvSpPr>
        <p:spPr>
          <a:xfrm>
            <a:off x="838200" y="178498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FEF3C7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3E0A3B-AC61-4560-BEA6-BC330522F11A}"/>
              </a:ext>
            </a:extLst>
          </p:cNvPr>
          <p:cNvSpPr>
            <a:spLocks noGrp="1"/>
          </p:cNvSpPr>
          <p:nvPr/>
        </p:nvSpPr>
        <p:spPr>
          <a:xfrm>
            <a:off x="1066800" y="201930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Aporte inicial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1182DD3-61F7-4D39-8915-E59EA6488B8F}"/>
              </a:ext>
            </a:extLst>
          </p:cNvPr>
          <p:cNvSpPr>
            <a:spLocks noGrp="1"/>
          </p:cNvSpPr>
          <p:nvPr/>
        </p:nvSpPr>
        <p:spPr>
          <a:xfrm>
            <a:off x="1066800" y="2419350"/>
            <a:ext cx="4933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DC2626"/>
                </a:solidFill>
              </a:defRPr>
            </a:pPr>
            <a:r>
              <a:rPr sz="3150" b="1">
                <a:solidFill>
                  <a:srgbClr val="DC2626"/>
                </a:solidFill>
              </a:rPr>
              <a:t>R$ 11.500.000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29E834-76BA-41CE-891E-7BFC9C124C97}"/>
              </a:ext>
            </a:extLst>
          </p:cNvPr>
          <p:cNvSpPr>
            <a:spLocks noGrp="1"/>
          </p:cNvSpPr>
          <p:nvPr/>
        </p:nvSpPr>
        <p:spPr>
          <a:xfrm>
            <a:off x="1066800" y="302895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Momento-base: jul/2026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F65BB29-A5DB-4D29-8010-3918E00C3D34}"/>
              </a:ext>
            </a:extLst>
          </p:cNvPr>
          <p:cNvSpPr>
            <a:spLocks noGrp="1"/>
          </p:cNvSpPr>
          <p:nvPr/>
        </p:nvSpPr>
        <p:spPr>
          <a:xfrm>
            <a:off x="6445250" y="178498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E0F2FE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CD14BEB-BAC4-48D7-BBDC-335B8803284C}"/>
              </a:ext>
            </a:extLst>
          </p:cNvPr>
          <p:cNvSpPr>
            <a:spLocks noGrp="1"/>
          </p:cNvSpPr>
          <p:nvPr/>
        </p:nvSpPr>
        <p:spPr>
          <a:xfrm>
            <a:off x="6667500" y="201930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Set/2027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56A768-5184-4978-9F55-99EF92DAC50C}"/>
              </a:ext>
            </a:extLst>
          </p:cNvPr>
          <p:cNvSpPr>
            <a:spLocks noGrp="1"/>
          </p:cNvSpPr>
          <p:nvPr/>
        </p:nvSpPr>
        <p:spPr>
          <a:xfrm>
            <a:off x="6667500" y="2419350"/>
            <a:ext cx="4933950" cy="647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mensal estimada: R$ 1.977.774,8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2A09C9C-C88B-4C51-BF78-AE63D13BBB0D}"/>
              </a:ext>
            </a:extLst>
          </p:cNvPr>
          <p:cNvSpPr>
            <a:spLocks noGrp="1"/>
          </p:cNvSpPr>
          <p:nvPr/>
        </p:nvSpPr>
        <p:spPr>
          <a:xfrm>
            <a:off x="6667500" y="318135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1 mês após o fim do ramp-up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693FD7B-D2D9-42E6-BACE-61DA538FA806}"/>
              </a:ext>
            </a:extLst>
          </p:cNvPr>
          <p:cNvSpPr>
            <a:spLocks noGrp="1"/>
          </p:cNvSpPr>
          <p:nvPr/>
        </p:nvSpPr>
        <p:spPr>
          <a:xfrm>
            <a:off x="12052300" y="1784985"/>
            <a:ext cx="5397500" cy="2476500"/>
          </a:xfrm>
          <a:prstGeom prst="roundRect">
            <a:avLst>
              <a:gd name="adj" fmla="val 9231"/>
            </a:avLst>
          </a:prstGeom>
          <a:solidFill>
            <a:srgbClr val="CCFBF1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CAB8C56-CC3B-4562-8A51-1A8C5E2B6F2B}"/>
              </a:ext>
            </a:extLst>
          </p:cNvPr>
          <p:cNvSpPr>
            <a:spLocks noGrp="1"/>
          </p:cNvSpPr>
          <p:nvPr/>
        </p:nvSpPr>
        <p:spPr>
          <a:xfrm>
            <a:off x="12287250" y="2019300"/>
            <a:ext cx="4933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0B1324"/>
                </a:solidFill>
              </a:defRPr>
            </a:pPr>
            <a:r>
              <a:rPr sz="1950" b="1">
                <a:solidFill>
                  <a:srgbClr val="0B1324"/>
                </a:solidFill>
              </a:rPr>
              <a:t>Ano cheio 2028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63485B6-B474-4253-B79D-923719F49917}"/>
              </a:ext>
            </a:extLst>
          </p:cNvPr>
          <p:cNvSpPr>
            <a:spLocks noGrp="1"/>
          </p:cNvSpPr>
          <p:nvPr/>
        </p:nvSpPr>
        <p:spPr>
          <a:xfrm>
            <a:off x="12287250" y="2419350"/>
            <a:ext cx="49339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Distribuição anualizada: R$ 23.733.297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D0BFCA4-A199-4E85-8052-59828AA60244}"/>
              </a:ext>
            </a:extLst>
          </p:cNvPr>
          <p:cNvSpPr>
            <a:spLocks noGrp="1"/>
          </p:cNvSpPr>
          <p:nvPr/>
        </p:nvSpPr>
        <p:spPr>
          <a:xfrm>
            <a:off x="12287250" y="2857500"/>
            <a:ext cx="49339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Média mensal: R$ 1.977.774,8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09097C2-CD5D-486F-BEB1-4B7E5AE54CF5}"/>
              </a:ext>
            </a:extLst>
          </p:cNvPr>
          <p:cNvSpPr>
            <a:spLocks noGrp="1"/>
          </p:cNvSpPr>
          <p:nvPr/>
        </p:nvSpPr>
        <p:spPr>
          <a:xfrm>
            <a:off x="838200" y="4490085"/>
            <a:ext cx="16611600" cy="5149215"/>
          </a:xfrm>
          <a:prstGeom prst="roundRect">
            <a:avLst>
              <a:gd name="adj" fmla="val 4070"/>
            </a:avLst>
          </a:prstGeom>
          <a:solidFill>
            <a:srgbClr val="F8FAFC"/>
          </a:solidFill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4D19EFC-7BD2-41EE-B48A-5B761E241A37}"/>
              </a:ext>
            </a:extLst>
          </p:cNvPr>
          <p:cNvSpPr>
            <a:spLocks noGrp="1"/>
          </p:cNvSpPr>
          <p:nvPr/>
        </p:nvSpPr>
        <p:spPr>
          <a:xfrm>
            <a:off x="1066800" y="4724400"/>
            <a:ext cx="161544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B1324"/>
                </a:solidFill>
              </a:defRPr>
            </a:pPr>
            <a:r>
              <a:rPr sz="2100" b="1">
                <a:solidFill>
                  <a:srgbClr val="0B1324"/>
                </a:solidFill>
              </a:rPr>
              <a:t>Interpretação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A20B390-74DF-448E-8FF6-1DB6BE0E8AEC}"/>
              </a:ext>
            </a:extLst>
          </p:cNvPr>
          <p:cNvSpPr>
            <a:spLocks noGrp="1"/>
          </p:cNvSpPr>
          <p:nvPr/>
        </p:nvSpPr>
        <p:spPr>
          <a:xfrm>
            <a:off x="1066800" y="51816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remuneração do investidor acontece com base em um fluxo já viável com 2 produtos contribuindo para o resultado.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BC1F7B7-509F-4F4F-A60A-D2E7E16ACC4F}"/>
              </a:ext>
            </a:extLst>
          </p:cNvPr>
          <p:cNvSpPr>
            <a:spLocks noGrp="1"/>
          </p:cNvSpPr>
          <p:nvPr/>
        </p:nvSpPr>
        <p:spPr>
          <a:xfrm>
            <a:off x="1066800" y="552450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A ativação das outras 4 frentes funciona como upside opcional, não como condição para a tese-base fechar.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6D1771F-A7BA-4603-9357-BDB20ADDF399}"/>
              </a:ext>
            </a:extLst>
          </p:cNvPr>
          <p:cNvSpPr>
            <a:spLocks noGrp="1"/>
          </p:cNvSpPr>
          <p:nvPr/>
        </p:nvSpPr>
        <p:spPr>
          <a:xfrm>
            <a:off x="1066800" y="5886450"/>
            <a:ext cx="161544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• Esse desenho melhora a assimetria risco-retorno da oportunidade.</a:t>
            </a:r>
          </a:p>
        </p:txBody>
      </p:sp>
    </p:spTree>
    <p:extLst>
      <p:ext uri="{BB962C8B-B14F-4D97-AF65-F5344CB8AC3E}">
        <p14:creationId xmlns:p14="http://schemas.microsoft.com/office/powerpoint/2010/main" val="250078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06774E26-0D70-48B8-B910-3E041BA508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E2A44"/>
          </a:solidFill>
        </p:spPr>
        <p:txBody>
          <a:bodyPr/>
          <a:lstStyle/>
          <a:p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0EF5C48-DCC8-4294-A42A-DB2420848ACF}"/>
              </a:ext>
            </a:extLst>
          </p:cNvPr>
          <p:cNvSpPr>
            <a:spLocks noGrp="1"/>
          </p:cNvSpPr>
          <p:nvPr/>
        </p:nvSpPr>
        <p:spPr>
          <a:xfrm>
            <a:off x="914400" y="83820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4B8A6"/>
                </a:solidFill>
              </a:defRPr>
            </a:pPr>
            <a:r>
              <a:rPr sz="1800" b="1">
                <a:solidFill>
                  <a:srgbClr val="14B8A6"/>
                </a:solidFill>
              </a:rPr>
              <a:t>11. Fechamento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87FC15-6DD6-4A3F-BF25-A0116CC9512A}"/>
              </a:ext>
            </a:extLst>
          </p:cNvPr>
          <p:cNvSpPr>
            <a:spLocks noGrp="1"/>
          </p:cNvSpPr>
          <p:nvPr/>
        </p:nvSpPr>
        <p:spPr>
          <a:xfrm>
            <a:off x="914400" y="1333500"/>
            <a:ext cx="13449300" cy="2000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 tese fecha com 2 produtos contribuindo para o resultado atual e pode ganhar potência adicional com a ativação de mais 4 frentes do portfólio.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7A018B3-CBC1-45BF-9D7E-AA60E40E71CD}"/>
              </a:ext>
            </a:extLst>
          </p:cNvPr>
          <p:cNvSpPr>
            <a:spLocks noGrp="1"/>
          </p:cNvSpPr>
          <p:nvPr/>
        </p:nvSpPr>
        <p:spPr>
          <a:xfrm>
            <a:off x="914400" y="3558540"/>
            <a:ext cx="14015180" cy="1485900"/>
          </a:xfrm>
          <a:prstGeom prst="roundRect">
            <a:avLst>
              <a:gd name="adj" fmla="val 15385"/>
            </a:avLst>
          </a:prstGeom>
          <a:solidFill>
            <a:srgbClr val="24365B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CB8C678-4C17-4875-A67B-5BFE76D64414}"/>
              </a:ext>
            </a:extLst>
          </p:cNvPr>
          <p:cNvSpPr>
            <a:spLocks noGrp="1"/>
          </p:cNvSpPr>
          <p:nvPr/>
        </p:nvSpPr>
        <p:spPr>
          <a:xfrm>
            <a:off x="1181100" y="3790950"/>
            <a:ext cx="1348740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0">
                <a:solidFill>
                  <a:srgbClr val="E2E8F0"/>
                </a:solidFill>
              </a:defRPr>
            </a:pPr>
            <a:r>
              <a:rPr sz="2250" b="0">
                <a:solidFill>
                  <a:srgbClr val="E2E8F0"/>
                </a:solidFill>
              </a:rPr>
              <a:t>O investidor entra em uma operação desenhada para 6 produtos, mas com apenas 2 sustentando a rampa financeira hoje. Isso preserva uma leitura conservadora e mantém upside concreto de receita, margem e recorrência.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E3724D3-6FA8-4EF2-A6C2-F226191406F6}"/>
              </a:ext>
            </a:extLst>
          </p:cNvPr>
          <p:cNvSpPr>
            <a:spLocks noGrp="1"/>
          </p:cNvSpPr>
          <p:nvPr/>
        </p:nvSpPr>
        <p:spPr>
          <a:xfrm>
            <a:off x="914400" y="5273040"/>
            <a:ext cx="3714750" cy="579120"/>
          </a:xfrm>
          <a:prstGeom prst="roundRect">
            <a:avLst>
              <a:gd name="adj" fmla="val 26316"/>
            </a:avLst>
          </a:prstGeom>
          <a:solidFill>
            <a:srgbClr val="0F766E"/>
          </a:solidFill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4B43BE-E7D8-45FE-89E0-4BDA01537BC1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3409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Mercado com tendência estrutural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AAAA0EB-5A67-4BE2-8D3C-CD9CC249BA8D}"/>
              </a:ext>
            </a:extLst>
          </p:cNvPr>
          <p:cNvSpPr>
            <a:spLocks noGrp="1"/>
          </p:cNvSpPr>
          <p:nvPr/>
        </p:nvSpPr>
        <p:spPr>
          <a:xfrm>
            <a:off x="4800600" y="5273040"/>
            <a:ext cx="4000500" cy="579120"/>
          </a:xfrm>
          <a:prstGeom prst="roundRect">
            <a:avLst>
              <a:gd name="adj" fmla="val 26316"/>
            </a:avLst>
          </a:prstGeom>
          <a:solidFill>
            <a:srgbClr val="1D4ED8"/>
          </a:solidFill>
        </p:spPr>
        <p:txBody>
          <a:bodyPr/>
          <a:lstStyle/>
          <a:p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5693C67-AD7F-43DE-A976-21FA891A0AC9}"/>
              </a:ext>
            </a:extLst>
          </p:cNvPr>
          <p:cNvSpPr>
            <a:spLocks noGrp="1"/>
          </p:cNvSpPr>
          <p:nvPr/>
        </p:nvSpPr>
        <p:spPr>
          <a:xfrm>
            <a:off x="4953000" y="5429250"/>
            <a:ext cx="3695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Modelo com recorrência e margem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3DAEA80-0EBC-44B8-9873-1E15492C8C5F}"/>
              </a:ext>
            </a:extLst>
          </p:cNvPr>
          <p:cNvSpPr>
            <a:spLocks noGrp="1"/>
          </p:cNvSpPr>
          <p:nvPr/>
        </p:nvSpPr>
        <p:spPr>
          <a:xfrm>
            <a:off x="8972550" y="5273040"/>
            <a:ext cx="4762500" cy="579120"/>
          </a:xfrm>
          <a:prstGeom prst="roundRect">
            <a:avLst>
              <a:gd name="adj" fmla="val 26316"/>
            </a:avLst>
          </a:prstGeom>
          <a:solidFill>
            <a:srgbClr val="B45309"/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35B458F-D4EE-442A-9CB6-ECD5C2B872C4}"/>
              </a:ext>
            </a:extLst>
          </p:cNvPr>
          <p:cNvSpPr>
            <a:spLocks noGrp="1"/>
          </p:cNvSpPr>
          <p:nvPr/>
        </p:nvSpPr>
        <p:spPr>
          <a:xfrm>
            <a:off x="9124950" y="5429250"/>
            <a:ext cx="4457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Upside fora da conta atual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EB73D0B-77F2-4C78-A10B-8D1A9FE2D1A2}"/>
              </a:ext>
            </a:extLst>
          </p:cNvPr>
          <p:cNvSpPr>
            <a:spLocks noGrp="1"/>
          </p:cNvSpPr>
          <p:nvPr/>
        </p:nvSpPr>
        <p:spPr>
          <a:xfrm>
            <a:off x="914400" y="607695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Base conservadora, não teto de resultado.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4E48456-2BD7-48EA-806F-7091F2BE7744}"/>
              </a:ext>
            </a:extLst>
          </p:cNvPr>
          <p:cNvSpPr>
            <a:spLocks noGrp="1"/>
          </p:cNvSpPr>
          <p:nvPr/>
        </p:nvSpPr>
        <p:spPr>
          <a:xfrm>
            <a:off x="914400" y="645795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Execução bem-sucedida pode ativar novas avenidas de faturamento.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F5364CC-1E19-4C9F-A6F9-FF909722DB60}"/>
              </a:ext>
            </a:extLst>
          </p:cNvPr>
          <p:cNvSpPr>
            <a:spLocks noGrp="1"/>
          </p:cNvSpPr>
          <p:nvPr/>
        </p:nvSpPr>
        <p:spPr>
          <a:xfrm>
            <a:off x="914400" y="6819900"/>
            <a:ext cx="1645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CBD5E1"/>
                </a:solidFill>
              </a:rPr>
              <a:t>• Case atrativo para investidor que busca retorno com assimetria positiva.</a:t>
            </a:r>
          </a:p>
        </p:txBody>
      </p:sp>
    </p:spTree>
    <p:extLst>
      <p:ext uri="{BB962C8B-B14F-4D97-AF65-F5344CB8AC3E}">
        <p14:creationId xmlns:p14="http://schemas.microsoft.com/office/powerpoint/2010/main" val="9937036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1712</Words>
  <Application>Microsoft Office PowerPoint</Application>
  <DocSecurity>0</DocSecurity>
  <PresentationFormat>Personalizar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Fabiano Ferreira</cp:lastModifiedBy>
  <cp:revision>3</cp:revision>
  <dcterms:created xsi:type="dcterms:W3CDTF">2026-05-08T16:47:36Z</dcterms:created>
  <dcterms:modified xsi:type="dcterms:W3CDTF">2026-05-08T17:25:28Z</dcterms:modified>
</cp:coreProperties>
</file>