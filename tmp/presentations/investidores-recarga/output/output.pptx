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58089882c4ac4" /><Relationship Type="http://schemas.openxmlformats.org/officeDocument/2006/relationships/extended-properties" Target="/docProps/app.xml" Id="Re689580945f54d6b" /><Relationship Type="http://schemas.openxmlformats.org/officeDocument/2006/relationships/officeDocument" Target="/ppt/presentation.xml" Id="Rc46b693aa71c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df88a203742f7"/>
  </p:sldMasterIdLst>
  <p:notesMasterIdLst>
    <p:notesMasterId xmlns:r="http://schemas.openxmlformats.org/officeDocument/2006/relationships" r:id="R9136fe1681b047c6"/>
  </p:notesMasterIdLst>
  <p:sldIdLst>
    <p:sldId xmlns:r="http://schemas.openxmlformats.org/officeDocument/2006/relationships" id="256" r:id="Rcc5d3f10a0a54303"/>
    <p:sldId xmlns:r="http://schemas.openxmlformats.org/officeDocument/2006/relationships" id="257" r:id="Re60dd891b3544b5d"/>
    <p:sldId xmlns:r="http://schemas.openxmlformats.org/officeDocument/2006/relationships" id="258" r:id="R1db4294e72b4465e"/>
    <p:sldId xmlns:r="http://schemas.openxmlformats.org/officeDocument/2006/relationships" id="259" r:id="R7cf00ba400e449bb"/>
    <p:sldId xmlns:r="http://schemas.openxmlformats.org/officeDocument/2006/relationships" id="260" r:id="R6d1d809462df47a8"/>
    <p:sldId xmlns:r="http://schemas.openxmlformats.org/officeDocument/2006/relationships" id="261" r:id="R1da1280a38b647fa"/>
    <p:sldId xmlns:r="http://schemas.openxmlformats.org/officeDocument/2006/relationships" id="262" r:id="R671e1b1e13af4491"/>
    <p:sldId xmlns:r="http://schemas.openxmlformats.org/officeDocument/2006/relationships" id="263" r:id="Recc0f4083f1a4cd4"/>
    <p:sldId xmlns:r="http://schemas.openxmlformats.org/officeDocument/2006/relationships" id="264" r:id="R7f8682c235b34e73"/>
    <p:sldId xmlns:r="http://schemas.openxmlformats.org/officeDocument/2006/relationships" id="265" r:id="R44e48bc4d088461f"/>
    <p:sldId xmlns:r="http://schemas.openxmlformats.org/officeDocument/2006/relationships" id="266" r:id="R2d171bbc96f14fe4"/>
    <p:sldId xmlns:r="http://schemas.openxmlformats.org/officeDocument/2006/relationships" id="267" r:id="Rb575e733f37248b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df88a203742f7" /><Relationship Type="http://schemas.openxmlformats.org/officeDocument/2006/relationships/theme" Target="/ppt/theme/theme1.xml" Id="R061fa9b5f9e2460c" /><Relationship Type="http://schemas.openxmlformats.org/officeDocument/2006/relationships/notesMaster" Target="/ppt/notesMasters/notesMaster1.xml" Id="R9136fe1681b047c6" /><Relationship Type="http://schemas.openxmlformats.org/officeDocument/2006/relationships/presProps" Target="/ppt/presProps.xml" Id="R6d1c926c7f754545" /><Relationship Type="http://schemas.openxmlformats.org/officeDocument/2006/relationships/viewProps" Target="/ppt/viewProps.xml" Id="R0a42f67be7864200" /><Relationship Type="http://schemas.openxmlformats.org/officeDocument/2006/relationships/tableStyles" Target="/ppt/tableStyles.xml" Id="Rb8cefe8514df44d7" /><Relationship Type="http://schemas.openxmlformats.org/officeDocument/2006/relationships/slide" Target="/ppt/slides/slide1.xml" Id="Rcc5d3f10a0a54303" /><Relationship Type="http://schemas.openxmlformats.org/officeDocument/2006/relationships/slide" Target="/ppt/slides/slide2.xml" Id="Re60dd891b3544b5d" /><Relationship Type="http://schemas.openxmlformats.org/officeDocument/2006/relationships/slide" Target="/ppt/slides/slide3.xml" Id="R1db4294e72b4465e" /><Relationship Type="http://schemas.openxmlformats.org/officeDocument/2006/relationships/slide" Target="/ppt/slides/slide4.xml" Id="R7cf00ba400e449bb" /><Relationship Type="http://schemas.openxmlformats.org/officeDocument/2006/relationships/slide" Target="/ppt/slides/slide5.xml" Id="R6d1d809462df47a8" /><Relationship Type="http://schemas.openxmlformats.org/officeDocument/2006/relationships/slide" Target="/ppt/slides/slide6.xml" Id="R1da1280a38b647fa" /><Relationship Type="http://schemas.openxmlformats.org/officeDocument/2006/relationships/slide" Target="/ppt/slides/slide7.xml" Id="R671e1b1e13af4491" /><Relationship Type="http://schemas.openxmlformats.org/officeDocument/2006/relationships/slide" Target="/ppt/slides/slide8.xml" Id="Recc0f4083f1a4cd4" /><Relationship Type="http://schemas.openxmlformats.org/officeDocument/2006/relationships/slide" Target="/ppt/slides/slide9.xml" Id="R7f8682c235b34e73" /><Relationship Type="http://schemas.openxmlformats.org/officeDocument/2006/relationships/slide" Target="/ppt/slides/slide10.xml" Id="R44e48bc4d088461f" /><Relationship Type="http://schemas.openxmlformats.org/officeDocument/2006/relationships/slide" Target="/ppt/slides/slide11.xml" Id="R2d171bbc96f14fe4" /><Relationship Type="http://schemas.openxmlformats.org/officeDocument/2006/relationships/slide" Target="/ppt/slides/slide12.xml" Id="Rb575e733f372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24c523b312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f420eca8474c2b" /><Relationship Type="http://schemas.openxmlformats.org/officeDocument/2006/relationships/notesMaster" Target="/ppt/notesMasters/notesMaster1.xml" Id="R1f143ce3991b47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c08190be84478" /><Relationship Type="http://schemas.openxmlformats.org/officeDocument/2006/relationships/notesMaster" Target="/ppt/notesMasters/notesMaster1.xml" Id="Rcf57fb5577c04e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24bca136a14892" /><Relationship Type="http://schemas.openxmlformats.org/officeDocument/2006/relationships/notesMaster" Target="/ppt/notesMasters/notesMaster1.xml" Id="R131a31c9dbfb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2ac48d8a242f5" /><Relationship Type="http://schemas.openxmlformats.org/officeDocument/2006/relationships/notesMaster" Target="/ppt/notesMasters/notesMaster1.xml" Id="R385b421726c44c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a0f063ae984486" /><Relationship Type="http://schemas.openxmlformats.org/officeDocument/2006/relationships/notesMaster" Target="/ppt/notesMasters/notesMaster1.xml" Id="R205b328b89eb42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939d17922f4c9a" /><Relationship Type="http://schemas.openxmlformats.org/officeDocument/2006/relationships/notesMaster" Target="/ppt/notesMasters/notesMaster1.xml" Id="Re4d6581bcb094f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275ab99084572" /><Relationship Type="http://schemas.openxmlformats.org/officeDocument/2006/relationships/notesMaster" Target="/ppt/notesMasters/notesMaster1.xml" Id="R36df07f6a10246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3e3c11d0d6475c" /><Relationship Type="http://schemas.openxmlformats.org/officeDocument/2006/relationships/notesMaster" Target="/ppt/notesMasters/notesMaster1.xml" Id="Rdb6eb23da10648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37f340e3a74846" /><Relationship Type="http://schemas.openxmlformats.org/officeDocument/2006/relationships/notesMaster" Target="/ppt/notesMasters/notesMaster1.xml" Id="R95508deac6874c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f86625449b4565" /><Relationship Type="http://schemas.openxmlformats.org/officeDocument/2006/relationships/notesMaster" Target="/ppt/notesMasters/notesMaster1.xml" Id="R9d2ddd3cee2a44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59160ee2264c1a" /><Relationship Type="http://schemas.openxmlformats.org/officeDocument/2006/relationships/notesMaster" Target="/ppt/notesMasters/notesMaster1.xml" Id="R50a60ebd62f846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e5031c245a4b74" /><Relationship Type="http://schemas.openxmlformats.org/officeDocument/2006/relationships/notesMaster" Target="/ppt/notesMasters/notesMaster1.xml" Id="R9778da0310bf40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810bbbc6d43e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2fc93de4f04f93" /><Relationship Type="http://schemas.openxmlformats.org/officeDocument/2006/relationships/slideLayout" Target="/ppt/slideLayouts/slideLayout2.xml" Id="R41bb8043183c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bb8043183c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554d0108284229" /><Relationship Type="http://schemas.openxmlformats.org/officeDocument/2006/relationships/notesSlide" Target="/ppt/notesSlides/notesSlide1.xml" Id="Ra27139a9eaa749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276054a644795" /><Relationship Type="http://schemas.openxmlformats.org/officeDocument/2006/relationships/notesSlide" Target="/ppt/notesSlides/notesSlide2.xml" Id="R2e67ebeac98c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17253e0e147ad" /><Relationship Type="http://schemas.openxmlformats.org/officeDocument/2006/relationships/notesSlide" Target="/ppt/notesSlides/notesSlide3.xml" Id="Rd942ff10fa2a42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0c2f134324c9c" /><Relationship Type="http://schemas.openxmlformats.org/officeDocument/2006/relationships/notesSlide" Target="/ppt/notesSlides/notesSlide4.xml" Id="Rdeedb6f0ff7745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f0a424641b4a88" /><Relationship Type="http://schemas.openxmlformats.org/officeDocument/2006/relationships/notesSlide" Target="/ppt/notesSlides/notesSlide5.xml" Id="Rc6440fc17e2d46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201e1af4a54718" /><Relationship Type="http://schemas.openxmlformats.org/officeDocument/2006/relationships/notesSlide" Target="/ppt/notesSlides/notesSlide6.xml" Id="R3e88674181b746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b9d479394471d" /><Relationship Type="http://schemas.openxmlformats.org/officeDocument/2006/relationships/notesSlide" Target="/ppt/notesSlides/notesSlide7.xml" Id="R1740ad66bafb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5cf5a9bc3142b8" /><Relationship Type="http://schemas.openxmlformats.org/officeDocument/2006/relationships/notesSlide" Target="/ppt/notesSlides/notesSlide8.xml" Id="Reba006cdc79340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285be69fe4fd2" /><Relationship Type="http://schemas.openxmlformats.org/officeDocument/2006/relationships/notesSlide" Target="/ppt/notesSlides/notesSlide9.xml" Id="Rfa41c089763f43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59d51e7184270" /><Relationship Type="http://schemas.openxmlformats.org/officeDocument/2006/relationships/notesSlide" Target="/ppt/notesSlides/notesSlide10.xml" Id="Ra00474b2f6a24b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885370fa84706" /><Relationship Type="http://schemas.openxmlformats.org/officeDocument/2006/relationships/notesSlide" Target="/ppt/notesSlides/notesSlide11.xml" Id="R2a0b58a3024a46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b2adb231844595" /><Relationship Type="http://schemas.openxmlformats.org/officeDocument/2006/relationships/notesSlide" Target="/ppt/notesSlides/notesSlide12.xml" Id="R3b9aec16ea0449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86EFF-C1E1-4B98-B5A1-4FA7F2FA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21B9F-79B3-4337-8DA5-FE0FB6B6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533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55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29CE1-14FE-4CFD-895B-5475FB18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2AE44-2B9C-405F-8CDA-9C8FD486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9296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Infraestrutura de recarga elétrica para investidores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2CBC8-3DBB-47B4-8823-E08181AF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8930"/>
            <a:ext cx="11109579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6274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DE548-731E-4A17-850D-83464266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0648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 operação foi desenhada com 06 produtos, mas a modelagem atual considera apenas 02. Isso torna a tese financeira conservadora e preserva upside relevante.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25819-9E6F-469A-AFD1-737E308F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528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F563C-43C4-4EFE-8360-6427E11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A7E7B-CC85-470D-A4A1-F9871BC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5280"/>
            <a:ext cx="3619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7507E-F13D-47C8-A648-0D466CE1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05300"/>
            <a:ext cx="331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R$ 11,5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A3E51-398B-4E9E-87BB-244D1BF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45280"/>
            <a:ext cx="4000500" cy="85344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C1FF9-A41F-4F84-8C31-3550F12A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3695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Payback: 36m conservador | ~12m otimista</a:t>
            </a:r>
          </a:p>
        </p:txBody>
      </p:sp>
    </p:spTree>
    <p:extLst>
      <p:ext uri="{BB962C8B-B14F-4D97-AF65-F5344CB8AC3E}">
        <p14:creationId xmlns:p14="http://schemas.microsoft.com/office/powerpoint/2010/main" val="2640944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A5F3CA-E426-4F3C-BD0E-8A352F6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37B0E-41FC-4557-828F-56EAF4A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41DEB-1F7C-44C5-A654-2930AEAC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6553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da governança, valores e objetivos financeiros presentes no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48525-0331-41D0-8EDA-B91F2E51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403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A91C8-4E85-452F-A969-05389F69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Gestão e Governança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90784-CC90-436A-916F-BC545076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4972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Previsão de conselho de administração, diretoria e gerências (coml, operacional, adm-fin)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D4C7B-D24F-43AE-878B-A224DF3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80403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2A843-4C92-4FAE-B315-424EBF5B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2EF52-7F45-43D9-A7AE-D92BA3D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4972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César Lisboa na condução estratégica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A2AA4-7FF9-4024-90FE-82D1A53F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80403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1C155-3DDE-4214-B8EA-5BE056A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193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2D514-683B-4B9A-8D5E-AC75E6C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431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22588-BF69-4DE4-99E3-8DEB9C03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2435"/>
            <a:ext cx="8191500" cy="539686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5AF19-F9AA-4581-833B-E7E63CE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68DF0-D0E4-424D-AF05-D6F73343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50D4C-C4AD-44A6-961D-8CD2D92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916ED-A7F4-4F93-A2E6-C2E7EBE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FBDFE-A923-4694-8ED9-30406CB3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7695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Valorização e respeito da cadeia produtiva: colaboradores, fornecedores e clientes.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38AA7-8005-49F1-970D-0A46EE78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42435"/>
            <a:ext cx="8191500" cy="539686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7BC66-52B3-4602-8F3C-D923BF60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7675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07472-F6AA-4D30-8667-577176ED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3395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conservador de 36 meses, com leitura otimista próxima de 12 meses no fluxo projetado.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A4FD5-CF11-4A2F-B226-85E7C1E3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0CECB-7FD6-4EC7-BB75-5D1F8E57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674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2700448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39D35-3D8E-4B72-A6E4-A39EA52A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 ativados: visão detalhada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B40A9-38BD-4139-8BA0-D4B2ACD3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9DA91-F21C-4EB1-B921-C21DB8D0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72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Detalhamento dos produtos hoje modelados, com quantidade vendida pós-ramp-up, valor unitário e margem de contribuição.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1BD20-C735-48C9-A16C-505D8F1A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5F05D-423F-4056-89EF-386EF9E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6BF38-8A18-4381-BC99-E89B8DF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EE33D-025E-4D84-8C0C-3F52869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C06D7-35E5-4DA3-998D-5443E90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1F07B-FCF5-46D5-B630-33CD50FA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64E9E-35B2-459D-9467-C71DC57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2F304-7F4A-4BE5-9F86-48BAFC04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4734F-13AD-4AC2-8CDA-2B6E7B73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7ABE3-7F58-4168-B9B1-36CE3B04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7BE57-7540-4537-ACBB-DF23105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20B24-9BCF-4F5C-A51C-F1BDE07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41BC4-4F61-4399-ABD4-80455339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53A42-0715-4C36-A942-376FE8C3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BD252-64D4-4BA1-972F-209B513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77151-2D5C-44F9-BDC7-5CF18A7F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B87E3-98DD-4D5B-B290-FADFDD79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8798C-B9A9-4B44-B1CD-5AE6B95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30E30-1DA5-4BEC-90B6-FB80B3AA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65738-B71E-4AAA-B37B-A7D59C8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0543B-3051-4488-9B96-23631597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7A230-58B9-4EC3-BD9B-4697145B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R$ 80.000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B8E6D-FFD5-4F6B-915D-91520C1C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D7D16-54FD-4273-A43C-1371C936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6C22C8-70B9-4F0A-8E42-6D2EB61D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37D797-A494-4890-92A7-CC67043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9C969F-8020-462C-B132-8D660907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6472D8-0489-4A03-895C-6348B46C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R$ 8.020.800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EFC02-ACBB-439A-AFE7-565C5EDD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6A9353-A91F-496D-9B9D-7D8B60E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1B2811-86AB-4969-8885-7C2A4F79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B0FC6-1758-418F-B0AF-08CBC781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8D9DBA-5103-49E0-920D-203ABE4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5A3BA-81E9-46E1-88B0-6FB8CA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4000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B5075E-68B0-4CD0-B118-A9B5D576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758856-370E-41A7-8FDC-E8310796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R$ 1.600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EA4731-42B9-4353-85D6-F8CC6179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F5259B-D88E-4D22-827B-095467C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75,8%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2633B9-ABC3-475A-B8F0-346D1A95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2608C1-0EB4-4612-96F9-C479AC4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R$ 1.212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5AC11E-E0D5-408A-BD40-8237C4E1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45A31B-BC5D-4FB2-A6AD-F582045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R$ 4.848.000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221B90-F6DB-4519-AF33-BD196A1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5588000" cy="302704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574872-427A-4DF7-9C25-38BFEAF4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Faturamento mensal pós-ramp-up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703399-CE9E-4523-8DC3-2561C62D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R$ 30.400.000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5A651B-5C1B-478A-9A5F-C67E1126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17895"/>
            <a:ext cx="5588000" cy="302704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400534-8252-449B-A260-C5B2E235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MC mensal do plano revisado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8911AC-B629-4BA9-AAF0-6ADF49D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R$ 12.868.800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8EBF70-3BFF-4D95-8FA5-D620151A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6017895"/>
            <a:ext cx="5588000" cy="302704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3BE32F-D763-4A97-86C4-A9BFBC8E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Produtos com rampa efetiva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D24028-1BFF-4A5A-A74C-AC23029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CDACF1-C6F1-4C5A-83B4-E39F698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16390"/>
            <a:ext cx="17106900" cy="556260"/>
          </a:xfrm>
          <a:prstGeom xmlns:a="http://schemas.openxmlformats.org/drawingml/2006/main" prst="roundRect">
            <a:avLst>
              <a:gd name="adj" fmla="val 30822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CF8E8F-5788-4CC6-8C81-7D3481CD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72600"/>
            <a:ext cx="16802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5F46"/>
                </a:solidFill>
              </a:defRPr>
            </a:pPr>
            <a:r>
              <a:rPr sz="1650" b="1">
                <a:solidFill>
                  <a:srgbClr val="065F46"/>
                </a:solidFill>
              </a:rPr>
              <a:t>Os 2 produtos acima sustentam a receita, a margem e o resultado pós-ramp-up do plano atual.</a:t>
            </a:r>
          </a:p>
        </p:txBody>
      </p:sp>
    </p:spTree>
    <p:extLst>
      <p:ext uri="{BB962C8B-B14F-4D97-AF65-F5344CB8AC3E}">
        <p14:creationId xmlns:p14="http://schemas.microsoft.com/office/powerpoint/2010/main" val="13244504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78EAA-FD8C-433D-8D97-5CF59D72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Produtos a ativar: espaço de upside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D52DC-679D-4D5D-85D1-AA78B06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1DBE9-60F7-407A-B272-F19640D9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948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Há 4 frentes adicionais passíveis de ativação ao longo da execução, sem depender delas para a tese-base fechar.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DE542-683D-424C-92E2-2A70A231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448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54EBA-6108-4FE3-A606-F9B5147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8DD2-8C91-4272-92D7-80A315C4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59448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07528-6269-4AA9-B39E-1ADB2CA0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145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90AD2-998D-42E9-8767-6B6C232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59448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414AD-C83A-4BD2-889E-6F5C9D7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F9712-C7FF-4DFF-ADEA-EC497D5E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59448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7E44A-39F0-457F-9DEE-E1E1058B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50815-3E9E-4A3B-BAEE-72C5D66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59448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27547-2C5F-4F7E-B152-63E1C29F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145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F3C69-0496-46B3-A67D-0BEAAC2C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59448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086C2-8231-4AB4-8DED-56E283B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71450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2581B-B220-40B8-B02D-2B0FE46B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59448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B0F1D-591B-4DE7-8194-C6675DF0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7145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876D7-1912-498B-B423-75CB06E0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363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195C5-E440-4A65-847E-3B1E187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05614-E1FF-405C-A4EE-EF8F4902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41363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F00A7-B402-414B-9391-33CFEE69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F2801-75EB-4AEA-B667-8B6E5FED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41363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36EEC-4776-41C5-9944-6B6E9B3F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AA4CE-BEA5-48E2-962C-33D219D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41363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474DB-B12E-4373-83DE-DB5C6E8C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336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03388-E9AE-4C6C-B624-A1E97FD5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41363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ED861-0ED0-427A-A3F2-33E98D17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336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7E3708-3627-4462-97A4-AC755DCA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41363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A2C76-8F45-4B84-AA52-667AE8E6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5336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645DF-5BA8-4E92-BF2A-6BBF6D7D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41363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907636-278A-4F40-9875-E9420DE1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5336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C8F1EA-3655-4767-972C-EBEE5576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278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BC9237-729F-4C7C-8940-6DC0BA0A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7ACC6-CA85-4224-84E9-7FEB039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23278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1A4825-7CEA-41AB-A5A8-2450365E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96EB25-9FEE-4D5E-AD0B-153EF844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23278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10F604-0512-4259-94AB-7E7C125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A9D1CE-1DA5-4DBA-8194-45D19F30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23278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7541C-8035-4FAC-B4A7-DA6E1C2A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BF73C6-00BC-4AAF-94DF-E9BE8390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23278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36054F-AC3C-4BE3-9447-B4C11E9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528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AD5A74-44A8-4291-928E-47206DF9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23278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C84554-D6A4-463F-BAC3-C164E3A5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3528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16B0B9-77A1-4A42-A266-8F99E1BB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23278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C39110-29C4-4E2C-98B4-82FC4518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33528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7DCAF7-283F-40E1-86E6-89897068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193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0C535F-4F21-488E-AFA9-90FA934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95C5FF-ABA3-4B92-B5DE-68DA0D2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05193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E917A1-1FD9-4118-AD30-48F09C9D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719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C5458B-343A-479B-A0E2-4192939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05193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D54B20-2D69-4607-B6CD-18C9A0A2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703955-C6D0-417E-8660-93B5BD8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05193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5D9EA7-1673-4B01-8562-84260CAA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719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0BB821-4287-432E-B068-061F52A6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05193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957F5F-7857-4808-BC52-B532A4AD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B8F647-4B7E-4450-A7AE-EBB428A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05193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FAA275-ADCF-40B3-9939-A4733383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1719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1EBC5D-016A-45F3-B14E-77460104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05193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CECAB4-FC5B-49C2-B275-F35DD6C4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1719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E962D5-D3D8-4B43-8ADF-43A75560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108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53553C-66A5-48F1-8634-EEEF31C8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09A0F7-B6F5-495C-909C-32A53413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87108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1EB6BF-1148-4234-9934-5E341B68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4CD2AB-46AF-4602-A88B-2075C12E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87108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6E64BF-9614-491B-844B-5B772E91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911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BA06B5-E93A-4FC1-8ADA-582B5A66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87108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E70688-505A-47CA-9485-127A5B1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911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AE03AA-9335-4D31-8D71-B7253AFB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87108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BF4AFC-3E69-446D-A8F1-AD65389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911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414EB0-998C-455C-9022-66843A78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87108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B52778-553D-4FCE-B006-6A96CE05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9911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41DE54-4F05-419D-8E21-23F94057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87108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E01B2A-D203-4707-AC94-5D72D6BC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9911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A3BFD2-0F3E-45DC-ADDE-BA2DE9C4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6435"/>
            <a:ext cx="8467725" cy="4006215"/>
          </a:xfrm>
          <a:prstGeom xmlns:a="http://schemas.openxmlformats.org/drawingml/2006/main" prst="roundRect">
            <a:avLst>
              <a:gd name="adj" fmla="val 475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C25E24D-FBDC-46BC-BBB8-A885F71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O que esses produtos podem adicionar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7A6E28-8955-4F11-B5A4-FA5352D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Mais recorrência e maior captura de valor por cliente.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4B176C-FAF0-48E1-9FD4-B6EEAFEF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865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Elevação de ticket médio e extensão do ciclo de monetização.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FBB233-EC10-4974-85FD-120901A6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Redução de dependência exclusiva do hardware e implantação.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EBF1B0-62E9-4FE6-8D62-A2394484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766435"/>
            <a:ext cx="8467725" cy="4006215"/>
          </a:xfrm>
          <a:prstGeom xmlns:a="http://schemas.openxmlformats.org/drawingml/2006/main" prst="roundRect">
            <a:avLst>
              <a:gd name="adj" fmla="val 475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13775D0-D12E-4870-8BE3-DA4E08F3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6265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Mensagem para investidores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172562-64F7-42F5-9557-27F4344B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436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 operação já fecha com 2 produtos contribuindo para o resultado.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EDCF2D-BF81-4871-9314-6D07903C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6865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Ainda há 4 frentes adicionais passíveis de ativação.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76C1D21-CFC6-479F-B719-1D134FD4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0104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Portanto, o resultado atual é conservador.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628FD0B-22ED-48E3-9540-575E78A5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53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O upside está na ativação organizada desse segundo bloco do portfólio.</a:t>
            </a:r>
          </a:p>
        </p:txBody>
      </p:sp>
    </p:spTree>
    <p:extLst>
      <p:ext uri="{BB962C8B-B14F-4D97-AF65-F5344CB8AC3E}">
        <p14:creationId xmlns:p14="http://schemas.microsoft.com/office/powerpoint/2010/main" val="6414911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471BC-C250-4A1C-ADBE-9AF09DC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Demanda do mercado / déficit de infraestrutura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D1890-5FB2-4BF7-B597-1FF1B8A4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E958E-5DE9-4B90-87DE-BDFED65C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171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Base observada: 411,9 mil veículos plug-in e 21,1 mil pontos públicos/semi-públicos. Cenário-base de demanda calibrado para 2026-2030.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F2A27-F016-4BC3-A4B4-EE5223A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E6A05-4928-4552-8B74-179ACFD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Frota plug-in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48C7E-6AB9-45E7-A597-3FC49372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411.869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311B3-3D3D-4CFB-AD5A-B836DBE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1ACB9-9EE3-4787-9833-71D51B6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Pontos atuais de recarga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D0981-8568-4692-96EE-558CC60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21.061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E4535-A161-4589-85BA-D7DE3FC6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619A2-3CAC-4F55-8655-EABF16D3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Relação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30089-0AA6-4CA2-BDDA-28F8CC1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19,6:1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921C8-CAAD-4FF2-A7C5-6A089112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3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1DE3A-A874-42DD-B395-DDADA20D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Déficit atual p/ 10:1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24047-0F6E-4126-B823-085A9B2C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20.126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40E69-3867-4795-B42A-50CADE5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C4D5F-57BE-496C-89F9-0769162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58EB2-15F0-4727-BF77-F7E3A706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43605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E1008-4DAA-4938-9192-80A0D742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767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Frota projetada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62EA7-2B62-445D-833B-4743E235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43605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995D0-2920-4722-B879-BBED75B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Pontos necessários (10:1)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070E1-41C5-4C66-AF67-367F3666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43605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F6C9D-2C17-4258-87CA-EE7DE65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767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Déficit acumulado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FB0E8-C727-460E-9623-955D79B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43605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E5756-4216-4254-A173-3AF2AD5F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4767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Demanda incremental no 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12232-C6C6-48F7-B9C1-2B117070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3170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33E5D-2C17-4664-8295-25AB4F47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DD078-A945-433A-9644-0CA5AC9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50431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10C56-5E6F-44EA-8290-EB54AF5B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639.869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FAC77-0903-466B-8EB3-ABBDE5A8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50431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AAE9EE-63F2-4138-B4EE-D8A8E956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625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63.987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57464-CBF6-4685-8FDD-5C00ADC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50431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F63AC-83E8-4457-A01F-6B382EF7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625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42.926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D0379-4CFC-4BF3-8074-B05ECAF4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50431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C73DF4-FEDE-47C3-8E5B-8DEC6A2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1625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22.800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F072CF-41F2-4BC5-BAD7-EBF4B539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5795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BA65C-E0DF-42F8-B58B-750D1FB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483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70ED8E-1337-4D3A-98D8-8C316C0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572579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B3CFA0-5FDB-4E8D-837B-60F66FF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483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1.004.869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7D969D-3274-4520-9658-EBFCCE7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572579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E9821A-F8D5-420E-A939-99345369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483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100.487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5763CD-EBA2-485D-8F96-87051E0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572579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1AFECA-4EA1-4D48-8A98-9A1ACFDE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79.426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967495-5955-4BC4-A702-2141AD3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572579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06627-6C74-4BEB-9683-177B6016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8483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36.500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A8C7D7-B00E-4F07-96A2-E1497563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8420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C966E-EEBF-4F16-B32E-157647C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15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240CDC-4BC2-4D26-A8CE-8852ECE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640842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C0457E-8EE0-467F-A082-19D036B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5151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1.588.869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82E2E1-D906-4023-A328-8EE1E8F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640842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0B1DC9-2773-4E4D-A216-C66FC2C8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5151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158.887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1701A5-1C68-4817-8EB3-9BCF37B5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640842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6E938F-506D-4AD8-92C8-B43FB7BF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137.826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87449A-1E02-40BA-BEF9-59B3C4C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640842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EA5B52-CABF-4405-9795-7205A650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65151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58.400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F9380E-1C21-4623-86E7-398BA18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1045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56E6D9-A545-40FB-AEF2-14BFCEA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7777B7-6501-4017-9ED1-15C6A41E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70910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F35189-60BB-48BE-AA6D-FFCE01CD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2009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2.523.869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8B1532-33C8-455F-B678-3988FC5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70910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ABAE6D-852B-4E27-A518-785DB6F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2009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252.387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5BDA69-CD47-4B20-95DF-D77924D4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70910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530FCE-50DE-43ED-B2F1-370A83A6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2009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231.326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141530-6DC2-4508-B2A7-ABE44B6C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70910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2EED3C-DF69-42C2-803E-234146A7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72009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93.500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EA4869-BC6B-43CD-9210-A929B914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73670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99A7F6-31A1-4089-BD77-20609BF7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867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2030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71A6F3-E503-46AA-96A9-ACB6A568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77736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EC28CF0-E742-4EEC-9A1B-8582A961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8867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4.023.869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04C4FF-63CF-428B-A536-82F13F03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77736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AFB2A2-845A-42D8-AB84-BAAB2D2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8867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402.387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47C362-2DA0-4FA5-8803-959F394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77736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6E22E8-F011-458B-AC1B-19F3C09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8867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381.326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4E8DEC-EBB5-432A-AB67-30BE548B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77736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20616F-207D-493A-B88D-ED1C8B8E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78867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150.000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EEE14F-F287-4331-81F7-89E7DDE0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91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relação ideal de 10 veículos por ponto; 2027-2030 projetados em cenário-base de planejamento, alinhado à tendência setorial de expansão da frota.</a:t>
            </a:r>
          </a:p>
        </p:txBody>
      </p:sp>
    </p:spTree>
    <p:extLst>
      <p:ext uri="{BB962C8B-B14F-4D97-AF65-F5344CB8AC3E}">
        <p14:creationId xmlns:p14="http://schemas.microsoft.com/office/powerpoint/2010/main" val="14064820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5A2F7-2394-4661-8414-592A7A84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Estrutura: Comercial, Operacional e Adm-Fin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FF311-4C88-44F3-93CF-FC133E6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5B722-FD05-4830-9BC2-7DA90A5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829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PDF 03.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F63B-D514-4815-8ECA-A1B274F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E606E-71F8-4CE6-B325-0B603C6C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9F3F3-40E1-42AF-9523-95D6C3F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R$ 773.500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FA0C0-E8B6-4F68-A1DC-65A7901B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37A87-98A4-46B7-A958-154C6783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87002-4D21-4245-AE65-96F9DBB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R$ 311.500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50980-DF71-425E-9EA8-7F076B20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D8DA6-3FAC-4DBA-A093-B39496E7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FA864-870C-4041-AE5F-89C900F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R$ 3.738.000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2D550-8943-4B12-AAD9-2CE42084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4DE81-33E1-4FC9-A8BE-9FE51449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07C27-AE98-4530-A349-95F164F2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42652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2AB6B-EAF5-460C-A86A-8122C23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982B5-520A-4A04-878C-F84E9003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66914-CE16-41BB-B77E-CD8A6A6A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2C6C4-481A-484D-84FF-A68E824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42652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BBEAF-DD78-487B-B4E4-3E7BD805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815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8E2BC-1CA9-4069-8E52-4A0CC85F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B1400-F8A6-4CBC-8AAC-F3EFFAB7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79CE2-8543-4091-AAD8-C7EE132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1225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782FD-4836-4E40-A2B6-7EF21169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8A910-6A63-4561-AC73-615CDE0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AAE1E-1C66-4B40-B2ED-A3F2907A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R$ 110.000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8FE8A-89FC-4320-BD0F-B1CD9448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1225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2186D-2D41-4800-BF45-2BF32FD8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387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5CCC2-6CB4-45CE-AE64-2982643A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0B5A72-BD2D-4A87-8E41-7339FDF8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FF6D2E-93B0-4F33-98C8-810FD594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9797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D83B0F-704D-4DD9-A570-A66FEDF1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2FFC9A-F955-421B-A265-F1D0C0F9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83BCD-DC3B-4090-B2C4-047B2BC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R$ 109.000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7E6F03-E38C-42BF-9813-A46D7284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9797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A4311-E266-40C8-AFD2-D99F092E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960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E1E8AD-6959-45C6-BFB1-7A3D6E50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D070CB-FC6A-48F5-864E-D6E88BAD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Adm/Fin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416E7D-B485-4B03-B846-7DFB9CD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68370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C23C37-8BF3-4037-AF9B-15BE781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532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R$ 102.500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238148-7C6F-4020-BA73-8ACCD8BC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4DE60-33E2-49A4-9C19-0FF8193A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R$ 92.500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A41486-31F4-42D7-AC49-35A3913F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68370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655403-9449-4EC7-BB80-57A691D1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532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</p:spTree>
    <p:extLst>
      <p:ext uri="{BB962C8B-B14F-4D97-AF65-F5344CB8AC3E}">
        <p14:creationId xmlns:p14="http://schemas.microsoft.com/office/powerpoint/2010/main" val="83885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C5D62-7182-41CD-8DCE-2CA05763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Resultado líquido: 20%, 50% e 100% das vendas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38EFA-6152-4395-93D9-5FF9FF1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379AA-8C8C-4241-A394-24A2CFCC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mensais pós-ramp-up, mantendo a mesma base de custo fixo e a mesma estrutura de margem/tributação do planejamento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BC974-3F2F-46C8-AF87-F363432A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0685"/>
            <a:ext cx="228600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E6723-823C-4582-98B6-1A815D51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A7104-4D47-4A47-9702-3BF4E875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0685"/>
            <a:ext cx="26778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55151-124B-4A8E-B592-A4FBA419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907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mensal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5ECA6-18B7-411F-9003-0E74423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1670685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02E7A-E739-41F4-85C1-4D123717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7EA32-1D1D-4313-AF4A-CDC17C5B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164" y="1670685"/>
            <a:ext cx="261257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4FF54-D7A9-46A8-9AAE-EE440CA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675D8-2BA5-4DA8-A142-3EC77208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036" y="1670685"/>
            <a:ext cx="24492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F8427-2B85-4FBD-904A-1AB4DD03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7907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Impostos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3C411-5FE9-4D5E-B024-91431FBB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621" y="1670685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919C3-F45F-4E47-8584-9F5DBA36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7907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mensal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8E03C-1C77-49C4-BB6F-897C20F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1748"/>
            <a:ext cx="228600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E3D13-18C5-4CDD-B08F-0C148AF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CA18B-DF7F-48BD-BA39-151717F9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1748"/>
            <a:ext cx="26778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007C7-D401-47B8-91DA-8AC17255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R$ 6.080.000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CD355-BC98-476A-B809-F3AF4A6F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2551748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D98EA-BE91-4E3C-86AF-464F5EDC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R$ 2.573.760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6E1C6-9044-49C2-8F44-C1A94D2A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164" y="2551748"/>
            <a:ext cx="261257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52D05-4C60-4E2F-A98F-15F54217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R$ 311.500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4C1A0-3F68-497D-A208-EF3740C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036" y="2551748"/>
            <a:ext cx="24492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DC43F-F9EA-484E-8AF2-C7AEA74B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6670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R$ 837.036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C9F50-2449-40FD-B13F-EB3C5904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621" y="2551748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D352F-2A2E-4376-930A-2A5F426B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6670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R$ 1.425.224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BB62DA-1B3E-4CEC-A940-E6B7596F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2810"/>
            <a:ext cx="228600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3E75F-6DCC-4410-A9EB-E847EF60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750D9-F18A-4442-8987-33DD1465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2810"/>
            <a:ext cx="26778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6EE13-87CD-4656-AECB-60BFB204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433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R$ 15.200.000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1C9F4-78A3-4316-9A7A-0C764DD4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3432810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628FF2-6B44-43DF-A0FF-CE3C2DA2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433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R$ 6.434.400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62044-EE60-42B0-B0FD-4ED091AB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164" y="3432810"/>
            <a:ext cx="261257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3C79DA-BACA-4653-B79E-136B81B2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43300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R$ 311.500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686A28-B7AB-46CC-8B8C-143CB1E5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036" y="3432810"/>
            <a:ext cx="24492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CBC6A-5E8E-4C22-9953-699601A4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5433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R$ 2.265.473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C16030-D28F-4766-8D91-29DB63F0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621" y="3432810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07325C-0910-4C96-B0AC-DDF506A8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5433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R$ 3.857.427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07DC59-F234-4CC9-A223-E3BFF8B5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3873"/>
            <a:ext cx="228600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061E12-5F1F-4D80-AC91-950B01E1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52A8F0-CBD8-48B7-93E4-AC2F5BB3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13873"/>
            <a:ext cx="26778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8B6607-26BA-4AD4-AF0F-4D8D22D7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9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R$ 30.400.000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1AD523-FAD7-4458-83FD-2BBC3DF1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4313873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E688CD-5FD9-4BFF-9E35-FAECBD46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R$ 12.868.800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B7CC70-601A-4CF3-9FC0-25E0656C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164" y="4313873"/>
            <a:ext cx="261257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EDAC30-CAA1-466A-B1D5-417A02B7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19600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R$ 311.500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E38902-2CC3-4C28-AE8A-A4178C2A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036" y="4313873"/>
            <a:ext cx="244928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2F5FC0-6E08-4520-BB25-621CE4F0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4196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R$ 4.646.201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3E7374-F781-4233-977D-E80C29E0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621" y="4313873"/>
            <a:ext cx="3102429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AA93C7-1090-408B-B05D-3F851723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41960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R$ 7.911.099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2470B1-0C4F-4D0E-9307-FA40101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A4641C-87AF-407B-A3A1-CF876A00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5C1EE2-908C-458C-A6D4-E6673745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88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 revisado.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89445F-13F1-4BE1-84C1-BB62F80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mensal já supera R$ 3,86 milhões.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EBBE3A-F81B-4D50-BF5B-7332366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34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mensal alcança R$ 7,91 milhões.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96F7DB-2E0E-4E6F-A231-2C0FB17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FE3C04-D7C2-4BE6-8C85-FB2E2FE5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3D8C3B-6E00-41D6-BCA2-14AF9002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436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 mensal pós-ramp-up de R$ 30,4 milhões no cenário de 100%.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E0950A-3A22-4EAB-B253-43FF8EDE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055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mensal de R$ 311,5 mil.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EF5B68-1F94-4BB2-B5D9-3F08AFA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6675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e mesma carga tributária efetiva observada no PDF 03.</a:t>
            </a:r>
          </a:p>
        </p:txBody>
      </p:sp>
    </p:spTree>
    <p:extLst>
      <p:ext uri="{BB962C8B-B14F-4D97-AF65-F5344CB8AC3E}">
        <p14:creationId xmlns:p14="http://schemas.microsoft.com/office/powerpoint/2010/main" val="6865173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B8D2B-1DC8-44DF-AB41-1A0C2DC4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Investimento necessário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731DB-EF53-4A3E-AA6D-B62135E9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3456C-E7B6-488A-A363-8121DD8D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691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PDF 03 e leitura prática para o investidor.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67F2F-AB76-41BE-B867-1030F61E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07930-0449-427F-9A9A-E542B458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Caixa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7A106-7550-4AC8-90CA-E86FE9E2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R$ 1.900.000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C04E3-3698-46D4-9E68-416AD635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392D4-3F47-463B-BA5A-130617A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DDFA7-EDC3-49B3-8592-D1D4F35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157B2-9742-4B70-88F3-009A5B83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6F8E1-99E5-4D11-B11A-0401E4A2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Investimentos fixos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4667B-D71B-4FA8-B04A-3D0394F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R$ 462.000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867C8-CF30-4D02-B6C7-0DC1F255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5C4F2-AE67-401B-A913-93E6B3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Total investimento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E3CBE-FB10-47AE-965C-E6FD4EF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R$ 11.500.000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5719E-BCD1-4CD8-A461-42DC5AF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A7BF5-7D46-4772-9CE8-FB245E11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7E1CF-68B0-4283-8697-05F14D4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R$ 1,9 milhão.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5838D-5E48-45A0-B9E0-4AA05E73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2E737-514D-4BE5-8AFB-7ABA296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1A84F-B9D6-4B9D-A2A9-32A5668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150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F2C80-AF7F-4182-A40C-F472E85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Investimentos fixos mapeados no plano: aproximadamente R$ 462 mil.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531C4-E85F-4B9B-9A7F-E78FA41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389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Taxa de dólar considerada no modelo: R$ 5,00.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84C1B-54BC-47B9-9553-96EE2BD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123BF-2276-4316-820B-A5962FB0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0B41A-95A0-4001-9166-A391E728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89559-3E80-4DB6-A7A4-8A17C8B9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65D17-8E47-4567-8F11-25EED75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18040007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3D67C-4DBB-4A57-8DE6-10CA5B7A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Premissas financeiras do investidor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83B5C-D050-4A1B-B957-E71271C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EFB47-7CA8-4F6F-A0B1-9C3B80EA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do PDF 03 combinadas com o fluxo mensal revisado do investidor, a partir de nov/2026.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7D677-1C5A-45BA-9AAC-C5111A6C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2737E-133B-44DA-A4FA-EAAF0FBD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1D94B-C7FB-4420-B304-91AB9CB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7860B-545C-42C1-A602-A01B3BAE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1F6FD-91AF-49E8-9D09-85D3A67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C8AC2-8561-43F0-8496-C228B9A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12% a.a.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55B78-9CE8-4D06-89BC-28674E0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289B5-0D2E-4D72-A703-F0623197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D67C8-29BB-46B9-87D6-FDE31C85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142,2% a.a.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98461-C215-4056-AC03-586FD93C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9DFEA-CF90-4EEF-9C5F-D21DAEE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DD3AD-8419-414C-9B77-129CF58D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R$ 10.797.483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90BEE-8808-4CEF-8225-9EA1E588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48325-D6D7-406B-B04A-8E409ACB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BB94B-1543-4511-B04E-5E1FE125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~10,2 meses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6404F-520B-4742-BDD8-2B233E4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9200A-53E5-490E-AD69-8E1CFA4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4F190-8F23-4131-BEC2-82101CD9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PDF 03 explicita distribuição de 25% a partir de nov/2026; nesta versão, a métrica foi recalculada com o fluxo mensal do próprio plano.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D922A-6D75-48C6-BB8B-196FC762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depender da ativação das outras 4 frentes de produto.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B50A3-9B05-43C5-ACEB-1128747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29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B6576-E0E0-474C-B73A-5820DEE8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DA30F-AE08-4B61-8C0F-1E3A3E03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1A3AA-2D8C-4E42-9F46-E07244AA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 anualizada a partir da TIR mensal do fluxo jul/2026 a dez/2027.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8B487-3ECA-473F-B236-DEFA622B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34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de 12% a.a., convertido para taxa mensal.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C784E-CEB0-45CC-A77C-DA4AB475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959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Taxa de dólar considerada no modelo: R$ 5,00.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E39DD-18CC-48D6-98C7-C679B3E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579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17369442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45E61D-2FDD-4AAA-BE41-6D25E58E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negócio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C7068-7DB8-42A1-B19C-A5079BC0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42606-0897-426F-8E11-C51ED491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1315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Set/2027 foi tratado como o primeiro mês cheio após o ramp-up; 2028 representa sua equivalência anualizada em 12 meses estáveis.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0BE76-B5FD-4653-82E2-51888856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7C8C7-F8A5-4CD6-BB96-BE9D4D74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677BC-9F73-4DC3-A211-0B17EC71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R$ 30.400.000,0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E3AA2-7936-4241-859D-ACDE703A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R$ 12.868.800,0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325FB-16E1-43C0-9212-C278B87E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R$ 311.500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0337-DC59-429B-92BB-AFAEDA10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R$ 7.911.099,0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D4404-F1B2-436A-8A6F-AE2CF3F2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EB319-A3BB-4066-9CF0-EA579CC0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E642A-645A-4565-AAB2-9DD463C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R$ 364.800.000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637C1-C480-4517-B2AC-91F40DB8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anualizada: R$ 154.425.600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1BEC9-D371-4EB8-A9B0-0A5A0F37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R$ 3.738.000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06219-0A33-461E-8A9D-6B77736C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anualizado: R$ 94.933.188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82A4A-B1B4-4443-B65E-B3EAAC3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2045"/>
            <a:ext cx="16611600" cy="4707255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FB05C-774C-4DAC-8D3F-4E44114F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45E8C-724D-4261-81EB-0708F930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No planejamento revisado, o mês pós-ramp-up entrega cerca de R$ 7,91 milhões de resultado líquido.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6C029-554C-4280-821A-3C27BF80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817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equivalência anualizada desse mesmo patamar leva o resultado para R$ 94,93 milhões.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C3D2C-5E67-47C9-B1B3-008FF12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Isso reforça a leitura de forte alavancagem após a fase de implantação e ativação comercial.</a:t>
            </a:r>
          </a:p>
        </p:txBody>
      </p:sp>
    </p:spTree>
    <p:extLst>
      <p:ext uri="{BB962C8B-B14F-4D97-AF65-F5344CB8AC3E}">
        <p14:creationId xmlns:p14="http://schemas.microsoft.com/office/powerpoint/2010/main" val="8327164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C149A-C9FC-4554-BA60-820C86EC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10. Fluxo de caixa do investidor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D884C-C503-44C5-AF71-427B5A47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9EFF7-A006-40A4-A769-7B50B7A6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280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Distribuição do investidor em um mês após o ramp-up e na equivalência anualizada, mantendo 25% de participação sobre o resultado líquido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ADD0C-F56B-4A22-B1D3-DB8E7A15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E0A3B-AC61-4560-BEA6-BC33052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82DD3-61F7-4D39-8915-E59EA648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93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R$ 11.500.000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9E834-76BA-41CE-891E-7BFC9C12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5BB29-A5DB-4D29-8010-3918E00C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14BEB-BAC4-48D7-BBDC-335B880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6A768-5184-4978-9F55-99EF92DA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933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R$ 1.977.774,8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09C9C-C88B-4C51-BF78-AE63D13B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3FD7B-D2D9-42E6-BACE-61DA538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B8C56-CC3B-4562-8A51-1A8C5E2B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485B6-B474-4253-B79D-923719F4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193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anualizada: R$ 23.733.297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BFCA4-A199-4E85-8052-59828AA6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575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R$ 1.977.774,8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097C2-CD5D-486F-BEB1-4B7E5AE5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0085"/>
            <a:ext cx="16611600" cy="5149215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19EFC-7BD2-41EE-B48A-5B761E2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0B390-74DF-448E-8FF6-1DB6BE0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com 2 produtos contribuindo para o resultado.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1F7B7-509F-4F4F-A60A-D2E7E16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ativação das outras 4 frentes funciona como upside opcional, não como condição para a tese-base fechar.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1771F-A7BA-4603-9357-BDB20ADD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2500788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74E26-0D70-48B8-B910-3E041BA5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4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F5C48-DCC8-4294-A42A-DB242084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11.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FC15-6DD6-4A3F-BF25-A0116CC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34493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fecha com 2 produtos contribuindo para o resultado atual e pode ganhar potência adicional com a ativação de mais 4 frentes do portfólio.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018B3-CBC1-45BF-9D7E-AA60E40E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8540"/>
            <a:ext cx="1401518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365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8C678-4C17-4875-A67B-5BFE76D6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34874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desenhada para 6 produtos, mas com apenas 2 sustentando a rampa financeira hoje. Isso preserva uma leitura conservadora e mantém upside concreto de receita, margem e recorrência.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724D3-6FA8-4EF2-A6C2-F226191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3040"/>
            <a:ext cx="371475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43BE-E7D8-45FE-89E0-4BDA0153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340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AA0EB-5A67-4BE2-8D3C-CD9CC24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7304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93C67-AD7F-43DE-A976-21FA891A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AEA80-0EBC-44B8-9873-1E15492C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73040"/>
            <a:ext cx="4762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B458F-D4EE-442A-9CB6-ECD5C2B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3D0B-77F2-4C78-A10B-8D1A9FE2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Base conservadora, não teto de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48456-2BD7-48EA-806F-7091F2BE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579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364CC-1E19-4C9F-A6F9-FF909722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9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Case atrativo para investidor que busca retorno com assimetria positiva.</a:t>
            </a:r>
          </a:p>
        </p:txBody>
      </p:sp>
    </p:spTree>
    <p:extLst>
      <p:ext uri="{BB962C8B-B14F-4D97-AF65-F5344CB8AC3E}">
        <p14:creationId xmlns:p14="http://schemas.microsoft.com/office/powerpoint/2010/main" val="993703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2026-05-08T16:47:36.2020000Z</dcterms:created>
  <dcterms:modified xsi:type="dcterms:W3CDTF">2026-05-08T16:47:36.2020000Z</dcterms:modified>
</coreProperties>
</file>