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60" r:id="rId5"/>
    <p:sldId id="264" r:id="rId6"/>
    <p:sldId id="266" r:id="rId7"/>
    <p:sldId id="265" r:id="rId8"/>
    <p:sldId id="263" r:id="rId9"/>
    <p:sldId id="261" r:id="rId10"/>
    <p:sldId id="267" r:id="rId11"/>
  </p:sldIdLst>
  <p:sldSz cx="18288000" cy="10287000"/>
  <p:notesSz cx="6858000" cy="9144000"/>
  <p:embeddedFontLst>
    <p:embeddedFont>
      <p:font typeface="Poppins 1" panose="020B0604020202020204" charset="0"/>
      <p:regular r:id="rId12"/>
    </p:embeddedFont>
    <p:embeddedFont>
      <p:font typeface="Poppins 1 Bold" panose="020B0604020202020204" charset="0"/>
      <p:regular r:id="rId13"/>
    </p:embeddedFont>
    <p:embeddedFont>
      <p:font typeface="Poppins 1 Bold Italics" panose="020B0604020202020204" charset="0"/>
      <p:regular r:id="rId14"/>
    </p:embeddedFont>
    <p:embeddedFont>
      <p:font typeface="Poppins 1 Medium" panose="020B0604020202020204" charset="0"/>
      <p:regular r:id="rId15"/>
    </p:embeddedFont>
    <p:embeddedFont>
      <p:font typeface="Poppins 1 Semi-Bold" panose="020B0604020202020204" charset="0"/>
      <p:regular r:id="rId16"/>
    </p:embeddedFont>
    <p:embeddedFont>
      <p:font typeface="Poppins 2" panose="020B0604020202020204" charset="0"/>
      <p:regular r:id="rId17"/>
    </p:embeddedFont>
    <p:embeddedFont>
      <p:font typeface="Poppins 2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63F"/>
    <a:srgbClr val="39F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47" d="100"/>
          <a:sy n="47" d="100"/>
        </p:scale>
        <p:origin x="1627" y="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o Ferreira" userId="0dba1ce1595b1485" providerId="LiveId" clId="{5A9BD635-35EA-45C2-A650-3F351B1B2779}"/>
    <pc:docChg chg="undo custSel delSld modSld sldOrd">
      <pc:chgData name="Fabiano Ferreira" userId="0dba1ce1595b1485" providerId="LiveId" clId="{5A9BD635-35EA-45C2-A650-3F351B1B2779}" dt="2026-04-06T12:10:18.219" v="2155"/>
      <pc:docMkLst>
        <pc:docMk/>
      </pc:docMkLst>
      <pc:sldChg chg="addSp delSp modSp mod ord">
        <pc:chgData name="Fabiano Ferreira" userId="0dba1ce1595b1485" providerId="LiveId" clId="{5A9BD635-35EA-45C2-A650-3F351B1B2779}" dt="2026-04-06T12:10:07.600" v="2153"/>
        <pc:sldMkLst>
          <pc:docMk/>
          <pc:sldMk cId="0" sldId="260"/>
        </pc:sldMkLst>
      </pc:sldChg>
      <pc:sldChg chg="modSp mod ord">
        <pc:chgData name="Fabiano Ferreira" userId="0dba1ce1595b1485" providerId="LiveId" clId="{5A9BD635-35EA-45C2-A650-3F351B1B2779}" dt="2026-04-06T12:10:18.219" v="2155"/>
        <pc:sldMkLst>
          <pc:docMk/>
          <pc:sldMk cId="3422419105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122229" y="-1233813"/>
            <a:ext cx="12754625" cy="127546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17368" y="860146"/>
            <a:ext cx="7841932" cy="2707936"/>
            <a:chOff x="0" y="0"/>
            <a:chExt cx="10455910" cy="36105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55910" cy="2861438"/>
            </a:xfrm>
            <a:custGeom>
              <a:avLst/>
              <a:gdLst/>
              <a:ahLst/>
              <a:cxnLst/>
              <a:rect l="l" t="t" r="r" b="b"/>
              <a:pathLst>
                <a:path w="10455910" h="2861438">
                  <a:moveTo>
                    <a:pt x="0" y="0"/>
                  </a:moveTo>
                  <a:lnTo>
                    <a:pt x="10455910" y="0"/>
                  </a:lnTo>
                  <a:lnTo>
                    <a:pt x="10455910" y="2861438"/>
                  </a:lnTo>
                  <a:lnTo>
                    <a:pt x="0" y="2861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4184" y="2785238"/>
              <a:ext cx="9967543" cy="825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9"/>
                </a:lnSpc>
              </a:pPr>
              <a:r>
                <a:rPr lang="pt-BR" sz="1594" spc="436" noProof="0" dirty="0">
                  <a:solidFill>
                    <a:srgbClr val="39F2AE"/>
                  </a:solidFill>
                  <a:latin typeface="Poppins 1"/>
                  <a:ea typeface="Poppins 1"/>
                  <a:cs typeface="Poppins 1"/>
                  <a:sym typeface="Poppins 1"/>
                </a:rPr>
                <a:t>AUXILIANDO OS GESTORES E AS ORGANIZAÇÕES NA DEFINIÇÃO E NO ALCANCE DOS SEUS OBJETIVOS!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9735" y="4729368"/>
            <a:ext cx="9737197" cy="895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pt-BR" sz="5000" b="1" noProof="0" dirty="0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  <a:sym typeface="Poppins 1 Semi-Bold"/>
              </a:rPr>
              <a:t>-&gt; Proposta Comercial &lt;-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12603" y="7168255"/>
            <a:ext cx="973719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pt-BR" sz="37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Para: Britos </a:t>
            </a:r>
            <a:r>
              <a:rPr lang="pt-BR" sz="3700" noProof="0" dirty="0" err="1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Mag</a:t>
            </a:r>
            <a:r>
              <a:rPr lang="pt-BR" sz="37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Energia Solar</a:t>
            </a:r>
          </a:p>
          <a:p>
            <a:pPr algn="ctr">
              <a:lnSpc>
                <a:spcPts val="4280"/>
              </a:lnSpc>
              <a:spcBef>
                <a:spcPct val="0"/>
              </a:spcBef>
            </a:pPr>
            <a:r>
              <a:rPr lang="pt-BR" sz="370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Att. </a:t>
            </a:r>
            <a:r>
              <a:rPr lang="pt-BR" sz="370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Wilson Caldas</a:t>
            </a:r>
            <a:endParaRPr lang="pt-BR" sz="370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82800" y="8953500"/>
            <a:ext cx="2667000" cy="3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129"/>
              </a:lnSpc>
            </a:pPr>
            <a:r>
              <a:rPr lang="pt-BR" sz="2267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Janeiro </a:t>
            </a:r>
            <a:r>
              <a:rPr lang="pt-BR" sz="2267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12591067" y="5310448"/>
            <a:ext cx="2919668" cy="1849050"/>
            <a:chOff x="0" y="0"/>
            <a:chExt cx="768966" cy="4869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02671" y="5310448"/>
            <a:ext cx="2919668" cy="1849050"/>
            <a:chOff x="0" y="0"/>
            <a:chExt cx="768966" cy="4869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11936" y="5310448"/>
            <a:ext cx="2919668" cy="1849050"/>
            <a:chOff x="0" y="0"/>
            <a:chExt cx="768966" cy="4869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8966" cy="486993"/>
            </a:xfrm>
            <a:custGeom>
              <a:avLst/>
              <a:gdLst/>
              <a:ahLst/>
              <a:cxnLst/>
              <a:rect l="l" t="t" r="r" b="b"/>
              <a:pathLst>
                <a:path w="768966" h="486993">
                  <a:moveTo>
                    <a:pt x="135234" y="0"/>
                  </a:moveTo>
                  <a:lnTo>
                    <a:pt x="633732" y="0"/>
                  </a:lnTo>
                  <a:cubicBezTo>
                    <a:pt x="669598" y="0"/>
                    <a:pt x="703996" y="14248"/>
                    <a:pt x="729357" y="39609"/>
                  </a:cubicBezTo>
                  <a:cubicBezTo>
                    <a:pt x="754718" y="64970"/>
                    <a:pt x="768966" y="99368"/>
                    <a:pt x="768966" y="135234"/>
                  </a:cubicBezTo>
                  <a:lnTo>
                    <a:pt x="768966" y="351759"/>
                  </a:lnTo>
                  <a:cubicBezTo>
                    <a:pt x="768966" y="387625"/>
                    <a:pt x="754718" y="422022"/>
                    <a:pt x="729357" y="447383"/>
                  </a:cubicBezTo>
                  <a:cubicBezTo>
                    <a:pt x="703996" y="472745"/>
                    <a:pt x="669598" y="486993"/>
                    <a:pt x="633732" y="486993"/>
                  </a:cubicBezTo>
                  <a:lnTo>
                    <a:pt x="135234" y="486993"/>
                  </a:lnTo>
                  <a:cubicBezTo>
                    <a:pt x="60546" y="486993"/>
                    <a:pt x="0" y="426446"/>
                    <a:pt x="0" y="351759"/>
                  </a:cubicBezTo>
                  <a:lnTo>
                    <a:pt x="0" y="135234"/>
                  </a:lnTo>
                  <a:cubicBezTo>
                    <a:pt x="0" y="99368"/>
                    <a:pt x="14248" y="64970"/>
                    <a:pt x="39609" y="39609"/>
                  </a:cubicBezTo>
                  <a:cubicBezTo>
                    <a:pt x="64970" y="14248"/>
                    <a:pt x="99368" y="0"/>
                    <a:pt x="1352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768966" cy="56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11936" y="962025"/>
            <a:ext cx="9298798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9"/>
              </a:lnSpc>
            </a:pPr>
            <a:r>
              <a:rPr lang="pt-BR" sz="5999" b="1" u="none" strike="noStrike" spc="479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Empreender é uma evolução constante!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1936" y="3513355"/>
            <a:ext cx="9298798" cy="844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pt-BR" sz="2699" spc="134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Por isso, propomos caminhar juntos para que sua empresa se torne:</a:t>
            </a:r>
            <a:r>
              <a:rPr lang="pt-BR" sz="2699" b="1" spc="134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2645" y="5860450"/>
            <a:ext cx="2538249" cy="729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Uma operação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organizada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3380" y="5860450"/>
            <a:ext cx="2538249" cy="729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 negócio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lucrativo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81776" y="5508025"/>
            <a:ext cx="2538249" cy="143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pt-BR" sz="2400" spc="12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Um ambiente com rotinas </a:t>
            </a:r>
            <a:r>
              <a:rPr lang="pt-BR" sz="2400" b="1" spc="12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leves e auditáveis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78171" y="9240497"/>
            <a:ext cx="11049000" cy="462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pt-BR" sz="2699" u="none" strike="noStrike" spc="134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 seguir vamos apresentar como faremos isso na prática: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E8B4-9C16-2A2C-3BBE-267E25D2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801376-0FB3-36C4-A288-3F7BC34DC7AC}"/>
              </a:ext>
            </a:extLst>
          </p:cNvPr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818F453-01DF-64C3-AC54-3CF9F3902DE0}"/>
              </a:ext>
            </a:extLst>
          </p:cNvPr>
          <p:cNvSpPr txBox="1"/>
          <p:nvPr/>
        </p:nvSpPr>
        <p:spPr>
          <a:xfrm>
            <a:off x="2217641" y="1529754"/>
            <a:ext cx="15237158" cy="7958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Inicialmente atenderemos as necessidades apresentadas em reunião com o Sr. Wilson Caldas </a:t>
            </a:r>
            <a:r>
              <a:rPr lang="pt-BR" sz="3399" spc="271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e Priscila com </a:t>
            </a: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o seguinte escopo:</a:t>
            </a:r>
          </a:p>
          <a:p>
            <a:pPr algn="l">
              <a:lnSpc>
                <a:spcPts val="5739"/>
              </a:lnSpc>
            </a:pPr>
            <a:endParaRPr lang="pt-BR" sz="3399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1428750" lvl="2" indent="-514350">
              <a:lnSpc>
                <a:spcPts val="5739"/>
              </a:lnSpc>
              <a:buAutoNum type="alphaLcParenR"/>
            </a:pPr>
            <a:r>
              <a:rPr lang="pt-BR" sz="28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Definição e estruturação legal do negócio contendo as atividades: </a:t>
            </a:r>
            <a:r>
              <a:rPr lang="pt-BR" sz="2800" spc="271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Intermediação, monitoramento, instalação, recebimento de valores de terceiros, patrimonial, indústria de energia;</a:t>
            </a:r>
          </a:p>
          <a:p>
            <a:pPr marL="1428750" lvl="2" indent="-514350">
              <a:lnSpc>
                <a:spcPts val="5739"/>
              </a:lnSpc>
              <a:buAutoNum type="alphaLcParenR"/>
            </a:pPr>
            <a:endParaRPr lang="pt-BR" sz="2800" spc="271" noProof="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lvl="2">
              <a:lnSpc>
                <a:spcPts val="5739"/>
              </a:lnSpc>
            </a:pPr>
            <a:r>
              <a:rPr lang="pt-BR" sz="2800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b) Enquadramento e planejamento tributário considerando as alternativas tributárias disponíveis pela legislação atual;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81AB081-9332-F3DD-CAB9-A8417572A7B7}"/>
              </a:ext>
            </a:extLst>
          </p:cNvPr>
          <p:cNvGrpSpPr>
            <a:grpSpLocks noChangeAspect="1"/>
          </p:cNvGrpSpPr>
          <p:nvPr/>
        </p:nvGrpSpPr>
        <p:grpSpPr>
          <a:xfrm rot="-9285580">
            <a:off x="-7001331" y="-4811875"/>
            <a:ext cx="13120780" cy="13344752"/>
            <a:chOff x="0" y="0"/>
            <a:chExt cx="17381245" cy="1767794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8947E3-56AE-510E-D8A8-774119C61B01}"/>
                </a:ext>
              </a:extLst>
            </p:cNvPr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E107715-E0FD-641C-35DA-88802E259427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342241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116328" y="2736526"/>
            <a:ext cx="6380972" cy="1493589"/>
            <a:chOff x="0" y="0"/>
            <a:chExt cx="1680585" cy="3933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16328" y="4444352"/>
            <a:ext cx="6380972" cy="1493589"/>
            <a:chOff x="0" y="0"/>
            <a:chExt cx="1680585" cy="3933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6328" y="6152178"/>
            <a:ext cx="6380972" cy="1493589"/>
            <a:chOff x="0" y="0"/>
            <a:chExt cx="1680585" cy="3933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16328" y="1028700"/>
            <a:ext cx="6380972" cy="1493589"/>
            <a:chOff x="0" y="0"/>
            <a:chExt cx="1680585" cy="3933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6497300" y="1775494"/>
            <a:ext cx="1828186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AutoShape 16"/>
          <p:cNvSpPr/>
          <p:nvPr/>
        </p:nvSpPr>
        <p:spPr>
          <a:xfrm>
            <a:off x="16497300" y="3440447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AutoShape 17"/>
          <p:cNvSpPr/>
          <p:nvPr/>
        </p:nvSpPr>
        <p:spPr>
          <a:xfrm>
            <a:off x="16497300" y="5143500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AutoShape 18"/>
          <p:cNvSpPr/>
          <p:nvPr/>
        </p:nvSpPr>
        <p:spPr>
          <a:xfrm>
            <a:off x="16497300" y="6808453"/>
            <a:ext cx="2079280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grpSp>
        <p:nvGrpSpPr>
          <p:cNvPr id="19" name="Group 19"/>
          <p:cNvGrpSpPr/>
          <p:nvPr/>
        </p:nvGrpSpPr>
        <p:grpSpPr>
          <a:xfrm>
            <a:off x="10116328" y="7860004"/>
            <a:ext cx="6380972" cy="1493589"/>
            <a:chOff x="0" y="0"/>
            <a:chExt cx="1680585" cy="3933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80585" cy="393373"/>
            </a:xfrm>
            <a:custGeom>
              <a:avLst/>
              <a:gdLst/>
              <a:ahLst/>
              <a:cxnLst/>
              <a:rect l="l" t="t" r="r" b="b"/>
              <a:pathLst>
                <a:path w="1680585" h="393373">
                  <a:moveTo>
                    <a:pt x="61877" y="0"/>
                  </a:moveTo>
                  <a:lnTo>
                    <a:pt x="1618708" y="0"/>
                  </a:lnTo>
                  <a:cubicBezTo>
                    <a:pt x="1635119" y="0"/>
                    <a:pt x="1650858" y="6519"/>
                    <a:pt x="1662462" y="18123"/>
                  </a:cubicBezTo>
                  <a:cubicBezTo>
                    <a:pt x="1674066" y="29728"/>
                    <a:pt x="1680585" y="45466"/>
                    <a:pt x="1680585" y="61877"/>
                  </a:cubicBezTo>
                  <a:lnTo>
                    <a:pt x="1680585" y="331496"/>
                  </a:lnTo>
                  <a:cubicBezTo>
                    <a:pt x="1680585" y="365670"/>
                    <a:pt x="1652882" y="393373"/>
                    <a:pt x="1618708" y="393373"/>
                  </a:cubicBezTo>
                  <a:lnTo>
                    <a:pt x="61877" y="393373"/>
                  </a:lnTo>
                  <a:cubicBezTo>
                    <a:pt x="45466" y="393373"/>
                    <a:pt x="29728" y="386854"/>
                    <a:pt x="18123" y="375250"/>
                  </a:cubicBezTo>
                  <a:cubicBezTo>
                    <a:pt x="6519" y="363645"/>
                    <a:pt x="0" y="347907"/>
                    <a:pt x="0" y="331496"/>
                  </a:cubicBezTo>
                  <a:lnTo>
                    <a:pt x="0" y="61877"/>
                  </a:lnTo>
                  <a:cubicBezTo>
                    <a:pt x="0" y="27703"/>
                    <a:pt x="27703" y="0"/>
                    <a:pt x="61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3AF1AE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3AF1A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680585" cy="469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6497300" y="8606799"/>
            <a:ext cx="1828186" cy="0"/>
          </a:xfrm>
          <a:prstGeom prst="line">
            <a:avLst/>
          </a:prstGeom>
          <a:ln w="38100" cap="flat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Freeform 2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Box 24"/>
          <p:cNvSpPr txBox="1"/>
          <p:nvPr/>
        </p:nvSpPr>
        <p:spPr>
          <a:xfrm>
            <a:off x="10596105" y="2971002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Gestão financeira e orçamentária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6105" y="4678828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Análise de custos e precificação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96105" y="6386655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Consultoria fiscal e contábil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96105" y="1263176"/>
            <a:ext cx="5421419" cy="99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Gestão de Processos de Negócio (bpm)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96105" y="8337368"/>
            <a:ext cx="5421419" cy="51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71"/>
              </a:lnSpc>
            </a:pPr>
            <a:r>
              <a:rPr lang="pt-BR" sz="3199" spc="159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Auditoria interna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94603" y="2318564"/>
            <a:ext cx="6873524" cy="574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9"/>
              </a:lnSpc>
              <a:spcBef>
                <a:spcPct val="0"/>
              </a:spcBef>
            </a:pPr>
            <a:r>
              <a:rPr lang="pt-BR" sz="4800" u="none" strike="noStrike" spc="233" noProof="0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Criaremos soluções integradas e personalizadas, </a:t>
            </a:r>
            <a:r>
              <a:rPr lang="pt-BR" sz="4800" u="none" strike="noStrike" spc="233" noProof="0" dirty="0">
                <a:solidFill>
                  <a:srgbClr val="E6C63F"/>
                </a:solidFill>
                <a:latin typeface="Poppins 2"/>
                <a:ea typeface="Poppins 2"/>
                <a:cs typeface="Poppins 2"/>
                <a:sym typeface="Poppins 2"/>
              </a:rPr>
              <a:t>combinando nossas diferentes expertises de forma coordenada e prática.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7CD81174-90B6-D59A-13F0-A5F95925703A}"/>
              </a:ext>
            </a:extLst>
          </p:cNvPr>
          <p:cNvSpPr txBox="1"/>
          <p:nvPr/>
        </p:nvSpPr>
        <p:spPr>
          <a:xfrm rot="-5400000">
            <a:off x="-3775736" y="5008403"/>
            <a:ext cx="9736456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FAREMOS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3241342" y="1638884"/>
            <a:ext cx="14017958" cy="680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Cada </a:t>
            </a: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frente de </a:t>
            </a: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trabalho </a:t>
            </a:r>
            <a:r>
              <a:rPr lang="pt-BR" sz="3399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será estruturada </a:t>
            </a:r>
            <a:r>
              <a:rPr lang="pt-BR" sz="3399" spc="271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como um projeto, com as seguintes fases:</a:t>
            </a:r>
          </a:p>
          <a:p>
            <a:pPr algn="l">
              <a:lnSpc>
                <a:spcPts val="5739"/>
              </a:lnSpc>
            </a:pPr>
            <a:endParaRPr lang="pt-BR" sz="3399" spc="271" noProof="0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a) alinhamento de expectativas;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b) início do projeto;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c) acompanhamento da execução;</a:t>
            </a:r>
          </a:p>
          <a:p>
            <a:pPr algn="l">
              <a:lnSpc>
                <a:spcPts val="2025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5739"/>
              </a:lnSpc>
            </a:pPr>
            <a:r>
              <a:rPr lang="pt-BR" sz="3399" spc="271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d) entrega do projeto conforme alinhamento inicial; </a:t>
            </a:r>
          </a:p>
          <a:p>
            <a:pPr algn="l">
              <a:lnSpc>
                <a:spcPts val="5739"/>
              </a:lnSpc>
            </a:pPr>
            <a:endParaRPr lang="pt-BR" sz="3399" spc="271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 rot="-9285580">
            <a:off x="-5033558" y="-4243057"/>
            <a:ext cx="13120780" cy="13344752"/>
            <a:chOff x="0" y="0"/>
            <a:chExt cx="17381245" cy="176779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 rot="-5400000">
            <a:off x="-3775736" y="4984432"/>
            <a:ext cx="973645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TRABALHAMOS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7537567"/>
            <a:ext cx="16230600" cy="1679341"/>
            <a:chOff x="0" y="0"/>
            <a:chExt cx="21640800" cy="2239121"/>
          </a:xfrm>
        </p:grpSpPr>
        <p:sp>
          <p:nvSpPr>
            <p:cNvPr id="4" name="Freeform 4"/>
            <p:cNvSpPr/>
            <p:nvPr/>
          </p:nvSpPr>
          <p:spPr>
            <a:xfrm>
              <a:off x="0" y="96827"/>
              <a:ext cx="3025839" cy="2045467"/>
            </a:xfrm>
            <a:custGeom>
              <a:avLst/>
              <a:gdLst/>
              <a:ahLst/>
              <a:cxnLst/>
              <a:rect l="l" t="t" r="r" b="b"/>
              <a:pathLst>
                <a:path w="3025839" h="2045467">
                  <a:moveTo>
                    <a:pt x="0" y="0"/>
                  </a:moveTo>
                  <a:lnTo>
                    <a:pt x="3025839" y="0"/>
                  </a:lnTo>
                  <a:lnTo>
                    <a:pt x="3025839" y="2045467"/>
                  </a:lnTo>
                  <a:lnTo>
                    <a:pt x="0" y="2045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227654" y="738305"/>
              <a:ext cx="3413146" cy="750408"/>
            </a:xfrm>
            <a:custGeom>
              <a:avLst/>
              <a:gdLst/>
              <a:ahLst/>
              <a:cxnLst/>
              <a:rect l="l" t="t" r="r" b="b"/>
              <a:pathLst>
                <a:path w="3413146" h="750408">
                  <a:moveTo>
                    <a:pt x="0" y="0"/>
                  </a:moveTo>
                  <a:lnTo>
                    <a:pt x="3413146" y="0"/>
                  </a:lnTo>
                  <a:lnTo>
                    <a:pt x="3413146" y="750408"/>
                  </a:lnTo>
                  <a:lnTo>
                    <a:pt x="0" y="750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998" t="-241791" r="-12887" b="-230788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3216864" y="550703"/>
              <a:ext cx="2674842" cy="1137715"/>
            </a:xfrm>
            <a:custGeom>
              <a:avLst/>
              <a:gdLst/>
              <a:ahLst/>
              <a:cxnLst/>
              <a:rect l="l" t="t" r="r" b="b"/>
              <a:pathLst>
                <a:path w="2674842" h="1137715">
                  <a:moveTo>
                    <a:pt x="0" y="0"/>
                  </a:moveTo>
                  <a:lnTo>
                    <a:pt x="2674842" y="0"/>
                  </a:lnTo>
                  <a:lnTo>
                    <a:pt x="2674842" y="1137715"/>
                  </a:lnTo>
                  <a:lnTo>
                    <a:pt x="0" y="1137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702" b="-67404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552494" y="290481"/>
              <a:ext cx="2178604" cy="1658160"/>
            </a:xfrm>
            <a:custGeom>
              <a:avLst/>
              <a:gdLst/>
              <a:ahLst/>
              <a:cxnLst/>
              <a:rect l="l" t="t" r="r" b="b"/>
              <a:pathLst>
                <a:path w="2178604" h="1658160">
                  <a:moveTo>
                    <a:pt x="0" y="0"/>
                  </a:moveTo>
                  <a:lnTo>
                    <a:pt x="2178604" y="0"/>
                  </a:lnTo>
                  <a:lnTo>
                    <a:pt x="2178604" y="1658159"/>
                  </a:lnTo>
                  <a:lnTo>
                    <a:pt x="0" y="165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16097463" y="0"/>
              <a:ext cx="1924434" cy="2239121"/>
            </a:xfrm>
            <a:custGeom>
              <a:avLst/>
              <a:gdLst/>
              <a:ahLst/>
              <a:cxnLst/>
              <a:rect l="l" t="t" r="r" b="b"/>
              <a:pathLst>
                <a:path w="1924434" h="2239121">
                  <a:moveTo>
                    <a:pt x="0" y="0"/>
                  </a:moveTo>
                  <a:lnTo>
                    <a:pt x="1924434" y="0"/>
                  </a:lnTo>
                  <a:lnTo>
                    <a:pt x="1924434" y="2239121"/>
                  </a:lnTo>
                  <a:lnTo>
                    <a:pt x="0" y="2239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023" t="-21507" r="-46674" b="-2606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9936855" y="278377"/>
              <a:ext cx="3074252" cy="1670263"/>
            </a:xfrm>
            <a:custGeom>
              <a:avLst/>
              <a:gdLst/>
              <a:ahLst/>
              <a:cxnLst/>
              <a:rect l="l" t="t" r="r" b="b"/>
              <a:pathLst>
                <a:path w="3074252" h="1670263">
                  <a:moveTo>
                    <a:pt x="0" y="0"/>
                  </a:moveTo>
                  <a:lnTo>
                    <a:pt x="3074252" y="0"/>
                  </a:lnTo>
                  <a:lnTo>
                    <a:pt x="3074252" y="1670263"/>
                  </a:lnTo>
                  <a:lnTo>
                    <a:pt x="0" y="167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1894" b="-42163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231596" y="762511"/>
              <a:ext cx="4115141" cy="714098"/>
            </a:xfrm>
            <a:custGeom>
              <a:avLst/>
              <a:gdLst/>
              <a:ahLst/>
              <a:cxnLst/>
              <a:rect l="l" t="t" r="r" b="b"/>
              <a:pathLst>
                <a:path w="4115141" h="714098">
                  <a:moveTo>
                    <a:pt x="0" y="0"/>
                  </a:moveTo>
                  <a:lnTo>
                    <a:pt x="4115141" y="0"/>
                  </a:lnTo>
                  <a:lnTo>
                    <a:pt x="4115141" y="714098"/>
                  </a:lnTo>
                  <a:lnTo>
                    <a:pt x="0" y="71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12" name="Group 12"/>
          <p:cNvGrpSpPr/>
          <p:nvPr/>
        </p:nvGrpSpPr>
        <p:grpSpPr>
          <a:xfrm>
            <a:off x="-1205794" y="3299489"/>
            <a:ext cx="2938144" cy="910590"/>
            <a:chOff x="0" y="0"/>
            <a:chExt cx="773832" cy="2398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205794" y="5038754"/>
            <a:ext cx="2938144" cy="910590"/>
            <a:chOff x="0" y="0"/>
            <a:chExt cx="773832" cy="2398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73832" cy="239826"/>
            </a:xfrm>
            <a:custGeom>
              <a:avLst/>
              <a:gdLst/>
              <a:ahLst/>
              <a:cxnLst/>
              <a:rect l="l" t="t" r="r" b="b"/>
              <a:pathLst>
                <a:path w="773832" h="239826">
                  <a:moveTo>
                    <a:pt x="119913" y="0"/>
                  </a:moveTo>
                  <a:lnTo>
                    <a:pt x="653919" y="0"/>
                  </a:lnTo>
                  <a:cubicBezTo>
                    <a:pt x="685722" y="0"/>
                    <a:pt x="716222" y="12634"/>
                    <a:pt x="738710" y="35122"/>
                  </a:cubicBezTo>
                  <a:cubicBezTo>
                    <a:pt x="761198" y="57610"/>
                    <a:pt x="773832" y="88110"/>
                    <a:pt x="773832" y="119913"/>
                  </a:cubicBezTo>
                  <a:lnTo>
                    <a:pt x="773832" y="119913"/>
                  </a:lnTo>
                  <a:cubicBezTo>
                    <a:pt x="773832" y="151716"/>
                    <a:pt x="761198" y="182216"/>
                    <a:pt x="738710" y="204704"/>
                  </a:cubicBezTo>
                  <a:cubicBezTo>
                    <a:pt x="716222" y="227193"/>
                    <a:pt x="685722" y="239826"/>
                    <a:pt x="653919" y="239826"/>
                  </a:cubicBezTo>
                  <a:lnTo>
                    <a:pt x="119913" y="239826"/>
                  </a:lnTo>
                  <a:cubicBezTo>
                    <a:pt x="88110" y="239826"/>
                    <a:pt x="57610" y="227193"/>
                    <a:pt x="35122" y="204704"/>
                  </a:cubicBezTo>
                  <a:cubicBezTo>
                    <a:pt x="12634" y="182216"/>
                    <a:pt x="0" y="151716"/>
                    <a:pt x="0" y="119913"/>
                  </a:cubicBezTo>
                  <a:lnTo>
                    <a:pt x="0" y="119913"/>
                  </a:lnTo>
                  <a:cubicBezTo>
                    <a:pt x="0" y="88110"/>
                    <a:pt x="12634" y="57610"/>
                    <a:pt x="35122" y="35122"/>
                  </a:cubicBezTo>
                  <a:cubicBezTo>
                    <a:pt x="57610" y="12634"/>
                    <a:pt x="88110" y="0"/>
                    <a:pt x="1199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E6C63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6C63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pt-BR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773832" cy="316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 lang="pt-BR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43669" y="981075"/>
            <a:ext cx="4504536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pt-BR" sz="5000" b="1" spc="400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Histórias 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3669" y="1461930"/>
            <a:ext cx="6072011" cy="146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80"/>
              </a:lnSpc>
            </a:pPr>
            <a:r>
              <a:rPr lang="pt-BR" sz="9157" b="1" spc="732" noProof="0" dirty="0">
                <a:solidFill>
                  <a:srgbClr val="3AF1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SUCESSO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43669" y="3270914"/>
            <a:ext cx="7179133" cy="93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pt-BR" sz="3000" b="1" spc="15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Vários anos de parceria e resultados comprovados!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3669" y="4552979"/>
            <a:ext cx="921369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Há mais de 15 anos no mercado, nossas parcerias de longo prazo refletem nosso compromisso com a excelência e com a geração de valor real para nossos clientes.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0639" y="6928480"/>
            <a:ext cx="4026721" cy="43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pt-BR" sz="2700" spc="135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Clientes Satisfeitos: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840200">
            <a:off x="7267607" y="-1559850"/>
            <a:ext cx="13120780" cy="13344752"/>
            <a:chOff x="0" y="0"/>
            <a:chExt cx="17381245" cy="176779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1220" cy="17678019"/>
            </a:xfrm>
            <a:custGeom>
              <a:avLst/>
              <a:gdLst/>
              <a:ahLst/>
              <a:cxnLst/>
              <a:rect l="l" t="t" r="r" b="b"/>
              <a:pathLst>
                <a:path w="17381220" h="17678019">
                  <a:moveTo>
                    <a:pt x="713105" y="5735828"/>
                  </a:moveTo>
                  <a:lnTo>
                    <a:pt x="0" y="17214214"/>
                  </a:lnTo>
                  <a:lnTo>
                    <a:pt x="7465441" y="17678019"/>
                  </a:lnTo>
                  <a:lnTo>
                    <a:pt x="17381220" y="11797411"/>
                  </a:lnTo>
                  <a:lnTo>
                    <a:pt x="10384917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14909" r="-46822" b="-5910"/>
              </a:stretch>
            </a:blipFill>
          </p:spPr>
          <p:txBody>
            <a:bodyPr/>
            <a:lstStyle/>
            <a:p>
              <a:endParaRPr lang="pt-BR" noProof="0" dirty="0"/>
            </a:p>
          </p:txBody>
        </p:sp>
      </p:grpSp>
      <p:sp>
        <p:nvSpPr>
          <p:cNvPr id="4" name="Freeform 4"/>
          <p:cNvSpPr/>
          <p:nvPr/>
        </p:nvSpPr>
        <p:spPr>
          <a:xfrm>
            <a:off x="-5443" y="-3094827"/>
            <a:ext cx="18288000" cy="12801600"/>
          </a:xfrm>
          <a:custGeom>
            <a:avLst/>
            <a:gdLst/>
            <a:ahLst/>
            <a:cxnLst/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699"/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207178" cy="951813"/>
          </a:xfrm>
          <a:custGeom>
            <a:avLst/>
            <a:gdLst/>
            <a:ahLst/>
            <a:cxnLst/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2171700" y="1127016"/>
            <a:ext cx="14966216" cy="803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1"/>
              </a:lnSpc>
            </a:pPr>
            <a:r>
              <a:rPr lang="pt-BR" sz="3200" b="1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Nossa proposta é calculada em cima do montante de trabalho, técnicas aplicadas e conhecimento necessário, e por fim balizada pelo retorno que a organização terá, ficando então no seguinte valor</a:t>
            </a:r>
            <a:r>
              <a:rPr lang="pt-BR" sz="3200" b="1" spc="271" noProof="0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:</a:t>
            </a:r>
            <a:endParaRPr lang="pt-BR" sz="4400" b="1" spc="271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endParaRPr lang="pt-BR" sz="4400" b="1" spc="271" noProof="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r>
              <a:rPr lang="pt-BR" sz="4400" b="1" spc="271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 R$ 6.500,00 (seis mil e quinhentos reais)</a:t>
            </a: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endParaRPr lang="pt-BR" sz="44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r>
              <a:rPr lang="pt-BR" sz="3600" b="1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 Forma de Pagamento:</a:t>
            </a: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endParaRPr lang="pt-BR" sz="3600" b="1" spc="271" dirty="0">
              <a:solidFill>
                <a:schemeClr val="bg1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marL="457200" indent="-457200">
              <a:lnSpc>
                <a:spcPts val="5401"/>
              </a:lnSpc>
              <a:buFont typeface="Wingdings" panose="05000000000000000000" pitchFamily="2" charset="2"/>
              <a:buChar char="è"/>
            </a:pPr>
            <a:r>
              <a:rPr lang="pt-BR" sz="3600" b="1" spc="271" dirty="0">
                <a:solidFill>
                  <a:schemeClr val="bg1"/>
                </a:solidFill>
                <a:latin typeface="Poppins 1"/>
                <a:ea typeface="Poppins 1"/>
                <a:cs typeface="Poppins 1"/>
                <a:sym typeface="Poppins 1"/>
              </a:rPr>
              <a:t> 50% no início dos trabalhos e 50% na entrega do relatório final.</a:t>
            </a:r>
          </a:p>
          <a:p>
            <a:endParaRPr lang="pt-BR" sz="2800" b="1" spc="271" dirty="0">
              <a:solidFill>
                <a:srgbClr val="39F2AE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" name="TextBox 7"/>
          <p:cNvSpPr txBox="1"/>
          <p:nvPr/>
        </p:nvSpPr>
        <p:spPr>
          <a:xfrm rot="-5400000">
            <a:off x="-3782378" y="4709160"/>
            <a:ext cx="973645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pt-BR" sz="550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INVESTIMENTO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Freeform 3"/>
          <p:cNvSpPr/>
          <p:nvPr/>
        </p:nvSpPr>
        <p:spPr>
          <a:xfrm>
            <a:off x="17259300" y="9372600"/>
            <a:ext cx="865367" cy="682308"/>
          </a:xfrm>
          <a:custGeom>
            <a:avLst/>
            <a:gdLst/>
            <a:ahLst/>
            <a:cxnLst/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271" t="-112639" r="-84921" b="-130043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994004" y="1585699"/>
            <a:ext cx="6524344" cy="232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50"/>
              </a:lnSpc>
            </a:pPr>
            <a:r>
              <a:rPr lang="pt-BR" sz="5000" b="1" spc="400" noProof="0" dirty="0">
                <a:solidFill>
                  <a:srgbClr val="FFFFF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Atendimento Híbrido: </a:t>
            </a:r>
            <a:r>
              <a:rPr lang="pt-BR" sz="5000" b="1" spc="400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Remoto e Presencial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4004" y="1000125"/>
            <a:ext cx="6524344" cy="45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88"/>
              </a:lnSpc>
            </a:pPr>
            <a:r>
              <a:rPr lang="pt-BR" sz="2800" spc="14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Como trabalhamos: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57484" y="2044639"/>
            <a:ext cx="9767183" cy="6197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95"/>
              </a:lnSpc>
            </a:pPr>
            <a:r>
              <a:rPr lang="pt-BR" sz="3853" spc="192" noProof="0" dirty="0">
                <a:solidFill>
                  <a:srgbClr val="39F2AE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Acreditamos que a combinação entre a disponibilidade e a acessibilidade proporcionadas pela tecnologia, </a:t>
            </a:r>
            <a:r>
              <a:rPr lang="pt-BR" sz="3853" spc="192" noProof="0" dirty="0">
                <a:solidFill>
                  <a:srgbClr val="E6C63F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aliadas à presença física — essencial para compreender os aspectos não verbais de uma organização </a:t>
            </a:r>
            <a:r>
              <a:rPr lang="pt-BR" sz="3853" spc="192" noProof="0" dirty="0">
                <a:solidFill>
                  <a:schemeClr val="bg1"/>
                </a:solidFill>
                <a:latin typeface="Poppins 1 Bold Italics"/>
                <a:ea typeface="Poppins 1 Bold Italics"/>
                <a:cs typeface="Poppins 1 Bold Italics"/>
                <a:sym typeface="Poppins 1 Bold Italics"/>
              </a:rPr>
              <a:t>— é a chave para gerar eficiência e resultados consistentes.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56FB034-7EF8-45F9-BBAC-D9CD13FEC2E2}"/>
              </a:ext>
            </a:extLst>
          </p:cNvPr>
          <p:cNvGrpSpPr/>
          <p:nvPr/>
        </p:nvGrpSpPr>
        <p:grpSpPr>
          <a:xfrm>
            <a:off x="-294424" y="5401845"/>
            <a:ext cx="9438424" cy="2027655"/>
            <a:chOff x="-294424" y="5325645"/>
            <a:chExt cx="9438424" cy="2027655"/>
          </a:xfrm>
        </p:grpSpPr>
        <p:grpSp>
          <p:nvGrpSpPr>
            <p:cNvPr id="4" name="Group 4"/>
            <p:cNvGrpSpPr/>
            <p:nvPr/>
          </p:nvGrpSpPr>
          <p:grpSpPr>
            <a:xfrm>
              <a:off x="-294424" y="5325645"/>
              <a:ext cx="9438424" cy="2027655"/>
              <a:chOff x="0" y="0"/>
              <a:chExt cx="2485840" cy="5340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485840" cy="534033"/>
              </a:xfrm>
              <a:custGeom>
                <a:avLst/>
                <a:gdLst/>
                <a:ahLst/>
                <a:cxnLst/>
                <a:rect l="l" t="t" r="r" b="b"/>
                <a:pathLst>
                  <a:path w="2485840" h="534033">
                    <a:moveTo>
                      <a:pt x="41833" y="0"/>
                    </a:moveTo>
                    <a:lnTo>
                      <a:pt x="2444007" y="0"/>
                    </a:lnTo>
                    <a:cubicBezTo>
                      <a:pt x="2455102" y="0"/>
                      <a:pt x="2465742" y="4407"/>
                      <a:pt x="2473587" y="12253"/>
                    </a:cubicBezTo>
                    <a:cubicBezTo>
                      <a:pt x="2481432" y="20098"/>
                      <a:pt x="2485840" y="30738"/>
                      <a:pt x="2485840" y="41833"/>
                    </a:cubicBezTo>
                    <a:lnTo>
                      <a:pt x="2485840" y="492200"/>
                    </a:lnTo>
                    <a:cubicBezTo>
                      <a:pt x="2485840" y="515303"/>
                      <a:pt x="2467111" y="534033"/>
                      <a:pt x="2444007" y="534033"/>
                    </a:cubicBezTo>
                    <a:lnTo>
                      <a:pt x="41833" y="534033"/>
                    </a:lnTo>
                    <a:cubicBezTo>
                      <a:pt x="18729" y="534033"/>
                      <a:pt x="0" y="515303"/>
                      <a:pt x="0" y="492200"/>
                    </a:cubicBezTo>
                    <a:lnTo>
                      <a:pt x="0" y="41833"/>
                    </a:lnTo>
                    <a:cubicBezTo>
                      <a:pt x="0" y="18729"/>
                      <a:pt x="18729" y="0"/>
                      <a:pt x="4183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gradFill>
                  <a:gsLst>
                    <a:gs pos="0">
                      <a:srgbClr val="3AF1AE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3AF1AE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 noProof="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76200"/>
                <a:ext cx="2485840" cy="610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1"/>
                  </a:lnSpc>
                </a:pPr>
                <a:endParaRPr lang="pt-BR" noProof="0" dirty="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028700" y="5461302"/>
              <a:ext cx="7899408" cy="17502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680"/>
                </a:lnSpc>
              </a:pPr>
              <a:r>
                <a:rPr lang="pt-BR" sz="5613" b="1" spc="572" noProof="0" dirty="0">
                  <a:solidFill>
                    <a:srgbClr val="FFFFFF"/>
                  </a:solidFill>
                  <a:latin typeface="Poppins 2 Bold"/>
                  <a:ea typeface="Poppins 2 Bold"/>
                  <a:cs typeface="Poppins 2 Bold"/>
                  <a:sym typeface="Poppins 2 Bold"/>
                </a:rPr>
                <a:t>A MELHOR VERSÃO DE SI MESMA!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3400" y="1084002"/>
            <a:ext cx="11849100" cy="2988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79"/>
              </a:lnSpc>
              <a:spcBef>
                <a:spcPct val="0"/>
              </a:spcBef>
            </a:pPr>
            <a:r>
              <a:rPr lang="pt-BR" sz="4199" b="1" spc="335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Após essa primeira fase, podemos avançar </a:t>
            </a:r>
            <a:r>
              <a:rPr lang="pt-BR" sz="4199" b="1" spc="335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em nossa </a:t>
            </a:r>
            <a:r>
              <a:rPr lang="pt-BR" sz="4199" b="1" spc="335" noProof="0" dirty="0">
                <a:solidFill>
                  <a:srgbClr val="E6C63F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parceria, </a:t>
            </a:r>
            <a:r>
              <a:rPr lang="pt-BR" sz="4199" b="1" spc="335" noProof="0" dirty="0">
                <a:solidFill>
                  <a:srgbClr val="39F2AE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estruturando ou reestruturando sua empresa para que ela se torne: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23B9A2C-2F7D-B03C-64B0-9E6588BD7E99}"/>
              </a:ext>
            </a:extLst>
          </p:cNvPr>
          <p:cNvSpPr txBox="1"/>
          <p:nvPr/>
        </p:nvSpPr>
        <p:spPr>
          <a:xfrm>
            <a:off x="5194296" y="7962900"/>
            <a:ext cx="7899408" cy="152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1"/>
              </a:lnSpc>
            </a:pPr>
            <a:r>
              <a:rPr lang="pt-BR" sz="3323" spc="166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Saiba como em:</a:t>
            </a:r>
          </a:p>
          <a:p>
            <a:pPr algn="ctr">
              <a:lnSpc>
                <a:spcPts val="4021"/>
              </a:lnSpc>
            </a:pPr>
            <a:endParaRPr lang="pt-BR" sz="3323" spc="166" dirty="0">
              <a:solidFill>
                <a:srgbClr val="39F2AE"/>
              </a:solidFill>
              <a:latin typeface="Poppins 2"/>
              <a:ea typeface="Poppins 2"/>
              <a:cs typeface="Poppins 2"/>
              <a:sym typeface="Poppins 2"/>
            </a:endParaRPr>
          </a:p>
          <a:p>
            <a:pPr algn="ctr">
              <a:lnSpc>
                <a:spcPts val="4021"/>
              </a:lnSpc>
            </a:pPr>
            <a:r>
              <a:rPr lang="pt-BR" sz="3323" spc="166" dirty="0">
                <a:solidFill>
                  <a:srgbClr val="39F2AE"/>
                </a:solidFill>
                <a:latin typeface="Poppins 2"/>
                <a:ea typeface="Poppins 2"/>
                <a:cs typeface="Poppins 2"/>
                <a:sym typeface="Poppins 2"/>
              </a:rPr>
              <a:t>phub.gestaoversus.com.br</a:t>
            </a:r>
            <a:endParaRPr lang="pt-BR" sz="3323" spc="166" noProof="0" dirty="0">
              <a:solidFill>
                <a:srgbClr val="39F2AE"/>
              </a:solidFill>
              <a:latin typeface="Poppins 2"/>
              <a:ea typeface="Poppins 2"/>
              <a:cs typeface="Poppins 2"/>
              <a:sym typeface="Poppins 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32073" y="6972300"/>
            <a:ext cx="9696575" cy="2653633"/>
          </a:xfrm>
          <a:custGeom>
            <a:avLst/>
            <a:gdLst/>
            <a:ahLst/>
            <a:cxnLst/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Box 4"/>
          <p:cNvSpPr txBox="1"/>
          <p:nvPr/>
        </p:nvSpPr>
        <p:spPr>
          <a:xfrm>
            <a:off x="1085850" y="768846"/>
            <a:ext cx="161163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pt-BR" sz="4800" b="1" spc="150" noProof="0" dirty="0">
                <a:solidFill>
                  <a:srgbClr val="39F2AE"/>
                </a:solidFill>
                <a:latin typeface="Poppins 1"/>
                <a:ea typeface="Poppins 1"/>
                <a:cs typeface="Poppins 1"/>
                <a:sym typeface="Poppins 1"/>
              </a:rPr>
              <a:t>Qualquer dúvida adicional estamos à disposição!</a:t>
            </a:r>
          </a:p>
          <a:p>
            <a:pPr algn="ctr">
              <a:lnSpc>
                <a:spcPts val="3629"/>
              </a:lnSpc>
            </a:pPr>
            <a:endParaRPr lang="pt-BR" sz="3000" spc="15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ctr">
              <a:lnSpc>
                <a:spcPts val="3629"/>
              </a:lnSpc>
            </a:pPr>
            <a:b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</a:b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Caso já se sinta a vontade, responda esta mensagem com o </a:t>
            </a:r>
            <a:r>
              <a:rPr lang="pt-BR" sz="3000" spc="150" noProof="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CNPJ e e-mail da empresa</a:t>
            </a:r>
            <a:r>
              <a:rPr lang="pt-BR" sz="3000" spc="15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que</a:t>
            </a:r>
            <a:r>
              <a:rPr lang="pt-BR" sz="3000" spc="15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 iremos preparar o contrato para iniciarmos essa parceria de sucesso de imediato!</a:t>
            </a:r>
          </a:p>
          <a:p>
            <a:pPr algn="ctr">
              <a:lnSpc>
                <a:spcPts val="3629"/>
              </a:lnSpc>
            </a:pPr>
            <a:endParaRPr lang="pt-BR" sz="3000" spc="15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ctr">
              <a:lnSpc>
                <a:spcPts val="3629"/>
              </a:lnSpc>
            </a:pPr>
            <a:endParaRPr lang="pt-BR" sz="3000" spc="150" noProof="0" dirty="0">
              <a:solidFill>
                <a:srgbClr val="FFFFF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7387936"/>
            <a:ext cx="452263" cy="2632364"/>
          </a:xfrm>
          <a:custGeom>
            <a:avLst/>
            <a:gdLst/>
            <a:ahLst/>
            <a:cxnLst/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94" r="-207004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1047750" y="5304378"/>
            <a:ext cx="10020300" cy="1117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71"/>
              </a:lnSpc>
            </a:pPr>
            <a:r>
              <a:rPr lang="pt-BR" sz="3765" b="1" spc="131" noProof="0" dirty="0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 Ferreira</a:t>
            </a:r>
          </a:p>
          <a:p>
            <a:pPr algn="l">
              <a:lnSpc>
                <a:spcPts val="3568"/>
              </a:lnSpc>
            </a:pPr>
            <a:r>
              <a:rPr lang="pt-BR" sz="2548" b="1" spc="89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fabiano@gestaoversus.com.br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8450" y="7440680"/>
            <a:ext cx="5133350" cy="456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"/>
                <a:ea typeface="Poppins 1"/>
                <a:cs typeface="Poppins 1"/>
                <a:sym typeface="Poppins 1"/>
              </a:rPr>
              <a:t>(71) 9 9642-6565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8450" y="8031163"/>
            <a:ext cx="23646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@gestaoversus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8450" y="8510976"/>
            <a:ext cx="3463161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 err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gestaoversusoficial</a:t>
            </a:r>
            <a:endParaRPr lang="pt-BR" sz="2011" b="1" spc="70" noProof="0" dirty="0">
              <a:solidFill>
                <a:srgbClr val="FFFFFF"/>
              </a:solidFill>
              <a:latin typeface="Poppins 1 Medium"/>
              <a:ea typeface="Poppins 1 Medium"/>
              <a:cs typeface="Poppins 1 Medium"/>
              <a:sym typeface="Poppins 1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8450" y="9481775"/>
            <a:ext cx="49368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facebook.com/</a:t>
            </a:r>
            <a:r>
              <a:rPr lang="pt-BR" sz="2011" b="1" spc="70" noProof="0" dirty="0" err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VersusConsultoria</a:t>
            </a:r>
            <a:endParaRPr lang="pt-BR" sz="2011" b="1" spc="70" noProof="0" dirty="0">
              <a:solidFill>
                <a:srgbClr val="FFFFFF"/>
              </a:solidFill>
              <a:latin typeface="Poppins 1 Medium"/>
              <a:ea typeface="Poppins 1 Medium"/>
              <a:cs typeface="Poppins 1 Medium"/>
              <a:sym typeface="Poppins 1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48450" y="8996375"/>
            <a:ext cx="3650796" cy="36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lang="pt-BR" sz="2011" b="1" spc="70" noProof="0" dirty="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  <a:sym typeface="Poppins 1 Medium"/>
              </a:rPr>
              <a:t>www.gestaoversus.com.br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F0C2C6A-B11F-A20E-509C-9993C681C6D0}"/>
              </a:ext>
            </a:extLst>
          </p:cNvPr>
          <p:cNvSpPr txBox="1"/>
          <p:nvPr/>
        </p:nvSpPr>
        <p:spPr>
          <a:xfrm>
            <a:off x="1028700" y="4293833"/>
            <a:ext cx="16116300" cy="518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pt-BR" sz="4800" spc="150" dirty="0">
                <a:solidFill>
                  <a:srgbClr val="E6C63F"/>
                </a:solidFill>
                <a:latin typeface="Poppins 1"/>
                <a:ea typeface="Poppins 1"/>
                <a:cs typeface="Poppins 1"/>
                <a:sym typeface="Poppins 1"/>
              </a:rPr>
              <a:t>Obrigado!</a:t>
            </a:r>
            <a:endParaRPr lang="pt-BR" sz="4000" spc="150" noProof="0" dirty="0">
              <a:solidFill>
                <a:srgbClr val="E6C63F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493</Words>
  <Application>Microsoft Office PowerPoint</Application>
  <PresentationFormat>Personalizar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1" baseType="lpstr">
      <vt:lpstr>Calibri</vt:lpstr>
      <vt:lpstr>Poppins 1</vt:lpstr>
      <vt:lpstr>Arial</vt:lpstr>
      <vt:lpstr>Poppins 1 Semi-Bold</vt:lpstr>
      <vt:lpstr>Poppins 1 Bold Italics</vt:lpstr>
      <vt:lpstr>Poppins 1 Bold</vt:lpstr>
      <vt:lpstr>Poppins 2</vt:lpstr>
      <vt:lpstr>Poppins 1 Medium</vt:lpstr>
      <vt:lpstr>Wingdings</vt:lpstr>
      <vt:lpstr>Poppins 2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Versus Desktop - 5.0</dc:title>
  <dc:creator>Fabiano Ferreira</dc:creator>
  <cp:lastModifiedBy>Fabiano Ferreira</cp:lastModifiedBy>
  <cp:revision>4</cp:revision>
  <dcterms:created xsi:type="dcterms:W3CDTF">2006-08-16T00:00:00Z</dcterms:created>
  <dcterms:modified xsi:type="dcterms:W3CDTF">2026-04-06T12:10:18Z</dcterms:modified>
  <dc:identifier>DAGdZ71uFnM</dc:identifier>
</cp:coreProperties>
</file>