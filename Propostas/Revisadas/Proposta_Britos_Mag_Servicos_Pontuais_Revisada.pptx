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ae9c034c874785" /><Relationship Type="http://schemas.openxmlformats.org/officeDocument/2006/relationships/extended-properties" Target="/docProps/app.xml" Id="R6b823f5c2f3a4c91" /><Relationship Type="http://schemas.openxmlformats.org/officeDocument/2006/relationships/officeDocument" Target="/ppt/presentation.xml" Id="Rea0e0cf683ee48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0c4d3404e44d0e"/>
  </p:sldMasterIdLst>
  <p:notesMasterIdLst>
    <p:notesMasterId xmlns:r="http://schemas.openxmlformats.org/officeDocument/2006/relationships" r:id="Rbad6d07cc8604e8a"/>
  </p:notesMasterIdLst>
  <p:sldIdLst>
    <p:sldId xmlns:r="http://schemas.openxmlformats.org/officeDocument/2006/relationships" id="256" r:id="Rbe1c1261ac134f1d"/>
    <p:sldId xmlns:r="http://schemas.openxmlformats.org/officeDocument/2006/relationships" id="257" r:id="R8af57c6c99b04dba"/>
    <p:sldId xmlns:r="http://schemas.openxmlformats.org/officeDocument/2006/relationships" id="258" r:id="R0d3624ce689349af"/>
    <p:sldId xmlns:r="http://schemas.openxmlformats.org/officeDocument/2006/relationships" id="259" r:id="R082e2273d77049cd"/>
    <p:sldId xmlns:r="http://schemas.openxmlformats.org/officeDocument/2006/relationships" id="260" r:id="Rcf053abca2504acc"/>
    <p:sldId xmlns:r="http://schemas.openxmlformats.org/officeDocument/2006/relationships" id="261" r:id="Ra5699fc7477b45b6"/>
    <p:sldId xmlns:r="http://schemas.openxmlformats.org/officeDocument/2006/relationships" id="262" r:id="R4ec997a1993b4384"/>
    <p:sldId xmlns:r="http://schemas.openxmlformats.org/officeDocument/2006/relationships" id="263" r:id="Ra025d8baad104fec"/>
    <p:sldId xmlns:r="http://schemas.openxmlformats.org/officeDocument/2006/relationships" id="264" r:id="R4d30fd8c62094222"/>
    <p:sldId xmlns:r="http://schemas.openxmlformats.org/officeDocument/2006/relationships" id="265" r:id="R18c454ab933d4bea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0c4d3404e44d0e" /><Relationship Type="http://schemas.openxmlformats.org/officeDocument/2006/relationships/theme" Target="/ppt/theme/theme1.xml" Id="Rbfa7f12c7d23423e" /><Relationship Type="http://schemas.openxmlformats.org/officeDocument/2006/relationships/notesMaster" Target="/ppt/notesMasters/notesMaster1.xml" Id="Rbad6d07cc8604e8a" /><Relationship Type="http://schemas.openxmlformats.org/officeDocument/2006/relationships/presProps" Target="/ppt/presProps.xml" Id="Rb87e4c75e5f54415" /><Relationship Type="http://schemas.openxmlformats.org/officeDocument/2006/relationships/viewProps" Target="/ppt/viewProps.xml" Id="R78cc2270a67349b5" /><Relationship Type="http://schemas.openxmlformats.org/officeDocument/2006/relationships/tableStyles" Target="/ppt/tableStyles.xml" Id="Rf765f3d8f82c4506" /><Relationship Type="http://schemas.openxmlformats.org/officeDocument/2006/relationships/slide" Target="/ppt/slides/slide1.xml" Id="Rbe1c1261ac134f1d" /><Relationship Type="http://schemas.openxmlformats.org/officeDocument/2006/relationships/slide" Target="/ppt/slides/slide2.xml" Id="R8af57c6c99b04dba" /><Relationship Type="http://schemas.openxmlformats.org/officeDocument/2006/relationships/slide" Target="/ppt/slides/slide3.xml" Id="R0d3624ce689349af" /><Relationship Type="http://schemas.openxmlformats.org/officeDocument/2006/relationships/slide" Target="/ppt/slides/slide4.xml" Id="R082e2273d77049cd" /><Relationship Type="http://schemas.openxmlformats.org/officeDocument/2006/relationships/slide" Target="/ppt/slides/slide5.xml" Id="Rcf053abca2504acc" /><Relationship Type="http://schemas.openxmlformats.org/officeDocument/2006/relationships/slide" Target="/ppt/slides/slide6.xml" Id="Ra5699fc7477b45b6" /><Relationship Type="http://schemas.openxmlformats.org/officeDocument/2006/relationships/slide" Target="/ppt/slides/slide7.xml" Id="R4ec997a1993b4384" /><Relationship Type="http://schemas.openxmlformats.org/officeDocument/2006/relationships/slide" Target="/ppt/slides/slide8.xml" Id="Ra025d8baad104fec" /><Relationship Type="http://schemas.openxmlformats.org/officeDocument/2006/relationships/slide" Target="/ppt/slides/slide9.xml" Id="R4d30fd8c62094222" /><Relationship Type="http://schemas.openxmlformats.org/officeDocument/2006/relationships/slide" Target="/ppt/slides/slide10.xml" Id="R18c454ab933d4b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7c232661c4247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47830b45484057" /><Relationship Type="http://schemas.openxmlformats.org/officeDocument/2006/relationships/notesMaster" Target="/ppt/notesMasters/notesMaster1.xml" Id="Ra98b48fb1c884a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9d10a82666475a" /><Relationship Type="http://schemas.openxmlformats.org/officeDocument/2006/relationships/notesMaster" Target="/ppt/notesMasters/notesMaster1.xml" Id="R20022ce865be44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bb4343b53b4e00" /><Relationship Type="http://schemas.openxmlformats.org/officeDocument/2006/relationships/notesMaster" Target="/ppt/notesMasters/notesMaster1.xml" Id="Re147934d714949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4ff622c3354d37" /><Relationship Type="http://schemas.openxmlformats.org/officeDocument/2006/relationships/notesMaster" Target="/ppt/notesMasters/notesMaster1.xml" Id="R14f66543afc64a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36788db60f4562" /><Relationship Type="http://schemas.openxmlformats.org/officeDocument/2006/relationships/notesMaster" Target="/ppt/notesMasters/notesMaster1.xml" Id="R27baf10d65d940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aaee8222b64db7" /><Relationship Type="http://schemas.openxmlformats.org/officeDocument/2006/relationships/notesMaster" Target="/ppt/notesMasters/notesMaster1.xml" Id="R2465a2faeb0b4c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aa388aba684c24" /><Relationship Type="http://schemas.openxmlformats.org/officeDocument/2006/relationships/notesMaster" Target="/ppt/notesMasters/notesMaster1.xml" Id="R1d40f2bcbff648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c8b682fad14f02" /><Relationship Type="http://schemas.openxmlformats.org/officeDocument/2006/relationships/notesMaster" Target="/ppt/notesMasters/notesMaster1.xml" Id="R6ff00e6c4d5a45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f853ac931641b5" /><Relationship Type="http://schemas.openxmlformats.org/officeDocument/2006/relationships/notesMaster" Target="/ppt/notesMasters/notesMaster1.xml" Id="R2591890456f045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296384a7244456" /><Relationship Type="http://schemas.openxmlformats.org/officeDocument/2006/relationships/notesMaster" Target="/ppt/notesMasters/notesMaster1.xml" Id="R3a544276781d45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3ee3d90f2445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c66465a80040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9bfac0f8e74de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d9124e8dc9452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a2fb1eccb241d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23f08f0400412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0d5fa8a07c4c5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89dab0eaf84c7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2638f154734d8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3dc31d91a3415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11b448fd5b4a9a" /></Relationships>
</file>

<file path=ppt/slideLayouts/slideLayout2.xml><?xml version="1.0" encoding="utf-8"?>
<p:sldLayout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6A0C9A4-3339-4DA7-9585-2280CA83D7CA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/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8615A9D-1936-4421-AEE2-B6928CED96E6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825AFBA-99C6-4CCB-9C86-FD3B434E0FE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5B5F146-4EC8-41CF-AEBD-5580F3DF223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4BF9B34-34B5-4EE3-AF8C-2FD8E125C3B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E1A703C-E713-492A-A6A7-3C1B2F4D041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2931DD3-F905-40A5-A798-404BF0AA1231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A3BB224-AF48-4287-AA04-F45A0C040EB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422A5BF-D495-483E-BCEF-954C92891EB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C146650-3813-4A4C-B323-7BFAB2CF6D3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FF47760-D64A-4743-9068-3887D813E311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886DEE0-A6B2-4DBD-8D8F-B95F5CA65A2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B542C89-DA0F-4699-A9E2-F2A5E9A519B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CBC7984-6ECF-4BF9-BFF4-A5BC285522B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1E163D2-5064-47ED-B5F0-E58972EB8F9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6C9C5BA-B157-4EC8-8B7F-E030D7B4AABD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BA3780C-90AB-43C3-A8D8-1332B86A34B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17AE5AF-965A-4A0B-90F8-C72DF083D0D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06F48A-63AB-4563-9464-C98A835D465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24F1ACE-7202-4365-A10B-13E84C06B846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462A338-BD68-4EFF-8E65-E1222599676F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BEED74E-BB61-4164-9438-AE7582D3EA7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EAE5F0-DC47-4BE6-98E5-E89F891D7ED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B98F8AD-BB02-43B6-BD50-8ECFA6D1A43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AE723E2-617E-444F-A319-2BD6CBA60E6C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6234F0D0-9F5E-4280-BD05-D72AA938636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BDA71C3B-844D-4BFA-944E-72A40A9BAEF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8E7D1E2-47C7-40E3-90D3-AFF72F5268F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C1A62453-565F-4C41-B911-8F84B07D7FF9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35A27A9-8F6A-47FD-8CC5-E26B5210E39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75DB6F7-0DF6-4064-BC71-675B2582963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509DCB-75A6-41F7-8211-257BC4D470C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33DFE1F-02FC-47FF-8532-A4799264CF6B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1996F2F-1846-4B11-8299-DBC5CF0C6DD8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75E70AA-0D9C-4F51-B5FB-C0BF47A6E4C3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70A2C5C-36A6-4F76-8F95-0428DF25BB61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33564ACB-B61A-43E4-B5F7-A37326C8D8F5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D615B878-AF1D-436B-9ADC-B2DBE74654A9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1D820BC7-8C1B-402E-A275-C95DF15F0E5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935DE46-2088-4DE8-A087-F788EC610134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181DBB2-EAD2-493E-81AC-E347EB0323D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3435F4-FAFF-4A06-984E-67196BECD076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86D3ADB-4C01-449E-9516-631DB6F18D06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B3C1CAD-EE52-4018-A79A-CC7C3660F10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4FF5EA7-2321-4915-B05C-C7BA6575FAF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7DF2F57-C151-4481-BB53-A159B8DF918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31EB66A-57D2-4C4C-8ED0-EAEF6C003A0E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6BC8B6C-E081-4BEF-A3F1-40C7160F14D7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4DB894D-0F07-48A6-BAA8-25FDFA9481B0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7DE097E-A5A0-4D21-BB6D-679A6AC6774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25F8C03-98FA-49E7-A204-EAC61B6117C1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C7D3EB7-283F-47FE-A70C-14265C85EFB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C7F06D6-4125-43C1-9A1E-945A2865743C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/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417CF1-F643-42F2-9951-1903B9585688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183FFBE-D85B-4346-8708-58FC0673A33B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E9AC646-18F6-4BFE-9B26-ECB882A4EDD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21A7445-833B-4E3A-B436-77AE5F91704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08DF1F-5CED-4F0B-AEE4-6D81ED1A3C4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fb1c530bdb04d8a" /><Relationship Type="http://schemas.openxmlformats.org/officeDocument/2006/relationships/slideLayout" Target="/ppt/slideLayouts/slideLayout2.xml" Id="R7617c307eaf94838" /><Relationship Type="http://schemas.openxmlformats.org/officeDocument/2006/relationships/slideLayout" Target="/ppt/slideLayouts/slideLayout3.xml" Id="Rd86b8e81d72348e1" /><Relationship Type="http://schemas.openxmlformats.org/officeDocument/2006/relationships/slideLayout" Target="/ppt/slideLayouts/slideLayout4.xml" Id="R9c38e5c165734cc0" /><Relationship Type="http://schemas.openxmlformats.org/officeDocument/2006/relationships/slideLayout" Target="/ppt/slideLayouts/slideLayout5.xml" Id="R9ce03f37194646a8" /><Relationship Type="http://schemas.openxmlformats.org/officeDocument/2006/relationships/slideLayout" Target="/ppt/slideLayouts/slideLayout6.xml" Id="R0ea44b7f80924963" /><Relationship Type="http://schemas.openxmlformats.org/officeDocument/2006/relationships/slideLayout" Target="/ppt/slideLayouts/slideLayout7.xml" Id="R13278d49941842d6" /><Relationship Type="http://schemas.openxmlformats.org/officeDocument/2006/relationships/slideLayout" Target="/ppt/slideLayouts/slideLayout8.xml" Id="R7ff5a269e6424aa9" /><Relationship Type="http://schemas.openxmlformats.org/officeDocument/2006/relationships/slideLayout" Target="/ppt/slideLayouts/slideLayout9.xml" Id="Re77344b076b34350" /><Relationship Type="http://schemas.openxmlformats.org/officeDocument/2006/relationships/slideLayout" Target="/ppt/slideLayouts/slideLayout10.xml" Id="Rcd5203d09a0b47a7" /><Relationship Type="http://schemas.openxmlformats.org/officeDocument/2006/relationships/slideLayout" Target="/ppt/slideLayouts/slideLayout11.xml" Id="R6f980073e4934a0f" /><Relationship Type="http://schemas.openxmlformats.org/officeDocument/2006/relationships/slideLayout" Target="/ppt/slideLayouts/slideLayout12.xml" Id="R5bd2096c19134d6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3BD01AC-E553-47ED-A802-04320F97F026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5DF0F4C-45D8-447D-9964-BFC0D134362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57555F2-01EE-43B5-A8C6-AC4C7F7F67B8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C703CA8-11AF-4F4F-8D1F-2AFE9A5EBBDF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49ED7B0-AA2D-44AE-A965-21DE7343680A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17c307eaf94838"/>
    <p:sldLayoutId xmlns:r="http://schemas.openxmlformats.org/officeDocument/2006/relationships" id="2147483650" r:id="Rd86b8e81d72348e1"/>
    <p:sldLayoutId xmlns:r="http://schemas.openxmlformats.org/officeDocument/2006/relationships" id="2147483651" r:id="R9c38e5c165734cc0"/>
    <p:sldLayoutId xmlns:r="http://schemas.openxmlformats.org/officeDocument/2006/relationships" id="2147483652" r:id="R9ce03f37194646a8"/>
    <p:sldLayoutId xmlns:r="http://schemas.openxmlformats.org/officeDocument/2006/relationships" id="2147483653" r:id="R0ea44b7f80924963"/>
    <p:sldLayoutId xmlns:r="http://schemas.openxmlformats.org/officeDocument/2006/relationships" id="2147483654" r:id="R13278d49941842d6"/>
    <p:sldLayoutId xmlns:r="http://schemas.openxmlformats.org/officeDocument/2006/relationships" id="2147483655" r:id="R7ff5a269e6424aa9"/>
    <p:sldLayoutId xmlns:r="http://schemas.openxmlformats.org/officeDocument/2006/relationships" id="2147483656" r:id="Re77344b076b34350"/>
    <p:sldLayoutId xmlns:r="http://schemas.openxmlformats.org/officeDocument/2006/relationships" id="2147483657" r:id="Rcd5203d09a0b47a7"/>
    <p:sldLayoutId xmlns:r="http://schemas.openxmlformats.org/officeDocument/2006/relationships" id="2147483658" r:id="R6f980073e4934a0f"/>
    <p:sldLayoutId xmlns:r="http://schemas.openxmlformats.org/officeDocument/2006/relationships" id="2147483659" r:id="R5bd2096c19134d69"/>
  </p:sldLayoutIdLst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e3bf6f3fbab4737" /><Relationship Type="http://schemas.openxmlformats.org/officeDocument/2006/relationships/image" Target="/ppt/media/image.png" Id="R593f639ccba24c80" /><Relationship Type="http://schemas.openxmlformats.org/officeDocument/2006/relationships/image" Target="/ppt/media/image2.png" Id="Rc7f63aba5e7e4abb" /><Relationship Type="http://schemas.openxmlformats.org/officeDocument/2006/relationships/notesSlide" Target="/ppt/notesSlides/notesSlide1.xml" Id="R6a4cef9681754f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4c9660ce0264aad" /><Relationship Type="http://schemas.openxmlformats.org/officeDocument/2006/relationships/image" Target="/ppt/media/image3.png" Id="Rc241a83403df42c7" /><Relationship Type="http://schemas.openxmlformats.org/officeDocument/2006/relationships/image" Target="/ppt/media/image4.png" Id="Rb46d31e291a2435d" /><Relationship Type="http://schemas.openxmlformats.org/officeDocument/2006/relationships/notesSlide" Target="/ppt/notesSlides/notesSlide2.xml" Id="R0ed59497154040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ffa8e89ddd84055" /><Relationship Type="http://schemas.openxmlformats.org/officeDocument/2006/relationships/image" Target="/ppt/media/image4.png" Id="R518d5c783ae14302" /><Relationship Type="http://schemas.openxmlformats.org/officeDocument/2006/relationships/image" Target="/ppt/media/image5.png" Id="R18b290ab85c74420" /><Relationship Type="http://schemas.openxmlformats.org/officeDocument/2006/relationships/notesSlide" Target="/ppt/notesSlides/notesSlide3.xml" Id="R49aea85c624649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04140134e9c4ba6" /><Relationship Type="http://schemas.openxmlformats.org/officeDocument/2006/relationships/image" Target="/ppt/media/image6.png" Id="R3774b5cc3acc4ff9" /><Relationship Type="http://schemas.openxmlformats.org/officeDocument/2006/relationships/image" Target="/ppt/media/image4.png" Id="Rac1a29b3f45148c7" /><Relationship Type="http://schemas.openxmlformats.org/officeDocument/2006/relationships/notesSlide" Target="/ppt/notesSlides/notesSlide4.xml" Id="Rdfea73bab5f441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f6475df2d8146ad" /><Relationship Type="http://schemas.openxmlformats.org/officeDocument/2006/relationships/image" Target="/ppt/media/image4.png" Id="Raac158d2fbd54df5" /><Relationship Type="http://schemas.openxmlformats.org/officeDocument/2006/relationships/image" Target="/ppt/media/image5.png" Id="R079faeaaa95b4145" /><Relationship Type="http://schemas.openxmlformats.org/officeDocument/2006/relationships/notesSlide" Target="/ppt/notesSlides/notesSlide5.xml" Id="Rcf3c4b6bfb1741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f8cbfef05b04ecb" /><Relationship Type="http://schemas.openxmlformats.org/officeDocument/2006/relationships/image" Target="/ppt/media/image7.png" Id="Rcadbfe007d42457a" /><Relationship Type="http://schemas.openxmlformats.org/officeDocument/2006/relationships/image" Target="/ppt/media/image8.png" Id="Rb0c0b71584e7407c" /><Relationship Type="http://schemas.openxmlformats.org/officeDocument/2006/relationships/image" Target="/ppt/media/image9.png" Id="Rfc3f606fe5ee4fdd" /><Relationship Type="http://schemas.openxmlformats.org/officeDocument/2006/relationships/image" Target="/ppt/media/image10.png" Id="R9bf3c8e74c234b2d" /><Relationship Type="http://schemas.openxmlformats.org/officeDocument/2006/relationships/image" Target="/ppt/media/image11.png" Id="R14b527500b6546b4" /><Relationship Type="http://schemas.openxmlformats.org/officeDocument/2006/relationships/image" Target="/ppt/media/image12.png" Id="Rd1f4898cf6384bf0" /><Relationship Type="http://schemas.openxmlformats.org/officeDocument/2006/relationships/image" Target="/ppt/media/image13.png" Id="R5c16db5d3e624de9" /><Relationship Type="http://schemas.openxmlformats.org/officeDocument/2006/relationships/image" Target="/ppt/media/image14.png" Id="R957fc36eb6104392" /><Relationship Type="http://schemas.openxmlformats.org/officeDocument/2006/relationships/image" Target="/ppt/media/image4.png" Id="R69947a52f8124edc" /><Relationship Type="http://schemas.openxmlformats.org/officeDocument/2006/relationships/notesSlide" Target="/ppt/notesSlides/notesSlide6.xml" Id="Rd444d738da4d42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e92cb566fe64079" /><Relationship Type="http://schemas.openxmlformats.org/officeDocument/2006/relationships/image" Target="/ppt/media/image5.png" Id="R1c49492ed5a14b7d" /><Relationship Type="http://schemas.openxmlformats.org/officeDocument/2006/relationships/image" Target="/ppt/media/image.jpeg" Id="R1f3350018a5143a6" /><Relationship Type="http://schemas.openxmlformats.org/officeDocument/2006/relationships/image" Target="/ppt/media/image4.png" Id="R8fc2221b330548e6" /><Relationship Type="http://schemas.openxmlformats.org/officeDocument/2006/relationships/notesSlide" Target="/ppt/notesSlides/notesSlide7.xml" Id="R069dbf53734641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95ad4cd4ac14eaf" /><Relationship Type="http://schemas.openxmlformats.org/officeDocument/2006/relationships/image" Target="/ppt/media/image15.png" Id="Rae5387a8bd9b490d" /><Relationship Type="http://schemas.openxmlformats.org/officeDocument/2006/relationships/image" Target="/ppt/media/image4.png" Id="R62024695b99b4164" /><Relationship Type="http://schemas.openxmlformats.org/officeDocument/2006/relationships/notesSlide" Target="/ppt/notesSlides/notesSlide8.xml" Id="R0acbc552e3804d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ce44bcb957b46b8" /><Relationship Type="http://schemas.openxmlformats.org/officeDocument/2006/relationships/image" Target="/ppt/media/image16.png" Id="R71dbd9777a2843a1" /><Relationship Type="http://schemas.openxmlformats.org/officeDocument/2006/relationships/notesSlide" Target="/ppt/notesSlides/notesSlide9.xml" Id="Rb174e350eedb46c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84c3f6672ae416e" /><Relationship Type="http://schemas.openxmlformats.org/officeDocument/2006/relationships/image" Target="/ppt/media/image2.png" Id="R0fab2db0e00b48db" /><Relationship Type="http://schemas.openxmlformats.org/officeDocument/2006/relationships/image" Target="/ppt/media/image17.png" Id="R83a474d289024ea9" /><Relationship Type="http://schemas.openxmlformats.org/officeDocument/2006/relationships/notesSlide" Target="/ppt/notesSlides/notesSlide10.xml" Id="R85eba04c5c054b8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6BF2BEFA-BD9E-4778-96CB-530315BA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93f639ccba24c80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1B416D76-6BC1-44E3-BD66-51489006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2229" y="-1233813"/>
            <a:ext cx="12754625" cy="12754625"/>
          </a:xfrm>
          <a:custGeom xmlns:a="http://schemas.openxmlformats.org/drawingml/2006/main"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2FF4514A-632C-4C60-A6A5-9635C1C3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17975" y="-1233813"/>
            <a:ext cx="10363132" cy="115588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F0BDBAA8-B516-438C-87F2-B13CE19E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7368" y="860146"/>
            <a:ext cx="7841932" cy="2146078"/>
          </a:xfrm>
          <a:custGeom xmlns:a="http://schemas.openxmlformats.org/drawingml/2006/main">
            <a:rect l="l" t="t" r="r" b="b"/>
            <a:pathLst>
              <a:path w="10455910" h="2861438">
                <a:moveTo>
                  <a:pt x="0" y="0"/>
                </a:moveTo>
                <a:lnTo>
                  <a:pt x="10455910" y="0"/>
                </a:lnTo>
                <a:lnTo>
                  <a:pt x="10455910" y="2861438"/>
                </a:lnTo>
                <a:lnTo>
                  <a:pt x="0" y="286143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7f63aba5e7e4abb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83C8E132-2F56-4142-BD08-0D6A9448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00505" y="2949074"/>
            <a:ext cx="7475656" cy="61900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519"/>
              </a:lnSpc>
              <a:buNone/>
            </a:pPr>
            <a:r>
              <a:rPr sz="1594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>ESTRUTURAÇÃO LEGAL E TRIBUTÁRIA INICIAL COM CLAREZA PARA DECISÃO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DE457905-9557-43F7-BB68-1190614D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9735" y="4729368"/>
            <a:ext cx="9737197" cy="17528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901"/>
              </a:lnSpc>
              <a:buNone/>
            </a:pPr>
            <a:r>
              <a:rPr sz="5000" b="1">
                <a:solidFill>
                  <a:srgbClr val="E6C63F"/>
                </a:solidFill>
                <a:latin typeface="Poppins 1 Semi-Bold"/>
                <a:ea typeface="Poppins 1 Semi-Bold"/>
                <a:cs typeface="Poppins 1 Semi-Bold"/>
              </a:rPr>
              <a:t>Proposta Comercial</a:t>
            </a:r>
          </a:p>
          <a:p xmlns:a="http://schemas.openxmlformats.org/drawingml/2006/main">
            <a:pPr algn="ctr">
              <a:lnSpc>
                <a:spcPts val="6901"/>
              </a:lnSpc>
              <a:buNone/>
            </a:pPr>
            <a:r>
              <a:rPr sz="5000" b="1">
                <a:solidFill>
                  <a:srgbClr val="E6C63F"/>
                </a:solidFill>
                <a:latin typeface="Poppins 1 Semi-Bold"/>
                <a:ea typeface="Poppins 1 Semi-Bold"/>
                <a:cs typeface="Poppins 1 Semi-Bold"/>
              </a:rPr>
              <a:t>Serviços Pontuais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9FF02913-DDF6-4A58-8DD3-D8D24BF3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2603" y="7168255"/>
            <a:ext cx="9737197" cy="11028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280"/>
              </a:lnSpc>
              <a:spcBef>
                <a:spcPts val="0"/>
              </a:spcBef>
              <a:buNone/>
            </a:pPr>
            <a:r>
              <a:rPr sz="3700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Para: Britos Mag Energia Solar</a:t>
            </a:r>
          </a:p>
          <a:p xmlns:a="http://schemas.openxmlformats.org/drawingml/2006/main">
            <a:pPr algn="ctr">
              <a:lnSpc>
                <a:spcPts val="4280"/>
              </a:lnSpc>
              <a:spcBef>
                <a:spcPts val="0"/>
              </a:spcBef>
              <a:buNone/>
            </a:pPr>
            <a:r>
              <a:rPr sz="3700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Att. Wilson Caldas e Priscila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09B51D89-A98B-4A69-A24B-D65E3810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800" y="8953500"/>
            <a:ext cx="2667000" cy="3973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3129"/>
              </a:lnSpc>
              <a:buNone/>
            </a:pPr>
            <a:r>
              <a:rPr sz="2267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Janeiro de 2026</a:t>
            </a:r>
          </a:p>
        </p:txBody>
      </p:sp>
    </p:spTree>
    <p:extLst>
      <p:ext uri="{BB962C8B-B14F-4D97-AF65-F5344CB8AC3E}">
        <p14:creationId xmlns:p14="http://schemas.microsoft.com/office/powerpoint/2010/main" val="103066267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B1CDC918-A8D7-4B05-9130-F3277E64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241a83403df42c7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69123780-A566-407B-B2C5-253368A2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300" y="9372600"/>
            <a:ext cx="865367" cy="682308"/>
          </a:xfrm>
          <a:custGeom xmlns:a="http://schemas.openxmlformats.org/drawingml/2006/main"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46d31e291a2435d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91AD6E9A-9CAB-4862-B3BA-E2B75CBF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91067" y="5310448"/>
            <a:ext cx="2919668" cy="1849053"/>
          </a:xfrm>
          <a:custGeom xmlns:a="http://schemas.openxmlformats.org/drawingml/2006/main">
            <a:rect l="l" t="t" r="r" b="b"/>
            <a:pathLst>
              <a:path w="768966" h="486993">
                <a:moveTo>
                  <a:pt x="135234" y="0"/>
                </a:moveTo>
                <a:lnTo>
                  <a:pt x="633732" y="0"/>
                </a:lnTo>
                <a:cubicBezTo>
                  <a:pt x="669598" y="0"/>
                  <a:pt x="703996" y="14248"/>
                  <a:pt x="729357" y="39609"/>
                </a:cubicBezTo>
                <a:cubicBezTo>
                  <a:pt x="754718" y="64970"/>
                  <a:pt x="768966" y="99368"/>
                  <a:pt x="768966" y="135234"/>
                </a:cubicBezTo>
                <a:lnTo>
                  <a:pt x="768966" y="351759"/>
                </a:lnTo>
                <a:cubicBezTo>
                  <a:pt x="768966" y="387625"/>
                  <a:pt x="754718" y="422022"/>
                  <a:pt x="729357" y="447383"/>
                </a:cubicBezTo>
                <a:cubicBezTo>
                  <a:pt x="703996" y="472745"/>
                  <a:pt x="669598" y="486993"/>
                  <a:pt x="633732" y="486993"/>
                </a:cubicBezTo>
                <a:lnTo>
                  <a:pt x="135234" y="486993"/>
                </a:lnTo>
                <a:cubicBezTo>
                  <a:pt x="60546" y="486993"/>
                  <a:pt x="0" y="426446"/>
                  <a:pt x="0" y="351759"/>
                </a:cubicBezTo>
                <a:lnTo>
                  <a:pt x="0" y="135234"/>
                </a:lnTo>
                <a:cubicBezTo>
                  <a:pt x="0" y="99368"/>
                  <a:pt x="14248" y="64970"/>
                  <a:pt x="39609" y="39609"/>
                </a:cubicBezTo>
                <a:cubicBezTo>
                  <a:pt x="64970" y="14248"/>
                  <a:pt x="99368" y="0"/>
                  <a:pt x="135234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E6C63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E6C63F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D198074E-1D3F-4F6E-A866-D2443F21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91067" y="5021126"/>
            <a:ext cx="2919668" cy="21383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2B7C7433-88AF-4BE6-A149-7DE3C03D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2671" y="5310448"/>
            <a:ext cx="2919668" cy="1849053"/>
          </a:xfrm>
          <a:custGeom xmlns:a="http://schemas.openxmlformats.org/drawingml/2006/main">
            <a:rect l="l" t="t" r="r" b="b"/>
            <a:pathLst>
              <a:path w="768966" h="486993">
                <a:moveTo>
                  <a:pt x="135234" y="0"/>
                </a:moveTo>
                <a:lnTo>
                  <a:pt x="633732" y="0"/>
                </a:lnTo>
                <a:cubicBezTo>
                  <a:pt x="669598" y="0"/>
                  <a:pt x="703996" y="14248"/>
                  <a:pt x="729357" y="39609"/>
                </a:cubicBezTo>
                <a:cubicBezTo>
                  <a:pt x="754718" y="64970"/>
                  <a:pt x="768966" y="99368"/>
                  <a:pt x="768966" y="135234"/>
                </a:cubicBezTo>
                <a:lnTo>
                  <a:pt x="768966" y="351759"/>
                </a:lnTo>
                <a:cubicBezTo>
                  <a:pt x="768966" y="387625"/>
                  <a:pt x="754718" y="422022"/>
                  <a:pt x="729357" y="447383"/>
                </a:cubicBezTo>
                <a:cubicBezTo>
                  <a:pt x="703996" y="472745"/>
                  <a:pt x="669598" y="486993"/>
                  <a:pt x="633732" y="486993"/>
                </a:cubicBezTo>
                <a:lnTo>
                  <a:pt x="135234" y="486993"/>
                </a:lnTo>
                <a:cubicBezTo>
                  <a:pt x="60546" y="486993"/>
                  <a:pt x="0" y="426446"/>
                  <a:pt x="0" y="351759"/>
                </a:cubicBezTo>
                <a:lnTo>
                  <a:pt x="0" y="135234"/>
                </a:lnTo>
                <a:cubicBezTo>
                  <a:pt x="0" y="99368"/>
                  <a:pt x="14248" y="64970"/>
                  <a:pt x="39609" y="39609"/>
                </a:cubicBezTo>
                <a:cubicBezTo>
                  <a:pt x="64970" y="14248"/>
                  <a:pt x="99368" y="0"/>
                  <a:pt x="135234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E6C63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E6C63F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5C949AA1-DBB1-41C3-921F-A34C703B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02671" y="5021126"/>
            <a:ext cx="2919668" cy="21383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08A0F4A5-A7A1-421F-853B-9A5EC3AC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1936" y="5310448"/>
            <a:ext cx="2919668" cy="1849053"/>
          </a:xfrm>
          <a:custGeom xmlns:a="http://schemas.openxmlformats.org/drawingml/2006/main">
            <a:rect l="l" t="t" r="r" b="b"/>
            <a:pathLst>
              <a:path w="768966" h="486993">
                <a:moveTo>
                  <a:pt x="135234" y="0"/>
                </a:moveTo>
                <a:lnTo>
                  <a:pt x="633732" y="0"/>
                </a:lnTo>
                <a:cubicBezTo>
                  <a:pt x="669598" y="0"/>
                  <a:pt x="703996" y="14248"/>
                  <a:pt x="729357" y="39609"/>
                </a:cubicBezTo>
                <a:cubicBezTo>
                  <a:pt x="754718" y="64970"/>
                  <a:pt x="768966" y="99368"/>
                  <a:pt x="768966" y="135234"/>
                </a:cubicBezTo>
                <a:lnTo>
                  <a:pt x="768966" y="351759"/>
                </a:lnTo>
                <a:cubicBezTo>
                  <a:pt x="768966" y="387625"/>
                  <a:pt x="754718" y="422022"/>
                  <a:pt x="729357" y="447383"/>
                </a:cubicBezTo>
                <a:cubicBezTo>
                  <a:pt x="703996" y="472745"/>
                  <a:pt x="669598" y="486993"/>
                  <a:pt x="633732" y="486993"/>
                </a:cubicBezTo>
                <a:lnTo>
                  <a:pt x="135234" y="486993"/>
                </a:lnTo>
                <a:cubicBezTo>
                  <a:pt x="60546" y="486993"/>
                  <a:pt x="0" y="426446"/>
                  <a:pt x="0" y="351759"/>
                </a:cubicBezTo>
                <a:lnTo>
                  <a:pt x="0" y="135234"/>
                </a:lnTo>
                <a:cubicBezTo>
                  <a:pt x="0" y="99368"/>
                  <a:pt x="14248" y="64970"/>
                  <a:pt x="39609" y="39609"/>
                </a:cubicBezTo>
                <a:cubicBezTo>
                  <a:pt x="64970" y="14248"/>
                  <a:pt x="99368" y="0"/>
                  <a:pt x="135234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E6C63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E6C63F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4226C9E2-B4C8-4604-8412-2FBB6B7A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1936" y="5021126"/>
            <a:ext cx="2919668" cy="21383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3604E296-6CBE-4261-B3F2-AA08364E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1936" y="962025"/>
            <a:ext cx="9298798" cy="1887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7259"/>
              </a:lnSpc>
              <a:buNone/>
            </a:pPr>
            <a:r>
              <a:rPr sz="5999" b="1" u="none">
                <a:solidFill>
                  <a:srgbClr val="E6C63F"/>
                </a:solidFill>
                <a:latin typeface="Poppins 1 Bold"/>
                <a:ea typeface="Poppins 1 Bold"/>
                <a:cs typeface="Poppins 1 Bold"/>
              </a:rPr>
              <a:t>Empreender é uma evolução constante.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79065843-350E-4865-A754-D6E31CD9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1936" y="3513355"/>
            <a:ext cx="9298798" cy="8442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266"/>
              </a:lnSpc>
              <a:buNone/>
            </a:pPr>
            <a:r>
              <a:rPr sz="2699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Propomos organizar a estrutura inicial do negócio para reduzir insegurança decisória e preparar próximos passos.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1B1FEFDE-CD75-4AB2-B365-7919E302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2645" y="5860450"/>
            <a:ext cx="2538249" cy="729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32"/>
              </a:lnSpc>
              <a:buNone/>
            </a:pPr>
            <a:r>
              <a:rPr sz="24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Estrutura</a:t>
            </a:r>
          </a:p>
          <a:p xmlns:a="http://schemas.openxmlformats.org/drawingml/2006/main">
            <a:pPr algn="ctr">
              <a:lnSpc>
                <a:spcPts val="2832"/>
              </a:lnSpc>
              <a:buNone/>
            </a:pPr>
            <a:r>
              <a:rPr sz="24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mais clara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8EA50859-D067-4D97-9B60-BD01EBD5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380" y="5860450"/>
            <a:ext cx="2538249" cy="729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32"/>
              </a:lnSpc>
              <a:buNone/>
            </a:pPr>
            <a:r>
              <a:rPr sz="24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Decisão</a:t>
            </a:r>
          </a:p>
          <a:p xmlns:a="http://schemas.openxmlformats.org/drawingml/2006/main">
            <a:pPr algn="ctr">
              <a:lnSpc>
                <a:spcPts val="2832"/>
              </a:lnSpc>
              <a:buNone/>
            </a:pPr>
            <a:r>
              <a:rPr sz="24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mais segura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A7A0DBCE-97D6-4A94-AE70-0D09ADF1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1776" y="5508025"/>
            <a:ext cx="2538249" cy="1434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32"/>
              </a:lnSpc>
              <a:buNone/>
            </a:pPr>
            <a:r>
              <a:rPr sz="24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Rotinas</a:t>
            </a:r>
          </a:p>
          <a:p xmlns:a="http://schemas.openxmlformats.org/drawingml/2006/main">
            <a:pPr algn="ctr">
              <a:lnSpc>
                <a:spcPts val="2832"/>
              </a:lnSpc>
              <a:buNone/>
            </a:pPr>
            <a:r>
              <a:rPr sz="24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mais auditáveis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BADE5D05-815A-4426-B4A1-96114576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8171" y="9240497"/>
            <a:ext cx="11049000" cy="4799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779"/>
              </a:lnSpc>
              <a:spcBef>
                <a:spcPts val="0"/>
              </a:spcBef>
              <a:buNone/>
            </a:pPr>
            <a:r>
              <a:rPr sz="2699" u="none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A seguir, apresentamos como faremos isso na prática.</a:t>
            </a:r>
          </a:p>
        </p:txBody>
      </p:sp>
    </p:spTree>
    <p:extLst>
      <p:ext uri="{BB962C8B-B14F-4D97-AF65-F5344CB8AC3E}">
        <p14:creationId xmlns:p14="http://schemas.microsoft.com/office/powerpoint/2010/main" val="626440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BD801376-0FB3-36C4-A288-3F7BC34D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07178" cy="951813"/>
          </a:xfrm>
          <a:custGeom xmlns:a="http://schemas.openxmlformats.org/drawingml/2006/main">
            <a:rect l="l" t="t" r="r" b="b"/>
            <a:pathLst>
              <a:path w="1207178" h="951813">
                <a:moveTo>
                  <a:pt x="0" y="0"/>
                </a:moveTo>
                <a:lnTo>
                  <a:pt x="1207178" y="0"/>
                </a:lnTo>
                <a:lnTo>
                  <a:pt x="1207178" y="951813"/>
                </a:lnTo>
                <a:lnTo>
                  <a:pt x="0" y="95181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18d5c783ae14302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C818F453-01DF-64C3-AC54-3CF9F390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857250"/>
            <a:ext cx="8572500" cy="102039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739"/>
              </a:lnSpc>
              <a:buNone/>
            </a:pPr>
            <a:r>
              <a:rPr sz="1275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/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2A8947E3-56AE-510E-D8A8-774119C6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7001331" y="-4811875"/>
            <a:ext cx="13120761" cy="13344809"/>
          </a:xfrm>
          <a:custGeom xmlns:a="http://schemas.openxmlformats.org/drawingml/2006/main">
            <a:rect l="l" t="t" r="r" b="b"/>
            <a:pathLst>
              <a:path w="17381220" h="17678019">
                <a:moveTo>
                  <a:pt x="713105" y="5735828"/>
                </a:moveTo>
                <a:lnTo>
                  <a:pt x="0" y="17214214"/>
                </a:lnTo>
                <a:lnTo>
                  <a:pt x="7465441" y="17678019"/>
                </a:lnTo>
                <a:lnTo>
                  <a:pt x="17381220" y="11797411"/>
                </a:lnTo>
                <a:lnTo>
                  <a:pt x="10384917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8b290ab85c74420"/>
            <a:stretch>
              <a:fillRect l="0" t="-14909" r="-46822" b="-591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2E107715-E0FD-641C-35DA-88802E259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3775736" y="5008403"/>
            <a:ext cx="9736456" cy="8207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435"/>
              </a:lnSpc>
              <a:buNone/>
            </a:pPr>
            <a:r>
              <a:rPr sz="55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ESCOPO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ACC70-AA80-4E77-8705-2B71DA28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095375"/>
            <a:ext cx="8858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43E3BA"/>
                </a:solidFill>
              </a:rPr>
              <a:t>Atenderemos às necessidades apresentadas em reunião com Wilson Caldas e Priscila.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8D459F-F68B-415D-9834-943A8532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8858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FFFFFF"/>
                </a:solidFill>
              </a:rPr>
              <a:t>Escopo proposto: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94F5B1-2587-43EF-8392-5D98757B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953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FFFFFF"/>
                </a:solidFill>
              </a:rPr>
              <a:t>→ definição e estruturação legal do negócio;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rPr sz="1725" b="0">
                <a:solidFill>
                  <a:srgbClr val="FFFFFF"/>
                </a:solidFill>
              </a:rPr>
              <a:t>→ análise das atividades: intermediação, monitoramento, instalação, recebimento de valores de terceiros, patrimônio e indústria de energia;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rPr sz="1725" b="0">
                <a:solidFill>
                  <a:srgbClr val="FFFFFF"/>
                </a:solidFill>
              </a:rPr>
              <a:t>→ enquadramento e planejamento tributário conforme alternativas disponíveis na legislação atual.</a:t>
            </a:r>
          </a:p>
        </p:txBody>
      </p:sp>
    </p:spTree>
    <p:extLst>
      <p:ext uri="{BB962C8B-B14F-4D97-AF65-F5344CB8AC3E}">
        <p14:creationId xmlns:p14="http://schemas.microsoft.com/office/powerpoint/2010/main" val="34224191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FF584845-51A1-4159-8DA7-4A3BA356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774b5cc3acc4ff9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BB9659F1-6CA5-42D6-A018-6099DF2F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8" y="2736526"/>
            <a:ext cx="6380972" cy="1493589"/>
          </a:xfrm>
          <a:custGeom xmlns:a="http://schemas.openxmlformats.org/drawingml/2006/main">
            <a:rect l="l" t="t" r="r" b="b"/>
            <a:pathLst>
              <a:path w="1680585" h="393373">
                <a:moveTo>
                  <a:pt x="61877" y="0"/>
                </a:moveTo>
                <a:lnTo>
                  <a:pt x="1618708" y="0"/>
                </a:lnTo>
                <a:cubicBezTo>
                  <a:pt x="1635119" y="0"/>
                  <a:pt x="1650858" y="6519"/>
                  <a:pt x="1662462" y="18123"/>
                </a:cubicBezTo>
                <a:cubicBezTo>
                  <a:pt x="1674066" y="29728"/>
                  <a:pt x="1680585" y="45466"/>
                  <a:pt x="1680585" y="61877"/>
                </a:cubicBezTo>
                <a:lnTo>
                  <a:pt x="1680585" y="331496"/>
                </a:lnTo>
                <a:cubicBezTo>
                  <a:pt x="1680585" y="365670"/>
                  <a:pt x="1652882" y="393373"/>
                  <a:pt x="1618708" y="393373"/>
                </a:cubicBezTo>
                <a:lnTo>
                  <a:pt x="61877" y="393373"/>
                </a:lnTo>
                <a:cubicBezTo>
                  <a:pt x="45466" y="393373"/>
                  <a:pt x="29728" y="386854"/>
                  <a:pt x="18123" y="375250"/>
                </a:cubicBezTo>
                <a:cubicBezTo>
                  <a:pt x="6519" y="363645"/>
                  <a:pt x="0" y="347907"/>
                  <a:pt x="0" y="331496"/>
                </a:cubicBezTo>
                <a:lnTo>
                  <a:pt x="0" y="61877"/>
                </a:lnTo>
                <a:cubicBezTo>
                  <a:pt x="0" y="27703"/>
                  <a:pt x="27703" y="0"/>
                  <a:pt x="61877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6C0E8176-5536-470F-8628-E1BA3D03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8" y="2447204"/>
            <a:ext cx="6380972" cy="178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7474570F-5FA4-4227-ACEC-8383E7B3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8" y="4444352"/>
            <a:ext cx="6380972" cy="1493589"/>
          </a:xfrm>
          <a:custGeom xmlns:a="http://schemas.openxmlformats.org/drawingml/2006/main">
            <a:rect l="l" t="t" r="r" b="b"/>
            <a:pathLst>
              <a:path w="1680585" h="393373">
                <a:moveTo>
                  <a:pt x="61877" y="0"/>
                </a:moveTo>
                <a:lnTo>
                  <a:pt x="1618708" y="0"/>
                </a:lnTo>
                <a:cubicBezTo>
                  <a:pt x="1635119" y="0"/>
                  <a:pt x="1650858" y="6519"/>
                  <a:pt x="1662462" y="18123"/>
                </a:cubicBezTo>
                <a:cubicBezTo>
                  <a:pt x="1674066" y="29728"/>
                  <a:pt x="1680585" y="45466"/>
                  <a:pt x="1680585" y="61877"/>
                </a:cubicBezTo>
                <a:lnTo>
                  <a:pt x="1680585" y="331496"/>
                </a:lnTo>
                <a:cubicBezTo>
                  <a:pt x="1680585" y="365670"/>
                  <a:pt x="1652882" y="393373"/>
                  <a:pt x="1618708" y="393373"/>
                </a:cubicBezTo>
                <a:lnTo>
                  <a:pt x="61877" y="393373"/>
                </a:lnTo>
                <a:cubicBezTo>
                  <a:pt x="45466" y="393373"/>
                  <a:pt x="29728" y="386854"/>
                  <a:pt x="18123" y="375250"/>
                </a:cubicBezTo>
                <a:cubicBezTo>
                  <a:pt x="6519" y="363645"/>
                  <a:pt x="0" y="347907"/>
                  <a:pt x="0" y="331496"/>
                </a:cubicBezTo>
                <a:lnTo>
                  <a:pt x="0" y="61877"/>
                </a:lnTo>
                <a:cubicBezTo>
                  <a:pt x="0" y="27703"/>
                  <a:pt x="27703" y="0"/>
                  <a:pt x="61877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1F5C34A2-6F11-40E2-AAF3-D4A6E4AA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8" y="4155030"/>
            <a:ext cx="6380972" cy="178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78CA33DC-58A5-4070-BD5C-0AB46C54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8" y="6152178"/>
            <a:ext cx="6380972" cy="1493589"/>
          </a:xfrm>
          <a:custGeom xmlns:a="http://schemas.openxmlformats.org/drawingml/2006/main">
            <a:rect l="l" t="t" r="r" b="b"/>
            <a:pathLst>
              <a:path w="1680585" h="393373">
                <a:moveTo>
                  <a:pt x="61877" y="0"/>
                </a:moveTo>
                <a:lnTo>
                  <a:pt x="1618708" y="0"/>
                </a:lnTo>
                <a:cubicBezTo>
                  <a:pt x="1635119" y="0"/>
                  <a:pt x="1650858" y="6519"/>
                  <a:pt x="1662462" y="18123"/>
                </a:cubicBezTo>
                <a:cubicBezTo>
                  <a:pt x="1674066" y="29728"/>
                  <a:pt x="1680585" y="45466"/>
                  <a:pt x="1680585" y="61877"/>
                </a:cubicBezTo>
                <a:lnTo>
                  <a:pt x="1680585" y="331496"/>
                </a:lnTo>
                <a:cubicBezTo>
                  <a:pt x="1680585" y="365670"/>
                  <a:pt x="1652882" y="393373"/>
                  <a:pt x="1618708" y="393373"/>
                </a:cubicBezTo>
                <a:lnTo>
                  <a:pt x="61877" y="393373"/>
                </a:lnTo>
                <a:cubicBezTo>
                  <a:pt x="45466" y="393373"/>
                  <a:pt x="29728" y="386854"/>
                  <a:pt x="18123" y="375250"/>
                </a:cubicBezTo>
                <a:cubicBezTo>
                  <a:pt x="6519" y="363645"/>
                  <a:pt x="0" y="347907"/>
                  <a:pt x="0" y="331496"/>
                </a:cubicBezTo>
                <a:lnTo>
                  <a:pt x="0" y="61877"/>
                </a:lnTo>
                <a:cubicBezTo>
                  <a:pt x="0" y="27703"/>
                  <a:pt x="27703" y="0"/>
                  <a:pt x="61877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4FC5D7E8-FA41-4507-8D03-D8A851D4B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8" y="5862856"/>
            <a:ext cx="6380972" cy="178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2AA18263-6DEA-45AB-867D-B728760A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8" y="1028700"/>
            <a:ext cx="6380972" cy="1493589"/>
          </a:xfrm>
          <a:custGeom xmlns:a="http://schemas.openxmlformats.org/drawingml/2006/main">
            <a:rect l="l" t="t" r="r" b="b"/>
            <a:pathLst>
              <a:path w="1680585" h="393373">
                <a:moveTo>
                  <a:pt x="61877" y="0"/>
                </a:moveTo>
                <a:lnTo>
                  <a:pt x="1618708" y="0"/>
                </a:lnTo>
                <a:cubicBezTo>
                  <a:pt x="1635119" y="0"/>
                  <a:pt x="1650858" y="6519"/>
                  <a:pt x="1662462" y="18123"/>
                </a:cubicBezTo>
                <a:cubicBezTo>
                  <a:pt x="1674066" y="29728"/>
                  <a:pt x="1680585" y="45466"/>
                  <a:pt x="1680585" y="61877"/>
                </a:cubicBezTo>
                <a:lnTo>
                  <a:pt x="1680585" y="331496"/>
                </a:lnTo>
                <a:cubicBezTo>
                  <a:pt x="1680585" y="365670"/>
                  <a:pt x="1652882" y="393373"/>
                  <a:pt x="1618708" y="393373"/>
                </a:cubicBezTo>
                <a:lnTo>
                  <a:pt x="61877" y="393373"/>
                </a:lnTo>
                <a:cubicBezTo>
                  <a:pt x="45466" y="393373"/>
                  <a:pt x="29728" y="386854"/>
                  <a:pt x="18123" y="375250"/>
                </a:cubicBezTo>
                <a:cubicBezTo>
                  <a:pt x="6519" y="363645"/>
                  <a:pt x="0" y="347907"/>
                  <a:pt x="0" y="331496"/>
                </a:cubicBezTo>
                <a:lnTo>
                  <a:pt x="0" y="61877"/>
                </a:lnTo>
                <a:cubicBezTo>
                  <a:pt x="0" y="27703"/>
                  <a:pt x="27703" y="0"/>
                  <a:pt x="61877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C4196FFA-8A80-42C1-B62E-6C9D3E67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8" y="739378"/>
            <a:ext cx="6380972" cy="178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30B3C28E-DCBA-4EF9-9874-7553A48C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300" y="1775494"/>
            <a:ext cx="1828186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945559DC-47D7-41ED-B87D-26792B30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300" y="3440447"/>
            <a:ext cx="207928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A07EC03A-E356-4846-B13C-8DD0E2D4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300" y="5143500"/>
            <a:ext cx="207928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8F0AB1FD-47A4-4EDD-8747-43531D9D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300" y="6808453"/>
            <a:ext cx="2079280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Freeform 20">
            <a:extLst xmlns:a="http://schemas.openxmlformats.org/drawingml/2006/main">
              <a:ext uri="{FF2B5EF4-FFF2-40B4-BE49-F238E27FC236}">
                <a16:creationId xmlns:a16="http://schemas.microsoft.com/office/drawing/2014/main" id="{64E6F750-BB6F-404C-9F20-B8EB6E66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8" y="7860004"/>
            <a:ext cx="6380972" cy="1493589"/>
          </a:xfrm>
          <a:custGeom xmlns:a="http://schemas.openxmlformats.org/drawingml/2006/main">
            <a:rect l="l" t="t" r="r" b="b"/>
            <a:pathLst>
              <a:path w="1680585" h="393373">
                <a:moveTo>
                  <a:pt x="61877" y="0"/>
                </a:moveTo>
                <a:lnTo>
                  <a:pt x="1618708" y="0"/>
                </a:lnTo>
                <a:cubicBezTo>
                  <a:pt x="1635119" y="0"/>
                  <a:pt x="1650858" y="6519"/>
                  <a:pt x="1662462" y="18123"/>
                </a:cubicBezTo>
                <a:cubicBezTo>
                  <a:pt x="1674066" y="29728"/>
                  <a:pt x="1680585" y="45466"/>
                  <a:pt x="1680585" y="61877"/>
                </a:cubicBezTo>
                <a:lnTo>
                  <a:pt x="1680585" y="331496"/>
                </a:lnTo>
                <a:cubicBezTo>
                  <a:pt x="1680585" y="365670"/>
                  <a:pt x="1652882" y="393373"/>
                  <a:pt x="1618708" y="393373"/>
                </a:cubicBezTo>
                <a:lnTo>
                  <a:pt x="61877" y="393373"/>
                </a:lnTo>
                <a:cubicBezTo>
                  <a:pt x="45466" y="393373"/>
                  <a:pt x="29728" y="386854"/>
                  <a:pt x="18123" y="375250"/>
                </a:cubicBezTo>
                <a:cubicBezTo>
                  <a:pt x="6519" y="363645"/>
                  <a:pt x="0" y="347907"/>
                  <a:pt x="0" y="331496"/>
                </a:cubicBezTo>
                <a:lnTo>
                  <a:pt x="0" y="61877"/>
                </a:lnTo>
                <a:cubicBezTo>
                  <a:pt x="0" y="27703"/>
                  <a:pt x="27703" y="0"/>
                  <a:pt x="61877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9DA5E1C8-8D78-456D-BB5C-811260D8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16328" y="7570682"/>
            <a:ext cx="6380972" cy="178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4348218B-29E8-41E4-A0F0-10714BB4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97300" y="8606799"/>
            <a:ext cx="1828186" cy="0"/>
          </a:xfrm>
          <a:prstGeom xmlns:a="http://schemas.openxmlformats.org/drawingml/2006/main" prst="line">
            <a:avLst/>
          </a:prstGeom>
          <a:ln xmlns:a="http://schemas.openxmlformats.org/drawingml/2006/main" w="38100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43DEFE78-E362-4211-9927-2AE19345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300" y="9372600"/>
            <a:ext cx="865367" cy="682308"/>
          </a:xfrm>
          <a:custGeom xmlns:a="http://schemas.openxmlformats.org/drawingml/2006/main"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c1a29b3f45148c7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8B66D24E-06F8-468F-A5A4-E2AD8ADD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6105" y="2971002"/>
            <a:ext cx="5421419" cy="9960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871"/>
              </a:lnSpc>
              <a:buNone/>
            </a:pPr>
            <a:r>
              <a:rPr sz="3199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Gestão financeira e orçamentária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F66893BF-3F37-410F-BFD5-95902122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6105" y="4678828"/>
            <a:ext cx="5421419" cy="9960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871"/>
              </a:lnSpc>
              <a:buNone/>
            </a:pPr>
            <a:r>
              <a:rPr sz="3199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Custos e precificação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430C5A33-BAF3-4C31-9B4A-777735C1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6105" y="6386655"/>
            <a:ext cx="5421419" cy="9960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871"/>
              </a:lnSpc>
              <a:buNone/>
            </a:pPr>
            <a:r>
              <a:rPr sz="3199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Consultoria fiscal e contábil</a:t>
            </a:r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80E4143B-119F-4E9A-9256-9FC54797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6105" y="1263176"/>
            <a:ext cx="5421419" cy="9960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871"/>
              </a:lnSpc>
              <a:buNone/>
            </a:pPr>
            <a:r>
              <a:rPr sz="3199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Gestão de Processos de Negócio (BPM)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9E6DB608-C203-4FD7-88D3-CD8D8A347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6105" y="8337368"/>
            <a:ext cx="5421419" cy="5102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871"/>
              </a:lnSpc>
              <a:buNone/>
            </a:pPr>
            <a:r>
              <a:rPr sz="3199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Auditoria interna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C92D1A8D-9864-4283-B4BD-4AE6DDC5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4603" y="2318564"/>
            <a:ext cx="6873524" cy="57451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5639"/>
              </a:lnSpc>
              <a:spcBef>
                <a:spcPts val="0"/>
              </a:spcBef>
              <a:buNone/>
            </a:pPr>
            <a:r>
              <a:rPr sz="4800" u="none">
                <a:solidFill>
                  <a:srgbClr val="39F2AE"/>
                </a:solidFill>
                <a:latin typeface="Poppins 2"/>
                <a:ea typeface="Poppins 2"/>
                <a:cs typeface="Poppins 2"/>
              </a:rPr>
              <a:t>Criaremos uma solução coordenada, prática e personalizada para a realidade da Britos Mag, integrando leitura legal, tributária, financeira, fiscal, operacional e de controle.</a:t>
            </a:r>
          </a:p>
        </p:txBody>
      </p:sp>
      <p:sp>
        <p:nvSpPr>
          <p:cNvPr id="29" name="TextBox 6">
            <a:extLst xmlns:a="http://schemas.openxmlformats.org/drawingml/2006/main">
              <a:ext uri="{FF2B5EF4-FFF2-40B4-BE49-F238E27FC236}">
                <a16:creationId xmlns:a16="http://schemas.microsoft.com/office/drawing/2014/main" id="{7CD81174-90B6-D59A-13F0-A5F95925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3775736" y="5008403"/>
            <a:ext cx="9736456" cy="8207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435"/>
              </a:lnSpc>
              <a:buNone/>
            </a:pPr>
            <a:r>
              <a:rPr sz="55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COMO FAREMOS</a:t>
            </a:r>
          </a:p>
        </p:txBody>
      </p:sp>
    </p:spTree>
    <p:extLst>
      <p:ext uri="{BB962C8B-B14F-4D97-AF65-F5344CB8AC3E}">
        <p14:creationId xmlns:p14="http://schemas.microsoft.com/office/powerpoint/2010/main" val="512811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56CF165A-E37B-4591-87B6-A8CF37F68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07178" cy="951813"/>
          </a:xfrm>
          <a:custGeom xmlns:a="http://schemas.openxmlformats.org/drawingml/2006/main">
            <a:rect l="l" t="t" r="r" b="b"/>
            <a:pathLst>
              <a:path w="1207178" h="951813">
                <a:moveTo>
                  <a:pt x="0" y="0"/>
                </a:moveTo>
                <a:lnTo>
                  <a:pt x="1207178" y="0"/>
                </a:lnTo>
                <a:lnTo>
                  <a:pt x="1207178" y="951813"/>
                </a:lnTo>
                <a:lnTo>
                  <a:pt x="0" y="95181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ac158d2fbd54df5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484288E6-F99C-480F-8FDB-4CD6AA55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381125"/>
            <a:ext cx="112395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739"/>
              </a:lnSpc>
              <a:buNone/>
            </a:pPr>
            <a:r>
              <a:rPr sz="3399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/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7F3462B1-1332-49C7-ABC8-4ECBF0BB1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5033558" y="-4243057"/>
            <a:ext cx="13120761" cy="13344809"/>
          </a:xfrm>
          <a:custGeom xmlns:a="http://schemas.openxmlformats.org/drawingml/2006/main">
            <a:rect l="l" t="t" r="r" b="b"/>
            <a:pathLst>
              <a:path w="17381220" h="17678019">
                <a:moveTo>
                  <a:pt x="713105" y="5735828"/>
                </a:moveTo>
                <a:lnTo>
                  <a:pt x="0" y="17214214"/>
                </a:lnTo>
                <a:lnTo>
                  <a:pt x="7465441" y="17678019"/>
                </a:lnTo>
                <a:lnTo>
                  <a:pt x="17381220" y="11797411"/>
                </a:lnTo>
                <a:lnTo>
                  <a:pt x="10384917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79faeaaa95b4145"/>
            <a:stretch>
              <a:fillRect l="0" t="-14909" r="-46822" b="-591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B1144CF1-F6EC-4708-B3C2-E9FD37C7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3775736" y="4984432"/>
            <a:ext cx="9736456" cy="868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435"/>
              </a:lnSpc>
              <a:buNone/>
            </a:pPr>
            <a:r>
              <a:rPr sz="55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COMO TRABALHAMOS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6BB076-4383-4F1D-93C4-A2C73E52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8572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43E3BA"/>
                </a:solidFill>
              </a:defRPr>
            </a:pPr>
            <a:r>
              <a:rPr sz="1950" b="1">
                <a:solidFill>
                  <a:srgbClr val="43E3BA"/>
                </a:solidFill>
              </a:rPr>
              <a:t>Cada frente será estruturada como projeto: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1A509-3687-4075-99DF-50F65E6B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14625"/>
            <a:ext cx="8572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a) alinhamento de expectativas;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b) levantamento de informações;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c) análise técnica e consultiva;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d) validações intermediárias;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e) entrega do relatório final;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f) orientação executiva sobre próximos passos.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A efetividade depende da disponibilidade das informações e da participação dos responsáveis.</a:t>
            </a:r>
          </a:p>
        </p:txBody>
      </p:sp>
    </p:spTree>
    <p:extLst>
      <p:ext uri="{BB962C8B-B14F-4D97-AF65-F5344CB8AC3E}">
        <p14:creationId xmlns:p14="http://schemas.microsoft.com/office/powerpoint/2010/main" val="413545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0D93D4F-C67D-46AA-BDA4-F528E93C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cadbfe007d42457a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6BB81ECC-DD9A-40A7-B230-1BFB4F9C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7610187"/>
            <a:ext cx="2269379" cy="1534100"/>
          </a:xfrm>
          <a:custGeom xmlns:a="http://schemas.openxmlformats.org/drawingml/2006/main">
            <a:rect l="l" t="t" r="r" b="b"/>
            <a:pathLst>
              <a:path w="3025839" h="2045467">
                <a:moveTo>
                  <a:pt x="0" y="0"/>
                </a:moveTo>
                <a:lnTo>
                  <a:pt x="3025839" y="0"/>
                </a:lnTo>
                <a:lnTo>
                  <a:pt x="3025839" y="2045467"/>
                </a:lnTo>
                <a:lnTo>
                  <a:pt x="0" y="204546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0c0b71584e7407c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8027A220-ECAF-447E-8020-51C9515E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99440" y="8091295"/>
            <a:ext cx="2559859" cy="562806"/>
          </a:xfrm>
          <a:custGeom xmlns:a="http://schemas.openxmlformats.org/drawingml/2006/main">
            <a:rect l="l" t="t" r="r" b="b"/>
            <a:pathLst>
              <a:path w="3413146" h="750408">
                <a:moveTo>
                  <a:pt x="0" y="0"/>
                </a:moveTo>
                <a:lnTo>
                  <a:pt x="3413146" y="0"/>
                </a:lnTo>
                <a:lnTo>
                  <a:pt x="3413146" y="750408"/>
                </a:lnTo>
                <a:lnTo>
                  <a:pt x="0" y="75040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c3f606fe5ee4fdd"/>
            <a:stretch>
              <a:fillRect l="-12998" t="-241791" r="-12887" b="-230788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reeform 6">
            <a:extLst xmlns:a="http://schemas.openxmlformats.org/drawingml/2006/main">
              <a:ext uri="{FF2B5EF4-FFF2-40B4-BE49-F238E27FC236}">
                <a16:creationId xmlns:a16="http://schemas.microsoft.com/office/drawing/2014/main" id="{3942A3EF-B074-4417-930C-72D72F43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1348" y="7950594"/>
            <a:ext cx="2006131" cy="853286"/>
          </a:xfrm>
          <a:custGeom xmlns:a="http://schemas.openxmlformats.org/drawingml/2006/main">
            <a:rect l="l" t="t" r="r" b="b"/>
            <a:pathLst>
              <a:path w="2674842" h="1137715">
                <a:moveTo>
                  <a:pt x="0" y="0"/>
                </a:moveTo>
                <a:lnTo>
                  <a:pt x="2674842" y="0"/>
                </a:lnTo>
                <a:lnTo>
                  <a:pt x="2674842" y="1137715"/>
                </a:lnTo>
                <a:lnTo>
                  <a:pt x="0" y="113771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bf3c8e74c234b2d"/>
            <a:stretch>
              <a:fillRect l="0" t="-67702" r="0" b="-67404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7789996A-1572-447D-9F57-CA30D450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93070" y="7755427"/>
            <a:ext cx="1633953" cy="1243620"/>
          </a:xfrm>
          <a:custGeom xmlns:a="http://schemas.openxmlformats.org/drawingml/2006/main">
            <a:rect l="l" t="t" r="r" b="b"/>
            <a:pathLst>
              <a:path w="2178604" h="1658160">
                <a:moveTo>
                  <a:pt x="0" y="0"/>
                </a:moveTo>
                <a:lnTo>
                  <a:pt x="2178604" y="0"/>
                </a:lnTo>
                <a:lnTo>
                  <a:pt x="2178604" y="1658159"/>
                </a:lnTo>
                <a:lnTo>
                  <a:pt x="0" y="165815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b527500b6546b4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0956F016-095C-498E-9609-6AE634F5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01797" y="7537567"/>
            <a:ext cx="1443325" cy="1679341"/>
          </a:xfrm>
          <a:custGeom xmlns:a="http://schemas.openxmlformats.org/drawingml/2006/main">
            <a:rect l="l" t="t" r="r" b="b"/>
            <a:pathLst>
              <a:path w="1924434" h="2239121">
                <a:moveTo>
                  <a:pt x="0" y="0"/>
                </a:moveTo>
                <a:lnTo>
                  <a:pt x="1924434" y="0"/>
                </a:lnTo>
                <a:lnTo>
                  <a:pt x="1924434" y="2239121"/>
                </a:lnTo>
                <a:lnTo>
                  <a:pt x="0" y="2239121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d1f4898cf6384bf0"/>
            <a:stretch>
              <a:fillRect l="-25023" t="-21507" r="-46674" b="-2606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37733A87-3E93-44FB-90B5-5FD2289C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1341" y="7746349"/>
            <a:ext cx="2305689" cy="1252697"/>
          </a:xfrm>
          <a:custGeom xmlns:a="http://schemas.openxmlformats.org/drawingml/2006/main">
            <a:rect l="l" t="t" r="r" b="b"/>
            <a:pathLst>
              <a:path w="3074252" h="1670263">
                <a:moveTo>
                  <a:pt x="0" y="0"/>
                </a:moveTo>
                <a:lnTo>
                  <a:pt x="3074252" y="0"/>
                </a:lnTo>
                <a:lnTo>
                  <a:pt x="3074252" y="1670263"/>
                </a:lnTo>
                <a:lnTo>
                  <a:pt x="0" y="167026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c16db5d3e624de9"/>
            <a:stretch>
              <a:fillRect l="0" t="-41894" r="0" b="-4216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4A6A39F5-CF2D-4A11-A3B9-183325F14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52397" y="8109450"/>
            <a:ext cx="3086355" cy="535573"/>
          </a:xfrm>
          <a:custGeom xmlns:a="http://schemas.openxmlformats.org/drawingml/2006/main">
            <a:rect l="l" t="t" r="r" b="b"/>
            <a:pathLst>
              <a:path w="4115141" h="714098">
                <a:moveTo>
                  <a:pt x="0" y="0"/>
                </a:moveTo>
                <a:lnTo>
                  <a:pt x="4115141" y="0"/>
                </a:lnTo>
                <a:lnTo>
                  <a:pt x="4115141" y="714098"/>
                </a:lnTo>
                <a:lnTo>
                  <a:pt x="0" y="71409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57fc36eb6104392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832BA7DA-ABF7-420A-9550-4E52D34A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300" y="9372600"/>
            <a:ext cx="865367" cy="682308"/>
          </a:xfrm>
          <a:custGeom xmlns:a="http://schemas.openxmlformats.org/drawingml/2006/main"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9947a52f8124edc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B4C2400B-8B5C-424F-8420-F11FED28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05794" y="3299489"/>
            <a:ext cx="2938144" cy="910590"/>
          </a:xfrm>
          <a:custGeom xmlns:a="http://schemas.openxmlformats.org/drawingml/2006/main">
            <a:rect l="l" t="t" r="r" b="b"/>
            <a:pathLst>
              <a:path w="773832" h="239826">
                <a:moveTo>
                  <a:pt x="119913" y="0"/>
                </a:moveTo>
                <a:lnTo>
                  <a:pt x="653919" y="0"/>
                </a:lnTo>
                <a:cubicBezTo>
                  <a:pt x="685722" y="0"/>
                  <a:pt x="716222" y="12634"/>
                  <a:pt x="738710" y="35122"/>
                </a:cubicBezTo>
                <a:cubicBezTo>
                  <a:pt x="761198" y="57610"/>
                  <a:pt x="773832" y="88110"/>
                  <a:pt x="773832" y="119913"/>
                </a:cubicBezTo>
                <a:lnTo>
                  <a:pt x="773832" y="119913"/>
                </a:lnTo>
                <a:cubicBezTo>
                  <a:pt x="773832" y="151716"/>
                  <a:pt x="761198" y="182216"/>
                  <a:pt x="738710" y="204704"/>
                </a:cubicBezTo>
                <a:cubicBezTo>
                  <a:pt x="716222" y="227193"/>
                  <a:pt x="685722" y="239826"/>
                  <a:pt x="653919" y="239826"/>
                </a:cubicBezTo>
                <a:lnTo>
                  <a:pt x="119913" y="239826"/>
                </a:lnTo>
                <a:cubicBezTo>
                  <a:pt x="88110" y="239826"/>
                  <a:pt x="57610" y="227193"/>
                  <a:pt x="35122" y="204704"/>
                </a:cubicBezTo>
                <a:cubicBezTo>
                  <a:pt x="12634" y="182216"/>
                  <a:pt x="0" y="151716"/>
                  <a:pt x="0" y="119913"/>
                </a:cubicBezTo>
                <a:lnTo>
                  <a:pt x="0" y="119913"/>
                </a:lnTo>
                <a:cubicBezTo>
                  <a:pt x="0" y="88110"/>
                  <a:pt x="12634" y="57610"/>
                  <a:pt x="35122" y="35122"/>
                </a:cubicBezTo>
                <a:cubicBezTo>
                  <a:pt x="57610" y="12634"/>
                  <a:pt x="88110" y="0"/>
                  <a:pt x="119913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E6C63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E6C63F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E3BCAE94-B341-418F-AD66-43C14D1A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05794" y="3010167"/>
            <a:ext cx="2938144" cy="11999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A556EA82-5C20-44CD-9DCA-7F670EE99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05794" y="5038754"/>
            <a:ext cx="2938144" cy="910590"/>
          </a:xfrm>
          <a:custGeom xmlns:a="http://schemas.openxmlformats.org/drawingml/2006/main">
            <a:rect l="l" t="t" r="r" b="b"/>
            <a:pathLst>
              <a:path w="773832" h="239826">
                <a:moveTo>
                  <a:pt x="119913" y="0"/>
                </a:moveTo>
                <a:lnTo>
                  <a:pt x="653919" y="0"/>
                </a:lnTo>
                <a:cubicBezTo>
                  <a:pt x="685722" y="0"/>
                  <a:pt x="716222" y="12634"/>
                  <a:pt x="738710" y="35122"/>
                </a:cubicBezTo>
                <a:cubicBezTo>
                  <a:pt x="761198" y="57610"/>
                  <a:pt x="773832" y="88110"/>
                  <a:pt x="773832" y="119913"/>
                </a:cubicBezTo>
                <a:lnTo>
                  <a:pt x="773832" y="119913"/>
                </a:lnTo>
                <a:cubicBezTo>
                  <a:pt x="773832" y="151716"/>
                  <a:pt x="761198" y="182216"/>
                  <a:pt x="738710" y="204704"/>
                </a:cubicBezTo>
                <a:cubicBezTo>
                  <a:pt x="716222" y="227193"/>
                  <a:pt x="685722" y="239826"/>
                  <a:pt x="653919" y="239826"/>
                </a:cubicBezTo>
                <a:lnTo>
                  <a:pt x="119913" y="239826"/>
                </a:lnTo>
                <a:cubicBezTo>
                  <a:pt x="88110" y="239826"/>
                  <a:pt x="57610" y="227193"/>
                  <a:pt x="35122" y="204704"/>
                </a:cubicBezTo>
                <a:cubicBezTo>
                  <a:pt x="12634" y="182216"/>
                  <a:pt x="0" y="151716"/>
                  <a:pt x="0" y="119913"/>
                </a:cubicBezTo>
                <a:lnTo>
                  <a:pt x="0" y="119913"/>
                </a:lnTo>
                <a:cubicBezTo>
                  <a:pt x="0" y="88110"/>
                  <a:pt x="12634" y="57610"/>
                  <a:pt x="35122" y="35122"/>
                </a:cubicBezTo>
                <a:cubicBezTo>
                  <a:pt x="57610" y="12634"/>
                  <a:pt x="88110" y="0"/>
                  <a:pt x="119913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E6C63F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E6C63F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886A636C-6F85-425F-BACA-4305E34A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205794" y="4749432"/>
            <a:ext cx="2938144" cy="11999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E5EDB88A-4A9F-4BAB-BAF8-BEFA9D59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669" y="981075"/>
            <a:ext cx="4504536" cy="803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6050"/>
              </a:lnSpc>
              <a:buNone/>
            </a:pPr>
            <a:r>
              <a:rPr sz="5000" b="1">
                <a:solidFill>
                  <a:srgbClr val="FFFFFF"/>
                </a:solidFill>
                <a:latin typeface="Poppins 1 Bold"/>
                <a:ea typeface="Poppins 1 Bold"/>
                <a:cs typeface="Poppins 1 Bold"/>
              </a:rPr>
              <a:t>Histórias de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CBFE532B-73A1-4FCE-906B-10568189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669" y="1461930"/>
            <a:ext cx="6072011" cy="1469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1080"/>
              </a:lnSpc>
              <a:buNone/>
            </a:pPr>
            <a:r>
              <a:rPr sz="9157" b="1">
                <a:solidFill>
                  <a:srgbClr val="3AF1AE"/>
                </a:solidFill>
                <a:latin typeface="Poppins 1 Bold"/>
                <a:ea typeface="Poppins 1 Bold"/>
                <a:cs typeface="Poppins 1 Bold"/>
              </a:rPr>
              <a:t>SUCESSO</a:t>
            </a:r>
          </a:p>
        </p:txBody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8E6EECC5-6DA7-4D26-86E7-CB55DE5B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669" y="3270914"/>
            <a:ext cx="7179133" cy="9391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29"/>
              </a:lnSpc>
              <a:buNone/>
            </a:pPr>
            <a:r>
              <a:rPr sz="3000" b="1">
                <a:solidFill>
                  <a:srgbClr val="E6C63F"/>
                </a:solidFill>
                <a:latin typeface="Poppins 1 Bold"/>
                <a:ea typeface="Poppins 1 Bold"/>
                <a:cs typeface="Poppins 1 Bold"/>
              </a:rPr>
              <a:t>Mais de 15 anos de experiência e parcerias de longo prazo.</a:t>
            </a:r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B4A7E2DA-5621-406E-9D93-427EDC84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669" y="4552979"/>
            <a:ext cx="9213691" cy="18466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629"/>
              </a:lnSpc>
              <a:buNone/>
            </a:pPr>
            <a:r>
              <a:rPr sz="3000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Nossa atuação busca gerar clareza, governança e evolução real para os clientes. Cases específicos devem ser usados quando houver autorização de divulgação.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12191E18-DD9B-4F61-8489-E2F820F9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0639" y="6928480"/>
            <a:ext cx="4026721" cy="8298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267"/>
              </a:lnSpc>
              <a:buNone/>
            </a:pPr>
            <a:r>
              <a:rPr sz="27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Clientes e evidências autorizadas:</a:t>
            </a:r>
          </a:p>
        </p:txBody>
      </p:sp>
    </p:spTree>
    <p:extLst>
      <p:ext uri="{BB962C8B-B14F-4D97-AF65-F5344CB8AC3E}">
        <p14:creationId xmlns:p14="http://schemas.microsoft.com/office/powerpoint/2010/main" val="6639760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37BC3C6D-0742-47FC-BF0E-7BC1E6B1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7607" y="-1559850"/>
            <a:ext cx="13120761" cy="13344809"/>
          </a:xfrm>
          <a:custGeom xmlns:a="http://schemas.openxmlformats.org/drawingml/2006/main">
            <a:rect l="l" t="t" r="r" b="b"/>
            <a:pathLst>
              <a:path w="17381220" h="17678019">
                <a:moveTo>
                  <a:pt x="713105" y="5735828"/>
                </a:moveTo>
                <a:lnTo>
                  <a:pt x="0" y="17214214"/>
                </a:lnTo>
                <a:lnTo>
                  <a:pt x="7465441" y="17678019"/>
                </a:lnTo>
                <a:lnTo>
                  <a:pt x="17381220" y="11797411"/>
                </a:lnTo>
                <a:lnTo>
                  <a:pt x="10384917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c49492ed5a14b7d"/>
            <a:stretch>
              <a:fillRect l="0" t="-14909" r="-46822" b="-591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reeform 4">
            <a:extLst xmlns:a="http://schemas.openxmlformats.org/drawingml/2006/main">
              <a:ext uri="{FF2B5EF4-FFF2-40B4-BE49-F238E27FC236}">
                <a16:creationId xmlns:a16="http://schemas.microsoft.com/office/drawing/2014/main" id="{0B41BA75-810F-46EA-9F29-6A7BB712D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443" y="-3094827"/>
            <a:ext cx="18288000" cy="12801600"/>
          </a:xfrm>
          <a:custGeom xmlns:a="http://schemas.openxmlformats.org/drawingml/2006/main">
            <a:rect l="l" t="t" r="r" b="b"/>
            <a:pathLst>
              <a:path w="18288000" h="12801600">
                <a:moveTo>
                  <a:pt x="0" y="0"/>
                </a:moveTo>
                <a:lnTo>
                  <a:pt x="18288000" y="0"/>
                </a:lnTo>
                <a:lnTo>
                  <a:pt x="18288000" y="12801600"/>
                </a:lnTo>
                <a:lnTo>
                  <a:pt x="0" y="128016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f3350018a5143a6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42934650-E2AF-4942-A540-200FD910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07178" cy="951813"/>
          </a:xfrm>
          <a:custGeom xmlns:a="http://schemas.openxmlformats.org/drawingml/2006/main">
            <a:rect l="l" t="t" r="r" b="b"/>
            <a:pathLst>
              <a:path w="1207178" h="951813">
                <a:moveTo>
                  <a:pt x="0" y="0"/>
                </a:moveTo>
                <a:lnTo>
                  <a:pt x="1207178" y="0"/>
                </a:lnTo>
                <a:lnTo>
                  <a:pt x="1207178" y="951813"/>
                </a:lnTo>
                <a:lnTo>
                  <a:pt x="0" y="95181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fc2221b330548e6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218329F7-8B89-4AE1-AD24-BBB901C1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81125"/>
            <a:ext cx="12858750" cy="714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5401"/>
              </a:lnSpc>
              <a:buNone/>
            </a:pPr>
            <a:r>
              <a:rPr sz="2025" b="1">
                <a:solidFill>
                  <a:schemeClr val="bg1"/>
                </a:solidFill>
                <a:latin typeface="Poppins 1"/>
                <a:ea typeface="Poppins 1"/>
                <a:cs typeface="Poppins 1"/>
              </a:rPr>
              <a:t/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6CAA97D6-9326-4BAE-A4CC-A710C4DB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3782378" y="4709160"/>
            <a:ext cx="9736456" cy="868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6435"/>
              </a:lnSpc>
              <a:buNone/>
            </a:pPr>
            <a:r>
              <a:rPr sz="55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INVESTIMENTO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BDC6EC-BD67-4CA0-9529-8045891F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190625"/>
            <a:ext cx="11430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O investimento para esta etapa será de: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D4B4B-FC44-4829-8127-47F73249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9525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43E3BA"/>
                </a:solidFill>
              </a:defRPr>
            </a:pPr>
            <a:r>
              <a:rPr sz="3300" b="1">
                <a:solidFill>
                  <a:srgbClr val="43E3BA"/>
                </a:solidFill>
              </a:rPr>
              <a:t>R$ 6.500,00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8F880C-9D77-4490-BADF-C0E132F7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10477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seis mil e quinhentos reais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9D849-6980-4E23-85DB-A4F6A010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57625"/>
            <a:ext cx="11430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Forma de pagamento: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• 50% no início dos trabalhos;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• 50% na entrega do relatório final.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22D830-269B-4583-90F3-721D1DD4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143625"/>
            <a:ext cx="11906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O valor considera o volume de trabalho, o conhecimento necessário, as técnicas aplicadas e o impacto esperado na qualidade da decisão.</a:t>
            </a:r>
          </a:p>
        </p:txBody>
      </p:sp>
    </p:spTree>
    <p:extLst>
      <p:ext uri="{BB962C8B-B14F-4D97-AF65-F5344CB8AC3E}">
        <p14:creationId xmlns:p14="http://schemas.microsoft.com/office/powerpoint/2010/main" val="159598227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A516497D-18DA-4676-BE16-D75AE56D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ae5387a8bd9b490d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01E6E5BD-73D9-4311-8CC7-ECB01EF7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59300" y="9372600"/>
            <a:ext cx="865367" cy="682308"/>
          </a:xfrm>
          <a:custGeom xmlns:a="http://schemas.openxmlformats.org/drawingml/2006/main">
            <a:rect l="l" t="t" r="r" b="b"/>
            <a:pathLst>
              <a:path w="865367" h="682308">
                <a:moveTo>
                  <a:pt x="0" y="0"/>
                </a:moveTo>
                <a:lnTo>
                  <a:pt x="865367" y="0"/>
                </a:lnTo>
                <a:lnTo>
                  <a:pt x="865367" y="682308"/>
                </a:lnTo>
                <a:lnTo>
                  <a:pt x="0" y="68230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2024695b99b4164"/>
            <a:stretch>
              <a:fillRect l="-85271" t="-112639" r="-84921" b="-130043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6A5BE9B4-0263-407C-9B5F-F64054FE0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04" y="1585699"/>
            <a:ext cx="6524344" cy="2327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6050"/>
              </a:lnSpc>
              <a:buNone/>
            </a:pPr>
            <a:r>
              <a:rPr sz="5000" b="1">
                <a:solidFill>
                  <a:srgbClr val="FFFFFF"/>
                </a:solidFill>
                <a:latin typeface="Poppins 1 Bold"/>
                <a:ea typeface="Poppins 1 Bold"/>
                <a:cs typeface="Poppins 1 Bold"/>
              </a:rPr>
              <a:t>Atendimento híbrido</a:t>
            </a:r>
          </a:p>
          <a:p xmlns:a="http://schemas.openxmlformats.org/drawingml/2006/main">
            <a:pPr marL="0" indent="0" algn="l">
              <a:lnSpc>
                <a:spcPts val="6050"/>
              </a:lnSpc>
              <a:buNone/>
            </a:pPr>
            <a:r>
              <a:rPr sz="5000" b="1">
                <a:solidFill>
                  <a:srgbClr val="FFFFFF"/>
                </a:solidFill>
                <a:latin typeface="Poppins 1 Bold"/>
                <a:ea typeface="Poppins 1 Bold"/>
                <a:cs typeface="Poppins 1 Bold"/>
              </a:rPr>
              <a:t>Remoto e presencial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8BE8948D-7A44-4F7E-A433-DFCEF75E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004" y="1000125"/>
            <a:ext cx="6524344" cy="4536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3388"/>
              </a:lnSpc>
              <a:buNone/>
            </a:pPr>
            <a:r>
              <a:rPr sz="28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Como trabalhamos:</a:t>
            </a:r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2FF88FC8-2419-4222-A9CA-D1F67C76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7484" y="2044639"/>
            <a:ext cx="9767183" cy="61977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395"/>
              </a:lnSpc>
              <a:buNone/>
            </a:pPr>
            <a:r>
              <a:rPr sz="3853">
                <a:solidFill>
                  <a:srgbClr val="39F2AE"/>
                </a:solidFill>
                <a:latin typeface="Poppins 1 Bold Italics"/>
                <a:ea typeface="Poppins 1 Bold Italics"/>
                <a:cs typeface="Poppins 1 Bold Italics"/>
              </a:rPr>
              <a:t>Trabalharemos de forma híbrida, combinando agilidade remota, presença física quando necessária e entendimento consultivo da realidade da empresa. Essa combinação permite eficiência sem perder profundidade.</a:t>
            </a:r>
          </a:p>
        </p:txBody>
      </p:sp>
    </p:spTree>
    <p:extLst>
      <p:ext uri="{BB962C8B-B14F-4D97-AF65-F5344CB8AC3E}">
        <p14:creationId xmlns:p14="http://schemas.microsoft.com/office/powerpoint/2010/main" val="207894502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B1CFB883-3538-4451-91C9-DA4684AC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custGeom xmlns:a="http://schemas.openxmlformats.org/drawingml/2006/main"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71dbd9777a2843a1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C65FF07-5261-4F60-A198-4FBA2249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294424" y="5401845"/>
            <a:ext cx="9438424" cy="2027655"/>
          </a:xfrm>
          <a:custGeom xmlns:a="http://schemas.openxmlformats.org/drawingml/2006/main">
            <a:rect l="l" t="t" r="r" b="b"/>
            <a:pathLst>
              <a:path w="2485840" h="534033">
                <a:moveTo>
                  <a:pt x="41833" y="0"/>
                </a:moveTo>
                <a:lnTo>
                  <a:pt x="2444007" y="0"/>
                </a:lnTo>
                <a:cubicBezTo>
                  <a:pt x="2455102" y="0"/>
                  <a:pt x="2465742" y="4407"/>
                  <a:pt x="2473587" y="12253"/>
                </a:cubicBezTo>
                <a:cubicBezTo>
                  <a:pt x="2481432" y="20098"/>
                  <a:pt x="2485840" y="30738"/>
                  <a:pt x="2485840" y="41833"/>
                </a:cubicBezTo>
                <a:lnTo>
                  <a:pt x="2485840" y="492200"/>
                </a:lnTo>
                <a:cubicBezTo>
                  <a:pt x="2485840" y="515303"/>
                  <a:pt x="2467111" y="534033"/>
                  <a:pt x="2444007" y="534033"/>
                </a:cubicBezTo>
                <a:lnTo>
                  <a:pt x="41833" y="534033"/>
                </a:lnTo>
                <a:cubicBezTo>
                  <a:pt x="18729" y="534033"/>
                  <a:pt x="0" y="515303"/>
                  <a:pt x="0" y="492200"/>
                </a:cubicBezTo>
                <a:lnTo>
                  <a:pt x="0" y="41833"/>
                </a:lnTo>
                <a:cubicBezTo>
                  <a:pt x="0" y="18729"/>
                  <a:pt x="18729" y="0"/>
                  <a:pt x="41833" y="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gradFill>
              <a:gsLst>
                <a:gs pos="0">
                  <a:srgbClr val="3AF1AE">
                    <a:alpha val="100000"/>
                  </a:srgbClr>
                </a:gs>
                <a:gs pos="50000">
                  <a:srgbClr val="FFFFFF">
                    <a:alpha val="100000"/>
                  </a:srgbClr>
                </a:gs>
                <a:gs pos="100000">
                  <a:srgbClr val="3AF1AE">
                    <a:alpha val="100000"/>
                  </a:srgbClr>
                </a:gs>
              </a:gsLst>
              <a:lin ang="2700000"/>
            </a:gra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16F9ECFA-68AF-454C-9A86-F7CB8BDD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294424" y="5112524"/>
            <a:ext cx="9438424" cy="23169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871"/>
              </a:lnSpc>
              <a:buNone/>
            </a:pP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14C94255-5DFA-4ADF-9F48-6EAE639E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5537502"/>
            <a:ext cx="7899408" cy="17502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6680"/>
              </a:lnSpc>
              <a:buNone/>
            </a:pPr>
            <a:r>
              <a:rPr sz="5613" b="1">
                <a:solidFill>
                  <a:srgbClr val="FFFFFF"/>
                </a:solidFill>
                <a:latin typeface="Poppins 2 Bold"/>
                <a:ea typeface="Poppins 2 Bold"/>
                <a:cs typeface="Poppins 2 Bold"/>
              </a:rPr>
              <a:t>A MELHOR VERSÃO DE SI MESMA!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6C3DF015-29F4-41A8-A470-BD37ACC9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84002"/>
            <a:ext cx="11849100" cy="29880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5879"/>
              </a:lnSpc>
              <a:spcBef>
                <a:spcPts val="0"/>
              </a:spcBef>
              <a:buNone/>
            </a:pPr>
            <a:r>
              <a:rPr sz="4199" b="1">
                <a:solidFill>
                  <a:srgbClr val="E6C63F"/>
                </a:solidFill>
                <a:latin typeface="Poppins 1 Bold"/>
                <a:ea typeface="Poppins 1 Bold"/>
                <a:cs typeface="Poppins 1 Bold"/>
              </a:rPr>
              <a:t>Após esta primeira fase, poderemos avançar para estruturação financeira, custos e precificação, gestão de processos, controles internos, rotina gerencial e Performance Hub.</a:t>
            </a:r>
          </a:p>
        </p:txBody>
      </p:sp>
      <p:sp>
        <p:nvSpPr>
          <p:cNvPr id="10" name="TextBox 7">
            <a:extLst xmlns:a="http://schemas.openxmlformats.org/drawingml/2006/main">
              <a:ext uri="{FF2B5EF4-FFF2-40B4-BE49-F238E27FC236}">
                <a16:creationId xmlns:a16="http://schemas.microsoft.com/office/drawing/2014/main" id="{F23B9A2C-2F7D-B03C-64B0-9E6588BD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296" y="7962900"/>
            <a:ext cx="7899408" cy="15299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021"/>
              </a:lnSpc>
              <a:buNone/>
            </a:pPr>
            <a:r>
              <a:rPr sz="3323">
                <a:solidFill>
                  <a:srgbClr val="39F2AE"/>
                </a:solidFill>
                <a:latin typeface="Poppins 2"/>
                <a:ea typeface="Poppins 2"/>
                <a:cs typeface="Poppins 2"/>
              </a:rPr>
              <a:t>Saiba mais em:</a:t>
            </a:r>
          </a:p>
          <a:p xmlns:a="http://schemas.openxmlformats.org/drawingml/2006/main">
            <a:pPr algn="ctr">
              <a:lnSpc>
                <a:spcPts val="4021"/>
              </a:lnSpc>
              <a:buNone/>
            </a:pPr>
            <a:r>
              <a:t>phub.gestaoversus.com.br</a:t>
            </a:r>
          </a:p>
        </p:txBody>
      </p:sp>
    </p:spTree>
    <p:extLst>
      <p:ext uri="{BB962C8B-B14F-4D97-AF65-F5344CB8AC3E}">
        <p14:creationId xmlns:p14="http://schemas.microsoft.com/office/powerpoint/2010/main" val="15489310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Freeform 2">
            <a:extLst xmlns:a="http://schemas.openxmlformats.org/drawingml/2006/main">
              <a:ext uri="{FF2B5EF4-FFF2-40B4-BE49-F238E27FC236}">
                <a16:creationId xmlns:a16="http://schemas.microsoft.com/office/drawing/2014/main" id="{D6F823FA-EC5D-4108-878F-0D1BBA21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2073" y="6972300"/>
            <a:ext cx="9696575" cy="2653633"/>
          </a:xfrm>
          <a:custGeom xmlns:a="http://schemas.openxmlformats.org/drawingml/2006/main">
            <a:rect l="l" t="t" r="r" b="b"/>
            <a:pathLst>
              <a:path w="9696575" h="2653633">
                <a:moveTo>
                  <a:pt x="0" y="0"/>
                </a:moveTo>
                <a:lnTo>
                  <a:pt x="9696575" y="0"/>
                </a:lnTo>
                <a:lnTo>
                  <a:pt x="9696575" y="2653633"/>
                </a:lnTo>
                <a:lnTo>
                  <a:pt x="0" y="265363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fab2db0e00b48db"/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BEA5DCBE-8419-480D-81D7-2C8E9D97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68846"/>
            <a:ext cx="16116300" cy="36933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629"/>
              </a:lnSpc>
              <a:buNone/>
            </a:pPr>
            <a:r>
              <a:rPr sz="4800" b="1">
                <a:solidFill>
                  <a:srgbClr val="39F2AE"/>
                </a:solidFill>
                <a:latin typeface="Poppins 1"/>
                <a:ea typeface="Poppins 1"/>
                <a:cs typeface="Poppins 1"/>
              </a:rPr>
              <a:t>Qualquer dúvida adicional estamos à disposição.</a:t>
            </a:r>
          </a:p>
          <a:p xmlns:a="http://schemas.openxmlformats.org/drawingml/2006/main">
            <a:pPr algn="ctr">
              <a:lnSpc>
                <a:spcPts val="3629"/>
              </a:lnSpc>
              <a:buNone/>
            </a:pPr>
            <a:r>
              <a:t/>
            </a:r>
          </a:p>
          <a:p xmlns:a="http://schemas.openxmlformats.org/drawingml/2006/main">
            <a:pPr algn="ctr">
              <a:lnSpc>
                <a:spcPts val="3629"/>
              </a:lnSpc>
              <a:buNone/>
            </a:pPr>
            <a:r>
              <a:t>Caso a proposta esteja aderente, responda com o CNPJ e e-mail da empresa para prepararmos o contrato e agendarmos o kickoff.</a:t>
            </a:r>
          </a:p>
          <a:p xmlns:a="http://schemas.openxmlformats.org/drawingml/2006/main">
            <a:pPr algn="ctr">
              <a:lnSpc>
                <a:spcPts val="3629"/>
              </a:lnSpc>
              <a:buNone/>
            </a:pPr>
            <a:r>
              <a:t/>
            </a:r>
          </a:p>
          <a:p xmlns:a="http://schemas.openxmlformats.org/drawingml/2006/main">
            <a:pPr algn="ctr">
              <a:lnSpc>
                <a:spcPts val="3629"/>
              </a:lnSpc>
              <a:buNone/>
            </a:pPr>
            <a:r>
              <a:t>Também indicaremos documentos e informações iniciais necessários para começar.</a:t>
            </a:r>
          </a:p>
        </p:txBody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754D0764-C051-474D-98DC-7816E309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387936"/>
            <a:ext cx="452263" cy="2632364"/>
          </a:xfrm>
          <a:custGeom xmlns:a="http://schemas.openxmlformats.org/drawingml/2006/main">
            <a:rect l="l" t="t" r="r" b="b"/>
            <a:pathLst>
              <a:path w="452263" h="2632364">
                <a:moveTo>
                  <a:pt x="0" y="0"/>
                </a:moveTo>
                <a:lnTo>
                  <a:pt x="452263" y="0"/>
                </a:lnTo>
                <a:lnTo>
                  <a:pt x="452263" y="2632364"/>
                </a:lnTo>
                <a:lnTo>
                  <a:pt x="0" y="263236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3a474d289024ea9"/>
            <a:stretch>
              <a:fillRect l="-20394" t="0" r="-207004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E91074A7-8982-4ED8-8CBC-FF354F52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04378"/>
            <a:ext cx="10020300" cy="1122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5271"/>
              </a:lnSpc>
              <a:buNone/>
            </a:pPr>
            <a:r>
              <a:rPr sz="3765" b="1">
                <a:solidFill>
                  <a:srgbClr val="E6C63F"/>
                </a:solidFill>
                <a:latin typeface="Poppins 1 Medium"/>
                <a:ea typeface="Poppins 1 Medium"/>
                <a:cs typeface="Poppins 1 Medium"/>
              </a:rPr>
              <a:t>Fabiano Ferreira</a:t>
            </a:r>
          </a:p>
          <a:p xmlns:a="http://schemas.openxmlformats.org/drawingml/2006/main">
            <a:pPr algn="l">
              <a:lnSpc>
                <a:spcPts val="3568"/>
              </a:lnSpc>
              <a:buNone/>
            </a:pPr>
            <a:r>
              <a:rPr sz="2548" b="1">
                <a:solidFill>
                  <a:srgbClr val="FFFFFF"/>
                </a:solidFill>
                <a:latin typeface="Poppins 1 Medium"/>
                <a:ea typeface="Poppins 1 Medium"/>
                <a:cs typeface="Poppins 1 Medium"/>
              </a:rPr>
              <a:t>fabiano@gestaoversus.com.br</a:t>
            </a:r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FA71F44A-1279-48B5-AE59-D62C3E07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450" y="7440680"/>
            <a:ext cx="5133350" cy="5109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4023"/>
              </a:lnSpc>
              <a:buNone/>
            </a:pPr>
            <a:r>
              <a:rPr sz="2011" b="1">
                <a:solidFill>
                  <a:srgbClr val="FFFFFF"/>
                </a:solidFill>
                <a:latin typeface="Poppins 1"/>
                <a:ea typeface="Poppins 1"/>
                <a:cs typeface="Poppins 1"/>
              </a:rPr>
              <a:t>(71) 9 9642-6565</a:t>
            </a:r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BEAB77D4-F5B5-4917-BDAF-0EED1309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450" y="8031163"/>
            <a:ext cx="2364696" cy="363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16"/>
              </a:lnSpc>
              <a:buNone/>
            </a:pPr>
            <a:r>
              <a:rPr sz="2011" b="1">
                <a:solidFill>
                  <a:srgbClr val="FFFFFF"/>
                </a:solidFill>
                <a:latin typeface="Poppins 1 Medium"/>
                <a:ea typeface="Poppins 1 Medium"/>
                <a:cs typeface="Poppins 1 Medium"/>
              </a:rPr>
              <a:t>@gestaoversus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72F6A698-5E82-43D5-AFB5-71D20D69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450" y="8510976"/>
            <a:ext cx="3463161" cy="363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16"/>
              </a:lnSpc>
              <a:buNone/>
            </a:pPr>
            <a:r>
              <a:rPr sz="2011" b="1">
                <a:solidFill>
                  <a:srgbClr val="FFFFFF"/>
                </a:solidFill>
                <a:latin typeface="Poppins 1 Medium"/>
                <a:ea typeface="Poppins 1 Medium"/>
                <a:cs typeface="Poppins 1 Medium"/>
              </a:rPr>
              <a:t>gestaoversusoficial</a:t>
            </a:r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312B2735-00CB-4A09-89A1-B53D01A0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450" y="9481775"/>
            <a:ext cx="4936896" cy="363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16"/>
              </a:lnSpc>
              <a:buNone/>
            </a:pPr>
            <a:r>
              <a:rPr sz="2011" b="1">
                <a:solidFill>
                  <a:srgbClr val="FFFFFF"/>
                </a:solidFill>
                <a:latin typeface="Poppins 1 Medium"/>
                <a:ea typeface="Poppins 1 Medium"/>
                <a:cs typeface="Poppins 1 Medium"/>
              </a:rPr>
              <a:t>facebook.com/VersusConsultoria</a:t>
            </a:r>
          </a:p>
        </p:txBody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0AA50102-4A69-4B53-88CC-30E30EC8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8450" y="8996375"/>
            <a:ext cx="3650796" cy="3636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2816"/>
              </a:lnSpc>
              <a:buNone/>
            </a:pPr>
            <a:r>
              <a:rPr sz="2011" b="1">
                <a:solidFill>
                  <a:srgbClr val="FFFFFF"/>
                </a:solidFill>
                <a:latin typeface="Poppins 1 Medium"/>
                <a:ea typeface="Poppins 1 Medium"/>
                <a:cs typeface="Poppins 1 Medium"/>
              </a:rPr>
              <a:t>www.gestaoversus.com.br</a:t>
            </a:r>
          </a:p>
        </p:txBody>
      </p:sp>
      <p:sp>
        <p:nvSpPr>
          <p:cNvPr id="12" name="TextBox 4">
            <a:extLst xmlns:a="http://schemas.openxmlformats.org/drawingml/2006/main">
              <a:ext uri="{FF2B5EF4-FFF2-40B4-BE49-F238E27FC236}">
                <a16:creationId xmlns:a16="http://schemas.microsoft.com/office/drawing/2014/main" id="{9F0C2C6A-B11F-A20E-509C-9993C681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93833"/>
            <a:ext cx="16116300" cy="5186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3629"/>
              </a:lnSpc>
              <a:buNone/>
            </a:pPr>
            <a:r>
              <a:rPr sz="4800">
                <a:solidFill>
                  <a:srgbClr val="E6C63F"/>
                </a:solidFill>
                <a:latin typeface="Poppins 1"/>
                <a:ea typeface="Poppins 1"/>
                <a:cs typeface="Poppins 1"/>
              </a:rP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91962437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2026-05-25T14:43:46.2110000Z</dcterms:created>
  <dcterms:modified xsi:type="dcterms:W3CDTF">2026-05-25T14:43:46.2110000Z</dcterms:modified>
</coreProperties>
</file>