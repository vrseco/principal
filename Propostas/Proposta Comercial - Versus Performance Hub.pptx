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71" r:id="rId4"/>
    <p:sldId id="273" r:id="rId5"/>
    <p:sldId id="270" r:id="rId6"/>
    <p:sldId id="258" r:id="rId7"/>
    <p:sldId id="265" r:id="rId8"/>
    <p:sldId id="274" r:id="rId9"/>
    <p:sldId id="266" r:id="rId10"/>
    <p:sldId id="267" r:id="rId11"/>
  </p:sldIdLst>
  <p:sldSz cx="18288000" cy="10287000"/>
  <p:notesSz cx="6858000" cy="9144000"/>
  <p:embeddedFontLst>
    <p:embeddedFont>
      <p:font typeface="Poppins 1" panose="020B0604020202020204" charset="0"/>
      <p:regular r:id="rId13"/>
    </p:embeddedFont>
    <p:embeddedFont>
      <p:font typeface="Poppins 1 Bold" panose="020B0604020202020204" charset="0"/>
      <p:regular r:id="rId14"/>
    </p:embeddedFont>
    <p:embeddedFont>
      <p:font typeface="Poppins 1 Medium" panose="020B0604020202020204" charset="0"/>
      <p:regular r:id="rId15"/>
    </p:embeddedFont>
    <p:embeddedFont>
      <p:font typeface="Poppins 1 Semi-Bold" panose="020B0604020202020204" charset="0"/>
      <p:regular r:id="rId16"/>
    </p:embeddedFont>
    <p:embeddedFont>
      <p:font typeface="Poppins 2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63F"/>
    <a:srgbClr val="39F2AE"/>
    <a:srgbClr val="28AA7A"/>
    <a:srgbClr val="165D43"/>
    <a:srgbClr val="AD9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o Ferreira" userId="0dba1ce1595b1485" providerId="LiveId" clId="{5A9BD635-35EA-45C2-A650-3F351B1B2779}"/>
    <pc:docChg chg="undo redo custSel addSld delSld modSld sldOrd">
      <pc:chgData name="Fabiano Ferreira" userId="0dba1ce1595b1485" providerId="LiveId" clId="{5A9BD635-35EA-45C2-A650-3F351B1B2779}" dt="2026-03-04T21:38:07.547" v="7483" actId="20577"/>
      <pc:docMkLst>
        <pc:docMk/>
      </pc:docMkLst>
      <pc:sldChg chg="modSp mod">
        <pc:chgData name="Fabiano Ferreira" userId="0dba1ce1595b1485" providerId="LiveId" clId="{5A9BD635-35EA-45C2-A650-3F351B1B2779}" dt="2026-03-04T21:38:07.547" v="7483" actId="20577"/>
        <pc:sldMkLst>
          <pc:docMk/>
          <pc:sldMk cId="0" sldId="256"/>
        </pc:sldMkLst>
        <pc:spChg chg="mod">
          <ac:chgData name="Fabiano Ferreira" userId="0dba1ce1595b1485" providerId="LiveId" clId="{5A9BD635-35EA-45C2-A650-3F351B1B2779}" dt="2026-03-04T21:37:56.274" v="7477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Fabiano Ferreira" userId="0dba1ce1595b1485" providerId="LiveId" clId="{5A9BD635-35EA-45C2-A650-3F351B1B2779}" dt="2026-03-04T21:38:07.547" v="7483" actId="20577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Fabiano Ferreira" userId="0dba1ce1595b1485" providerId="LiveId" clId="{5A9BD635-35EA-45C2-A650-3F351B1B2779}" dt="2026-03-04T21:36:33.764" v="7443" actId="20577"/>
        <pc:sldMkLst>
          <pc:docMk/>
          <pc:sldMk cId="0" sldId="265"/>
        </pc:sldMkLst>
        <pc:spChg chg="add del mod">
          <ac:chgData name="Fabiano Ferreira" userId="0dba1ce1595b1485" providerId="LiveId" clId="{5A9BD635-35EA-45C2-A650-3F351B1B2779}" dt="2026-03-04T21:36:33.764" v="7443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Fabiano Ferreira" userId="0dba1ce1595b1485" providerId="LiveId" clId="{5A9BD635-35EA-45C2-A650-3F351B1B2779}" dt="2026-03-04T21:37:30.050" v="7458" actId="20577"/>
        <pc:sldMkLst>
          <pc:docMk/>
          <pc:sldMk cId="3528789278" sldId="274"/>
        </pc:sldMkLst>
        <pc:spChg chg="mod">
          <ac:chgData name="Fabiano Ferreira" userId="0dba1ce1595b1485" providerId="LiveId" clId="{5A9BD635-35EA-45C2-A650-3F351B1B2779}" dt="2026-03-04T21:37:30.050" v="7458" actId="20577"/>
          <ac:spMkLst>
            <pc:docMk/>
            <pc:sldMk cId="3528789278" sldId="274"/>
            <ac:spMk id="8" creationId="{3EC8478D-C6C2-41DB-D92A-0E6AC5F7D8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209AE-7578-4D89-86E0-26967196882C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7223F-D957-4804-9ECF-54FC713272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14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7223F-D957-4804-9ECF-54FC713272B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420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9144000" y="-1233813"/>
            <a:ext cx="12754625" cy="1275462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17368" y="860146"/>
            <a:ext cx="7841932" cy="2707936"/>
            <a:chOff x="0" y="0"/>
            <a:chExt cx="10455910" cy="36105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55910" cy="2861438"/>
            </a:xfrm>
            <a:custGeom>
              <a:avLst/>
              <a:gdLst/>
              <a:ahLst/>
              <a:cxnLst/>
              <a:rect l="l" t="t" r="r" b="b"/>
              <a:pathLst>
                <a:path w="10455910" h="2861438">
                  <a:moveTo>
                    <a:pt x="0" y="0"/>
                  </a:moveTo>
                  <a:lnTo>
                    <a:pt x="10455910" y="0"/>
                  </a:lnTo>
                  <a:lnTo>
                    <a:pt x="10455910" y="2861438"/>
                  </a:lnTo>
                  <a:lnTo>
                    <a:pt x="0" y="2861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4184" y="2785238"/>
              <a:ext cx="9967543" cy="825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r>
                <a:rPr lang="en-US" sz="1594" spc="436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AUXILIANDO OS GESTORES E AS ORGANIZAÇÕES NA DEFINIÇÃO E NO ALCANCE DOS SEUS OBJETIVOS!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05800" y="4267251"/>
            <a:ext cx="9737197" cy="172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1"/>
              </a:lnSpc>
            </a:pPr>
            <a:r>
              <a:rPr lang="en-US" sz="5000" b="1" dirty="0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Performance Hub</a:t>
            </a:r>
          </a:p>
          <a:p>
            <a:pPr algn="ctr">
              <a:lnSpc>
                <a:spcPts val="6901"/>
              </a:lnSpc>
            </a:pPr>
            <a:r>
              <a:rPr lang="en-US" sz="4000" b="1" dirty="0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-&gt; </a:t>
            </a:r>
            <a:r>
              <a:rPr lang="en-US" sz="4000" b="1" dirty="0" err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Proposta</a:t>
            </a:r>
            <a:r>
              <a:rPr lang="en-US" sz="4000" b="1" dirty="0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 </a:t>
            </a:r>
            <a:r>
              <a:rPr lang="en-US" sz="4000" b="1" dirty="0" err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Comercial</a:t>
            </a:r>
            <a:r>
              <a:rPr lang="en-US" sz="4000" b="1" dirty="0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 &lt;-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5308" y="6679254"/>
            <a:ext cx="10065763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2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Para: </a:t>
            </a:r>
            <a:r>
              <a:rPr lang="en-US" sz="3700" b="1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xxxxxxx</a:t>
            </a:r>
            <a:endParaRPr lang="en-US" sz="370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r">
              <a:lnSpc>
                <a:spcPts val="4280"/>
              </a:lnSpc>
              <a:spcBef>
                <a:spcPct val="0"/>
              </a:spcBef>
            </a:pPr>
            <a:r>
              <a:rPr lang="en-US" sz="370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Att</a:t>
            </a:r>
            <a:r>
              <a:rPr lang="en-US" sz="370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: </a:t>
            </a:r>
            <a:r>
              <a:rPr lang="en-US" sz="370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xxxxxxxxxxx</a:t>
            </a:r>
            <a:endParaRPr lang="en-US" sz="370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434208" y="8852936"/>
            <a:ext cx="6220844" cy="37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29"/>
              </a:lnSpc>
            </a:pPr>
            <a:r>
              <a:rPr lang="en-US" sz="2267" dirty="0" err="1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Dezembro</a:t>
            </a:r>
            <a:r>
              <a:rPr lang="en-US" sz="2267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 de </a:t>
            </a:r>
            <a:r>
              <a:rPr lang="en-US" sz="2267" dirty="0" err="1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xxxxxx</a:t>
            </a:r>
            <a:endParaRPr lang="en-US" sz="2267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CF0D1-3A6E-AA5D-C4EC-4ED40090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82E04E6D-0B37-5298-20D8-654A2D5F943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7DA9F6-981E-87DF-02BA-A1ED8016D0CD}"/>
              </a:ext>
            </a:extLst>
          </p:cNvPr>
          <p:cNvSpPr txBox="1"/>
          <p:nvPr/>
        </p:nvSpPr>
        <p:spPr>
          <a:xfrm>
            <a:off x="2057400" y="2157215"/>
            <a:ext cx="11658599" cy="1407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3200" spc="15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As empresas trabalham cada vez mais e os resultados estão cada vez menores.</a:t>
            </a: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2D06F431-68B0-6724-7D34-FE3AE1B32BC1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AD4C93E-2D32-092E-54A9-63EE734615AE}"/>
              </a:ext>
            </a:extLst>
          </p:cNvPr>
          <p:cNvSpPr txBox="1"/>
          <p:nvPr/>
        </p:nvSpPr>
        <p:spPr>
          <a:xfrm>
            <a:off x="914400" y="415522"/>
            <a:ext cx="16976271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259"/>
              </a:lnSpc>
            </a:pPr>
            <a:r>
              <a:rPr lang="pt-BR" sz="4800" b="1" spc="479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1 – O Desafio</a:t>
            </a:r>
            <a:endParaRPr lang="en-US" sz="4800" b="1" u="none" strike="noStrike" spc="479" dirty="0">
              <a:solidFill>
                <a:srgbClr val="E6C63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017A11BA-3E36-C17A-3DBE-F9F92487954B}"/>
              </a:ext>
            </a:extLst>
          </p:cNvPr>
          <p:cNvSpPr txBox="1"/>
          <p:nvPr/>
        </p:nvSpPr>
        <p:spPr>
          <a:xfrm>
            <a:off x="2057400" y="4076700"/>
            <a:ext cx="11811000" cy="2146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32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Gestores sobrecarregados, processos desorganizados e decisões baseadas em suposições.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5575EEA9-A0B6-F68E-9DF8-DD34EB932905}"/>
              </a:ext>
            </a:extLst>
          </p:cNvPr>
          <p:cNvSpPr txBox="1"/>
          <p:nvPr/>
        </p:nvSpPr>
        <p:spPr>
          <a:xfrm>
            <a:off x="2057400" y="6602008"/>
            <a:ext cx="11811000" cy="2884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3200" spc="15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O resultado é previsível: retrabalho, baixa produtividade, rentabilidade insignificante e imprevisível, mesmo em negócios com um mercado de alto potencial.</a:t>
            </a:r>
          </a:p>
        </p:txBody>
      </p:sp>
    </p:spTree>
    <p:extLst>
      <p:ext uri="{BB962C8B-B14F-4D97-AF65-F5344CB8AC3E}">
        <p14:creationId xmlns:p14="http://schemas.microsoft.com/office/powerpoint/2010/main" val="139005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3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EE5A0364-C61A-0F5B-D462-FBC5400B1737}"/>
              </a:ext>
            </a:extLst>
          </p:cNvPr>
          <p:cNvSpPr txBox="1"/>
          <p:nvPr/>
        </p:nvSpPr>
        <p:spPr>
          <a:xfrm>
            <a:off x="1524000" y="1507026"/>
            <a:ext cx="15163801" cy="1807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pt-BR" sz="3200" spc="150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Um modelo de gestão integrada e contínua, inspirado nas grandes consultorias globais e adaptado à realidade das pequenas e médias empresas brasileiras.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DB915F7B-D36D-7829-4380-F5FB6C7CAB14}"/>
              </a:ext>
            </a:extLst>
          </p:cNvPr>
          <p:cNvSpPr txBox="1"/>
          <p:nvPr/>
        </p:nvSpPr>
        <p:spPr>
          <a:xfrm>
            <a:off x="914400" y="415522"/>
            <a:ext cx="16976271" cy="874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259"/>
              </a:lnSpc>
            </a:pPr>
            <a:r>
              <a:rPr lang="pt-BR" sz="4800" b="1" spc="479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2 - A SOLUÇÃO – PERFORMANCE HUB</a:t>
            </a:r>
            <a:endParaRPr lang="en-US" sz="4800" b="1" u="none" strike="noStrike" spc="479" dirty="0">
              <a:solidFill>
                <a:srgbClr val="E6C63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3EF928A8-ACB4-B034-3E79-4A70A8712ECB}"/>
              </a:ext>
            </a:extLst>
          </p:cNvPr>
          <p:cNvSpPr txBox="1"/>
          <p:nvPr/>
        </p:nvSpPr>
        <p:spPr>
          <a:xfrm>
            <a:off x="1905000" y="3531734"/>
            <a:ext cx="16383000" cy="5731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pt-BR" sz="3200" b="1" u="sng" spc="15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Reunimos:</a:t>
            </a:r>
          </a:p>
          <a:p>
            <a:pPr algn="l">
              <a:lnSpc>
                <a:spcPct val="125000"/>
              </a:lnSpc>
            </a:pPr>
            <a:r>
              <a:rPr lang="pt-BR" sz="3200" spc="15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-&gt; Gestão de Processos </a:t>
            </a:r>
            <a:r>
              <a:rPr lang="pt-BR" sz="3200" spc="150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- estruturação e gestão da rotina</a:t>
            </a:r>
          </a:p>
          <a:p>
            <a:pPr algn="l">
              <a:lnSpc>
                <a:spcPct val="125000"/>
              </a:lnSpc>
            </a:pPr>
            <a:r>
              <a:rPr lang="pt-BR" sz="3200" spc="15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-&gt; Gestão de Projetos </a:t>
            </a:r>
            <a:r>
              <a:rPr lang="pt-BR" sz="3200" spc="150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– gestão e priorização das atividades extra rotina</a:t>
            </a:r>
          </a:p>
          <a:p>
            <a:pPr>
              <a:lnSpc>
                <a:spcPct val="125000"/>
              </a:lnSpc>
            </a:pPr>
            <a:r>
              <a:rPr lang="pt-BR" sz="3200" spc="15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-&gt; Controladoria Empresarial </a:t>
            </a:r>
            <a:r>
              <a:rPr lang="pt-BR" sz="3200" spc="150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– informações estratégicas e indicadores</a:t>
            </a:r>
          </a:p>
          <a:p>
            <a:pPr algn="l">
              <a:lnSpc>
                <a:spcPct val="125000"/>
              </a:lnSpc>
            </a:pPr>
            <a:endParaRPr lang="pt-BR" sz="1200" spc="150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ct val="125000"/>
              </a:lnSpc>
            </a:pPr>
            <a:r>
              <a:rPr lang="pt-BR" sz="3200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		</a:t>
            </a:r>
            <a:r>
              <a:rPr lang="pt-BR" sz="3200" b="1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Além da Assessoria Técnica em: </a:t>
            </a:r>
          </a:p>
          <a:p>
            <a:pPr marL="3200400" lvl="8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pt-BR" sz="3200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Finanças Corporativas </a:t>
            </a:r>
          </a:p>
          <a:p>
            <a:pPr marL="3200400" lvl="8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pt-BR" sz="3200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Custos - Precificação </a:t>
            </a:r>
          </a:p>
          <a:p>
            <a:pPr marL="3200400" lvl="8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pt-BR" sz="3200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Fiscal - Tributário</a:t>
            </a:r>
          </a:p>
          <a:p>
            <a:pPr marL="3200400" lvl="8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pt-BR" sz="3200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Auditoria Interna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26855-E97B-79FA-7DD4-5C70B069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BC85DC92-2972-3F1A-F00B-9555F38A20FB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5A3F2BAA-4EC0-6EDE-EECB-8C4FFD745C9E}"/>
              </a:ext>
            </a:extLst>
          </p:cNvPr>
          <p:cNvGrpSpPr/>
          <p:nvPr/>
        </p:nvGrpSpPr>
        <p:grpSpPr>
          <a:xfrm>
            <a:off x="1676400" y="723900"/>
            <a:ext cx="15163800" cy="8382000"/>
            <a:chOff x="2743200" y="2680517"/>
            <a:chExt cx="14325600" cy="7492183"/>
          </a:xfrm>
        </p:grpSpPr>
        <p:grpSp>
          <p:nvGrpSpPr>
            <p:cNvPr id="78" name="Group 4">
              <a:extLst>
                <a:ext uri="{FF2B5EF4-FFF2-40B4-BE49-F238E27FC236}">
                  <a16:creationId xmlns:a16="http://schemas.microsoft.com/office/drawing/2014/main" id="{C1A778AD-7E44-4312-6188-9FA744A38289}"/>
                </a:ext>
              </a:extLst>
            </p:cNvPr>
            <p:cNvGrpSpPr/>
            <p:nvPr/>
          </p:nvGrpSpPr>
          <p:grpSpPr>
            <a:xfrm>
              <a:off x="2743200" y="2680517"/>
              <a:ext cx="14249400" cy="7492183"/>
              <a:chOff x="0" y="-76200"/>
              <a:chExt cx="2485840" cy="610233"/>
            </a:xfrm>
          </p:grpSpPr>
          <p:sp>
            <p:nvSpPr>
              <p:cNvPr id="79" name="Freeform 5">
                <a:extLst>
                  <a:ext uri="{FF2B5EF4-FFF2-40B4-BE49-F238E27FC236}">
                    <a16:creationId xmlns:a16="http://schemas.microsoft.com/office/drawing/2014/main" id="{D309E2E8-FDCD-750A-A166-EEEE7A022888}"/>
                  </a:ext>
                </a:extLst>
              </p:cNvPr>
              <p:cNvSpPr/>
              <p:nvPr/>
            </p:nvSpPr>
            <p:spPr>
              <a:xfrm>
                <a:off x="0" y="-280"/>
                <a:ext cx="2485840" cy="534033"/>
              </a:xfrm>
              <a:custGeom>
                <a:avLst/>
                <a:gdLst/>
                <a:ahLst/>
                <a:cxnLst/>
                <a:rect l="l" t="t" r="r" b="b"/>
                <a:pathLst>
                  <a:path w="2485840" h="534033">
                    <a:moveTo>
                      <a:pt x="41833" y="0"/>
                    </a:moveTo>
                    <a:lnTo>
                      <a:pt x="2444007" y="0"/>
                    </a:lnTo>
                    <a:cubicBezTo>
                      <a:pt x="2455102" y="0"/>
                      <a:pt x="2465742" y="4407"/>
                      <a:pt x="2473587" y="12253"/>
                    </a:cubicBezTo>
                    <a:cubicBezTo>
                      <a:pt x="2481432" y="20098"/>
                      <a:pt x="2485840" y="30738"/>
                      <a:pt x="2485840" y="41833"/>
                    </a:cubicBezTo>
                    <a:lnTo>
                      <a:pt x="2485840" y="492200"/>
                    </a:lnTo>
                    <a:cubicBezTo>
                      <a:pt x="2485840" y="515303"/>
                      <a:pt x="2467111" y="534033"/>
                      <a:pt x="2444007" y="534033"/>
                    </a:cubicBezTo>
                    <a:lnTo>
                      <a:pt x="41833" y="534033"/>
                    </a:lnTo>
                    <a:cubicBezTo>
                      <a:pt x="18729" y="534033"/>
                      <a:pt x="0" y="515303"/>
                      <a:pt x="0" y="492200"/>
                    </a:cubicBezTo>
                    <a:lnTo>
                      <a:pt x="0" y="41833"/>
                    </a:lnTo>
                    <a:cubicBezTo>
                      <a:pt x="0" y="18729"/>
                      <a:pt x="18729" y="0"/>
                      <a:pt x="4183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0" name="TextBox 6">
                <a:extLst>
                  <a:ext uri="{FF2B5EF4-FFF2-40B4-BE49-F238E27FC236}">
                    <a16:creationId xmlns:a16="http://schemas.microsoft.com/office/drawing/2014/main" id="{546FDBE3-3AFF-0AE0-2F42-ECF4CDD2224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2485840" cy="6102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1"/>
                  </a:lnSpc>
                </a:pPr>
                <a:endParaRPr/>
              </a:p>
            </p:txBody>
          </p:sp>
        </p:grpSp>
        <p:sp>
          <p:nvSpPr>
            <p:cNvPr id="81" name="TextBox 13">
              <a:extLst>
                <a:ext uri="{FF2B5EF4-FFF2-40B4-BE49-F238E27FC236}">
                  <a16:creationId xmlns:a16="http://schemas.microsoft.com/office/drawing/2014/main" id="{3EBD5BAB-CF18-921E-DB87-D5FDC3C8C712}"/>
                </a:ext>
              </a:extLst>
            </p:cNvPr>
            <p:cNvSpPr txBox="1"/>
            <p:nvPr/>
          </p:nvSpPr>
          <p:spPr>
            <a:xfrm>
              <a:off x="2819400" y="3619500"/>
              <a:ext cx="14249400" cy="881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7259"/>
                </a:lnSpc>
              </a:pPr>
              <a:r>
                <a:rPr lang="pt-BR" sz="5000" b="1" u="none" strike="noStrike" spc="479" dirty="0">
                  <a:solidFill>
                    <a:srgbClr val="E6C63F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Performance Hub</a:t>
              </a:r>
              <a:endParaRPr lang="en-US" sz="5000" b="1" u="none" strike="noStrike" spc="479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endParaRPr>
            </a:p>
          </p:txBody>
        </p: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83C746A6-553D-7E23-6D65-7B10033D1BE0}"/>
                </a:ext>
              </a:extLst>
            </p:cNvPr>
            <p:cNvGrpSpPr/>
            <p:nvPr/>
          </p:nvGrpSpPr>
          <p:grpSpPr>
            <a:xfrm>
              <a:off x="3201342" y="4338093"/>
              <a:ext cx="13383846" cy="5682207"/>
              <a:chOff x="3201342" y="3619500"/>
              <a:chExt cx="13383846" cy="5682207"/>
            </a:xfrm>
          </p:grpSpPr>
          <p:grpSp>
            <p:nvGrpSpPr>
              <p:cNvPr id="50" name="Agrupar 49">
                <a:extLst>
                  <a:ext uri="{FF2B5EF4-FFF2-40B4-BE49-F238E27FC236}">
                    <a16:creationId xmlns:a16="http://schemas.microsoft.com/office/drawing/2014/main" id="{F14993F1-84D8-EA38-FBAF-BACA73C3E279}"/>
                  </a:ext>
                </a:extLst>
              </p:cNvPr>
              <p:cNvGrpSpPr/>
              <p:nvPr/>
            </p:nvGrpSpPr>
            <p:grpSpPr>
              <a:xfrm>
                <a:off x="4309768" y="3619500"/>
                <a:ext cx="11003291" cy="3602900"/>
                <a:chOff x="4309768" y="3902800"/>
                <a:chExt cx="11003291" cy="3602900"/>
              </a:xfrm>
            </p:grpSpPr>
            <p:grpSp>
              <p:nvGrpSpPr>
                <p:cNvPr id="49" name="Agrupar 48">
                  <a:extLst>
                    <a:ext uri="{FF2B5EF4-FFF2-40B4-BE49-F238E27FC236}">
                      <a16:creationId xmlns:a16="http://schemas.microsoft.com/office/drawing/2014/main" id="{A3D47C93-1C5B-4D66-7493-8A26C31B2321}"/>
                    </a:ext>
                  </a:extLst>
                </p:cNvPr>
                <p:cNvGrpSpPr/>
                <p:nvPr/>
              </p:nvGrpSpPr>
              <p:grpSpPr>
                <a:xfrm>
                  <a:off x="4309768" y="3902800"/>
                  <a:ext cx="11003291" cy="3602900"/>
                  <a:chOff x="4312910" y="3854187"/>
                  <a:chExt cx="11003291" cy="3602900"/>
                </a:xfrm>
              </p:grpSpPr>
              <p:grpSp>
                <p:nvGrpSpPr>
                  <p:cNvPr id="42" name="Group 4">
                    <a:extLst>
                      <a:ext uri="{FF2B5EF4-FFF2-40B4-BE49-F238E27FC236}">
                        <a16:creationId xmlns:a16="http://schemas.microsoft.com/office/drawing/2014/main" id="{57942FF3-FB92-99DB-7925-C9362F3CBA77}"/>
                      </a:ext>
                    </a:extLst>
                  </p:cNvPr>
                  <p:cNvGrpSpPr/>
                  <p:nvPr/>
                </p:nvGrpSpPr>
                <p:grpSpPr>
                  <a:xfrm>
                    <a:off x="4312910" y="3854187"/>
                    <a:ext cx="11003290" cy="3602900"/>
                    <a:chOff x="0" y="-76200"/>
                    <a:chExt cx="2485840" cy="610233"/>
                  </a:xfrm>
                </p:grpSpPr>
                <p:sp>
                  <p:nvSpPr>
                    <p:cNvPr id="43" name="Freeform 5">
                      <a:extLst>
                        <a:ext uri="{FF2B5EF4-FFF2-40B4-BE49-F238E27FC236}">
                          <a16:creationId xmlns:a16="http://schemas.microsoft.com/office/drawing/2014/main" id="{83A8FA3B-2304-9CAE-6250-0B14B121DA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25812"/>
                      <a:ext cx="2485840" cy="5340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85840" h="534033">
                          <a:moveTo>
                            <a:pt x="41833" y="0"/>
                          </a:moveTo>
                          <a:lnTo>
                            <a:pt x="2444007" y="0"/>
                          </a:lnTo>
                          <a:cubicBezTo>
                            <a:pt x="2455102" y="0"/>
                            <a:pt x="2465742" y="4407"/>
                            <a:pt x="2473587" y="12253"/>
                          </a:cubicBezTo>
                          <a:cubicBezTo>
                            <a:pt x="2481432" y="20098"/>
                            <a:pt x="2485840" y="30738"/>
                            <a:pt x="2485840" y="41833"/>
                          </a:cubicBezTo>
                          <a:lnTo>
                            <a:pt x="2485840" y="492200"/>
                          </a:lnTo>
                          <a:cubicBezTo>
                            <a:pt x="2485840" y="515303"/>
                            <a:pt x="2467111" y="534033"/>
                            <a:pt x="2444007" y="534033"/>
                          </a:cubicBezTo>
                          <a:lnTo>
                            <a:pt x="41833" y="534033"/>
                          </a:lnTo>
                          <a:cubicBezTo>
                            <a:pt x="18729" y="534033"/>
                            <a:pt x="0" y="515303"/>
                            <a:pt x="0" y="492200"/>
                          </a:cubicBezTo>
                          <a:lnTo>
                            <a:pt x="0" y="41833"/>
                          </a:lnTo>
                          <a:cubicBezTo>
                            <a:pt x="0" y="18729"/>
                            <a:pt x="18729" y="0"/>
                            <a:pt x="41833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28575" cap="rnd">
                      <a:gradFill>
                        <a:gsLst>
                          <a:gs pos="0">
                            <a:srgbClr val="3AF1AE">
                              <a:alpha val="100000"/>
                            </a:srgbClr>
                          </a:gs>
                          <a:gs pos="50000">
                            <a:srgbClr val="FFFFFF">
                              <a:alpha val="100000"/>
                            </a:srgbClr>
                          </a:gs>
                          <a:gs pos="100000">
                            <a:srgbClr val="3AF1AE">
                              <a:alpha val="100000"/>
                            </a:srgbClr>
                          </a:gs>
                        </a:gsLst>
                        <a:lin ang="2700000"/>
                      </a:gra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4" name="TextBox 6">
                      <a:extLst>
                        <a:ext uri="{FF2B5EF4-FFF2-40B4-BE49-F238E27FC236}">
                          <a16:creationId xmlns:a16="http://schemas.microsoft.com/office/drawing/2014/main" id="{8407F2D2-E2FC-FF20-ABC1-369A70132E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76200"/>
                      <a:ext cx="2485840" cy="610233"/>
                    </a:xfrm>
                    <a:prstGeom prst="rect">
                      <a:avLst/>
                    </a:prstGeom>
                  </p:spPr>
                  <p:txBody>
                    <a:bodyPr lIns="50800" tIns="50800" rIns="50800" bIns="50800" rtlCol="0" anchor="ctr"/>
                    <a:lstStyle/>
                    <a:p>
                      <a:pPr algn="ctr">
                        <a:lnSpc>
                          <a:spcPts val="2871"/>
                        </a:lnSpc>
                      </a:pPr>
                      <a:endParaRPr/>
                    </a:p>
                  </p:txBody>
                </p:sp>
              </p:grpSp>
              <p:sp>
                <p:nvSpPr>
                  <p:cNvPr id="48" name="TextBox 14">
                    <a:extLst>
                      <a:ext uri="{FF2B5EF4-FFF2-40B4-BE49-F238E27FC236}">
                        <a16:creationId xmlns:a16="http://schemas.microsoft.com/office/drawing/2014/main" id="{B22ED4A4-3191-9F0C-0DD4-F3D8D9B4F8F2}"/>
                      </a:ext>
                    </a:extLst>
                  </p:cNvPr>
                  <p:cNvSpPr txBox="1"/>
                  <p:nvPr/>
                </p:nvSpPr>
                <p:spPr>
                  <a:xfrm>
                    <a:off x="4312910" y="4397713"/>
                    <a:ext cx="11003291" cy="379987"/>
                  </a:xfrm>
                  <a:prstGeom prst="rect">
                    <a:avLst/>
                  </a:prstGeom>
                </p:spPr>
                <p:txBody>
                  <a:bodyPr wrap="square" lIns="0" tIns="0" rIns="0" bIns="0" rtlCol="0" anchor="t">
                    <a:spAutoFit/>
                  </a:bodyPr>
                  <a:lstStyle/>
                  <a:p>
                    <a:pPr algn="ctr">
                      <a:lnSpc>
                        <a:spcPts val="3266"/>
                      </a:lnSpc>
                    </a:pPr>
                    <a:r>
                      <a:rPr lang="pt-BR" sz="3000" b="1" spc="134" dirty="0">
                        <a:solidFill>
                          <a:srgbClr val="39F2AE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Gestão de Performance</a:t>
                    </a:r>
                    <a:endParaRPr lang="en-US" sz="3000" b="1" spc="134" dirty="0">
                      <a:solidFill>
                        <a:srgbClr val="28AA7A"/>
                      </a:solidFill>
                      <a:latin typeface="Poppins 1 Bold"/>
                      <a:ea typeface="Poppins 1 Bold"/>
                      <a:cs typeface="Poppins 1 Bold"/>
                      <a:sym typeface="Poppins 1 Bold"/>
                    </a:endParaRPr>
                  </a:p>
                </p:txBody>
              </p:sp>
            </p:grpSp>
            <p:grpSp>
              <p:nvGrpSpPr>
                <p:cNvPr id="19" name="Agrupar 18">
                  <a:extLst>
                    <a:ext uri="{FF2B5EF4-FFF2-40B4-BE49-F238E27FC236}">
                      <a16:creationId xmlns:a16="http://schemas.microsoft.com/office/drawing/2014/main" id="{97DB0005-8459-31A0-FB73-4AD3FF4989AE}"/>
                    </a:ext>
                  </a:extLst>
                </p:cNvPr>
                <p:cNvGrpSpPr/>
                <p:nvPr/>
              </p:nvGrpSpPr>
              <p:grpSpPr>
                <a:xfrm>
                  <a:off x="5160845" y="4971780"/>
                  <a:ext cx="9298799" cy="2152920"/>
                  <a:chOff x="6211936" y="5006578"/>
                  <a:chExt cx="9298799" cy="2152920"/>
                </a:xfrm>
              </p:grpSpPr>
              <p:grpSp>
                <p:nvGrpSpPr>
                  <p:cNvPr id="2" name="Group 4"/>
                  <p:cNvGrpSpPr/>
                  <p:nvPr/>
                </p:nvGrpSpPr>
                <p:grpSpPr>
                  <a:xfrm>
                    <a:off x="12591067" y="5021126"/>
                    <a:ext cx="2919668" cy="2138372"/>
                    <a:chOff x="0" y="-76200"/>
                    <a:chExt cx="768966" cy="563192"/>
                  </a:xfrm>
                </p:grpSpPr>
                <p:sp>
                  <p:nvSpPr>
                    <p:cNvPr id="6" name="Freeform 5"/>
                    <p:cNvSpPr/>
                    <p:nvPr/>
                  </p:nvSpPr>
                  <p:spPr>
                    <a:xfrm>
                      <a:off x="0" y="-34370"/>
                      <a:ext cx="768966" cy="4869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8966" h="486993">
                          <a:moveTo>
                            <a:pt x="135234" y="0"/>
                          </a:moveTo>
                          <a:lnTo>
                            <a:pt x="633732" y="0"/>
                          </a:lnTo>
                          <a:cubicBezTo>
                            <a:pt x="669598" y="0"/>
                            <a:pt x="703996" y="14248"/>
                            <a:pt x="729357" y="39609"/>
                          </a:cubicBezTo>
                          <a:cubicBezTo>
                            <a:pt x="754718" y="64970"/>
                            <a:pt x="768966" y="99368"/>
                            <a:pt x="768966" y="135234"/>
                          </a:cubicBezTo>
                          <a:lnTo>
                            <a:pt x="768966" y="351759"/>
                          </a:lnTo>
                          <a:cubicBezTo>
                            <a:pt x="768966" y="387625"/>
                            <a:pt x="754718" y="422022"/>
                            <a:pt x="729357" y="447383"/>
                          </a:cubicBezTo>
                          <a:cubicBezTo>
                            <a:pt x="703996" y="472745"/>
                            <a:pt x="669598" y="486993"/>
                            <a:pt x="633732" y="486993"/>
                          </a:cubicBezTo>
                          <a:lnTo>
                            <a:pt x="135234" y="486993"/>
                          </a:lnTo>
                          <a:cubicBezTo>
                            <a:pt x="60546" y="486993"/>
                            <a:pt x="0" y="426446"/>
                            <a:pt x="0" y="351759"/>
                          </a:cubicBezTo>
                          <a:lnTo>
                            <a:pt x="0" y="135234"/>
                          </a:lnTo>
                          <a:cubicBezTo>
                            <a:pt x="0" y="99368"/>
                            <a:pt x="14248" y="64970"/>
                            <a:pt x="39609" y="39609"/>
                          </a:cubicBezTo>
                          <a:cubicBezTo>
                            <a:pt x="64970" y="14248"/>
                            <a:pt x="99368" y="0"/>
                            <a:pt x="135234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28575" cap="rnd">
                      <a:gradFill>
                        <a:gsLst>
                          <a:gs pos="0">
                            <a:srgbClr val="E6C63F">
                              <a:alpha val="100000"/>
                            </a:srgbClr>
                          </a:gs>
                          <a:gs pos="50000">
                            <a:srgbClr val="FFFFFF">
                              <a:alpha val="100000"/>
                            </a:srgbClr>
                          </a:gs>
                          <a:gs pos="100000">
                            <a:srgbClr val="E6C63F">
                              <a:alpha val="100000"/>
                            </a:srgbClr>
                          </a:gs>
                        </a:gsLst>
                        <a:lin ang="2700000"/>
                      </a:gra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" name="TextBox 6"/>
                    <p:cNvSpPr txBox="1"/>
                    <p:nvPr/>
                  </p:nvSpPr>
                  <p:spPr>
                    <a:xfrm>
                      <a:off x="0" y="-76200"/>
                      <a:ext cx="768966" cy="563192"/>
                    </a:xfrm>
                    <a:prstGeom prst="rect">
                      <a:avLst/>
                    </a:prstGeom>
                  </p:spPr>
                  <p:txBody>
                    <a:bodyPr lIns="50800" tIns="50800" rIns="50800" bIns="50800" rtlCol="0" anchor="ctr"/>
                    <a:lstStyle/>
                    <a:p>
                      <a:pPr algn="ctr">
                        <a:lnSpc>
                          <a:spcPts val="2871"/>
                        </a:lnSpc>
                      </a:pPr>
                      <a:endParaRPr/>
                    </a:p>
                  </p:txBody>
                </p:sp>
              </p:grpSp>
              <p:grpSp>
                <p:nvGrpSpPr>
                  <p:cNvPr id="7" name="Group 7"/>
                  <p:cNvGrpSpPr/>
                  <p:nvPr/>
                </p:nvGrpSpPr>
                <p:grpSpPr>
                  <a:xfrm>
                    <a:off x="9402671" y="5006578"/>
                    <a:ext cx="2919668" cy="2138372"/>
                    <a:chOff x="0" y="-76200"/>
                    <a:chExt cx="768966" cy="563192"/>
                  </a:xfrm>
                </p:grpSpPr>
                <p:sp>
                  <p:nvSpPr>
                    <p:cNvPr id="8" name="Freeform 8"/>
                    <p:cNvSpPr/>
                    <p:nvPr/>
                  </p:nvSpPr>
                  <p:spPr>
                    <a:xfrm>
                      <a:off x="0" y="-34370"/>
                      <a:ext cx="768966" cy="4869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8966" h="486993">
                          <a:moveTo>
                            <a:pt x="135234" y="0"/>
                          </a:moveTo>
                          <a:lnTo>
                            <a:pt x="633732" y="0"/>
                          </a:lnTo>
                          <a:cubicBezTo>
                            <a:pt x="669598" y="0"/>
                            <a:pt x="703996" y="14248"/>
                            <a:pt x="729357" y="39609"/>
                          </a:cubicBezTo>
                          <a:cubicBezTo>
                            <a:pt x="754718" y="64970"/>
                            <a:pt x="768966" y="99368"/>
                            <a:pt x="768966" y="135234"/>
                          </a:cubicBezTo>
                          <a:lnTo>
                            <a:pt x="768966" y="351759"/>
                          </a:lnTo>
                          <a:cubicBezTo>
                            <a:pt x="768966" y="387625"/>
                            <a:pt x="754718" y="422022"/>
                            <a:pt x="729357" y="447383"/>
                          </a:cubicBezTo>
                          <a:cubicBezTo>
                            <a:pt x="703996" y="472745"/>
                            <a:pt x="669598" y="486993"/>
                            <a:pt x="633732" y="486993"/>
                          </a:cubicBezTo>
                          <a:lnTo>
                            <a:pt x="135234" y="486993"/>
                          </a:lnTo>
                          <a:cubicBezTo>
                            <a:pt x="60546" y="486993"/>
                            <a:pt x="0" y="426446"/>
                            <a:pt x="0" y="351759"/>
                          </a:cubicBezTo>
                          <a:lnTo>
                            <a:pt x="0" y="135234"/>
                          </a:lnTo>
                          <a:cubicBezTo>
                            <a:pt x="0" y="99368"/>
                            <a:pt x="14248" y="64970"/>
                            <a:pt x="39609" y="39609"/>
                          </a:cubicBezTo>
                          <a:cubicBezTo>
                            <a:pt x="64970" y="14248"/>
                            <a:pt x="99368" y="0"/>
                            <a:pt x="135234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28575" cap="rnd">
                      <a:gradFill>
                        <a:gsLst>
                          <a:gs pos="0">
                            <a:srgbClr val="E6C63F">
                              <a:alpha val="100000"/>
                            </a:srgbClr>
                          </a:gs>
                          <a:gs pos="50000">
                            <a:srgbClr val="FFFFFF">
                              <a:alpha val="100000"/>
                            </a:srgbClr>
                          </a:gs>
                          <a:gs pos="100000">
                            <a:srgbClr val="E6C63F">
                              <a:alpha val="100000"/>
                            </a:srgbClr>
                          </a:gs>
                        </a:gsLst>
                        <a:lin ang="2700000"/>
                      </a:gra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9" name="TextBox 9"/>
                    <p:cNvSpPr txBox="1"/>
                    <p:nvPr/>
                  </p:nvSpPr>
                  <p:spPr>
                    <a:xfrm>
                      <a:off x="0" y="-76200"/>
                      <a:ext cx="768966" cy="563192"/>
                    </a:xfrm>
                    <a:prstGeom prst="rect">
                      <a:avLst/>
                    </a:prstGeom>
                  </p:spPr>
                  <p:txBody>
                    <a:bodyPr lIns="50800" tIns="50800" rIns="50800" bIns="50800" rtlCol="0" anchor="ctr"/>
                    <a:lstStyle/>
                    <a:p>
                      <a:pPr algn="ctr">
                        <a:lnSpc>
                          <a:spcPts val="2871"/>
                        </a:lnSpc>
                      </a:pPr>
                      <a:endParaRPr/>
                    </a:p>
                  </p:txBody>
                </p:sp>
              </p:grpSp>
              <p:grpSp>
                <p:nvGrpSpPr>
                  <p:cNvPr id="10" name="Group 10"/>
                  <p:cNvGrpSpPr/>
                  <p:nvPr/>
                </p:nvGrpSpPr>
                <p:grpSpPr>
                  <a:xfrm>
                    <a:off x="6211936" y="5021126"/>
                    <a:ext cx="2919668" cy="2138372"/>
                    <a:chOff x="0" y="-76200"/>
                    <a:chExt cx="768966" cy="563192"/>
                  </a:xfrm>
                </p:grpSpPr>
                <p:sp>
                  <p:nvSpPr>
                    <p:cNvPr id="11" name="Freeform 11"/>
                    <p:cNvSpPr/>
                    <p:nvPr/>
                  </p:nvSpPr>
                  <p:spPr>
                    <a:xfrm>
                      <a:off x="0" y="-34370"/>
                      <a:ext cx="768966" cy="4869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8966" h="486993">
                          <a:moveTo>
                            <a:pt x="135234" y="0"/>
                          </a:moveTo>
                          <a:lnTo>
                            <a:pt x="633732" y="0"/>
                          </a:lnTo>
                          <a:cubicBezTo>
                            <a:pt x="669598" y="0"/>
                            <a:pt x="703996" y="14248"/>
                            <a:pt x="729357" y="39609"/>
                          </a:cubicBezTo>
                          <a:cubicBezTo>
                            <a:pt x="754718" y="64970"/>
                            <a:pt x="768966" y="99368"/>
                            <a:pt x="768966" y="135234"/>
                          </a:cubicBezTo>
                          <a:lnTo>
                            <a:pt x="768966" y="351759"/>
                          </a:lnTo>
                          <a:cubicBezTo>
                            <a:pt x="768966" y="387625"/>
                            <a:pt x="754718" y="422022"/>
                            <a:pt x="729357" y="447383"/>
                          </a:cubicBezTo>
                          <a:cubicBezTo>
                            <a:pt x="703996" y="472745"/>
                            <a:pt x="669598" y="486993"/>
                            <a:pt x="633732" y="486993"/>
                          </a:cubicBezTo>
                          <a:lnTo>
                            <a:pt x="135234" y="486993"/>
                          </a:lnTo>
                          <a:cubicBezTo>
                            <a:pt x="60546" y="486993"/>
                            <a:pt x="0" y="426446"/>
                            <a:pt x="0" y="351759"/>
                          </a:cubicBezTo>
                          <a:lnTo>
                            <a:pt x="0" y="135234"/>
                          </a:lnTo>
                          <a:cubicBezTo>
                            <a:pt x="0" y="99368"/>
                            <a:pt x="14248" y="64970"/>
                            <a:pt x="39609" y="39609"/>
                          </a:cubicBezTo>
                          <a:cubicBezTo>
                            <a:pt x="64970" y="14248"/>
                            <a:pt x="99368" y="0"/>
                            <a:pt x="135234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28575" cap="rnd">
                      <a:gradFill>
                        <a:gsLst>
                          <a:gs pos="0">
                            <a:srgbClr val="E6C63F">
                              <a:alpha val="100000"/>
                            </a:srgbClr>
                          </a:gs>
                          <a:gs pos="50000">
                            <a:srgbClr val="FFFFFF">
                              <a:alpha val="100000"/>
                            </a:srgbClr>
                          </a:gs>
                          <a:gs pos="100000">
                            <a:srgbClr val="E6C63F">
                              <a:alpha val="100000"/>
                            </a:srgbClr>
                          </a:gs>
                        </a:gsLst>
                        <a:lin ang="2700000"/>
                      </a:gra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" name="TextBox 12"/>
                    <p:cNvSpPr txBox="1"/>
                    <p:nvPr/>
                  </p:nvSpPr>
                  <p:spPr>
                    <a:xfrm>
                      <a:off x="0" y="-76200"/>
                      <a:ext cx="768966" cy="563192"/>
                    </a:xfrm>
                    <a:prstGeom prst="rect">
                      <a:avLst/>
                    </a:prstGeom>
                  </p:spPr>
                  <p:txBody>
                    <a:bodyPr lIns="50800" tIns="50800" rIns="50800" bIns="50800" rtlCol="0" anchor="ctr"/>
                    <a:lstStyle/>
                    <a:p>
                      <a:pPr algn="ctr">
                        <a:lnSpc>
                          <a:spcPts val="2871"/>
                        </a:lnSpc>
                      </a:pPr>
                      <a:endParaRPr/>
                    </a:p>
                  </p:txBody>
                </p:sp>
              </p:grpSp>
              <p:sp>
                <p:nvSpPr>
                  <p:cNvPr id="3" name="TextBox 15"/>
                  <p:cNvSpPr txBox="1"/>
                  <p:nvPr/>
                </p:nvSpPr>
                <p:spPr>
                  <a:xfrm>
                    <a:off x="6436472" y="5723505"/>
                    <a:ext cx="2538249" cy="728917"/>
                  </a:xfrm>
                  <a:prstGeom prst="rect">
                    <a:avLst/>
                  </a:prstGeom>
                </p:spPr>
                <p:txBody>
                  <a:bodyPr lIns="0" tIns="0" rIns="0" bIns="0" rtlCol="0" anchor="t">
                    <a:spAutoFit/>
                  </a:bodyPr>
                  <a:lstStyle/>
                  <a:p>
                    <a:pPr algn="ctr">
                      <a:lnSpc>
                        <a:spcPts val="2832"/>
                      </a:lnSpc>
                    </a:pPr>
                    <a:r>
                      <a:rPr lang="en-US" sz="2600" spc="120" dirty="0" err="1">
                        <a:solidFill>
                          <a:srgbClr val="E6C63F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Gestão</a:t>
                    </a:r>
                    <a:r>
                      <a:rPr lang="en-US" sz="2600" spc="120" dirty="0">
                        <a:solidFill>
                          <a:srgbClr val="E6C63F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 de </a:t>
                    </a:r>
                    <a:r>
                      <a:rPr lang="en-US" sz="2600" spc="120" dirty="0" err="1">
                        <a:solidFill>
                          <a:srgbClr val="E6C63F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Processos</a:t>
                    </a:r>
                    <a:endParaRPr lang="en-US" sz="2600" b="1" spc="120" dirty="0">
                      <a:solidFill>
                        <a:srgbClr val="E6C63F"/>
                      </a:solidFill>
                      <a:latin typeface="Poppins 1 Bold"/>
                      <a:ea typeface="Poppins 1 Bold"/>
                      <a:cs typeface="Poppins 1 Bold"/>
                      <a:sym typeface="Poppins 1 Bold"/>
                    </a:endParaRPr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9675232" y="5708957"/>
                    <a:ext cx="2538249" cy="728917"/>
                  </a:xfrm>
                  <a:prstGeom prst="rect">
                    <a:avLst/>
                  </a:prstGeom>
                </p:spPr>
                <p:txBody>
                  <a:bodyPr lIns="0" tIns="0" rIns="0" bIns="0" rtlCol="0" anchor="t">
                    <a:spAutoFit/>
                  </a:bodyPr>
                  <a:lstStyle/>
                  <a:p>
                    <a:pPr algn="ctr">
                      <a:lnSpc>
                        <a:spcPts val="2832"/>
                      </a:lnSpc>
                    </a:pPr>
                    <a:r>
                      <a:rPr lang="en-US" sz="2600" spc="120" dirty="0" err="1">
                        <a:solidFill>
                          <a:srgbClr val="E6C63F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Gestão</a:t>
                    </a:r>
                    <a:r>
                      <a:rPr lang="en-US" sz="2600" spc="120" dirty="0">
                        <a:solidFill>
                          <a:srgbClr val="E6C63F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 de </a:t>
                    </a:r>
                    <a:r>
                      <a:rPr lang="en-US" sz="2600" spc="120" dirty="0" err="1">
                        <a:solidFill>
                          <a:srgbClr val="E6C63F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Projetos</a:t>
                    </a:r>
                    <a:endParaRPr lang="en-US" sz="2600" b="1" spc="120" dirty="0">
                      <a:solidFill>
                        <a:srgbClr val="E6C63F"/>
                      </a:solidFill>
                      <a:latin typeface="Poppins 1 Bold"/>
                      <a:ea typeface="Poppins 1 Bold"/>
                      <a:cs typeface="Poppins 1 Bold"/>
                      <a:sym typeface="Poppins 1 Bold"/>
                    </a:endParaRPr>
                  </a:p>
                </p:txBody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12832505" y="5723505"/>
                    <a:ext cx="2538249" cy="721736"/>
                  </a:xfrm>
                  <a:prstGeom prst="rect">
                    <a:avLst/>
                  </a:prstGeom>
                </p:spPr>
                <p:txBody>
                  <a:bodyPr lIns="0" tIns="0" rIns="0" bIns="0" rtlCol="0" anchor="t">
                    <a:spAutoFit/>
                  </a:bodyPr>
                  <a:lstStyle/>
                  <a:p>
                    <a:pPr algn="ctr">
                      <a:lnSpc>
                        <a:spcPts val="2832"/>
                      </a:lnSpc>
                    </a:pPr>
                    <a:r>
                      <a:rPr lang="en-US" sz="2600" spc="120" dirty="0">
                        <a:solidFill>
                          <a:srgbClr val="E6C63F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Controladoria Empresarial</a:t>
                    </a:r>
                    <a:endParaRPr lang="en-US" sz="2600" b="1" spc="120" dirty="0">
                      <a:solidFill>
                        <a:srgbClr val="E6C63F"/>
                      </a:solidFill>
                      <a:latin typeface="Poppins 1 Bold"/>
                      <a:ea typeface="Poppins 1 Bold"/>
                      <a:cs typeface="Poppins 1 Bold"/>
                      <a:sym typeface="Poppins 1 Bold"/>
                    </a:endParaRPr>
                  </a:p>
                </p:txBody>
              </p:sp>
            </p:grpSp>
          </p:grpSp>
          <p:grpSp>
            <p:nvGrpSpPr>
              <p:cNvPr id="53" name="Agrupar 52">
                <a:extLst>
                  <a:ext uri="{FF2B5EF4-FFF2-40B4-BE49-F238E27FC236}">
                    <a16:creationId xmlns:a16="http://schemas.microsoft.com/office/drawing/2014/main" id="{3B119057-8E12-B280-EE66-0FC74C300902}"/>
                  </a:ext>
                </a:extLst>
              </p:cNvPr>
              <p:cNvGrpSpPr/>
              <p:nvPr/>
            </p:nvGrpSpPr>
            <p:grpSpPr>
              <a:xfrm>
                <a:off x="3201342" y="6957332"/>
                <a:ext cx="13383846" cy="2344375"/>
                <a:chOff x="3092250" y="7523525"/>
                <a:chExt cx="13383846" cy="2344375"/>
              </a:xfrm>
            </p:grpSpPr>
            <p:grpSp>
              <p:nvGrpSpPr>
                <p:cNvPr id="52" name="Agrupar 51">
                  <a:extLst>
                    <a:ext uri="{FF2B5EF4-FFF2-40B4-BE49-F238E27FC236}">
                      <a16:creationId xmlns:a16="http://schemas.microsoft.com/office/drawing/2014/main" id="{21B27675-D36F-8BEB-4C5E-1AC258F29FF9}"/>
                    </a:ext>
                  </a:extLst>
                </p:cNvPr>
                <p:cNvGrpSpPr/>
                <p:nvPr/>
              </p:nvGrpSpPr>
              <p:grpSpPr>
                <a:xfrm>
                  <a:off x="3092250" y="7523525"/>
                  <a:ext cx="13383846" cy="2344375"/>
                  <a:chOff x="3092250" y="7447325"/>
                  <a:chExt cx="13383846" cy="2344375"/>
                </a:xfrm>
              </p:grpSpPr>
              <p:grpSp>
                <p:nvGrpSpPr>
                  <p:cNvPr id="45" name="Group 4">
                    <a:extLst>
                      <a:ext uri="{FF2B5EF4-FFF2-40B4-BE49-F238E27FC236}">
                        <a16:creationId xmlns:a16="http://schemas.microsoft.com/office/drawing/2014/main" id="{023AA828-CD11-8C7E-B33D-8621B385279A}"/>
                      </a:ext>
                    </a:extLst>
                  </p:cNvPr>
                  <p:cNvGrpSpPr/>
                  <p:nvPr/>
                </p:nvGrpSpPr>
                <p:grpSpPr>
                  <a:xfrm>
                    <a:off x="3092250" y="7447325"/>
                    <a:ext cx="13383846" cy="2344375"/>
                    <a:chOff x="0" y="-76200"/>
                    <a:chExt cx="2485840" cy="610233"/>
                  </a:xfrm>
                </p:grpSpPr>
                <p:sp>
                  <p:nvSpPr>
                    <p:cNvPr id="46" name="Freeform 5">
                      <a:extLst>
                        <a:ext uri="{FF2B5EF4-FFF2-40B4-BE49-F238E27FC236}">
                          <a16:creationId xmlns:a16="http://schemas.microsoft.com/office/drawing/2014/main" id="{BCC1C547-91F5-E8AF-7AD6-FCA2F13C5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18291"/>
                      <a:ext cx="2485840" cy="5340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85840" h="534033">
                          <a:moveTo>
                            <a:pt x="41833" y="0"/>
                          </a:moveTo>
                          <a:lnTo>
                            <a:pt x="2444007" y="0"/>
                          </a:lnTo>
                          <a:cubicBezTo>
                            <a:pt x="2455102" y="0"/>
                            <a:pt x="2465742" y="4407"/>
                            <a:pt x="2473587" y="12253"/>
                          </a:cubicBezTo>
                          <a:cubicBezTo>
                            <a:pt x="2481432" y="20098"/>
                            <a:pt x="2485840" y="30738"/>
                            <a:pt x="2485840" y="41833"/>
                          </a:cubicBezTo>
                          <a:lnTo>
                            <a:pt x="2485840" y="492200"/>
                          </a:lnTo>
                          <a:cubicBezTo>
                            <a:pt x="2485840" y="515303"/>
                            <a:pt x="2467111" y="534033"/>
                            <a:pt x="2444007" y="534033"/>
                          </a:cubicBezTo>
                          <a:lnTo>
                            <a:pt x="41833" y="534033"/>
                          </a:lnTo>
                          <a:cubicBezTo>
                            <a:pt x="18729" y="534033"/>
                            <a:pt x="0" y="515303"/>
                            <a:pt x="0" y="492200"/>
                          </a:cubicBezTo>
                          <a:lnTo>
                            <a:pt x="0" y="41833"/>
                          </a:lnTo>
                          <a:cubicBezTo>
                            <a:pt x="0" y="18729"/>
                            <a:pt x="18729" y="0"/>
                            <a:pt x="41833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0"/>
                      </a:srgbClr>
                    </a:solidFill>
                    <a:ln w="28575" cap="rnd">
                      <a:gradFill>
                        <a:gsLst>
                          <a:gs pos="0">
                            <a:srgbClr val="3AF1AE">
                              <a:alpha val="100000"/>
                            </a:srgbClr>
                          </a:gs>
                          <a:gs pos="50000">
                            <a:srgbClr val="FFFFFF">
                              <a:alpha val="100000"/>
                            </a:srgbClr>
                          </a:gs>
                          <a:gs pos="100000">
                            <a:srgbClr val="3AF1AE">
                              <a:alpha val="100000"/>
                            </a:srgbClr>
                          </a:gs>
                        </a:gsLst>
                        <a:lin ang="2700000"/>
                      </a:gra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7" name="TextBox 6">
                      <a:extLst>
                        <a:ext uri="{FF2B5EF4-FFF2-40B4-BE49-F238E27FC236}">
                          <a16:creationId xmlns:a16="http://schemas.microsoft.com/office/drawing/2014/main" id="{EE26C1D8-9FDA-0B97-BCCD-6C24DB4BAD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-76200"/>
                      <a:ext cx="2485840" cy="610233"/>
                    </a:xfrm>
                    <a:prstGeom prst="rect">
                      <a:avLst/>
                    </a:prstGeom>
                  </p:spPr>
                  <p:txBody>
                    <a:bodyPr lIns="50800" tIns="50800" rIns="50800" bIns="50800" rtlCol="0" anchor="ctr"/>
                    <a:lstStyle/>
                    <a:p>
                      <a:pPr algn="ctr">
                        <a:lnSpc>
                          <a:spcPts val="2871"/>
                        </a:lnSpc>
                      </a:pPr>
                      <a:endParaRPr/>
                    </a:p>
                  </p:txBody>
                </p:sp>
              </p:grpSp>
              <p:sp>
                <p:nvSpPr>
                  <p:cNvPr id="51" name="TextBox 14">
                    <a:extLst>
                      <a:ext uri="{FF2B5EF4-FFF2-40B4-BE49-F238E27FC236}">
                        <a16:creationId xmlns:a16="http://schemas.microsoft.com/office/drawing/2014/main" id="{2D91445E-D6F9-B6BC-5CBD-B232435CC851}"/>
                      </a:ext>
                    </a:extLst>
                  </p:cNvPr>
                  <p:cNvSpPr txBox="1"/>
                  <p:nvPr/>
                </p:nvSpPr>
                <p:spPr>
                  <a:xfrm>
                    <a:off x="3909575" y="7929619"/>
                    <a:ext cx="11003291" cy="379987"/>
                  </a:xfrm>
                  <a:prstGeom prst="rect">
                    <a:avLst/>
                  </a:prstGeom>
                </p:spPr>
                <p:txBody>
                  <a:bodyPr wrap="square" lIns="0" tIns="0" rIns="0" bIns="0" rtlCol="0" anchor="t">
                    <a:spAutoFit/>
                  </a:bodyPr>
                  <a:lstStyle/>
                  <a:p>
                    <a:pPr algn="ctr">
                      <a:lnSpc>
                        <a:spcPts val="3266"/>
                      </a:lnSpc>
                    </a:pPr>
                    <a:r>
                      <a:rPr lang="pt-BR" sz="3000" b="1" spc="134" dirty="0">
                        <a:solidFill>
                          <a:srgbClr val="39F2AE"/>
                        </a:solidFill>
                        <a:latin typeface="Poppins 1"/>
                        <a:ea typeface="Poppins 1"/>
                        <a:cs typeface="Poppins 1"/>
                        <a:sym typeface="Poppins 1"/>
                      </a:rPr>
                      <a:t>Hub de Assessoria Técnica</a:t>
                    </a:r>
                    <a:endParaRPr lang="en-US" sz="3000" b="1" spc="134" dirty="0">
                      <a:solidFill>
                        <a:srgbClr val="28AA7A"/>
                      </a:solidFill>
                      <a:latin typeface="Poppins 1 Bold"/>
                      <a:ea typeface="Poppins 1 Bold"/>
                      <a:cs typeface="Poppins 1 Bold"/>
                      <a:sym typeface="Poppins 1 Bold"/>
                    </a:endParaRPr>
                  </a:p>
                </p:txBody>
              </p:sp>
            </p:grpSp>
            <p:grpSp>
              <p:nvGrpSpPr>
                <p:cNvPr id="40" name="Agrupar 39">
                  <a:extLst>
                    <a:ext uri="{FF2B5EF4-FFF2-40B4-BE49-F238E27FC236}">
                      <a16:creationId xmlns:a16="http://schemas.microsoft.com/office/drawing/2014/main" id="{52D8212C-C7A9-736C-D5E7-FAC819AA090C}"/>
                    </a:ext>
                  </a:extLst>
                </p:cNvPr>
                <p:cNvGrpSpPr/>
                <p:nvPr/>
              </p:nvGrpSpPr>
              <p:grpSpPr>
                <a:xfrm>
                  <a:off x="3688727" y="8649427"/>
                  <a:ext cx="12409075" cy="837473"/>
                  <a:chOff x="1905591" y="8039100"/>
                  <a:chExt cx="16219075" cy="1079462"/>
                </a:xfrm>
              </p:grpSpPr>
              <p:sp>
                <p:nvSpPr>
                  <p:cNvPr id="21" name="AutoShape 4">
                    <a:extLst>
                      <a:ext uri="{FF2B5EF4-FFF2-40B4-BE49-F238E27FC236}">
                        <a16:creationId xmlns:a16="http://schemas.microsoft.com/office/drawing/2014/main" id="{908E32C6-4413-408C-CCF6-B3F102B822A3}"/>
                      </a:ext>
                    </a:extLst>
                  </p:cNvPr>
                  <p:cNvSpPr/>
                  <p:nvPr/>
                </p:nvSpPr>
                <p:spPr>
                  <a:xfrm>
                    <a:off x="5009546" y="8597209"/>
                    <a:ext cx="1629984" cy="0"/>
                  </a:xfrm>
                  <a:prstGeom prst="line">
                    <a:avLst/>
                  </a:prstGeom>
                  <a:ln w="38100" cap="flat">
                    <a:gradFill>
                      <a:gsLst>
                        <a:gs pos="0">
                          <a:srgbClr val="E6C63F">
                            <a:alpha val="100000"/>
                          </a:srgbClr>
                        </a:gs>
                        <a:gs pos="50000">
                          <a:srgbClr val="FFFFFF">
                            <a:alpha val="100000"/>
                          </a:srgbClr>
                        </a:gs>
                        <a:gs pos="100000">
                          <a:srgbClr val="E6C63F">
                            <a:alpha val="100000"/>
                          </a:srgbClr>
                        </a:gs>
                      </a:gsLst>
                      <a:lin ang="2700000"/>
                    </a:gra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" name="AutoShape 6">
                    <a:extLst>
                      <a:ext uri="{FF2B5EF4-FFF2-40B4-BE49-F238E27FC236}">
                        <a16:creationId xmlns:a16="http://schemas.microsoft.com/office/drawing/2014/main" id="{20F300AB-221C-B311-26E4-76BED445DCB5}"/>
                      </a:ext>
                    </a:extLst>
                  </p:cNvPr>
                  <p:cNvSpPr/>
                  <p:nvPr/>
                </p:nvSpPr>
                <p:spPr>
                  <a:xfrm>
                    <a:off x="9385081" y="8597209"/>
                    <a:ext cx="1629984" cy="0"/>
                  </a:xfrm>
                  <a:prstGeom prst="line">
                    <a:avLst/>
                  </a:prstGeom>
                  <a:ln w="38100" cap="flat">
                    <a:gradFill>
                      <a:gsLst>
                        <a:gs pos="0">
                          <a:srgbClr val="E6C63F">
                            <a:alpha val="100000"/>
                          </a:srgbClr>
                        </a:gs>
                        <a:gs pos="50000">
                          <a:srgbClr val="FFFFFF">
                            <a:alpha val="100000"/>
                          </a:srgbClr>
                        </a:gs>
                        <a:gs pos="100000">
                          <a:srgbClr val="E6C63F">
                            <a:alpha val="100000"/>
                          </a:srgbClr>
                        </a:gs>
                      </a:gsLst>
                      <a:lin ang="2700000"/>
                    </a:gra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5" name="AutoShape 6">
                    <a:extLst>
                      <a:ext uri="{FF2B5EF4-FFF2-40B4-BE49-F238E27FC236}">
                        <a16:creationId xmlns:a16="http://schemas.microsoft.com/office/drawing/2014/main" id="{9087FEBF-12AC-A3F7-E3B1-0094BFF005C4}"/>
                      </a:ext>
                    </a:extLst>
                  </p:cNvPr>
                  <p:cNvSpPr/>
                  <p:nvPr/>
                </p:nvSpPr>
                <p:spPr>
                  <a:xfrm flipV="1">
                    <a:off x="13996346" y="8597205"/>
                    <a:ext cx="282915" cy="0"/>
                  </a:xfrm>
                  <a:prstGeom prst="line">
                    <a:avLst/>
                  </a:prstGeom>
                  <a:ln w="38100" cap="flat">
                    <a:gradFill>
                      <a:gsLst>
                        <a:gs pos="0">
                          <a:srgbClr val="E6C63F">
                            <a:alpha val="100000"/>
                          </a:srgbClr>
                        </a:gs>
                        <a:gs pos="50000">
                          <a:srgbClr val="FFFFFF">
                            <a:alpha val="100000"/>
                          </a:srgbClr>
                        </a:gs>
                        <a:gs pos="100000">
                          <a:srgbClr val="E6C63F">
                            <a:alpha val="100000"/>
                          </a:srgbClr>
                        </a:gs>
                      </a:gsLst>
                      <a:lin ang="2700000"/>
                    </a:gra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39" name="Agrupar 38">
                    <a:extLst>
                      <a:ext uri="{FF2B5EF4-FFF2-40B4-BE49-F238E27FC236}">
                        <a16:creationId xmlns:a16="http://schemas.microsoft.com/office/drawing/2014/main" id="{060617DA-375B-FA90-ABB2-FD50FD535439}"/>
                      </a:ext>
                    </a:extLst>
                  </p:cNvPr>
                  <p:cNvGrpSpPr/>
                  <p:nvPr/>
                </p:nvGrpSpPr>
                <p:grpSpPr>
                  <a:xfrm>
                    <a:off x="1905591" y="8039100"/>
                    <a:ext cx="16219075" cy="1079462"/>
                    <a:chOff x="1905591" y="8061754"/>
                    <a:chExt cx="16219075" cy="1079462"/>
                  </a:xfrm>
                </p:grpSpPr>
                <p:grpSp>
                  <p:nvGrpSpPr>
                    <p:cNvPr id="23" name="Group 8">
                      <a:extLst>
                        <a:ext uri="{FF2B5EF4-FFF2-40B4-BE49-F238E27FC236}">
                          <a16:creationId xmlns:a16="http://schemas.microsoft.com/office/drawing/2014/main" id="{24252AE8-1641-E20D-1341-535381754F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05591" y="8099403"/>
                      <a:ext cx="3840889" cy="1041813"/>
                      <a:chOff x="0" y="0"/>
                      <a:chExt cx="1480432" cy="616646"/>
                    </a:xfrm>
                  </p:grpSpPr>
                  <p:sp>
                    <p:nvSpPr>
                      <p:cNvPr id="24" name="Freeform 9">
                        <a:extLst>
                          <a:ext uri="{FF2B5EF4-FFF2-40B4-BE49-F238E27FC236}">
                            <a16:creationId xmlns:a16="http://schemas.microsoft.com/office/drawing/2014/main" id="{F5DCAD10-E114-16AF-E51E-95ED85E0F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1480432" cy="61664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80432" h="616646">
                            <a:moveTo>
                              <a:pt x="80586" y="0"/>
                            </a:moveTo>
                            <a:lnTo>
                              <a:pt x="1399846" y="0"/>
                            </a:lnTo>
                            <a:cubicBezTo>
                              <a:pt x="1444352" y="0"/>
                              <a:pt x="1480432" y="36079"/>
                              <a:pt x="1480432" y="80586"/>
                            </a:cubicBezTo>
                            <a:lnTo>
                              <a:pt x="1480432" y="536060"/>
                            </a:lnTo>
                            <a:cubicBezTo>
                              <a:pt x="1480432" y="580566"/>
                              <a:pt x="1444352" y="616646"/>
                              <a:pt x="1399846" y="616646"/>
                            </a:cubicBezTo>
                            <a:lnTo>
                              <a:pt x="80586" y="616646"/>
                            </a:lnTo>
                            <a:cubicBezTo>
                              <a:pt x="36079" y="616646"/>
                              <a:pt x="0" y="580566"/>
                              <a:pt x="0" y="536060"/>
                            </a:cubicBezTo>
                            <a:lnTo>
                              <a:pt x="0" y="80586"/>
                            </a:lnTo>
                            <a:cubicBezTo>
                              <a:pt x="0" y="36079"/>
                              <a:pt x="36079" y="0"/>
                              <a:pt x="80586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28575" cap="rnd">
                        <a:gradFill>
                          <a:gsLst>
                            <a:gs pos="0">
                              <a:srgbClr val="E6C63F">
                                <a:alpha val="100000"/>
                              </a:srgbClr>
                            </a:gs>
                            <a:gs pos="50000">
                              <a:srgbClr val="FFFFFF">
                                <a:alpha val="100000"/>
                              </a:srgbClr>
                            </a:gs>
                            <a:gs pos="100000">
                              <a:srgbClr val="E6C63F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pPr algn="ctr"/>
                        <a:endParaRPr lang="pt-BR" sz="800" dirty="0">
                          <a:solidFill>
                            <a:schemeClr val="bg1"/>
                          </a:solidFill>
                        </a:endParaRPr>
                      </a:p>
                      <a:p>
                        <a:pPr algn="ctr"/>
                        <a:r>
                          <a:rPr lang="pt-BR" sz="2400" dirty="0">
                            <a:solidFill>
                              <a:schemeClr val="bg1"/>
                            </a:solidFill>
                          </a:rPr>
                          <a:t>Finanças Corporativas</a:t>
                        </a:r>
                      </a:p>
                    </p:txBody>
                  </p:sp>
                  <p:sp>
                    <p:nvSpPr>
                      <p:cNvPr id="25" name="TextBox 10">
                        <a:extLst>
                          <a:ext uri="{FF2B5EF4-FFF2-40B4-BE49-F238E27FC236}">
                            <a16:creationId xmlns:a16="http://schemas.microsoft.com/office/drawing/2014/main" id="{CF521F28-BCC1-49D2-B8B6-6BC96002BC3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-76200"/>
                        <a:ext cx="1480432" cy="692846"/>
                      </a:xfrm>
                      <a:prstGeom prst="rect">
                        <a:avLst/>
                      </a:prstGeom>
                    </p:spPr>
                    <p:txBody>
                      <a:bodyPr lIns="50800" tIns="50800" rIns="50800" bIns="50800" rtlCol="0" anchor="ctr"/>
                      <a:lstStyle/>
                      <a:p>
                        <a:pPr algn="ctr">
                          <a:lnSpc>
                            <a:spcPts val="2871"/>
                          </a:lnSpc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26" name="Group 11">
                      <a:extLst>
                        <a:ext uri="{FF2B5EF4-FFF2-40B4-BE49-F238E27FC236}">
                          <a16:creationId xmlns:a16="http://schemas.microsoft.com/office/drawing/2014/main" id="{445F77B0-3ED2-CC48-24E6-413A000139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31653" y="8076302"/>
                      <a:ext cx="3840889" cy="1041813"/>
                      <a:chOff x="0" y="0"/>
                      <a:chExt cx="1480432" cy="616646"/>
                    </a:xfrm>
                  </p:grpSpPr>
                  <p:sp>
                    <p:nvSpPr>
                      <p:cNvPr id="27" name="Freeform 12">
                        <a:extLst>
                          <a:ext uri="{FF2B5EF4-FFF2-40B4-BE49-F238E27FC236}">
                            <a16:creationId xmlns:a16="http://schemas.microsoft.com/office/drawing/2014/main" id="{5BA16B53-F207-1217-7FF8-02EC0C4D22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1480432" cy="61664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80432" h="616646">
                            <a:moveTo>
                              <a:pt x="80586" y="0"/>
                            </a:moveTo>
                            <a:lnTo>
                              <a:pt x="1399846" y="0"/>
                            </a:lnTo>
                            <a:cubicBezTo>
                              <a:pt x="1444352" y="0"/>
                              <a:pt x="1480432" y="36079"/>
                              <a:pt x="1480432" y="80586"/>
                            </a:cubicBezTo>
                            <a:lnTo>
                              <a:pt x="1480432" y="536060"/>
                            </a:lnTo>
                            <a:cubicBezTo>
                              <a:pt x="1480432" y="580566"/>
                              <a:pt x="1444352" y="616646"/>
                              <a:pt x="1399846" y="616646"/>
                            </a:cubicBezTo>
                            <a:lnTo>
                              <a:pt x="80586" y="616646"/>
                            </a:lnTo>
                            <a:cubicBezTo>
                              <a:pt x="36079" y="616646"/>
                              <a:pt x="0" y="580566"/>
                              <a:pt x="0" y="536060"/>
                            </a:cubicBezTo>
                            <a:lnTo>
                              <a:pt x="0" y="80586"/>
                            </a:lnTo>
                            <a:cubicBezTo>
                              <a:pt x="0" y="36079"/>
                              <a:pt x="36079" y="0"/>
                              <a:pt x="80586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28575" cap="rnd">
                        <a:gradFill>
                          <a:gsLst>
                            <a:gs pos="0">
                              <a:srgbClr val="E6C63F">
                                <a:alpha val="100000"/>
                              </a:srgbClr>
                            </a:gs>
                            <a:gs pos="50000">
                              <a:srgbClr val="FFFFFF">
                                <a:alpha val="100000"/>
                              </a:srgbClr>
                            </a:gs>
                            <a:gs pos="100000">
                              <a:srgbClr val="E6C63F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pPr algn="ctr"/>
                        <a:endParaRPr lang="pt-BR" sz="800" dirty="0">
                          <a:solidFill>
                            <a:schemeClr val="bg1"/>
                          </a:solidFill>
                        </a:endParaRPr>
                      </a:p>
                      <a:p>
                        <a:pPr algn="ctr"/>
                        <a:r>
                          <a:rPr lang="pt-BR" sz="2400" dirty="0">
                            <a:solidFill>
                              <a:schemeClr val="bg1"/>
                            </a:solidFill>
                          </a:rPr>
                          <a:t>Custos e Precificação</a:t>
                        </a:r>
                      </a:p>
                    </p:txBody>
                  </p:sp>
                  <p:sp>
                    <p:nvSpPr>
                      <p:cNvPr id="28" name="TextBox 13">
                        <a:extLst>
                          <a:ext uri="{FF2B5EF4-FFF2-40B4-BE49-F238E27FC236}">
                            <a16:creationId xmlns:a16="http://schemas.microsoft.com/office/drawing/2014/main" id="{C89FFC60-48D5-B5F6-01F3-DD52E2E479A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-76200"/>
                        <a:ext cx="1480432" cy="692846"/>
                      </a:xfrm>
                      <a:prstGeom prst="rect">
                        <a:avLst/>
                      </a:prstGeom>
                    </p:spPr>
                    <p:txBody>
                      <a:bodyPr lIns="50800" tIns="50800" rIns="50800" bIns="50800" rtlCol="0" anchor="ctr"/>
                      <a:lstStyle/>
                      <a:p>
                        <a:pPr algn="ctr">
                          <a:lnSpc>
                            <a:spcPts val="2871"/>
                          </a:lnSpc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29" name="Group 14">
                      <a:extLst>
                        <a:ext uri="{FF2B5EF4-FFF2-40B4-BE49-F238E27FC236}">
                          <a16:creationId xmlns:a16="http://schemas.microsoft.com/office/drawing/2014/main" id="{8EA73FE1-DA7D-626E-6385-9072165293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155457" y="8076302"/>
                      <a:ext cx="3840889" cy="1041813"/>
                      <a:chOff x="0" y="0"/>
                      <a:chExt cx="1480432" cy="616646"/>
                    </a:xfrm>
                  </p:grpSpPr>
                  <p:sp>
                    <p:nvSpPr>
                      <p:cNvPr id="30" name="Freeform 15">
                        <a:extLst>
                          <a:ext uri="{FF2B5EF4-FFF2-40B4-BE49-F238E27FC236}">
                            <a16:creationId xmlns:a16="http://schemas.microsoft.com/office/drawing/2014/main" id="{CAAA7DFC-AB65-F205-287C-79C3B54F42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1480432" cy="61664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80432" h="616646">
                            <a:moveTo>
                              <a:pt x="80586" y="0"/>
                            </a:moveTo>
                            <a:lnTo>
                              <a:pt x="1399846" y="0"/>
                            </a:lnTo>
                            <a:cubicBezTo>
                              <a:pt x="1444352" y="0"/>
                              <a:pt x="1480432" y="36079"/>
                              <a:pt x="1480432" y="80586"/>
                            </a:cubicBezTo>
                            <a:lnTo>
                              <a:pt x="1480432" y="536060"/>
                            </a:lnTo>
                            <a:cubicBezTo>
                              <a:pt x="1480432" y="580566"/>
                              <a:pt x="1444352" y="616646"/>
                              <a:pt x="1399846" y="616646"/>
                            </a:cubicBezTo>
                            <a:lnTo>
                              <a:pt x="80586" y="616646"/>
                            </a:lnTo>
                            <a:cubicBezTo>
                              <a:pt x="36079" y="616646"/>
                              <a:pt x="0" y="580566"/>
                              <a:pt x="0" y="536060"/>
                            </a:cubicBezTo>
                            <a:lnTo>
                              <a:pt x="0" y="80586"/>
                            </a:lnTo>
                            <a:cubicBezTo>
                              <a:pt x="0" y="36079"/>
                              <a:pt x="36079" y="0"/>
                              <a:pt x="80586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28575" cap="rnd">
                        <a:gradFill>
                          <a:gsLst>
                            <a:gs pos="0">
                              <a:srgbClr val="E6C63F">
                                <a:alpha val="100000"/>
                              </a:srgbClr>
                            </a:gs>
                            <a:gs pos="50000">
                              <a:srgbClr val="FFFFFF">
                                <a:alpha val="100000"/>
                              </a:srgbClr>
                            </a:gs>
                            <a:gs pos="100000">
                              <a:srgbClr val="E6C63F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pPr algn="ctr"/>
                        <a:endParaRPr lang="pt-BR" sz="800" dirty="0">
                          <a:solidFill>
                            <a:schemeClr val="bg1"/>
                          </a:solidFill>
                        </a:endParaRPr>
                      </a:p>
                      <a:p>
                        <a:pPr algn="ctr"/>
                        <a:r>
                          <a:rPr lang="pt-BR" sz="2400" dirty="0">
                            <a:solidFill>
                              <a:schemeClr val="bg1"/>
                            </a:solidFill>
                          </a:rPr>
                          <a:t>Fiscal / Tributário</a:t>
                        </a:r>
                      </a:p>
                    </p:txBody>
                  </p:sp>
                  <p:sp>
                    <p:nvSpPr>
                      <p:cNvPr id="31" name="TextBox 16">
                        <a:extLst>
                          <a:ext uri="{FF2B5EF4-FFF2-40B4-BE49-F238E27FC236}">
                            <a16:creationId xmlns:a16="http://schemas.microsoft.com/office/drawing/2014/main" id="{E14147E9-5C22-2977-5F40-2DA306FFC0B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-76200"/>
                        <a:ext cx="1480432" cy="692846"/>
                      </a:xfrm>
                      <a:prstGeom prst="rect">
                        <a:avLst/>
                      </a:prstGeom>
                    </p:spPr>
                    <p:txBody>
                      <a:bodyPr lIns="50800" tIns="50800" rIns="50800" bIns="50800" rtlCol="0" anchor="ctr"/>
                      <a:lstStyle/>
                      <a:p>
                        <a:pPr algn="ctr">
                          <a:lnSpc>
                            <a:spcPts val="2871"/>
                          </a:lnSpc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36" name="Group 14">
                      <a:extLst>
                        <a:ext uri="{FF2B5EF4-FFF2-40B4-BE49-F238E27FC236}">
                          <a16:creationId xmlns:a16="http://schemas.microsoft.com/office/drawing/2014/main" id="{BE0C14F8-B512-99C8-DB7F-B62C16814E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283777" y="8061754"/>
                      <a:ext cx="3840889" cy="1041813"/>
                      <a:chOff x="0" y="0"/>
                      <a:chExt cx="1480432" cy="616646"/>
                    </a:xfrm>
                  </p:grpSpPr>
                  <p:sp>
                    <p:nvSpPr>
                      <p:cNvPr id="37" name="Freeform 15">
                        <a:extLst>
                          <a:ext uri="{FF2B5EF4-FFF2-40B4-BE49-F238E27FC236}">
                            <a16:creationId xmlns:a16="http://schemas.microsoft.com/office/drawing/2014/main" id="{80067B19-4BDA-65A8-9148-FCB730C73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1480432" cy="61664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80432" h="616646">
                            <a:moveTo>
                              <a:pt x="80586" y="0"/>
                            </a:moveTo>
                            <a:lnTo>
                              <a:pt x="1399846" y="0"/>
                            </a:lnTo>
                            <a:cubicBezTo>
                              <a:pt x="1444352" y="0"/>
                              <a:pt x="1480432" y="36079"/>
                              <a:pt x="1480432" y="80586"/>
                            </a:cubicBezTo>
                            <a:lnTo>
                              <a:pt x="1480432" y="536060"/>
                            </a:lnTo>
                            <a:cubicBezTo>
                              <a:pt x="1480432" y="580566"/>
                              <a:pt x="1444352" y="616646"/>
                              <a:pt x="1399846" y="616646"/>
                            </a:cubicBezTo>
                            <a:lnTo>
                              <a:pt x="80586" y="616646"/>
                            </a:lnTo>
                            <a:cubicBezTo>
                              <a:pt x="36079" y="616646"/>
                              <a:pt x="0" y="580566"/>
                              <a:pt x="0" y="536060"/>
                            </a:cubicBezTo>
                            <a:lnTo>
                              <a:pt x="0" y="80586"/>
                            </a:lnTo>
                            <a:cubicBezTo>
                              <a:pt x="0" y="36079"/>
                              <a:pt x="36079" y="0"/>
                              <a:pt x="80586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28575" cap="rnd">
                        <a:gradFill>
                          <a:gsLst>
                            <a:gs pos="0">
                              <a:srgbClr val="E6C63F">
                                <a:alpha val="100000"/>
                              </a:srgbClr>
                            </a:gs>
                            <a:gs pos="50000">
                              <a:srgbClr val="FFFFFF">
                                <a:alpha val="100000"/>
                              </a:srgbClr>
                            </a:gs>
                            <a:gs pos="100000">
                              <a:srgbClr val="E6C63F">
                                <a:alpha val="100000"/>
                              </a:srgbClr>
                            </a:gs>
                          </a:gsLst>
                          <a:lin ang="2700000"/>
                        </a:gra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pPr algn="ctr"/>
                        <a:endParaRPr lang="pt-BR" sz="800" dirty="0">
                          <a:solidFill>
                            <a:schemeClr val="bg1"/>
                          </a:solidFill>
                        </a:endParaRPr>
                      </a:p>
                      <a:p>
                        <a:pPr algn="ctr"/>
                        <a:r>
                          <a:rPr lang="pt-BR" sz="2400" dirty="0">
                            <a:solidFill>
                              <a:schemeClr val="bg1"/>
                            </a:solidFill>
                          </a:rPr>
                          <a:t>Auditoria Interna</a:t>
                        </a:r>
                      </a:p>
                    </p:txBody>
                  </p:sp>
                  <p:sp>
                    <p:nvSpPr>
                      <p:cNvPr id="38" name="TextBox 16">
                        <a:extLst>
                          <a:ext uri="{FF2B5EF4-FFF2-40B4-BE49-F238E27FC236}">
                            <a16:creationId xmlns:a16="http://schemas.microsoft.com/office/drawing/2014/main" id="{A99E6CC0-C8DA-BD61-14BF-96EED0C2572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-76200"/>
                        <a:ext cx="1480432" cy="692846"/>
                      </a:xfrm>
                      <a:prstGeom prst="rect">
                        <a:avLst/>
                      </a:prstGeom>
                    </p:spPr>
                    <p:txBody>
                      <a:bodyPr lIns="50800" tIns="50800" rIns="50800" bIns="50800" rtlCol="0" anchor="ctr"/>
                      <a:lstStyle/>
                      <a:p>
                        <a:pPr algn="ctr">
                          <a:lnSpc>
                            <a:spcPts val="2871"/>
                          </a:lnSpc>
                        </a:pPr>
                        <a:endParaRPr/>
                      </a:p>
                    </p:txBody>
                  </p:sp>
                </p:grp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03836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2619-1AF0-0177-AF58-1AEEE9DD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6FF64F-321C-2F9B-EF01-7FBFBB1E31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E4677FB-F7B5-F2F3-9650-B4080A89CBCA}"/>
              </a:ext>
            </a:extLst>
          </p:cNvPr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27BB57F-C1BE-0FAA-B7F9-C7EE9D71BC6A}"/>
              </a:ext>
            </a:extLst>
          </p:cNvPr>
          <p:cNvGrpSpPr/>
          <p:nvPr/>
        </p:nvGrpSpPr>
        <p:grpSpPr>
          <a:xfrm>
            <a:off x="7304260" y="1602991"/>
            <a:ext cx="10195303" cy="6969509"/>
            <a:chOff x="7304260" y="2202135"/>
            <a:chExt cx="10195303" cy="6969509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5DF844FC-D06F-3AA8-17DD-C305B746F847}"/>
                </a:ext>
              </a:extLst>
            </p:cNvPr>
            <p:cNvGrpSpPr/>
            <p:nvPr/>
          </p:nvGrpSpPr>
          <p:grpSpPr>
            <a:xfrm>
              <a:off x="12518462" y="2202135"/>
              <a:ext cx="4921491" cy="2040839"/>
              <a:chOff x="3788119" y="6370957"/>
              <a:chExt cx="4921491" cy="2040839"/>
            </a:xfrm>
          </p:grpSpPr>
          <p:grpSp>
            <p:nvGrpSpPr>
              <p:cNvPr id="8" name="Group 17">
                <a:extLst>
                  <a:ext uri="{FF2B5EF4-FFF2-40B4-BE49-F238E27FC236}">
                    <a16:creationId xmlns:a16="http://schemas.microsoft.com/office/drawing/2014/main" id="{BCD0D796-6CDD-D5A2-C56E-BB191FFC7DAD}"/>
                  </a:ext>
                </a:extLst>
              </p:cNvPr>
              <p:cNvGrpSpPr/>
              <p:nvPr/>
            </p:nvGrpSpPr>
            <p:grpSpPr>
              <a:xfrm>
                <a:off x="3810000" y="6370957"/>
                <a:ext cx="4899610" cy="2040839"/>
                <a:chOff x="0" y="0"/>
                <a:chExt cx="1480432" cy="616646"/>
              </a:xfrm>
            </p:grpSpPr>
            <p:sp>
              <p:nvSpPr>
                <p:cNvPr id="10" name="Freeform 18">
                  <a:extLst>
                    <a:ext uri="{FF2B5EF4-FFF2-40B4-BE49-F238E27FC236}">
                      <a16:creationId xmlns:a16="http://schemas.microsoft.com/office/drawing/2014/main" id="{D4EE1194-DD68-05CE-AAA4-C02D5F0E599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80432" cy="616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432" h="616646">
                      <a:moveTo>
                        <a:pt x="80586" y="0"/>
                      </a:moveTo>
                      <a:lnTo>
                        <a:pt x="1399846" y="0"/>
                      </a:lnTo>
                      <a:cubicBezTo>
                        <a:pt x="1444352" y="0"/>
                        <a:pt x="1480432" y="36079"/>
                        <a:pt x="1480432" y="80586"/>
                      </a:cubicBezTo>
                      <a:lnTo>
                        <a:pt x="1480432" y="536060"/>
                      </a:lnTo>
                      <a:cubicBezTo>
                        <a:pt x="1480432" y="580566"/>
                        <a:pt x="1444352" y="616646"/>
                        <a:pt x="1399846" y="616646"/>
                      </a:cubicBezTo>
                      <a:lnTo>
                        <a:pt x="80586" y="616646"/>
                      </a:lnTo>
                      <a:cubicBezTo>
                        <a:pt x="36079" y="616646"/>
                        <a:pt x="0" y="580566"/>
                        <a:pt x="0" y="536060"/>
                      </a:cubicBezTo>
                      <a:lnTo>
                        <a:pt x="0" y="80586"/>
                      </a:lnTo>
                      <a:cubicBezTo>
                        <a:pt x="0" y="36079"/>
                        <a:pt x="36079" y="0"/>
                        <a:pt x="8058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8575" cap="rnd">
                  <a:gradFill>
                    <a:gsLst>
                      <a:gs pos="0">
                        <a:srgbClr val="E6C63F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E6C63F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" name="TextBox 19">
                  <a:extLst>
                    <a:ext uri="{FF2B5EF4-FFF2-40B4-BE49-F238E27FC236}">
                      <a16:creationId xmlns:a16="http://schemas.microsoft.com/office/drawing/2014/main" id="{28D674DE-72EC-D750-CCF8-B591B9A142E4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480432" cy="69284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/>
                </a:p>
              </p:txBody>
            </p:sp>
          </p:grpSp>
          <p:sp>
            <p:nvSpPr>
              <p:cNvPr id="9" name="TextBox 36">
                <a:extLst>
                  <a:ext uri="{FF2B5EF4-FFF2-40B4-BE49-F238E27FC236}">
                    <a16:creationId xmlns:a16="http://schemas.microsoft.com/office/drawing/2014/main" id="{DCEC143C-0DC7-3CAA-B64F-753564B447E2}"/>
                  </a:ext>
                </a:extLst>
              </p:cNvPr>
              <p:cNvSpPr txBox="1"/>
              <p:nvPr/>
            </p:nvSpPr>
            <p:spPr>
              <a:xfrm>
                <a:off x="3788119" y="6925547"/>
                <a:ext cx="4899609" cy="93897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773"/>
                  </a:lnSpc>
                </a:pPr>
                <a:r>
                  <a:rPr lang="en-US" sz="2400" b="1" spc="169" dirty="0" err="1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Indicadores</a:t>
                </a:r>
                <a:r>
                  <a:rPr lang="en-US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 </a:t>
                </a:r>
                <a:r>
                  <a:rPr lang="en-US" sz="2400" b="1" spc="169" dirty="0" err="1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confiáveis</a:t>
                </a:r>
                <a:r>
                  <a:rPr lang="en-US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, </a:t>
                </a:r>
                <a:r>
                  <a:rPr lang="en-US" sz="2400" b="1" spc="169" dirty="0" err="1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acessíveis</a:t>
                </a:r>
                <a:r>
                  <a:rPr lang="en-US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 e </a:t>
                </a:r>
                <a:r>
                  <a:rPr lang="en-US" sz="2400" b="1" spc="169" dirty="0" err="1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gerenciados</a:t>
                </a:r>
                <a:endParaRPr lang="en-US" sz="2400" b="1" spc="169" dirty="0">
                  <a:solidFill>
                    <a:srgbClr val="FFFFFF"/>
                  </a:solidFill>
                  <a:latin typeface="Poppins 1 Bold"/>
                  <a:ea typeface="Poppins 1 Bold"/>
                  <a:cs typeface="Poppins 1 Bold"/>
                  <a:sym typeface="Poppins 1 Bold"/>
                </a:endParaRPr>
              </a:p>
            </p:txBody>
          </p:sp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74C8DAF7-24CA-1894-E714-4989E3DF2B29}"/>
                </a:ext>
              </a:extLst>
            </p:cNvPr>
            <p:cNvGrpSpPr/>
            <p:nvPr/>
          </p:nvGrpSpPr>
          <p:grpSpPr>
            <a:xfrm>
              <a:off x="12562060" y="4626016"/>
              <a:ext cx="4899610" cy="2040839"/>
              <a:chOff x="9475495" y="6370957"/>
              <a:chExt cx="4899610" cy="2040839"/>
            </a:xfrm>
          </p:grpSpPr>
          <p:grpSp>
            <p:nvGrpSpPr>
              <p:cNvPr id="13" name="Group 20">
                <a:extLst>
                  <a:ext uri="{FF2B5EF4-FFF2-40B4-BE49-F238E27FC236}">
                    <a16:creationId xmlns:a16="http://schemas.microsoft.com/office/drawing/2014/main" id="{377EF564-99A0-69C4-50D8-FCD7F59F31B9}"/>
                  </a:ext>
                </a:extLst>
              </p:cNvPr>
              <p:cNvGrpSpPr/>
              <p:nvPr/>
            </p:nvGrpSpPr>
            <p:grpSpPr>
              <a:xfrm>
                <a:off x="9475495" y="6370957"/>
                <a:ext cx="4899610" cy="2040839"/>
                <a:chOff x="0" y="0"/>
                <a:chExt cx="1480432" cy="616646"/>
              </a:xfrm>
            </p:grpSpPr>
            <p:sp>
              <p:nvSpPr>
                <p:cNvPr id="15" name="Freeform 21">
                  <a:extLst>
                    <a:ext uri="{FF2B5EF4-FFF2-40B4-BE49-F238E27FC236}">
                      <a16:creationId xmlns:a16="http://schemas.microsoft.com/office/drawing/2014/main" id="{C3865092-33E0-8AE5-80AD-06C2F9B0AE2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80432" cy="616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432" h="616646">
                      <a:moveTo>
                        <a:pt x="80586" y="0"/>
                      </a:moveTo>
                      <a:lnTo>
                        <a:pt x="1399846" y="0"/>
                      </a:lnTo>
                      <a:cubicBezTo>
                        <a:pt x="1444352" y="0"/>
                        <a:pt x="1480432" y="36079"/>
                        <a:pt x="1480432" y="80586"/>
                      </a:cubicBezTo>
                      <a:lnTo>
                        <a:pt x="1480432" y="536060"/>
                      </a:lnTo>
                      <a:cubicBezTo>
                        <a:pt x="1480432" y="580566"/>
                        <a:pt x="1444352" y="616646"/>
                        <a:pt x="1399846" y="616646"/>
                      </a:cubicBezTo>
                      <a:lnTo>
                        <a:pt x="80586" y="616646"/>
                      </a:lnTo>
                      <a:cubicBezTo>
                        <a:pt x="36079" y="616646"/>
                        <a:pt x="0" y="580566"/>
                        <a:pt x="0" y="536060"/>
                      </a:cubicBezTo>
                      <a:lnTo>
                        <a:pt x="0" y="80586"/>
                      </a:lnTo>
                      <a:cubicBezTo>
                        <a:pt x="0" y="36079"/>
                        <a:pt x="36079" y="0"/>
                        <a:pt x="8058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8575" cap="rnd">
                  <a:gradFill>
                    <a:gsLst>
                      <a:gs pos="0">
                        <a:srgbClr val="E6C63F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E6C63F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6" name="TextBox 22">
                  <a:extLst>
                    <a:ext uri="{FF2B5EF4-FFF2-40B4-BE49-F238E27FC236}">
                      <a16:creationId xmlns:a16="http://schemas.microsoft.com/office/drawing/2014/main" id="{1C549835-8E36-15F4-C424-E1D8EF9349E4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480432" cy="69284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/>
                </a:p>
              </p:txBody>
            </p:sp>
          </p:grpSp>
          <p:sp>
            <p:nvSpPr>
              <p:cNvPr id="14" name="TextBox 37">
                <a:extLst>
                  <a:ext uri="{FF2B5EF4-FFF2-40B4-BE49-F238E27FC236}">
                    <a16:creationId xmlns:a16="http://schemas.microsoft.com/office/drawing/2014/main" id="{8F9BEF12-0816-2A5D-8336-18D35FEDF5A2}"/>
                  </a:ext>
                </a:extLst>
              </p:cNvPr>
              <p:cNvSpPr txBox="1"/>
              <p:nvPr/>
            </p:nvSpPr>
            <p:spPr>
              <a:xfrm>
                <a:off x="9475495" y="6905972"/>
                <a:ext cx="4856011" cy="93897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773"/>
                  </a:lnSpc>
                </a:pPr>
                <a:r>
                  <a:rPr lang="pt-BR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Decisões baseadas em fatos, não em suposições</a:t>
                </a:r>
              </a:p>
            </p:txBody>
          </p:sp>
        </p:grp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F7ED449C-22E9-7AE1-90D3-812C45DE48D2}"/>
                </a:ext>
              </a:extLst>
            </p:cNvPr>
            <p:cNvGrpSpPr/>
            <p:nvPr/>
          </p:nvGrpSpPr>
          <p:grpSpPr>
            <a:xfrm>
              <a:off x="7304260" y="2202135"/>
              <a:ext cx="4910550" cy="2040839"/>
              <a:chOff x="1017760" y="3238500"/>
              <a:chExt cx="4910550" cy="2040839"/>
            </a:xfrm>
          </p:grpSpPr>
          <p:grpSp>
            <p:nvGrpSpPr>
              <p:cNvPr id="19" name="Group 8">
                <a:extLst>
                  <a:ext uri="{FF2B5EF4-FFF2-40B4-BE49-F238E27FC236}">
                    <a16:creationId xmlns:a16="http://schemas.microsoft.com/office/drawing/2014/main" id="{FAC6EE2B-40A2-BB13-6123-0DF9121202EC}"/>
                  </a:ext>
                </a:extLst>
              </p:cNvPr>
              <p:cNvGrpSpPr/>
              <p:nvPr/>
            </p:nvGrpSpPr>
            <p:grpSpPr>
              <a:xfrm>
                <a:off x="1028700" y="3238500"/>
                <a:ext cx="4899610" cy="2040839"/>
                <a:chOff x="0" y="0"/>
                <a:chExt cx="1480432" cy="616646"/>
              </a:xfrm>
            </p:grpSpPr>
            <p:sp>
              <p:nvSpPr>
                <p:cNvPr id="21" name="Freeform 9">
                  <a:extLst>
                    <a:ext uri="{FF2B5EF4-FFF2-40B4-BE49-F238E27FC236}">
                      <a16:creationId xmlns:a16="http://schemas.microsoft.com/office/drawing/2014/main" id="{2B2C7D5F-5A52-61E1-BE2E-7809D35A262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80432" cy="616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432" h="616646">
                      <a:moveTo>
                        <a:pt x="80586" y="0"/>
                      </a:moveTo>
                      <a:lnTo>
                        <a:pt x="1399846" y="0"/>
                      </a:lnTo>
                      <a:cubicBezTo>
                        <a:pt x="1444352" y="0"/>
                        <a:pt x="1480432" y="36079"/>
                        <a:pt x="1480432" y="80586"/>
                      </a:cubicBezTo>
                      <a:lnTo>
                        <a:pt x="1480432" y="536060"/>
                      </a:lnTo>
                      <a:cubicBezTo>
                        <a:pt x="1480432" y="580566"/>
                        <a:pt x="1444352" y="616646"/>
                        <a:pt x="1399846" y="616646"/>
                      </a:cubicBezTo>
                      <a:lnTo>
                        <a:pt x="80586" y="616646"/>
                      </a:lnTo>
                      <a:cubicBezTo>
                        <a:pt x="36079" y="616646"/>
                        <a:pt x="0" y="580566"/>
                        <a:pt x="0" y="536060"/>
                      </a:cubicBezTo>
                      <a:lnTo>
                        <a:pt x="0" y="80586"/>
                      </a:lnTo>
                      <a:cubicBezTo>
                        <a:pt x="0" y="36079"/>
                        <a:pt x="36079" y="0"/>
                        <a:pt x="8058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8575" cap="rnd">
                  <a:gradFill>
                    <a:gsLst>
                      <a:gs pos="0">
                        <a:srgbClr val="E6C63F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E6C63F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" name="TextBox 10">
                  <a:extLst>
                    <a:ext uri="{FF2B5EF4-FFF2-40B4-BE49-F238E27FC236}">
                      <a16:creationId xmlns:a16="http://schemas.microsoft.com/office/drawing/2014/main" id="{9EB703C4-54F8-178C-8E5F-31D1D111F248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480432" cy="69284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/>
                </a:p>
              </p:txBody>
            </p:sp>
          </p:grpSp>
          <p:sp>
            <p:nvSpPr>
              <p:cNvPr id="20" name="TextBox 31">
                <a:extLst>
                  <a:ext uri="{FF2B5EF4-FFF2-40B4-BE49-F238E27FC236}">
                    <a16:creationId xmlns:a16="http://schemas.microsoft.com/office/drawing/2014/main" id="{31DCD721-7C99-DDA9-EF5D-A00E2D84DDFF}"/>
                  </a:ext>
                </a:extLst>
              </p:cNvPr>
              <p:cNvSpPr txBox="1"/>
              <p:nvPr/>
            </p:nvSpPr>
            <p:spPr>
              <a:xfrm>
                <a:off x="1017760" y="3544094"/>
                <a:ext cx="4888670" cy="142628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773"/>
                  </a:lnSpc>
                </a:pPr>
                <a:r>
                  <a:rPr lang="pt-BR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Planejamento estratégico bem desenhado, claro e aplicável</a:t>
                </a:r>
                <a:endParaRPr lang="en-US" sz="2400" b="1" spc="169" dirty="0">
                  <a:solidFill>
                    <a:srgbClr val="FFFFFF"/>
                  </a:solidFill>
                  <a:latin typeface="Poppins 1 Bold"/>
                  <a:ea typeface="Poppins 1 Bold"/>
                  <a:cs typeface="Poppins 1 Bold"/>
                  <a:sym typeface="Poppins 1 Bold"/>
                </a:endParaRPr>
              </a:p>
            </p:txBody>
          </p:sp>
        </p:grp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139BDB93-F60E-19D0-8CE8-1DDC9BF08AAF}"/>
                </a:ext>
              </a:extLst>
            </p:cNvPr>
            <p:cNvGrpSpPr/>
            <p:nvPr/>
          </p:nvGrpSpPr>
          <p:grpSpPr>
            <a:xfrm>
              <a:off x="7304260" y="4610100"/>
              <a:ext cx="4910550" cy="2040839"/>
              <a:chOff x="6694195" y="3238500"/>
              <a:chExt cx="4910550" cy="2040839"/>
            </a:xfrm>
          </p:grpSpPr>
          <p:grpSp>
            <p:nvGrpSpPr>
              <p:cNvPr id="24" name="Group 11">
                <a:extLst>
                  <a:ext uri="{FF2B5EF4-FFF2-40B4-BE49-F238E27FC236}">
                    <a16:creationId xmlns:a16="http://schemas.microsoft.com/office/drawing/2014/main" id="{36E28FEE-E5E9-A4A2-C343-C0AD6D55538A}"/>
                  </a:ext>
                </a:extLst>
              </p:cNvPr>
              <p:cNvGrpSpPr/>
              <p:nvPr/>
            </p:nvGrpSpPr>
            <p:grpSpPr>
              <a:xfrm>
                <a:off x="6694195" y="3238500"/>
                <a:ext cx="4899610" cy="2040839"/>
                <a:chOff x="0" y="0"/>
                <a:chExt cx="1480432" cy="616646"/>
              </a:xfrm>
            </p:grpSpPr>
            <p:sp>
              <p:nvSpPr>
                <p:cNvPr id="26" name="Freeform 12">
                  <a:extLst>
                    <a:ext uri="{FF2B5EF4-FFF2-40B4-BE49-F238E27FC236}">
                      <a16:creationId xmlns:a16="http://schemas.microsoft.com/office/drawing/2014/main" id="{86B77E86-8FC1-7418-986F-3320FDC8C78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80432" cy="616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432" h="616646">
                      <a:moveTo>
                        <a:pt x="80586" y="0"/>
                      </a:moveTo>
                      <a:lnTo>
                        <a:pt x="1399846" y="0"/>
                      </a:lnTo>
                      <a:cubicBezTo>
                        <a:pt x="1444352" y="0"/>
                        <a:pt x="1480432" y="36079"/>
                        <a:pt x="1480432" y="80586"/>
                      </a:cubicBezTo>
                      <a:lnTo>
                        <a:pt x="1480432" y="536060"/>
                      </a:lnTo>
                      <a:cubicBezTo>
                        <a:pt x="1480432" y="580566"/>
                        <a:pt x="1444352" y="616646"/>
                        <a:pt x="1399846" y="616646"/>
                      </a:cubicBezTo>
                      <a:lnTo>
                        <a:pt x="80586" y="616646"/>
                      </a:lnTo>
                      <a:cubicBezTo>
                        <a:pt x="36079" y="616646"/>
                        <a:pt x="0" y="580566"/>
                        <a:pt x="0" y="536060"/>
                      </a:cubicBezTo>
                      <a:lnTo>
                        <a:pt x="0" y="80586"/>
                      </a:lnTo>
                      <a:cubicBezTo>
                        <a:pt x="0" y="36079"/>
                        <a:pt x="36079" y="0"/>
                        <a:pt x="8058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8575" cap="rnd">
                  <a:gradFill>
                    <a:gsLst>
                      <a:gs pos="0">
                        <a:srgbClr val="E6C63F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E6C63F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" name="TextBox 13">
                  <a:extLst>
                    <a:ext uri="{FF2B5EF4-FFF2-40B4-BE49-F238E27FC236}">
                      <a16:creationId xmlns:a16="http://schemas.microsoft.com/office/drawing/2014/main" id="{C2AE98C3-2B84-4495-F18C-9868ED041FB3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480432" cy="69284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/>
                </a:p>
              </p:txBody>
            </p:sp>
          </p:grpSp>
          <p:sp>
            <p:nvSpPr>
              <p:cNvPr id="25" name="TextBox 31">
                <a:extLst>
                  <a:ext uri="{FF2B5EF4-FFF2-40B4-BE49-F238E27FC236}">
                    <a16:creationId xmlns:a16="http://schemas.microsoft.com/office/drawing/2014/main" id="{E5544FE6-08D1-F83E-D6CA-6D8DDC698FBF}"/>
                  </a:ext>
                </a:extLst>
              </p:cNvPr>
              <p:cNvSpPr txBox="1"/>
              <p:nvPr/>
            </p:nvSpPr>
            <p:spPr>
              <a:xfrm>
                <a:off x="6705135" y="3564812"/>
                <a:ext cx="4899610" cy="142628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773"/>
                  </a:lnSpc>
                </a:pPr>
                <a:r>
                  <a:rPr lang="pt-BR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Processos (rotina) com responsabilidades, padrões e metas definidos</a:t>
                </a:r>
                <a:endParaRPr lang="en-US" sz="2400" b="1" spc="169" dirty="0">
                  <a:solidFill>
                    <a:srgbClr val="FFFFFF"/>
                  </a:solidFill>
                  <a:latin typeface="Poppins 1 Bold"/>
                  <a:ea typeface="Poppins 1 Bold"/>
                  <a:cs typeface="Poppins 1 Bold"/>
                  <a:sym typeface="Poppins 1 Bold"/>
                </a:endParaRPr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BEA586E0-5C6E-7F7F-69A2-5FAA1FAF108E}"/>
                </a:ext>
              </a:extLst>
            </p:cNvPr>
            <p:cNvGrpSpPr/>
            <p:nvPr/>
          </p:nvGrpSpPr>
          <p:grpSpPr>
            <a:xfrm>
              <a:off x="7315200" y="7130805"/>
              <a:ext cx="4899610" cy="2040839"/>
              <a:chOff x="12359690" y="3238500"/>
              <a:chExt cx="4899610" cy="2040839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6E8CD176-38C5-7FCC-7BB0-753E20D868B0}"/>
                  </a:ext>
                </a:extLst>
              </p:cNvPr>
              <p:cNvGrpSpPr/>
              <p:nvPr/>
            </p:nvGrpSpPr>
            <p:grpSpPr>
              <a:xfrm>
                <a:off x="12359690" y="3238500"/>
                <a:ext cx="4899610" cy="2040839"/>
                <a:chOff x="0" y="0"/>
                <a:chExt cx="1480432" cy="616646"/>
              </a:xfrm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94A6300E-EF2E-B689-9B33-A3D5BE0935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80432" cy="616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432" h="616646">
                      <a:moveTo>
                        <a:pt x="80586" y="0"/>
                      </a:moveTo>
                      <a:lnTo>
                        <a:pt x="1399846" y="0"/>
                      </a:lnTo>
                      <a:cubicBezTo>
                        <a:pt x="1444352" y="0"/>
                        <a:pt x="1480432" y="36079"/>
                        <a:pt x="1480432" y="80586"/>
                      </a:cubicBezTo>
                      <a:lnTo>
                        <a:pt x="1480432" y="536060"/>
                      </a:lnTo>
                      <a:cubicBezTo>
                        <a:pt x="1480432" y="580566"/>
                        <a:pt x="1444352" y="616646"/>
                        <a:pt x="1399846" y="616646"/>
                      </a:cubicBezTo>
                      <a:lnTo>
                        <a:pt x="80586" y="616646"/>
                      </a:lnTo>
                      <a:cubicBezTo>
                        <a:pt x="36079" y="616646"/>
                        <a:pt x="0" y="580566"/>
                        <a:pt x="0" y="536060"/>
                      </a:cubicBezTo>
                      <a:lnTo>
                        <a:pt x="0" y="80586"/>
                      </a:lnTo>
                      <a:cubicBezTo>
                        <a:pt x="0" y="36079"/>
                        <a:pt x="36079" y="0"/>
                        <a:pt x="8058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8575" cap="rnd">
                  <a:gradFill>
                    <a:gsLst>
                      <a:gs pos="0">
                        <a:srgbClr val="E6C63F">
                          <a:alpha val="100000"/>
                        </a:srgbClr>
                      </a:gs>
                      <a:gs pos="50000">
                        <a:srgbClr val="FFFFFF">
                          <a:alpha val="100000"/>
                        </a:srgbClr>
                      </a:gs>
                      <a:gs pos="100000">
                        <a:srgbClr val="E6C63F">
                          <a:alpha val="100000"/>
                        </a:srgbClr>
                      </a:gs>
                    </a:gsLst>
                    <a:lin ang="2700000"/>
                  </a:gradFill>
                  <a:prstDash val="solid"/>
                  <a:rou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" name="TextBox 16">
                  <a:extLst>
                    <a:ext uri="{FF2B5EF4-FFF2-40B4-BE49-F238E27FC236}">
                      <a16:creationId xmlns:a16="http://schemas.microsoft.com/office/drawing/2014/main" id="{CB7C9629-046D-851A-4105-D79E20B22811}"/>
                    </a:ext>
                  </a:extLst>
                </p:cNvPr>
                <p:cNvSpPr txBox="1"/>
                <p:nvPr/>
              </p:nvSpPr>
              <p:spPr>
                <a:xfrm>
                  <a:off x="0" y="-76200"/>
                  <a:ext cx="1480432" cy="69284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71"/>
                    </a:lnSpc>
                  </a:pPr>
                  <a:endParaRPr/>
                </a:p>
              </p:txBody>
            </p:sp>
          </p:grpSp>
          <p:sp>
            <p:nvSpPr>
              <p:cNvPr id="30" name="TextBox 31">
                <a:extLst>
                  <a:ext uri="{FF2B5EF4-FFF2-40B4-BE49-F238E27FC236}">
                    <a16:creationId xmlns:a16="http://schemas.microsoft.com/office/drawing/2014/main" id="{C0249D0B-5EA7-DC5C-0403-EA8FE0E165C7}"/>
                  </a:ext>
                </a:extLst>
              </p:cNvPr>
              <p:cNvSpPr txBox="1"/>
              <p:nvPr/>
            </p:nvSpPr>
            <p:spPr>
              <a:xfrm>
                <a:off x="12359690" y="3547743"/>
                <a:ext cx="4877730" cy="142628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773"/>
                  </a:lnSpc>
                </a:pPr>
                <a:r>
                  <a:rPr lang="pt-BR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Projetos (atividades fora da rotina) sob controle e priorizados</a:t>
                </a:r>
              </a:p>
            </p:txBody>
          </p: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358DAE1B-CD40-E5B9-C952-A0CF7C039FD9}"/>
                </a:ext>
              </a:extLst>
            </p:cNvPr>
            <p:cNvGrpSpPr/>
            <p:nvPr/>
          </p:nvGrpSpPr>
          <p:grpSpPr>
            <a:xfrm>
              <a:off x="12599953" y="7130805"/>
              <a:ext cx="4899610" cy="2040839"/>
              <a:chOff x="12599953" y="7130805"/>
              <a:chExt cx="4899610" cy="2040839"/>
            </a:xfrm>
          </p:grpSpPr>
          <p:grpSp>
            <p:nvGrpSpPr>
              <p:cNvPr id="41" name="Agrupar 40">
                <a:extLst>
                  <a:ext uri="{FF2B5EF4-FFF2-40B4-BE49-F238E27FC236}">
                    <a16:creationId xmlns:a16="http://schemas.microsoft.com/office/drawing/2014/main" id="{57DEA522-9A7D-D6D1-DEAC-4586EE89DD24}"/>
                  </a:ext>
                </a:extLst>
              </p:cNvPr>
              <p:cNvGrpSpPr/>
              <p:nvPr/>
            </p:nvGrpSpPr>
            <p:grpSpPr>
              <a:xfrm>
                <a:off x="12599953" y="7130805"/>
                <a:ext cx="4899610" cy="2040839"/>
                <a:chOff x="9475495" y="6370957"/>
                <a:chExt cx="4899610" cy="2040839"/>
              </a:xfrm>
            </p:grpSpPr>
            <p:grpSp>
              <p:nvGrpSpPr>
                <p:cNvPr id="42" name="Group 20">
                  <a:extLst>
                    <a:ext uri="{FF2B5EF4-FFF2-40B4-BE49-F238E27FC236}">
                      <a16:creationId xmlns:a16="http://schemas.microsoft.com/office/drawing/2014/main" id="{6A49B8A8-E1E4-2064-E25B-86816CE3A05F}"/>
                    </a:ext>
                  </a:extLst>
                </p:cNvPr>
                <p:cNvGrpSpPr/>
                <p:nvPr/>
              </p:nvGrpSpPr>
              <p:grpSpPr>
                <a:xfrm>
                  <a:off x="9475495" y="6370957"/>
                  <a:ext cx="4899610" cy="2040839"/>
                  <a:chOff x="0" y="0"/>
                  <a:chExt cx="1480432" cy="616646"/>
                </a:xfrm>
              </p:grpSpPr>
              <p:sp>
                <p:nvSpPr>
                  <p:cNvPr id="44" name="Freeform 21">
                    <a:extLst>
                      <a:ext uri="{FF2B5EF4-FFF2-40B4-BE49-F238E27FC236}">
                        <a16:creationId xmlns:a16="http://schemas.microsoft.com/office/drawing/2014/main" id="{6CFE5A29-362D-B19E-CFD4-5971539A474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480432" cy="6166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432" h="616646">
                        <a:moveTo>
                          <a:pt x="80586" y="0"/>
                        </a:moveTo>
                        <a:lnTo>
                          <a:pt x="1399846" y="0"/>
                        </a:lnTo>
                        <a:cubicBezTo>
                          <a:pt x="1444352" y="0"/>
                          <a:pt x="1480432" y="36079"/>
                          <a:pt x="1480432" y="80586"/>
                        </a:cubicBezTo>
                        <a:lnTo>
                          <a:pt x="1480432" y="536060"/>
                        </a:lnTo>
                        <a:cubicBezTo>
                          <a:pt x="1480432" y="580566"/>
                          <a:pt x="1444352" y="616646"/>
                          <a:pt x="1399846" y="616646"/>
                        </a:cubicBezTo>
                        <a:lnTo>
                          <a:pt x="80586" y="616646"/>
                        </a:lnTo>
                        <a:cubicBezTo>
                          <a:pt x="36079" y="616646"/>
                          <a:pt x="0" y="580566"/>
                          <a:pt x="0" y="536060"/>
                        </a:cubicBezTo>
                        <a:lnTo>
                          <a:pt x="0" y="80586"/>
                        </a:lnTo>
                        <a:cubicBezTo>
                          <a:pt x="0" y="36079"/>
                          <a:pt x="36079" y="0"/>
                          <a:pt x="8058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28575" cap="rnd">
                    <a:gradFill>
                      <a:gsLst>
                        <a:gs pos="0">
                          <a:srgbClr val="E6C63F">
                            <a:alpha val="100000"/>
                          </a:srgbClr>
                        </a:gs>
                        <a:gs pos="50000">
                          <a:srgbClr val="FFFFFF">
                            <a:alpha val="100000"/>
                          </a:srgbClr>
                        </a:gs>
                        <a:gs pos="100000">
                          <a:srgbClr val="E6C63F">
                            <a:alpha val="100000"/>
                          </a:srgbClr>
                        </a:gs>
                      </a:gsLst>
                      <a:lin ang="2700000"/>
                    </a:gra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45" name="TextBox 22">
                    <a:extLst>
                      <a:ext uri="{FF2B5EF4-FFF2-40B4-BE49-F238E27FC236}">
                        <a16:creationId xmlns:a16="http://schemas.microsoft.com/office/drawing/2014/main" id="{82DABD69-1915-14B8-DF7F-9E7C4472B8B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76200"/>
                    <a:ext cx="1480432" cy="692846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871"/>
                      </a:lnSpc>
                    </a:pPr>
                    <a:endParaRPr/>
                  </a:p>
                </p:txBody>
              </p:sp>
            </p:grpSp>
            <p:sp>
              <p:nvSpPr>
                <p:cNvPr id="43" name="TextBox 37">
                  <a:extLst>
                    <a:ext uri="{FF2B5EF4-FFF2-40B4-BE49-F238E27FC236}">
                      <a16:creationId xmlns:a16="http://schemas.microsoft.com/office/drawing/2014/main" id="{1FC8C62B-1B7E-3C1A-6B5F-5BFBCA472B4D}"/>
                    </a:ext>
                  </a:extLst>
                </p:cNvPr>
                <p:cNvSpPr txBox="1"/>
                <p:nvPr/>
              </p:nvSpPr>
              <p:spPr>
                <a:xfrm>
                  <a:off x="9791286" y="6667500"/>
                  <a:ext cx="4343814" cy="451662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marL="0" lvl="0" indent="0" algn="ctr">
                    <a:lnSpc>
                      <a:spcPts val="3773"/>
                    </a:lnSpc>
                  </a:pPr>
                  <a:endParaRPr lang="en-US" sz="2400" b="1" spc="169" dirty="0">
                    <a:solidFill>
                      <a:srgbClr val="FFFFFF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endParaRPr>
                </a:p>
              </p:txBody>
            </p:sp>
          </p:grpSp>
          <p:sp>
            <p:nvSpPr>
              <p:cNvPr id="46" name="TextBox 37">
                <a:extLst>
                  <a:ext uri="{FF2B5EF4-FFF2-40B4-BE49-F238E27FC236}">
                    <a16:creationId xmlns:a16="http://schemas.microsoft.com/office/drawing/2014/main" id="{BDA0F3C5-3045-8CC0-D0ED-94E8DC2396F9}"/>
                  </a:ext>
                </a:extLst>
              </p:cNvPr>
              <p:cNvSpPr txBox="1"/>
              <p:nvPr/>
            </p:nvSpPr>
            <p:spPr>
              <a:xfrm>
                <a:off x="12599953" y="7440048"/>
                <a:ext cx="4899610" cy="142628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773"/>
                  </a:lnSpc>
                </a:pPr>
                <a:r>
                  <a:rPr lang="pt-BR" sz="2400" b="1" spc="169" dirty="0">
                    <a:solidFill>
                      <a:schemeClr val="bg1"/>
                    </a:solidFill>
                    <a:latin typeface="Poppins 1 Bold"/>
                    <a:ea typeface="Poppins 1 Bold"/>
                    <a:cs typeface="Poppins 1 Bold"/>
                    <a:sym typeface="Poppins 1 Bold"/>
                  </a:rPr>
                  <a:t>Desempenho e carga de trabalho dos colaboradores gerenciados</a:t>
                </a:r>
              </a:p>
            </p:txBody>
          </p:sp>
        </p:grpSp>
      </p:grpSp>
      <p:sp>
        <p:nvSpPr>
          <p:cNvPr id="4" name="TextBox 13">
            <a:extLst>
              <a:ext uri="{FF2B5EF4-FFF2-40B4-BE49-F238E27FC236}">
                <a16:creationId xmlns:a16="http://schemas.microsoft.com/office/drawing/2014/main" id="{F66FFEDD-6AE5-D995-A499-49FAA83C57C6}"/>
              </a:ext>
            </a:extLst>
          </p:cNvPr>
          <p:cNvSpPr txBox="1"/>
          <p:nvPr/>
        </p:nvSpPr>
        <p:spPr>
          <a:xfrm>
            <a:off x="914400" y="415522"/>
            <a:ext cx="16976271" cy="766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050"/>
              </a:lnSpc>
            </a:pPr>
            <a:r>
              <a:rPr lang="pt-BR" sz="4800" b="1" spc="40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3 - O QUE SUA EMPRESA GANHA</a:t>
            </a:r>
            <a:endParaRPr lang="en-US" sz="4800" b="1" spc="40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A9D9278-F232-3876-347A-D55DFD67C66C}"/>
              </a:ext>
            </a:extLst>
          </p:cNvPr>
          <p:cNvSpPr txBox="1"/>
          <p:nvPr/>
        </p:nvSpPr>
        <p:spPr>
          <a:xfrm>
            <a:off x="0" y="9171505"/>
            <a:ext cx="18288000" cy="54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773"/>
              </a:lnSpc>
            </a:pPr>
            <a:r>
              <a:rPr lang="en-US" sz="2400" b="1" spc="169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Sua </a:t>
            </a:r>
            <a:r>
              <a:rPr lang="en-US" sz="2400" b="1" spc="169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organização</a:t>
            </a:r>
            <a:r>
              <a:rPr lang="en-US" sz="2400" b="1" spc="169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400" b="1" spc="169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caminhará</a:t>
            </a:r>
            <a:r>
              <a:rPr lang="en-US" sz="2400" b="1" spc="169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para se </a:t>
            </a:r>
            <a:r>
              <a:rPr lang="en-US" sz="2400" b="1" spc="169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tornar</a:t>
            </a:r>
            <a:r>
              <a:rPr lang="en-US" sz="2400" b="1" spc="169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A MELHOR VERSÃO DE SÍ MESMA!</a:t>
            </a:r>
          </a:p>
        </p:txBody>
      </p:sp>
    </p:spTree>
    <p:extLst>
      <p:ext uri="{BB962C8B-B14F-4D97-AF65-F5344CB8AC3E}">
        <p14:creationId xmlns:p14="http://schemas.microsoft.com/office/powerpoint/2010/main" val="136359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">
            <a:extLst>
              <a:ext uri="{FF2B5EF4-FFF2-40B4-BE49-F238E27FC236}">
                <a16:creationId xmlns:a16="http://schemas.microsoft.com/office/drawing/2014/main" id="{E4E0F2B6-B236-BA27-8328-B0508E92281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444610" y="717950"/>
            <a:ext cx="14642989" cy="766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50"/>
              </a:lnSpc>
            </a:pPr>
            <a:r>
              <a:rPr lang="pt-BR" sz="5000" b="1" spc="40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4 – Como Iremos Trabalhar</a:t>
            </a:r>
            <a:endParaRPr lang="en-US" sz="5000" b="1" spc="400" dirty="0">
              <a:solidFill>
                <a:srgbClr val="FFFFFF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2071C3F7-78AB-4637-3D27-E8A62E59D458}"/>
              </a:ext>
            </a:extLst>
          </p:cNvPr>
          <p:cNvGrpSpPr/>
          <p:nvPr/>
        </p:nvGrpSpPr>
        <p:grpSpPr>
          <a:xfrm>
            <a:off x="8406704" y="6957428"/>
            <a:ext cx="11167488" cy="2027655"/>
            <a:chOff x="8412147" y="7078245"/>
            <a:chExt cx="11167488" cy="2027655"/>
          </a:xfrm>
        </p:grpSpPr>
        <p:grpSp>
          <p:nvGrpSpPr>
            <p:cNvPr id="6" name="Group 6"/>
            <p:cNvGrpSpPr/>
            <p:nvPr/>
          </p:nvGrpSpPr>
          <p:grpSpPr>
            <a:xfrm>
              <a:off x="8412147" y="7078245"/>
              <a:ext cx="8847153" cy="2027655"/>
              <a:chOff x="0" y="0"/>
              <a:chExt cx="2330114" cy="5340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330114" cy="534033"/>
              </a:xfrm>
              <a:custGeom>
                <a:avLst/>
                <a:gdLst/>
                <a:ahLst/>
                <a:cxnLst/>
                <a:rect l="l" t="t" r="r" b="b"/>
                <a:pathLst>
                  <a:path w="2330114" h="534033">
                    <a:moveTo>
                      <a:pt x="44629" y="0"/>
                    </a:moveTo>
                    <a:lnTo>
                      <a:pt x="2285485" y="0"/>
                    </a:lnTo>
                    <a:cubicBezTo>
                      <a:pt x="2297322" y="0"/>
                      <a:pt x="2308673" y="4702"/>
                      <a:pt x="2317043" y="13071"/>
                    </a:cubicBezTo>
                    <a:cubicBezTo>
                      <a:pt x="2325412" y="21441"/>
                      <a:pt x="2330114" y="32793"/>
                      <a:pt x="2330114" y="44629"/>
                    </a:cubicBezTo>
                    <a:lnTo>
                      <a:pt x="2330114" y="489404"/>
                    </a:lnTo>
                    <a:cubicBezTo>
                      <a:pt x="2330114" y="514052"/>
                      <a:pt x="2310133" y="534033"/>
                      <a:pt x="2285485" y="534033"/>
                    </a:cubicBezTo>
                    <a:lnTo>
                      <a:pt x="44629" y="534033"/>
                    </a:lnTo>
                    <a:cubicBezTo>
                      <a:pt x="32793" y="534033"/>
                      <a:pt x="21441" y="529331"/>
                      <a:pt x="13071" y="520961"/>
                    </a:cubicBezTo>
                    <a:cubicBezTo>
                      <a:pt x="4702" y="512592"/>
                      <a:pt x="0" y="501240"/>
                      <a:pt x="0" y="489404"/>
                    </a:cubicBezTo>
                    <a:lnTo>
                      <a:pt x="0" y="44629"/>
                    </a:lnTo>
                    <a:cubicBezTo>
                      <a:pt x="0" y="32793"/>
                      <a:pt x="4702" y="21441"/>
                      <a:pt x="13071" y="13071"/>
                    </a:cubicBezTo>
                    <a:cubicBezTo>
                      <a:pt x="21441" y="4702"/>
                      <a:pt x="32793" y="0"/>
                      <a:pt x="446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2330114" cy="6102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1"/>
                  </a:lnSpc>
                </a:pPr>
                <a:endParaRPr/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17263488" y="8098779"/>
              <a:ext cx="2316147" cy="1"/>
            </a:xfrm>
            <a:prstGeom prst="line">
              <a:avLst/>
            </a:prstGeom>
            <a:ln w="38100" cap="flat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1357" y="7361102"/>
              <a:ext cx="7843561" cy="1461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5"/>
                </a:lnSpc>
              </a:pPr>
              <a:r>
                <a:rPr lang="en-US" sz="3199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Assessoria</a:t>
              </a:r>
              <a:r>
                <a:rPr lang="en-US" sz="3199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continua para </a:t>
              </a:r>
              <a:r>
                <a:rPr lang="en-US" sz="3199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toda</a:t>
              </a:r>
              <a:r>
                <a:rPr lang="en-US" sz="3199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a </a:t>
              </a:r>
              <a:r>
                <a:rPr lang="en-US" sz="3199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organização</a:t>
              </a:r>
              <a:r>
                <a:rPr lang="en-US" sz="3199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– </a:t>
              </a:r>
              <a:r>
                <a:rPr lang="en-US" sz="2400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Para </a:t>
              </a:r>
              <a:r>
                <a:rPr lang="en-US" sz="2400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que</a:t>
              </a:r>
              <a:r>
                <a:rPr lang="en-US" sz="2400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as </a:t>
              </a:r>
              <a:r>
                <a:rPr lang="en-US" sz="2400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execuções</a:t>
              </a:r>
              <a:r>
                <a:rPr lang="en-US" sz="2400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2400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sejam</a:t>
              </a:r>
              <a:r>
                <a:rPr lang="en-US" sz="2400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2400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excelentes</a:t>
              </a:r>
              <a:endParaRPr lang="en-US" sz="2400" spc="159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endParaRP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D0558E8B-CBAF-2052-7DD8-A8F53094EBF6}"/>
              </a:ext>
            </a:extLst>
          </p:cNvPr>
          <p:cNvGrpSpPr/>
          <p:nvPr/>
        </p:nvGrpSpPr>
        <p:grpSpPr>
          <a:xfrm>
            <a:off x="8395818" y="4646916"/>
            <a:ext cx="11178374" cy="2027655"/>
            <a:chOff x="8395818" y="4171107"/>
            <a:chExt cx="11178374" cy="2027655"/>
          </a:xfrm>
        </p:grpSpPr>
        <p:grpSp>
          <p:nvGrpSpPr>
            <p:cNvPr id="3" name="Group 3"/>
            <p:cNvGrpSpPr/>
            <p:nvPr/>
          </p:nvGrpSpPr>
          <p:grpSpPr>
            <a:xfrm>
              <a:off x="8395818" y="4171107"/>
              <a:ext cx="8847153" cy="2027655"/>
              <a:chOff x="0" y="0"/>
              <a:chExt cx="2330114" cy="5340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30114" cy="534033"/>
              </a:xfrm>
              <a:custGeom>
                <a:avLst/>
                <a:gdLst/>
                <a:ahLst/>
                <a:cxnLst/>
                <a:rect l="l" t="t" r="r" b="b"/>
                <a:pathLst>
                  <a:path w="2330114" h="534033">
                    <a:moveTo>
                      <a:pt x="44629" y="0"/>
                    </a:moveTo>
                    <a:lnTo>
                      <a:pt x="2285485" y="0"/>
                    </a:lnTo>
                    <a:cubicBezTo>
                      <a:pt x="2297322" y="0"/>
                      <a:pt x="2308673" y="4702"/>
                      <a:pt x="2317043" y="13071"/>
                    </a:cubicBezTo>
                    <a:cubicBezTo>
                      <a:pt x="2325412" y="21441"/>
                      <a:pt x="2330114" y="32793"/>
                      <a:pt x="2330114" y="44629"/>
                    </a:cubicBezTo>
                    <a:lnTo>
                      <a:pt x="2330114" y="489404"/>
                    </a:lnTo>
                    <a:cubicBezTo>
                      <a:pt x="2330114" y="514052"/>
                      <a:pt x="2310133" y="534033"/>
                      <a:pt x="2285485" y="534033"/>
                    </a:cubicBezTo>
                    <a:lnTo>
                      <a:pt x="44629" y="534033"/>
                    </a:lnTo>
                    <a:cubicBezTo>
                      <a:pt x="32793" y="534033"/>
                      <a:pt x="21441" y="529331"/>
                      <a:pt x="13071" y="520961"/>
                    </a:cubicBezTo>
                    <a:cubicBezTo>
                      <a:pt x="4702" y="512592"/>
                      <a:pt x="0" y="501240"/>
                      <a:pt x="0" y="489404"/>
                    </a:cubicBezTo>
                    <a:lnTo>
                      <a:pt x="0" y="44629"/>
                    </a:lnTo>
                    <a:cubicBezTo>
                      <a:pt x="0" y="32793"/>
                      <a:pt x="4702" y="21441"/>
                      <a:pt x="13071" y="13071"/>
                    </a:cubicBezTo>
                    <a:cubicBezTo>
                      <a:pt x="21441" y="4702"/>
                      <a:pt x="32793" y="0"/>
                      <a:pt x="446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2330114" cy="6102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1"/>
                  </a:lnSpc>
                </a:pPr>
                <a:endParaRPr/>
              </a:p>
            </p:txBody>
          </p:sp>
        </p:grpSp>
        <p:sp>
          <p:nvSpPr>
            <p:cNvPr id="9" name="AutoShape 9"/>
            <p:cNvSpPr/>
            <p:nvPr/>
          </p:nvSpPr>
          <p:spPr>
            <a:xfrm>
              <a:off x="17258045" y="5096138"/>
              <a:ext cx="2316147" cy="1"/>
            </a:xfrm>
            <a:prstGeom prst="line">
              <a:avLst/>
            </a:prstGeom>
            <a:ln w="38100" cap="flat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86800" y="4453964"/>
              <a:ext cx="7843561" cy="1461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5"/>
                </a:lnSpc>
              </a:pPr>
              <a:r>
                <a:rPr lang="en-US" sz="3199" u="none" strike="noStrike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Reuniões</a:t>
              </a:r>
              <a:r>
                <a:rPr lang="en-US" sz="3199" u="none" strike="noStrike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3199" u="none" strike="noStrike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Semanais</a:t>
              </a:r>
              <a:r>
                <a:rPr lang="en-US" sz="3199" u="none" strike="noStrike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3199" u="none" strike="noStrike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Táticas</a:t>
              </a:r>
              <a:r>
                <a:rPr lang="en-US" sz="3199" u="none" strike="noStrike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(</a:t>
              </a:r>
              <a:r>
                <a:rPr lang="en-US" sz="3199" u="none" strike="noStrike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Gerências</a:t>
              </a:r>
              <a:r>
                <a:rPr lang="en-US" sz="3199" u="none" strike="noStrike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) – 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Como a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organização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deve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fazer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(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Definiç</a:t>
              </a:r>
              <a:r>
                <a:rPr lang="en-US" sz="2400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ões</a:t>
              </a:r>
              <a:r>
                <a:rPr lang="en-US" sz="2400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e </a:t>
              </a:r>
              <a:r>
                <a:rPr lang="en-US" sz="2400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Cobranças</a:t>
              </a:r>
              <a:r>
                <a:rPr lang="en-US" sz="2400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de </a:t>
              </a:r>
              <a:r>
                <a:rPr lang="en-US" sz="2400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Entregas</a:t>
              </a:r>
              <a:r>
                <a:rPr lang="en-US" sz="2400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)</a:t>
              </a:r>
              <a:endParaRPr lang="en-US" sz="3199" u="none" strike="noStrike" spc="159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endParaRP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F4D0AB2-4622-5810-6830-4D7F951FF8FD}"/>
              </a:ext>
            </a:extLst>
          </p:cNvPr>
          <p:cNvGrpSpPr/>
          <p:nvPr/>
        </p:nvGrpSpPr>
        <p:grpSpPr>
          <a:xfrm>
            <a:off x="8395818" y="2324100"/>
            <a:ext cx="11114526" cy="2027655"/>
            <a:chOff x="8390376" y="1515193"/>
            <a:chExt cx="11141529" cy="2027655"/>
          </a:xfrm>
        </p:grpSpPr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983C3DE7-19E1-C16B-76E4-40CCFEF113EE}"/>
                </a:ext>
              </a:extLst>
            </p:cNvPr>
            <p:cNvGrpSpPr/>
            <p:nvPr/>
          </p:nvGrpSpPr>
          <p:grpSpPr>
            <a:xfrm>
              <a:off x="8390376" y="1515193"/>
              <a:ext cx="8847153" cy="2027655"/>
              <a:chOff x="0" y="0"/>
              <a:chExt cx="2330114" cy="534033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74C13383-AE36-4C62-B927-6F181B708025}"/>
                  </a:ext>
                </a:extLst>
              </p:cNvPr>
              <p:cNvSpPr/>
              <p:nvPr/>
            </p:nvSpPr>
            <p:spPr>
              <a:xfrm>
                <a:off x="0" y="0"/>
                <a:ext cx="2330114" cy="534033"/>
              </a:xfrm>
              <a:custGeom>
                <a:avLst/>
                <a:gdLst/>
                <a:ahLst/>
                <a:cxnLst/>
                <a:rect l="l" t="t" r="r" b="b"/>
                <a:pathLst>
                  <a:path w="2330114" h="534033">
                    <a:moveTo>
                      <a:pt x="44629" y="0"/>
                    </a:moveTo>
                    <a:lnTo>
                      <a:pt x="2285485" y="0"/>
                    </a:lnTo>
                    <a:cubicBezTo>
                      <a:pt x="2297322" y="0"/>
                      <a:pt x="2308673" y="4702"/>
                      <a:pt x="2317043" y="13071"/>
                    </a:cubicBezTo>
                    <a:cubicBezTo>
                      <a:pt x="2325412" y="21441"/>
                      <a:pt x="2330114" y="32793"/>
                      <a:pt x="2330114" y="44629"/>
                    </a:cubicBezTo>
                    <a:lnTo>
                      <a:pt x="2330114" y="489404"/>
                    </a:lnTo>
                    <a:cubicBezTo>
                      <a:pt x="2330114" y="514052"/>
                      <a:pt x="2310133" y="534033"/>
                      <a:pt x="2285485" y="534033"/>
                    </a:cubicBezTo>
                    <a:lnTo>
                      <a:pt x="44629" y="534033"/>
                    </a:lnTo>
                    <a:cubicBezTo>
                      <a:pt x="32793" y="534033"/>
                      <a:pt x="21441" y="529331"/>
                      <a:pt x="13071" y="520961"/>
                    </a:cubicBezTo>
                    <a:cubicBezTo>
                      <a:pt x="4702" y="512592"/>
                      <a:pt x="0" y="501240"/>
                      <a:pt x="0" y="489404"/>
                    </a:cubicBezTo>
                    <a:lnTo>
                      <a:pt x="0" y="44629"/>
                    </a:lnTo>
                    <a:cubicBezTo>
                      <a:pt x="0" y="32793"/>
                      <a:pt x="4702" y="21441"/>
                      <a:pt x="13071" y="13071"/>
                    </a:cubicBezTo>
                    <a:cubicBezTo>
                      <a:pt x="21441" y="4702"/>
                      <a:pt x="32793" y="0"/>
                      <a:pt x="446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9F465D59-004A-6205-CA84-A152F94B994C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2330114" cy="6102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1"/>
                  </a:lnSpc>
                </a:pPr>
                <a:endParaRPr/>
              </a:p>
            </p:txBody>
          </p:sp>
        </p:grp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E443F840-2E77-2C8A-F16E-6C2E40B23884}"/>
                </a:ext>
              </a:extLst>
            </p:cNvPr>
            <p:cNvSpPr/>
            <p:nvPr/>
          </p:nvSpPr>
          <p:spPr>
            <a:xfrm>
              <a:off x="17237529" y="2548069"/>
              <a:ext cx="2294376" cy="1"/>
            </a:xfrm>
            <a:prstGeom prst="line">
              <a:avLst/>
            </a:prstGeom>
            <a:ln w="38100" cap="flat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7E7A62AD-6C76-4642-12B9-480BD649BD62}"/>
                </a:ext>
              </a:extLst>
            </p:cNvPr>
            <p:cNvSpPr txBox="1"/>
            <p:nvPr/>
          </p:nvSpPr>
          <p:spPr>
            <a:xfrm>
              <a:off x="8659586" y="1817100"/>
              <a:ext cx="7843561" cy="1461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5"/>
                </a:lnSpc>
              </a:pPr>
              <a:r>
                <a:rPr lang="en-US" sz="3199" u="none" strike="noStrike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Reunião</a:t>
              </a:r>
              <a:r>
                <a:rPr lang="en-US" sz="3199" u="none" strike="noStrike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mensal </a:t>
              </a:r>
              <a:r>
                <a:rPr lang="en-US" sz="3199" u="none" strike="noStrike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estratégica</a:t>
              </a:r>
              <a:r>
                <a:rPr lang="en-US" sz="3199" u="none" strike="noStrike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 (</a:t>
              </a:r>
              <a:r>
                <a:rPr lang="en-US" sz="3199" u="none" strike="noStrike" spc="159" dirty="0" err="1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Diretoria</a:t>
              </a:r>
              <a:r>
                <a:rPr lang="en-US" sz="3199" u="none" strike="noStrike" spc="159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) - 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O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que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a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organização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deve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fazer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(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Definições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e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Cobranças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 de </a:t>
              </a:r>
              <a:r>
                <a:rPr lang="en-US" sz="2400" u="none" strike="noStrike" spc="159" dirty="0" err="1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Entregas</a:t>
              </a:r>
              <a:r>
                <a:rPr lang="en-US" sz="2400" u="none" strike="noStrike" spc="159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)</a:t>
              </a:r>
              <a:endParaRPr lang="en-US" sz="3199" u="none" strike="noStrike" spc="159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endParaRPr>
            </a:p>
          </p:txBody>
        </p:sp>
      </p:grpSp>
      <p:sp>
        <p:nvSpPr>
          <p:cNvPr id="23" name="TextBox 5">
            <a:extLst>
              <a:ext uri="{FF2B5EF4-FFF2-40B4-BE49-F238E27FC236}">
                <a16:creationId xmlns:a16="http://schemas.microsoft.com/office/drawing/2014/main" id="{7CCCD412-1944-530F-DE8F-FBF663871D77}"/>
              </a:ext>
            </a:extLst>
          </p:cNvPr>
          <p:cNvSpPr txBox="1"/>
          <p:nvPr/>
        </p:nvSpPr>
        <p:spPr>
          <a:xfrm>
            <a:off x="444611" y="1874123"/>
            <a:ext cx="6590757" cy="769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2800" spc="189" dirty="0">
                <a:solidFill>
                  <a:srgbClr val="39F2AE"/>
                </a:solidFill>
                <a:latin typeface="Poppins 2"/>
                <a:ea typeface="Poppins 2"/>
                <a:cs typeface="Poppins 2"/>
                <a:sym typeface="Poppins 2"/>
              </a:rPr>
              <a:t>Serão 20 horas mensais de consultoria, realizadas de forma remota ou presencial. </a:t>
            </a:r>
          </a:p>
          <a:p>
            <a:pPr algn="l">
              <a:lnSpc>
                <a:spcPct val="150000"/>
              </a:lnSpc>
            </a:pPr>
            <a:endParaRPr lang="pt-BR" spc="189" dirty="0">
              <a:solidFill>
                <a:srgbClr val="39F2AE"/>
              </a:solidFill>
              <a:latin typeface="Poppins 2"/>
              <a:ea typeface="Poppins 2"/>
              <a:cs typeface="Poppins 2"/>
              <a:sym typeface="Poppins 2"/>
            </a:endParaRPr>
          </a:p>
          <a:p>
            <a:pPr algn="l">
              <a:lnSpc>
                <a:spcPct val="150000"/>
              </a:lnSpc>
            </a:pPr>
            <a:r>
              <a:rPr lang="pt-BR" sz="2800" spc="189" dirty="0">
                <a:solidFill>
                  <a:srgbClr val="39F2AE"/>
                </a:solidFill>
                <a:latin typeface="Poppins 2"/>
                <a:ea typeface="Poppins 2"/>
                <a:cs typeface="Poppins 2"/>
                <a:sym typeface="Poppins 2"/>
              </a:rPr>
              <a:t>Nesse período, aplicamos nossa metodologia exclusiva, desenvolvida e aperfeiçoada ao longo de mais de 15 anos de experiência, apoiada por tecnologia própria que assegura ritmo, disciplina e consistência na gestão.</a:t>
            </a:r>
            <a:endParaRPr lang="en-US" sz="2800" spc="189" dirty="0">
              <a:solidFill>
                <a:srgbClr val="39F2AE"/>
              </a:solidFill>
              <a:latin typeface="Poppins 2"/>
              <a:ea typeface="Poppins 2"/>
              <a:cs typeface="Poppins 2"/>
              <a:sym typeface="Poppins 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840200">
            <a:off x="7267607" y="-1559850"/>
            <a:ext cx="13120780" cy="13344752"/>
            <a:chOff x="0" y="0"/>
            <a:chExt cx="17381245" cy="176779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-5443" y="-3095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6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2656114" y="475906"/>
            <a:ext cx="15621000" cy="7318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</a:pPr>
            <a:endParaRPr lang="en-US" sz="2800" b="1" spc="255" dirty="0">
              <a:solidFill>
                <a:schemeClr val="bg1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algn="l">
              <a:lnSpc>
                <a:spcPct val="125000"/>
              </a:lnSpc>
            </a:pP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Nossa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proposta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possibilita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as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empresas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menores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terem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acesso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a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este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diferencial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que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só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empresas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grades </a:t>
            </a:r>
            <a:r>
              <a:rPr lang="en-US" sz="2800" b="1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conseguiam</a:t>
            </a:r>
            <a:r>
              <a:rPr lang="en-US" sz="2800" b="1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.</a:t>
            </a:r>
          </a:p>
          <a:p>
            <a:pPr algn="l">
              <a:lnSpc>
                <a:spcPct val="125000"/>
              </a:lnSpc>
            </a:pPr>
            <a:endParaRPr lang="en-US" sz="2800" b="1" spc="255" dirty="0">
              <a:solidFill>
                <a:schemeClr val="bg1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algn="l">
              <a:lnSpc>
                <a:spcPct val="125000"/>
              </a:lnSpc>
            </a:pPr>
            <a:endParaRPr lang="en-US" sz="1600" spc="255" dirty="0">
              <a:solidFill>
                <a:schemeClr val="bg1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algn="l">
              <a:lnSpc>
                <a:spcPct val="125000"/>
              </a:lnSpc>
            </a:pPr>
            <a:r>
              <a:rPr lang="en-US" sz="32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 </a:t>
            </a:r>
            <a:r>
              <a:rPr lang="en-US" sz="32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seu</a:t>
            </a:r>
            <a:r>
              <a:rPr lang="en-US" sz="32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32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investimento</a:t>
            </a:r>
            <a:r>
              <a:rPr lang="en-US" sz="32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32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será</a:t>
            </a:r>
            <a:r>
              <a:rPr lang="en-US" sz="32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de:</a:t>
            </a:r>
            <a:endParaRPr lang="en-US" sz="3200" b="1" spc="255" dirty="0">
              <a:solidFill>
                <a:srgbClr val="39F2AE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marL="2343150" lvl="4" indent="-514350">
              <a:lnSpc>
                <a:spcPct val="125000"/>
              </a:lnSpc>
              <a:buAutoNum type="alphaLcParenR"/>
            </a:pP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Parcela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fixa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de R$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xxxx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mensais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*.</a:t>
            </a:r>
          </a:p>
          <a:p>
            <a:pPr lvl="5">
              <a:lnSpc>
                <a:spcPct val="125000"/>
              </a:lnSpc>
            </a:pP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Pagos no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início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de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cada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mês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de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trabalho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.</a:t>
            </a:r>
            <a:endParaRPr lang="en-US" sz="2800" spc="215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4">
              <a:lnSpc>
                <a:spcPct val="125000"/>
              </a:lnSpc>
            </a:pPr>
            <a:endParaRPr lang="en-US" sz="1100" spc="215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4">
              <a:lnSpc>
                <a:spcPct val="125000"/>
              </a:lnSpc>
            </a:pP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b)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Parcela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variável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de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Rxxxxmensais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* (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em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função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de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metas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e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resultados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3200" b="1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obtidos</a:t>
            </a: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).</a:t>
            </a:r>
          </a:p>
          <a:p>
            <a:pPr lvl="4">
              <a:lnSpc>
                <a:spcPct val="125000"/>
              </a:lnSpc>
            </a:pPr>
            <a:r>
              <a:rPr lang="en-US" sz="3200" b="1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	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Pagos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ao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final de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cada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mês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de </a:t>
            </a:r>
            <a:r>
              <a:rPr lang="en-US" sz="2400" spc="255" dirty="0" err="1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trabalho</a:t>
            </a:r>
            <a:r>
              <a:rPr lang="en-US" sz="2400" spc="255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.</a:t>
            </a:r>
          </a:p>
          <a:p>
            <a:pPr lvl="4">
              <a:lnSpc>
                <a:spcPct val="125000"/>
              </a:lnSpc>
            </a:pPr>
            <a:endParaRPr lang="en-US" sz="2400" spc="255" dirty="0">
              <a:solidFill>
                <a:srgbClr val="39F2AE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lvl="4">
              <a:lnSpc>
                <a:spcPct val="125000"/>
              </a:lnSpc>
            </a:pPr>
            <a:endParaRPr lang="en-US" sz="1100" b="1" spc="255" dirty="0">
              <a:solidFill>
                <a:schemeClr val="bg1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  <a:p>
            <a:pPr lvl="4">
              <a:lnSpc>
                <a:spcPct val="125000"/>
              </a:lnSpc>
            </a:pPr>
            <a:r>
              <a:rPr lang="en-US" sz="2400" b="1" u="sng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* Sem tempo </a:t>
            </a:r>
            <a:r>
              <a:rPr lang="en-US" sz="2400" b="1" u="sng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mínimo</a:t>
            </a:r>
            <a:r>
              <a:rPr lang="en-US" sz="2400" b="1" u="sng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e </a:t>
            </a:r>
            <a:r>
              <a:rPr lang="en-US" sz="2400" b="1" u="sng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sem</a:t>
            </a:r>
            <a:r>
              <a:rPr lang="en-US" sz="2400" b="1" u="sng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400" b="1" u="sng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multa</a:t>
            </a:r>
            <a:r>
              <a:rPr lang="en-US" sz="2400" b="1" u="sng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  <a:r>
              <a:rPr lang="en-US" sz="2400" b="1" u="sng" spc="255" dirty="0" err="1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rescisória</a:t>
            </a:r>
            <a:r>
              <a:rPr lang="en-US" sz="2400" b="1" u="sng" spc="255" dirty="0">
                <a:solidFill>
                  <a:schemeClr val="bg1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.</a:t>
            </a:r>
            <a:endParaRPr lang="en-US" sz="2400" spc="255" dirty="0">
              <a:solidFill>
                <a:schemeClr val="bg1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7" name="TextBox 7"/>
          <p:cNvSpPr txBox="1"/>
          <p:nvPr/>
        </p:nvSpPr>
        <p:spPr>
          <a:xfrm rot="-5400000">
            <a:off x="-3782378" y="4745955"/>
            <a:ext cx="973645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en-US" sz="500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5 - Investimento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71D2E-315B-4991-9E18-95B007E4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C3D4A4-06C5-C1E4-3ABF-7E6A183126F3}"/>
              </a:ext>
            </a:extLst>
          </p:cNvPr>
          <p:cNvGrpSpPr>
            <a:grpSpLocks noChangeAspect="1"/>
          </p:cNvGrpSpPr>
          <p:nvPr/>
        </p:nvGrpSpPr>
        <p:grpSpPr>
          <a:xfrm rot="1840200">
            <a:off x="7267607" y="-1559850"/>
            <a:ext cx="13120780" cy="13344752"/>
            <a:chOff x="0" y="0"/>
            <a:chExt cx="17381245" cy="176779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4A4B867-50E7-A104-D0D1-5F03D4C5E137}"/>
                </a:ext>
              </a:extLst>
            </p:cNvPr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7C2D202-8183-B17D-B00C-724335AE973A}"/>
              </a:ext>
            </a:extLst>
          </p:cNvPr>
          <p:cNvSpPr/>
          <p:nvPr/>
        </p:nvSpPr>
        <p:spPr>
          <a:xfrm>
            <a:off x="-5443" y="-3095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6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E640E41-2DD3-4D22-FF9D-585220D7DD28}"/>
              </a:ext>
            </a:extLst>
          </p:cNvPr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A6B1855-9E87-0989-9A58-657D3D61809F}"/>
              </a:ext>
            </a:extLst>
          </p:cNvPr>
          <p:cNvSpPr txBox="1"/>
          <p:nvPr/>
        </p:nvSpPr>
        <p:spPr>
          <a:xfrm rot="-5400000">
            <a:off x="-3782378" y="4745955"/>
            <a:ext cx="973645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en-US" sz="500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5 - Investimento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3EC8478D-C6C2-41DB-D92A-0E6AC5F7D845}"/>
              </a:ext>
            </a:extLst>
          </p:cNvPr>
          <p:cNvSpPr txBox="1"/>
          <p:nvPr/>
        </p:nvSpPr>
        <p:spPr>
          <a:xfrm>
            <a:off x="2171700" y="2056373"/>
            <a:ext cx="14966216" cy="337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1"/>
              </a:lnSpc>
            </a:pPr>
            <a:r>
              <a:rPr lang="pt-BR" sz="4800" b="1" spc="271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Condição especial!</a:t>
            </a:r>
          </a:p>
          <a:p>
            <a:pPr>
              <a:lnSpc>
                <a:spcPts val="5401"/>
              </a:lnSpc>
            </a:pPr>
            <a:endParaRPr lang="pt-BR" sz="4800" b="1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457200" indent="-457200">
              <a:lnSpc>
                <a:spcPts val="5401"/>
              </a:lnSpc>
              <a:buFont typeface="Wingdings" panose="05000000000000000000" pitchFamily="2" charset="2"/>
              <a:buChar char="è"/>
            </a:pPr>
            <a:endParaRPr lang="pt-BR" sz="4000" b="1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800100" lvl="1" indent="-342900">
              <a:lnSpc>
                <a:spcPts val="5401"/>
              </a:lnSpc>
              <a:buFont typeface="Arial" panose="020B0604020202020204" pitchFamily="34" charset="0"/>
              <a:buChar char="•"/>
            </a:pPr>
            <a:r>
              <a:rPr lang="pt-BR" sz="2400" b="1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Condição especial para </a:t>
            </a:r>
            <a:r>
              <a:rPr lang="pt-BR" sz="2400" b="1" spc="271" dirty="0" err="1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xxxxxx</a:t>
            </a:r>
            <a:endParaRPr lang="pt-BR" sz="2400" b="1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800100" lvl="1" indent="-342900">
              <a:lnSpc>
                <a:spcPts val="5401"/>
              </a:lnSpc>
              <a:buFont typeface="Arial" panose="020B0604020202020204" pitchFamily="34" charset="0"/>
              <a:buChar char="•"/>
            </a:pPr>
            <a:r>
              <a:rPr lang="pt-BR" sz="2400" b="1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Proposta válida até </a:t>
            </a:r>
            <a:r>
              <a:rPr lang="pt-BR" sz="2400" b="1" spc="271" dirty="0" err="1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xx</a:t>
            </a:r>
            <a:r>
              <a:rPr lang="pt-BR" sz="2400" b="1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/</a:t>
            </a:r>
            <a:r>
              <a:rPr lang="pt-BR" sz="2400" b="1" spc="271" dirty="0" err="1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xx</a:t>
            </a:r>
            <a:r>
              <a:rPr lang="pt-BR" sz="2400" b="1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/</a:t>
            </a:r>
            <a:r>
              <a:rPr lang="pt-BR" sz="2400" b="1" spc="271" dirty="0" err="1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xxxx</a:t>
            </a:r>
            <a:endParaRPr lang="pt-BR" sz="2400" b="1" spc="255" dirty="0">
              <a:solidFill>
                <a:srgbClr val="E6C63F"/>
              </a:solidFill>
              <a:latin typeface="Poppins 1 Bold"/>
              <a:ea typeface="Poppins 1"/>
              <a:cs typeface="Poppins 1 Bold"/>
              <a:sym typeface="Poppins 1 Bold"/>
            </a:endParaRPr>
          </a:p>
        </p:txBody>
      </p:sp>
    </p:spTree>
    <p:extLst>
      <p:ext uri="{BB962C8B-B14F-4D97-AF65-F5344CB8AC3E}">
        <p14:creationId xmlns:p14="http://schemas.microsoft.com/office/powerpoint/2010/main" val="3528789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28700" y="7537567"/>
            <a:ext cx="16230600" cy="1679341"/>
            <a:chOff x="0" y="0"/>
            <a:chExt cx="21640800" cy="2239121"/>
          </a:xfrm>
        </p:grpSpPr>
        <p:sp>
          <p:nvSpPr>
            <p:cNvPr id="4" name="Freeform 4"/>
            <p:cNvSpPr/>
            <p:nvPr/>
          </p:nvSpPr>
          <p:spPr>
            <a:xfrm>
              <a:off x="0" y="96827"/>
              <a:ext cx="3025839" cy="2045467"/>
            </a:xfrm>
            <a:custGeom>
              <a:avLst/>
              <a:gdLst/>
              <a:ahLst/>
              <a:cxnLst/>
              <a:rect l="l" t="t" r="r" b="b"/>
              <a:pathLst>
                <a:path w="3025839" h="2045467">
                  <a:moveTo>
                    <a:pt x="0" y="0"/>
                  </a:moveTo>
                  <a:lnTo>
                    <a:pt x="3025839" y="0"/>
                  </a:lnTo>
                  <a:lnTo>
                    <a:pt x="3025839" y="2045467"/>
                  </a:lnTo>
                  <a:lnTo>
                    <a:pt x="0" y="2045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227654" y="738305"/>
              <a:ext cx="3413146" cy="750408"/>
            </a:xfrm>
            <a:custGeom>
              <a:avLst/>
              <a:gdLst/>
              <a:ahLst/>
              <a:cxnLst/>
              <a:rect l="l" t="t" r="r" b="b"/>
              <a:pathLst>
                <a:path w="3413146" h="750408">
                  <a:moveTo>
                    <a:pt x="0" y="0"/>
                  </a:moveTo>
                  <a:lnTo>
                    <a:pt x="3413146" y="0"/>
                  </a:lnTo>
                  <a:lnTo>
                    <a:pt x="3413146" y="750408"/>
                  </a:lnTo>
                  <a:lnTo>
                    <a:pt x="0" y="750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998" t="-241791" r="-12887" b="-230788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13216864" y="550703"/>
              <a:ext cx="2674842" cy="1137715"/>
            </a:xfrm>
            <a:custGeom>
              <a:avLst/>
              <a:gdLst/>
              <a:ahLst/>
              <a:cxnLst/>
              <a:rect l="l" t="t" r="r" b="b"/>
              <a:pathLst>
                <a:path w="2674842" h="1137715">
                  <a:moveTo>
                    <a:pt x="0" y="0"/>
                  </a:moveTo>
                  <a:lnTo>
                    <a:pt x="2674842" y="0"/>
                  </a:lnTo>
                  <a:lnTo>
                    <a:pt x="2674842" y="1137715"/>
                  </a:lnTo>
                  <a:lnTo>
                    <a:pt x="0" y="1137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702" b="-6740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>
              <a:off x="7552494" y="290481"/>
              <a:ext cx="2178604" cy="1658160"/>
            </a:xfrm>
            <a:custGeom>
              <a:avLst/>
              <a:gdLst/>
              <a:ahLst/>
              <a:cxnLst/>
              <a:rect l="l" t="t" r="r" b="b"/>
              <a:pathLst>
                <a:path w="2178604" h="1658160">
                  <a:moveTo>
                    <a:pt x="0" y="0"/>
                  </a:moveTo>
                  <a:lnTo>
                    <a:pt x="2178604" y="0"/>
                  </a:lnTo>
                  <a:lnTo>
                    <a:pt x="2178604" y="1658159"/>
                  </a:lnTo>
                  <a:lnTo>
                    <a:pt x="0" y="165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097463" y="0"/>
              <a:ext cx="1924434" cy="2239121"/>
            </a:xfrm>
            <a:custGeom>
              <a:avLst/>
              <a:gdLst/>
              <a:ahLst/>
              <a:cxnLst/>
              <a:rect l="l" t="t" r="r" b="b"/>
              <a:pathLst>
                <a:path w="1924434" h="2239121">
                  <a:moveTo>
                    <a:pt x="0" y="0"/>
                  </a:moveTo>
                  <a:lnTo>
                    <a:pt x="1924434" y="0"/>
                  </a:lnTo>
                  <a:lnTo>
                    <a:pt x="1924434" y="2239121"/>
                  </a:lnTo>
                  <a:lnTo>
                    <a:pt x="0" y="2239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5023" t="-21507" r="-46674" b="-2606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9936855" y="278377"/>
              <a:ext cx="3074252" cy="1670263"/>
            </a:xfrm>
            <a:custGeom>
              <a:avLst/>
              <a:gdLst/>
              <a:ahLst/>
              <a:cxnLst/>
              <a:rect l="l" t="t" r="r" b="b"/>
              <a:pathLst>
                <a:path w="3074252" h="1670263">
                  <a:moveTo>
                    <a:pt x="0" y="0"/>
                  </a:moveTo>
                  <a:lnTo>
                    <a:pt x="3074252" y="0"/>
                  </a:lnTo>
                  <a:lnTo>
                    <a:pt x="3074252" y="1670263"/>
                  </a:lnTo>
                  <a:lnTo>
                    <a:pt x="0" y="1670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1894" b="-42163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31596" y="762511"/>
              <a:ext cx="4115141" cy="714098"/>
            </a:xfrm>
            <a:custGeom>
              <a:avLst/>
              <a:gdLst/>
              <a:ahLst/>
              <a:cxnLst/>
              <a:rect l="l" t="t" r="r" b="b"/>
              <a:pathLst>
                <a:path w="4115141" h="714098">
                  <a:moveTo>
                    <a:pt x="0" y="0"/>
                  </a:moveTo>
                  <a:lnTo>
                    <a:pt x="4115141" y="0"/>
                  </a:lnTo>
                  <a:lnTo>
                    <a:pt x="4115141" y="714098"/>
                  </a:lnTo>
                  <a:lnTo>
                    <a:pt x="0" y="714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2" name="Group 12"/>
          <p:cNvGrpSpPr/>
          <p:nvPr/>
        </p:nvGrpSpPr>
        <p:grpSpPr>
          <a:xfrm>
            <a:off x="-1205794" y="3299489"/>
            <a:ext cx="2938144" cy="910590"/>
            <a:chOff x="0" y="0"/>
            <a:chExt cx="773832" cy="239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3832" cy="239826"/>
            </a:xfrm>
            <a:custGeom>
              <a:avLst/>
              <a:gdLst/>
              <a:ahLst/>
              <a:cxnLst/>
              <a:rect l="l" t="t" r="r" b="b"/>
              <a:pathLst>
                <a:path w="773832" h="239826">
                  <a:moveTo>
                    <a:pt x="119913" y="0"/>
                  </a:moveTo>
                  <a:lnTo>
                    <a:pt x="653919" y="0"/>
                  </a:lnTo>
                  <a:cubicBezTo>
                    <a:pt x="685722" y="0"/>
                    <a:pt x="716222" y="12634"/>
                    <a:pt x="738710" y="35122"/>
                  </a:cubicBezTo>
                  <a:cubicBezTo>
                    <a:pt x="761198" y="57610"/>
                    <a:pt x="773832" y="88110"/>
                    <a:pt x="773832" y="119913"/>
                  </a:cubicBezTo>
                  <a:lnTo>
                    <a:pt x="773832" y="119913"/>
                  </a:lnTo>
                  <a:cubicBezTo>
                    <a:pt x="773832" y="151716"/>
                    <a:pt x="761198" y="182216"/>
                    <a:pt x="738710" y="204704"/>
                  </a:cubicBezTo>
                  <a:cubicBezTo>
                    <a:pt x="716222" y="227193"/>
                    <a:pt x="685722" y="239826"/>
                    <a:pt x="653919" y="239826"/>
                  </a:cubicBezTo>
                  <a:lnTo>
                    <a:pt x="119913" y="239826"/>
                  </a:lnTo>
                  <a:cubicBezTo>
                    <a:pt x="88110" y="239826"/>
                    <a:pt x="57610" y="227193"/>
                    <a:pt x="35122" y="204704"/>
                  </a:cubicBezTo>
                  <a:cubicBezTo>
                    <a:pt x="12634" y="182216"/>
                    <a:pt x="0" y="151716"/>
                    <a:pt x="0" y="119913"/>
                  </a:cubicBezTo>
                  <a:lnTo>
                    <a:pt x="0" y="119913"/>
                  </a:lnTo>
                  <a:cubicBezTo>
                    <a:pt x="0" y="88110"/>
                    <a:pt x="12634" y="57610"/>
                    <a:pt x="35122" y="35122"/>
                  </a:cubicBezTo>
                  <a:cubicBezTo>
                    <a:pt x="57610" y="12634"/>
                    <a:pt x="88110" y="0"/>
                    <a:pt x="1199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773832" cy="316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205794" y="5038754"/>
            <a:ext cx="2938144" cy="910590"/>
            <a:chOff x="0" y="0"/>
            <a:chExt cx="773832" cy="2398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73832" cy="239826"/>
            </a:xfrm>
            <a:custGeom>
              <a:avLst/>
              <a:gdLst/>
              <a:ahLst/>
              <a:cxnLst/>
              <a:rect l="l" t="t" r="r" b="b"/>
              <a:pathLst>
                <a:path w="773832" h="239826">
                  <a:moveTo>
                    <a:pt x="119913" y="0"/>
                  </a:moveTo>
                  <a:lnTo>
                    <a:pt x="653919" y="0"/>
                  </a:lnTo>
                  <a:cubicBezTo>
                    <a:pt x="685722" y="0"/>
                    <a:pt x="716222" y="12634"/>
                    <a:pt x="738710" y="35122"/>
                  </a:cubicBezTo>
                  <a:cubicBezTo>
                    <a:pt x="761198" y="57610"/>
                    <a:pt x="773832" y="88110"/>
                    <a:pt x="773832" y="119913"/>
                  </a:cubicBezTo>
                  <a:lnTo>
                    <a:pt x="773832" y="119913"/>
                  </a:lnTo>
                  <a:cubicBezTo>
                    <a:pt x="773832" y="151716"/>
                    <a:pt x="761198" y="182216"/>
                    <a:pt x="738710" y="204704"/>
                  </a:cubicBezTo>
                  <a:cubicBezTo>
                    <a:pt x="716222" y="227193"/>
                    <a:pt x="685722" y="239826"/>
                    <a:pt x="653919" y="239826"/>
                  </a:cubicBezTo>
                  <a:lnTo>
                    <a:pt x="119913" y="239826"/>
                  </a:lnTo>
                  <a:cubicBezTo>
                    <a:pt x="88110" y="239826"/>
                    <a:pt x="57610" y="227193"/>
                    <a:pt x="35122" y="204704"/>
                  </a:cubicBezTo>
                  <a:cubicBezTo>
                    <a:pt x="12634" y="182216"/>
                    <a:pt x="0" y="151716"/>
                    <a:pt x="0" y="119913"/>
                  </a:cubicBezTo>
                  <a:lnTo>
                    <a:pt x="0" y="119913"/>
                  </a:lnTo>
                  <a:cubicBezTo>
                    <a:pt x="0" y="88110"/>
                    <a:pt x="12634" y="57610"/>
                    <a:pt x="35122" y="35122"/>
                  </a:cubicBezTo>
                  <a:cubicBezTo>
                    <a:pt x="57610" y="12634"/>
                    <a:pt x="88110" y="0"/>
                    <a:pt x="1199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773832" cy="316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43669" y="981075"/>
            <a:ext cx="4504536" cy="80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0"/>
              </a:lnSpc>
            </a:pPr>
            <a:r>
              <a:rPr lang="en-US" sz="5000" b="1" spc="40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Histórias 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3669" y="1461930"/>
            <a:ext cx="6072011" cy="146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80"/>
              </a:lnSpc>
            </a:pPr>
            <a:r>
              <a:rPr lang="en-US" sz="9157" b="1" spc="732">
                <a:solidFill>
                  <a:srgbClr val="3AF1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SUCESSO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43669" y="3270914"/>
            <a:ext cx="7179133" cy="93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b="1" spc="15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Vários anos de parceria e resultados comprovados!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43669" y="4552979"/>
            <a:ext cx="7179133" cy="185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Há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mais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de 15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anos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no mercado,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nossas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parcerias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de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sucesso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são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a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prova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do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nosso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compromisso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com a </a:t>
            </a:r>
            <a:r>
              <a:rPr lang="en-US" sz="3000" spc="15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excelência</a:t>
            </a:r>
            <a:r>
              <a:rPr lang="en-US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30639" y="6928480"/>
            <a:ext cx="4026721" cy="43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700" spc="135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Clientes Satisfeitos: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46429" y="7481036"/>
            <a:ext cx="6019800" cy="1647421"/>
          </a:xfrm>
          <a:custGeom>
            <a:avLst/>
            <a:gdLst/>
            <a:ahLst/>
            <a:cxnLst/>
            <a:rect l="l" t="t" r="r" b="b"/>
            <a:pathLst>
              <a:path w="9696575" h="2653633">
                <a:moveTo>
                  <a:pt x="0" y="0"/>
                </a:moveTo>
                <a:lnTo>
                  <a:pt x="9696575" y="0"/>
                </a:lnTo>
                <a:lnTo>
                  <a:pt x="9696575" y="2653633"/>
                </a:lnTo>
                <a:lnTo>
                  <a:pt x="0" y="2653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12371" y="547325"/>
            <a:ext cx="10096500" cy="972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90"/>
              </a:lnSpc>
            </a:pPr>
            <a:r>
              <a:rPr lang="en-US" sz="7000" b="1" spc="560" dirty="0">
                <a:solidFill>
                  <a:srgbClr val="3AF1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PRÓXIMO PASSO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600" y="2272533"/>
            <a:ext cx="15201900" cy="5078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29"/>
              </a:lnSpc>
            </a:pPr>
            <a:r>
              <a:rPr lang="pt-BR" sz="3600" b="1" spc="150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Vamos iniciar este ciclo virtuoso de gestão, controle e crescimento?</a:t>
            </a:r>
          </a:p>
          <a:p>
            <a:pPr algn="l">
              <a:lnSpc>
                <a:spcPts val="3629"/>
              </a:lnSpc>
            </a:pPr>
            <a:endParaRPr lang="pt-BR" sz="3600" b="1" spc="15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3629"/>
              </a:lnSpc>
            </a:pPr>
            <a:endParaRPr lang="pt-BR" sz="3200" b="1" spc="15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3629"/>
              </a:lnSpc>
            </a:pPr>
            <a:r>
              <a:rPr lang="pt-BR" sz="3200" b="1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Nos envie seu CNPJ para prepararmos o contrato e agendarmos o início dos trabalhos.</a:t>
            </a:r>
          </a:p>
          <a:p>
            <a:pPr algn="l">
              <a:lnSpc>
                <a:spcPts val="3629"/>
              </a:lnSpc>
            </a:pPr>
            <a:endParaRPr lang="pt-BR" sz="3200" b="1" spc="15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3629"/>
              </a:lnSpc>
            </a:pPr>
            <a:endParaRPr lang="pt-BR" sz="3200" b="1" spc="150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3629"/>
              </a:lnSpc>
            </a:pPr>
            <a:r>
              <a:rPr lang="pt-BR" sz="3200" b="1" spc="15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Atenciosamente,</a:t>
            </a:r>
          </a:p>
          <a:p>
            <a:pPr algn="l">
              <a:lnSpc>
                <a:spcPts val="3629"/>
              </a:lnSpc>
            </a:pPr>
            <a:endParaRPr lang="pt-BR" spc="15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3629"/>
              </a:lnSpc>
            </a:pPr>
            <a:endParaRPr lang="pt-BR" sz="3000" spc="15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0600" y="7720361"/>
            <a:ext cx="5484184" cy="1141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765" b="1" spc="131" dirty="0">
                <a:solidFill>
                  <a:srgbClr val="E6C63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Fabiano Ferreira</a:t>
            </a:r>
          </a:p>
          <a:p>
            <a:pPr algn="l">
              <a:lnSpc>
                <a:spcPts val="3568"/>
              </a:lnSpc>
            </a:pPr>
            <a:r>
              <a:rPr lang="en-US" sz="2548" b="1" spc="89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fabiano@gestaoversus.com.br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2BF1F0D-AE7E-8BD7-1E5C-212535CE133A}"/>
              </a:ext>
            </a:extLst>
          </p:cNvPr>
          <p:cNvGrpSpPr/>
          <p:nvPr/>
        </p:nvGrpSpPr>
        <p:grpSpPr>
          <a:xfrm>
            <a:off x="7168754" y="6988564"/>
            <a:ext cx="5556646" cy="2632364"/>
            <a:chOff x="1028700" y="7107311"/>
            <a:chExt cx="5556646" cy="2632364"/>
          </a:xfrm>
        </p:grpSpPr>
        <p:sp>
          <p:nvSpPr>
            <p:cNvPr id="5" name="Freeform 5"/>
            <p:cNvSpPr/>
            <p:nvPr/>
          </p:nvSpPr>
          <p:spPr>
            <a:xfrm>
              <a:off x="1028700" y="7107311"/>
              <a:ext cx="452263" cy="2632364"/>
            </a:xfrm>
            <a:custGeom>
              <a:avLst/>
              <a:gdLst/>
              <a:ahLst/>
              <a:cxnLst/>
              <a:rect l="l" t="t" r="r" b="b"/>
              <a:pathLst>
                <a:path w="452263" h="2632364">
                  <a:moveTo>
                    <a:pt x="0" y="0"/>
                  </a:moveTo>
                  <a:lnTo>
                    <a:pt x="452263" y="0"/>
                  </a:lnTo>
                  <a:lnTo>
                    <a:pt x="452263" y="2632364"/>
                  </a:lnTo>
                  <a:lnTo>
                    <a:pt x="0" y="2632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394" r="-20700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48450" y="7160055"/>
              <a:ext cx="4447550" cy="456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023"/>
                </a:lnSpc>
              </a:pPr>
              <a:r>
                <a:rPr lang="en-US" sz="2011" spc="70" dirty="0">
                  <a:solidFill>
                    <a:srgbClr val="FFFFFF"/>
                  </a:solidFill>
                  <a:latin typeface="Poppins 1"/>
                  <a:ea typeface="Poppins 1"/>
                  <a:cs typeface="Poppins 1"/>
                  <a:sym typeface="Poppins 1"/>
                </a:rPr>
                <a:t>(71) 9 9642-6565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48450" y="7750538"/>
              <a:ext cx="2364696" cy="36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6"/>
                </a:lnSpc>
              </a:pPr>
              <a:r>
                <a:rPr lang="en-US" sz="2011" b="1" spc="70">
                  <a:solidFill>
                    <a:srgbClr val="FFFFFF"/>
                  </a:solidFill>
                  <a:latin typeface="Poppins 1 Medium"/>
                  <a:ea typeface="Poppins 1 Medium"/>
                  <a:cs typeface="Poppins 1 Medium"/>
                  <a:sym typeface="Poppins 1 Medium"/>
                </a:rPr>
                <a:t>@gestaoversus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8450" y="8230351"/>
              <a:ext cx="3463161" cy="36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6"/>
                </a:lnSpc>
              </a:pPr>
              <a:r>
                <a:rPr lang="en-US" sz="2011" b="1" spc="70">
                  <a:solidFill>
                    <a:srgbClr val="FFFFFF"/>
                  </a:solidFill>
                  <a:latin typeface="Poppins 1 Medium"/>
                  <a:ea typeface="Poppins 1 Medium"/>
                  <a:cs typeface="Poppins 1 Medium"/>
                  <a:sym typeface="Poppins 1 Medium"/>
                </a:rPr>
                <a:t>gestaoversusoficial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8450" y="9201150"/>
              <a:ext cx="4936896" cy="36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6"/>
                </a:lnSpc>
              </a:pPr>
              <a:r>
                <a:rPr lang="en-US" sz="2011" b="1" spc="70" dirty="0">
                  <a:solidFill>
                    <a:srgbClr val="FFFFFF"/>
                  </a:solidFill>
                  <a:latin typeface="Poppins 1 Medium"/>
                  <a:ea typeface="Poppins 1 Medium"/>
                  <a:cs typeface="Poppins 1 Medium"/>
                  <a:sym typeface="Poppins 1 Medium"/>
                </a:rPr>
                <a:t>facebook.com/</a:t>
              </a:r>
              <a:r>
                <a:rPr lang="en-US" sz="2011" b="1" spc="70" dirty="0" err="1">
                  <a:solidFill>
                    <a:srgbClr val="FFFFFF"/>
                  </a:solidFill>
                  <a:latin typeface="Poppins 1 Medium"/>
                  <a:ea typeface="Poppins 1 Medium"/>
                  <a:cs typeface="Poppins 1 Medium"/>
                  <a:sym typeface="Poppins 1 Medium"/>
                </a:rPr>
                <a:t>VersusConsultoria</a:t>
              </a:r>
              <a:endParaRPr lang="en-US" sz="2011" b="1" spc="7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8450" y="8715750"/>
              <a:ext cx="3650796" cy="36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6"/>
                </a:lnSpc>
              </a:pPr>
              <a:r>
                <a:rPr lang="en-US" sz="2011" b="1" spc="70">
                  <a:solidFill>
                    <a:srgbClr val="FFFFFF"/>
                  </a:solidFill>
                  <a:latin typeface="Poppins 1 Medium"/>
                  <a:ea typeface="Poppins 1 Medium"/>
                  <a:cs typeface="Poppins 1 Medium"/>
                  <a:sym typeface="Poppins 1 Medium"/>
                </a:rPr>
                <a:t>www.gestaoversus.com.br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563</Words>
  <Application>Microsoft Office PowerPoint</Application>
  <PresentationFormat>Personalizar</PresentationFormat>
  <Paragraphs>92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Poppins 1 Bold</vt:lpstr>
      <vt:lpstr>Aptos</vt:lpstr>
      <vt:lpstr>Poppins 1</vt:lpstr>
      <vt:lpstr>Poppins 1 Semi-Bold</vt:lpstr>
      <vt:lpstr>Arial</vt:lpstr>
      <vt:lpstr>Calibri</vt:lpstr>
      <vt:lpstr>Poppins 2</vt:lpstr>
      <vt:lpstr>Poppins 1 Medium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Versus Desktop - 5.0</dc:title>
  <dc:creator>Fabiano Ferreira</dc:creator>
  <cp:lastModifiedBy>Fabiano Ferreira</cp:lastModifiedBy>
  <cp:revision>3</cp:revision>
  <dcterms:created xsi:type="dcterms:W3CDTF">2006-08-16T00:00:00Z</dcterms:created>
  <dcterms:modified xsi:type="dcterms:W3CDTF">2026-03-04T21:38:17Z</dcterms:modified>
  <dc:identifier>DAGdZ71uFnM</dc:identifier>
</cp:coreProperties>
</file>