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05653ef694095" /><Relationship Type="http://schemas.openxmlformats.org/officeDocument/2006/relationships/extended-properties" Target="/docProps/app.xml" Id="R230f9bbfa1704124" /><Relationship Type="http://schemas.openxmlformats.org/officeDocument/2006/relationships/officeDocument" Target="/ppt/presentation.xml" Id="R269979dab34644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3a185b8ff43f9"/>
  </p:sldMasterIdLst>
  <p:notesMasterIdLst>
    <p:notesMasterId xmlns:r="http://schemas.openxmlformats.org/officeDocument/2006/relationships" r:id="Rcff03ddabeea449e"/>
  </p:notesMasterIdLst>
  <p:sldIdLst>
    <p:sldId xmlns:r="http://schemas.openxmlformats.org/officeDocument/2006/relationships" id="256" r:id="R3237182ec21b4943"/>
    <p:sldId xmlns:r="http://schemas.openxmlformats.org/officeDocument/2006/relationships" id="257" r:id="R3ee5cc4727a642e8"/>
    <p:sldId xmlns:r="http://schemas.openxmlformats.org/officeDocument/2006/relationships" id="258" r:id="R1b476c69830f4f59"/>
    <p:sldId xmlns:r="http://schemas.openxmlformats.org/officeDocument/2006/relationships" id="259" r:id="R12d2f20e54324745"/>
    <p:sldId xmlns:r="http://schemas.openxmlformats.org/officeDocument/2006/relationships" id="260" r:id="R0c9a9c11b9f2435b"/>
    <p:sldId xmlns:r="http://schemas.openxmlformats.org/officeDocument/2006/relationships" id="261" r:id="R268fb05e7a7c47b5"/>
    <p:sldId xmlns:r="http://schemas.openxmlformats.org/officeDocument/2006/relationships" id="262" r:id="R61eeb18225694893"/>
    <p:sldId xmlns:r="http://schemas.openxmlformats.org/officeDocument/2006/relationships" id="263" r:id="R5730e80d01d24651"/>
    <p:sldId xmlns:r="http://schemas.openxmlformats.org/officeDocument/2006/relationships" id="264" r:id="Rf9146ed0d132499a"/>
    <p:sldId xmlns:r="http://schemas.openxmlformats.org/officeDocument/2006/relationships" id="265" r:id="R890d4369cb5744ff"/>
    <p:sldId xmlns:r="http://schemas.openxmlformats.org/officeDocument/2006/relationships" id="266" r:id="Rbd43c9c09fc64d77"/>
    <p:sldId xmlns:r="http://schemas.openxmlformats.org/officeDocument/2006/relationships" id="267" r:id="R01c89a3b586a4af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3a185b8ff43f9" /><Relationship Type="http://schemas.openxmlformats.org/officeDocument/2006/relationships/theme" Target="/ppt/theme/theme1.xml" Id="R3064e71b793a461f" /><Relationship Type="http://schemas.openxmlformats.org/officeDocument/2006/relationships/notesMaster" Target="/ppt/notesMasters/notesMaster1.xml" Id="Rcff03ddabeea449e" /><Relationship Type="http://schemas.openxmlformats.org/officeDocument/2006/relationships/presProps" Target="/ppt/presProps.xml" Id="R22c119f3a5dc4f75" /><Relationship Type="http://schemas.openxmlformats.org/officeDocument/2006/relationships/viewProps" Target="/ppt/viewProps.xml" Id="R8bc4b1fd5ea743a1" /><Relationship Type="http://schemas.openxmlformats.org/officeDocument/2006/relationships/tableStyles" Target="/ppt/tableStyles.xml" Id="R59c463dc20494547" /><Relationship Type="http://schemas.openxmlformats.org/officeDocument/2006/relationships/slide" Target="/ppt/slides/slide1.xml" Id="R3237182ec21b4943" /><Relationship Type="http://schemas.openxmlformats.org/officeDocument/2006/relationships/slide" Target="/ppt/slides/slide2.xml" Id="R3ee5cc4727a642e8" /><Relationship Type="http://schemas.openxmlformats.org/officeDocument/2006/relationships/slide" Target="/ppt/slides/slide3.xml" Id="R1b476c69830f4f59" /><Relationship Type="http://schemas.openxmlformats.org/officeDocument/2006/relationships/slide" Target="/ppt/slides/slide4.xml" Id="R12d2f20e54324745" /><Relationship Type="http://schemas.openxmlformats.org/officeDocument/2006/relationships/slide" Target="/ppt/slides/slide5.xml" Id="R0c9a9c11b9f2435b" /><Relationship Type="http://schemas.openxmlformats.org/officeDocument/2006/relationships/slide" Target="/ppt/slides/slide6.xml" Id="R268fb05e7a7c47b5" /><Relationship Type="http://schemas.openxmlformats.org/officeDocument/2006/relationships/slide" Target="/ppt/slides/slide7.xml" Id="R61eeb18225694893" /><Relationship Type="http://schemas.openxmlformats.org/officeDocument/2006/relationships/slide" Target="/ppt/slides/slide8.xml" Id="R5730e80d01d24651" /><Relationship Type="http://schemas.openxmlformats.org/officeDocument/2006/relationships/slide" Target="/ppt/slides/slide9.xml" Id="Rf9146ed0d132499a" /><Relationship Type="http://schemas.openxmlformats.org/officeDocument/2006/relationships/slide" Target="/ppt/slides/slide10.xml" Id="R890d4369cb5744ff" /><Relationship Type="http://schemas.openxmlformats.org/officeDocument/2006/relationships/slide" Target="/ppt/slides/slide11.xml" Id="Rbd43c9c09fc64d77" /><Relationship Type="http://schemas.openxmlformats.org/officeDocument/2006/relationships/slide" Target="/ppt/slides/slide12.xml" Id="R01c89a3b586a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6ac200e0f9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79753cfd64272" /><Relationship Type="http://schemas.openxmlformats.org/officeDocument/2006/relationships/notesMaster" Target="/ppt/notesMasters/notesMaster1.xml" Id="R4aa0f75cdfb2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ca1f69912e48b0" /><Relationship Type="http://schemas.openxmlformats.org/officeDocument/2006/relationships/notesMaster" Target="/ppt/notesMasters/notesMaster1.xml" Id="R4cfb8a53b2a748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e6c2c11b44a78" /><Relationship Type="http://schemas.openxmlformats.org/officeDocument/2006/relationships/notesMaster" Target="/ppt/notesMasters/notesMaster1.xml" Id="Rf23763e840634d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e76128e544cd9" /><Relationship Type="http://schemas.openxmlformats.org/officeDocument/2006/relationships/notesMaster" Target="/ppt/notesMasters/notesMaster1.xml" Id="Ref292a61381248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c8d005e3b4944" /><Relationship Type="http://schemas.openxmlformats.org/officeDocument/2006/relationships/notesMaster" Target="/ppt/notesMasters/notesMaster1.xml" Id="R6e78ac0bcf984a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6245a632b34473" /><Relationship Type="http://schemas.openxmlformats.org/officeDocument/2006/relationships/notesMaster" Target="/ppt/notesMasters/notesMaster1.xml" Id="R64ba3b9932d44e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8f40a90ff4cdf" /><Relationship Type="http://schemas.openxmlformats.org/officeDocument/2006/relationships/notesMaster" Target="/ppt/notesMasters/notesMaster1.xml" Id="R5a296bc552f443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357b11767c47d6" /><Relationship Type="http://schemas.openxmlformats.org/officeDocument/2006/relationships/notesMaster" Target="/ppt/notesMasters/notesMaster1.xml" Id="R329780f9ae704d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99c9015a1a4d4b" /><Relationship Type="http://schemas.openxmlformats.org/officeDocument/2006/relationships/notesMaster" Target="/ppt/notesMasters/notesMaster1.xml" Id="R5beadee01a7d45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04d539962145a3" /><Relationship Type="http://schemas.openxmlformats.org/officeDocument/2006/relationships/notesMaster" Target="/ppt/notesMasters/notesMaster1.xml" Id="Rea7cb11ecaf34f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2bd4dd94eb405a" /><Relationship Type="http://schemas.openxmlformats.org/officeDocument/2006/relationships/notesMaster" Target="/ppt/notesMasters/notesMaster1.xml" Id="R3eaa1bd2a93947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f69d76df634961" /><Relationship Type="http://schemas.openxmlformats.org/officeDocument/2006/relationships/notesMaster" Target="/ppt/notesMasters/notesMaster1.xml" Id="Rf69784ecbeb14b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2c2f0a6014ef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7e1c67aa5494b2a" /><Relationship Type="http://schemas.openxmlformats.org/officeDocument/2006/relationships/slideLayout" Target="/ppt/slideLayouts/slideLayout2.xml" Id="Rc5ada8a6b75c41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ada8a6b75c41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3927e0d3a4838" /><Relationship Type="http://schemas.openxmlformats.org/officeDocument/2006/relationships/notesSlide" Target="/ppt/notesSlides/notesSlide1.xml" Id="R12ee7e105e0047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372ebf41a4b88" /><Relationship Type="http://schemas.openxmlformats.org/officeDocument/2006/relationships/notesSlide" Target="/ppt/notesSlides/notesSlide2.xml" Id="R7a51c1fe2888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577dd84b6646fa" /><Relationship Type="http://schemas.openxmlformats.org/officeDocument/2006/relationships/notesSlide" Target="/ppt/notesSlides/notesSlide3.xml" Id="R44b68cbcdc86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b3d321c2a4de3" /><Relationship Type="http://schemas.openxmlformats.org/officeDocument/2006/relationships/notesSlide" Target="/ppt/notesSlides/notesSlide4.xml" Id="Ra9e036938951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6f18031ad34ec4" /><Relationship Type="http://schemas.openxmlformats.org/officeDocument/2006/relationships/notesSlide" Target="/ppt/notesSlides/notesSlide5.xml" Id="R950e64762fd7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d124c2e7546aa" /><Relationship Type="http://schemas.openxmlformats.org/officeDocument/2006/relationships/notesSlide" Target="/ppt/notesSlides/notesSlide6.xml" Id="R328a0dd03d1f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55a68d8024a33" /><Relationship Type="http://schemas.openxmlformats.org/officeDocument/2006/relationships/notesSlide" Target="/ppt/notesSlides/notesSlide7.xml" Id="Raffd1b8dafad4f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cf9e931cf945c6" /><Relationship Type="http://schemas.openxmlformats.org/officeDocument/2006/relationships/notesSlide" Target="/ppt/notesSlides/notesSlide8.xml" Id="R834a9884bd604c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f90a0e7a2b4ced" /><Relationship Type="http://schemas.openxmlformats.org/officeDocument/2006/relationships/notesSlide" Target="/ppt/notesSlides/notesSlide9.xml" Id="R4a4c4c622e2b4e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b0e0c1d58b4694" /><Relationship Type="http://schemas.openxmlformats.org/officeDocument/2006/relationships/notesSlide" Target="/ppt/notesSlides/notesSlide10.xml" Id="Rb925289ea659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4d2a116b5411b" /><Relationship Type="http://schemas.openxmlformats.org/officeDocument/2006/relationships/notesSlide" Target="/ppt/notesSlides/notesSlide11.xml" Id="R50c10002eb1b41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4c1179e0ae4b0a" /><Relationship Type="http://schemas.openxmlformats.org/officeDocument/2006/relationships/notesSlide" Target="/ppt/notesSlides/notesSlide12.xml" Id="R774f9550ff6a4f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871DD-F2BF-451F-8305-F05C7D56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331FF-791E-453C-BCF7-1C13C6B3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533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8041-DF0D-441C-95BD-EEDA414F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5B3F6-9B49-48B1-A8F1-FBAA5A7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296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 para investidores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52E8B-2EEE-4BC8-B06B-28D702A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047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Planejamento revisado, leitura investidor e interpretação mensal/anual coerente após o ramp-up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FD045-355C-43E1-B00C-6AC477BF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8560"/>
            <a:ext cx="10756106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16274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40D4C-B66C-4D8E-8F2E-302FF29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03060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Mensagem-chave: a operação foi desenhada com 06 produtos, mas a modelagem atual considera apenas 03. Isso torna a tese financeira conservadora e preserva upside relevante.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80F21-F7BA-40C2-9D8A-7162ADA5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781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F89BF-DE33-4EF8-8DE2-9A1C81F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3068C-120D-4595-BED3-E16BBA9E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7810"/>
            <a:ext cx="3619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4B5B2-C852-49AF-BEEF-5CA80D7E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86400"/>
            <a:ext cx="331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R$ 11,0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D03D8-8559-4B03-BFD4-B614E38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781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C6924-CC2B-4E17-A861-376E58C2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 revisado: ~11 meses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E34DC-2AC3-49FE-8DF7-F68ECCF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Versão v6 | planejamento revisado | números mensais e anualizados pós-ramp-up | maio/2026</a:t>
            </a:r>
          </a:p>
        </p:txBody>
      </p:sp>
    </p:spTree>
    <p:extLst>
      <p:ext uri="{BB962C8B-B14F-4D97-AF65-F5344CB8AC3E}">
        <p14:creationId xmlns:p14="http://schemas.microsoft.com/office/powerpoint/2010/main" val="418782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69A00-6697-4BA7-8DF4-62EA3382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0F9E2-6DE7-4A65-B7B3-55797D42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E01CF-AD15-409D-87CA-821A3A26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1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do núcleo societário, valores e objetivos financeiros presentes no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859D2-366A-49AA-B469-3882E733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D2C9-13CF-49EB-B112-DFED3B40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Sócios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A5536-2039-4C73-98F0-4DC80E8F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 sócios mapeados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CE11E-5722-4E64-936C-17E467C4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0E037-0FEA-43BF-B2B9-21755BB7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D2629-5A7C-489B-A54C-CF03C7AF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4972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CEO César Lisboa na condução estratégica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92342-CC79-484A-904B-5F58BD6A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2A3F8-9386-4748-9C2B-69D4FBC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DBBD8-9168-4E3A-BD0B-3B13E7E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DEB16-3A14-43FA-947D-BAC14143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56A20-292F-4A77-8EC1-0263D399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42104-82D6-473A-9486-FADAACA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55762-FB05-4B5B-95E2-3721D2B2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0A637-7B4F-4D16-80DE-FA0C844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26627-D385-4E18-925B-38F00FF5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301EF-A5BB-4B16-8D56-C6257F5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466E1-A77B-46AE-B944-65B3C52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do investidor no fluxo revisado: entre mai/2027 e jun/2027.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626E2-A2B3-4032-82EB-70524B2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5C49B-CED6-490E-AB29-620EFAAC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293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3329151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5DEE4-E2B7-4BF9-8C9B-3C05A20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9EBD3-742B-48A3-986D-D0D12EE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63E4C-1DB8-4BBA-8D43-59608517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72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03941-B2FA-40E9-AECC-D09A0AF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6E432-82FD-4CD2-970F-EDB06BC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81703-3D21-48A3-86E5-AB867C6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FDBFF-2C7E-4174-AA55-4C186D22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64B2D-8EDA-4CD8-A9AB-FC250507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831E2-23D8-4903-AC72-67F93F1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A5EF6-1EB2-4B29-A2B3-6B098D8F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C17D9-A9CF-4D32-92C6-F62C00C7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23222-E96D-4C24-A18B-EB2B540D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EB672-100B-414E-AB2E-036DBFE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FF29F-07B8-4115-9F2F-550FA492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7FD93-E899-4F0B-9E5D-C65646B3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C7BEA-DA5E-43DC-8CFE-6F2DD00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0CFA0-9F0E-4D97-B901-190540A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B07C1-D7C8-4BA2-ACDE-D578CE53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E7168-D480-4E52-AE99-F7CDCC37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0BD6C-0401-4F54-9D89-AFA4FA69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58E1C-3EA4-41E0-8487-9E12630C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74159-877C-472A-AE82-8DF733D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54A65-910F-4C9D-A27C-97A70827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0CEDF-BB1A-4A7B-84EB-11ADD13D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40682-8535-436F-B4D7-9417E38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E4B3D-B6F6-4A96-A6CD-9FF8A996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77749-9994-4496-90A7-4077C987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F0CB9-E8A3-4589-89A0-623CA9A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A05CD-5C29-4FAC-90D7-B3491BA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0386B-77B3-490A-938D-5A1956F5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8283EA-7BB7-411F-9EA5-3A57036C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CE321-DED2-4618-B53E-89C76629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AE9699-98C7-457C-A163-1FC0A6A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59CD5-021D-45B2-AD8C-D5E736F6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BECD15-3D41-4417-A2C9-40076784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Modelado sem rampa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1F968D-8E0C-4F6E-BC3D-1B3F06E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033DD-2283-4FAD-B92B-E4A873D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D6D8F-53A2-46A6-A80D-A73E963B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4AE34D-031E-4EA3-8DB8-62EDB0A1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R$ 40.000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A423B-23A0-4840-83FB-F3C93E1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612DDA-0F13-463A-BAF6-B9FCDC4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35,3%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13BB1E-8298-4A3E-880F-308D540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CED5BA-1987-4851-B095-352C329A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R$ 14.120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4FB068-8559-40D0-9F61-35EA2CA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5C955F-8AAB-4FAE-9D5F-A8F2F47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DC348D-D9A1-4E60-908B-833BBF7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7758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5F7C71-2139-45CE-994E-D82258F6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B1D7A-71F2-404C-995E-2BA4487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917758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ABB847-6F02-4B69-89F3-2771A20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95CFB5-419E-44E3-B9CF-7D35D50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917758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292F81-D20A-4A5F-A611-8A98B6C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191AB4-45A1-4710-BF7D-2CE3CE1B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917758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A13611-26DD-490C-9341-C7723AD7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BBA123-DA56-4F5C-A500-DD554A6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917758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E23A18-FA34-4CF4-A4CF-D52CFC5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292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70,0%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F5D6CE-DD52-4234-ADCA-CC06BA2A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917758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BE04A8-433A-4BD3-8CD1-971474A6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R$ 1.120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3CDFE0-1AA7-409C-9193-35A9376A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917758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3D583A-829E-4019-8CCB-E139F47F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029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R$ 4.480.000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FFE423-60DA-4DD2-BB49-9A23C45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8254E1-7BA5-46E2-B7F8-646115DC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mensal pós-ramp-up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8432F9-B581-4F02-B29D-39661D3B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R$ 30.400.000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0BEB3D-E024-4A0A-8FB5-90D6D82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AA80B5-8697-4893-B1F3-9DA0C989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MC mensal do plano revisado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94D6DE-5BEB-40E1-BF67-42E66DC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R$ 12.500.800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3F49FE-5E62-4008-A193-49B761FF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B623DD-FE25-443E-A54C-311F06D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ativados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D96966-2776-4B43-BFEB-34E44DAE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8BA5C8-01C1-4EC3-B23C-CA462DB7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64930"/>
            <a:ext cx="17106900" cy="807720"/>
          </a:xfrm>
          <a:prstGeom xmlns:a="http://schemas.openxmlformats.org/drawingml/2006/main" prst="roundRect">
            <a:avLst>
              <a:gd name="adj" fmla="val 21226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2D154A-3955-4101-B539-FF6427E3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249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Leitura de investidores: no planejamento revisado, a rampa financeira efetiva está concentrada em kit e software. A instalação segue modelada, mas zerada na rampa, o que reforça a leitura conservadora.</a:t>
            </a:r>
          </a:p>
        </p:txBody>
      </p:sp>
    </p:spTree>
    <p:extLst>
      <p:ext uri="{BB962C8B-B14F-4D97-AF65-F5344CB8AC3E}">
        <p14:creationId xmlns:p14="http://schemas.microsoft.com/office/powerpoint/2010/main" val="10040351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9673C-A22B-4833-A247-02377B05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763EC-9D21-4B23-8A66-5EB6B812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A2730-E433-46F3-9DAB-44A31D95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8058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Itens previstos no portfólio, mas ainda fora da modelagem de receita e margem do plano atual.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8A558-3833-44DE-A53E-CFC3039F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CEEA9-923C-42DE-A6A8-3D8A021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4F177-62D6-4E81-8164-FA26F47B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DB7A6-1999-49EF-95EB-C66635F4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B8399-E526-46C5-A38B-1D4E59D6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03807-46B3-4BF3-94F1-10F5CA8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DE9E7-B7C5-4A8A-9F28-72A0BF6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1FA8C-252C-47D8-8C68-8823A2D1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01BEC-628C-4D48-93E1-6551DC61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F88A2-884F-49CA-8AE4-911DE9A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B8FFA-E712-4CAA-A53F-8D756CE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A5964-C9AA-48F6-9C07-9EDA0B06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F407B-470E-42F5-A379-F5F50FD0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43446-294D-45B9-9270-209D904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56F20-95A4-4B85-B594-830660C7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BC7E6-3CB9-413B-99B3-E9722BA2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38E8E-8913-4BB3-8283-CCC3739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4E088-286D-4932-956F-6ED13A93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0C538-FD9D-423F-BC90-967C4613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258EC-3FBD-45BF-9793-8F3DA336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58290-616A-49FF-BB92-59FA4224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0CBBC-FF03-44FB-A931-7256B9A0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A21C52-1EE5-47A0-896D-6B8AF50B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B4A84-6BCD-40EA-ACA6-F7CAD33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70D9E-5210-445E-8E55-057DD2EB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4AC1C-7CF0-4F4D-8717-D8F6023D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6DF14-33E6-4A52-A137-1E77D8B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61D84-FA64-4E54-AB1E-6C5D6A65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FCC31-3B5F-44BF-A86A-2147BF5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3D87ED-0E53-46F0-BAF3-DA206463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C3367-8DA2-4F04-A0A0-2A156A7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005B8E-1FA5-4EF5-9DFB-BAD4EAD0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496E0-1EB3-464E-9F54-0B6CA4AD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FD185D-5A65-480E-AEED-6687635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54E7AF-4590-454D-933A-8D09087D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6DD64-B068-4FE9-9863-23A3D692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E5C412-C1AC-4703-88B8-4B52114D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5F2D66-D15F-4417-8975-A435A087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73013D-D8D3-4D5A-974A-70B684D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7C2E9-30A1-4B4B-A47E-A633629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6DA810-8965-4EDA-8017-23857E50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CF5343-692E-4CDF-BEDD-EB2C2263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0143B4-34A1-4DC8-88B3-05F63001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7758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B5313D-FF74-493D-B739-A6472FB6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BE566B-7C9F-444C-9F56-A6BA2E70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917758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F3BD76-B082-4DF1-86C0-0200DEBC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1CF783-5C67-4868-9BD3-184D42DF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917758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0FFE93-682F-4A03-AE5C-B5EA8DAC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4800D0-78CC-4D64-8116-72860D45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917758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599F3D-B9A6-4988-A6D5-705728D6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EC6E1B-5DF2-4FDE-8EDA-CD5C96BB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917758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C93FB7-1740-45B3-A2CD-2A1D5AF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292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FD84AF-786C-4823-BCC1-2BA26FD8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917758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58BCD0-CE49-4D37-A4AD-1340E09F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B0D8C8-15C3-4E39-809F-B6C5CB76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917758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1A05F4-0513-4FE3-90DF-1B940ACB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029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C77DB2-5DE6-4BC3-AC10-F0AE9104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8467725" cy="3754755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0AB9B5-0054-485E-8364-38F08102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36A7CC-805B-4FE9-B5EE-C61B5080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EA83F4-12DA-4B59-9A09-634D9CF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D59F19-E00B-4832-856E-8030923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48B0BC-37AB-4966-9F64-9A676F5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017895"/>
            <a:ext cx="8467725" cy="3754755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91EB25-CDD2-40B7-8FF6-56A9198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0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8244E8-520D-4A6A-818A-DBCADA8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91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Esses produtos ainda não entraram na conta.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AD96F7-A7E9-42D3-A893-730D1CBA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9342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63AD48-EC72-404E-BC4D-2A0AF418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2771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4163454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6EF0B5-0662-4D21-A4B8-5503D77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Demanda do mercado / market 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5240E-B4BA-4D2A-A562-0F60EC8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CACE7-154E-4D68-9206-C2BDE06D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3735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 adotada: mercado Brasil com 5.000 kits e 5.000 instalações por mês. Nesta versão, o share foi alinhado à leitura pós-ramp-up do planejamento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15DD2-F6AA-4517-BF4B-AD71752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72DF4-A08B-4124-80DF-30DEF81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mensal Brasil (proxy)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49043-FE6E-4E1D-8DD7-D0FC6FC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R$ 600.000.000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6805D-D5DD-4D15-8DC2-4B89B46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5530-D5DA-4012-B087-A995FD9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total do estudo (60 meses)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35F5-3A2E-43C3-929B-FB6B8D2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R$ 36.000.000.000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4F58D-932E-4142-9B38-F3CF0B8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76EA5-FF9F-46D9-8740-8B1C2B2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Share do plano por receita mensal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A99AE-CB30-4823-B48E-55894CEC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5,1%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08E7C-9084-4ACB-91AA-EC1C579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9085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D300C-C2B1-47C1-9616-C2A7939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Linha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19CFF-254F-402D-9E01-0316DA8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09085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F8503-3878-433C-B0B1-313E13E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Unidades do plano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425DD-3574-485B-8151-022FF8E4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4109085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E227B-B963-4C5C-A521-DB60F916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2910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Mercado Brasil no estudo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41DE5-0533-451C-B5A9-269D54B4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4109085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756D2-E7C1-4E42-96E9-92351FFA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2291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27DAA-8718-47AD-A3E1-4A5D38F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023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D5C94-E437-4028-8FBD-F71672DF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Kits / equipamentos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9FE52-8DD3-4D45-9450-98694922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5133023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113A3-BB1D-45A1-93C7-02C1DDED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300/mês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4B78F-E146-4286-AF5C-37655CCA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5133023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8581C-BEB1-40A5-B7D1-B00F0335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387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5.000/mês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D6A429-5002-4E0E-A82A-11AB950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5133023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2F6B11-7E37-4C6C-B6E9-6E9310F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2387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6,0%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035F5-C6FD-4609-B7DE-3B01AE73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6960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63CC8-BAAA-406B-BBE1-4B65E3B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674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Implantações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BA74F-9BA3-4215-90DE-CA810C9E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6156960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BD654C-9A95-4C42-96FA-A31DF42E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674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0/mês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6F49E-BDF8-4AF0-B709-884DBCA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6156960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B560B-D375-4B97-A1C0-CC9C5DC8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674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5.000/mês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CA0B8D-4B6F-4D89-8B67-2B280B06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6156960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45BA5F-DD02-41A9-949C-A2B2758B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2674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0,0%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27706-E845-4A3B-B27C-1E406AF5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80898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AE9EE5-4D11-40A4-8842-83F9FAAD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96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Software / base 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65834-775C-4E38-A142-7172F459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180898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B89ECA-34C2-4279-AEA6-D2B3A1D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2961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4.000 ativos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5359AD-F683-4580-9085-11EDFBAA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7180898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38B5C6-07B0-40C6-843E-CA8E75B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296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Base ativa não comparável nesta premissa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2C1D44-718E-4B26-A2D6-40C4EF4A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7180898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D574FC-04C4-4C78-B0C4-B58F99E7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72961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C325D8-1535-4088-B238-A66805B8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439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o planejamento revisado foi lido em base mensal pós-ramp-up para kits e instalações; software foi mantido como base ativa separada.</a:t>
            </a:r>
          </a:p>
        </p:txBody>
      </p:sp>
    </p:spTree>
    <p:extLst>
      <p:ext uri="{BB962C8B-B14F-4D97-AF65-F5344CB8AC3E}">
        <p14:creationId xmlns:p14="http://schemas.microsoft.com/office/powerpoint/2010/main" val="1390263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8F177-3670-45E6-8DAB-4A809B6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Estrutura: Comercial, Operacional e Adm-Fin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025F7-2AAA-4431-BA57-87F9931A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1E596-6BA0-448F-8F3C-A775C6DB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96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8AABE-B6FA-49F2-BFE6-D622EFB2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80D94-961C-44DD-A603-0FFEC0D5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89153-C205-4B00-976C-B1B17A19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R$ 723.500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CAC77-2C64-4D4B-A714-17B2892F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7096-0498-4681-84E3-75A9FF86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7039-B6E9-469E-BBE1-5E83DF30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R$ 249.000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6A792-57A7-447F-90B9-9A48EE97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053A6-FE45-4298-8070-9D65970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306A5-F55D-4B4F-BDDD-CDA1301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R$ 2.988.000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092A0-5D7C-4549-B9B3-1CC1F6E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9917A-588B-44C9-9329-3CD788F7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ED4DA-0056-418A-911D-3A83DFA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42652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53EB5-4A43-482D-ACA9-785DAF5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DAE0C-903E-428D-8438-B99239ED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71906-75C1-4620-9B2E-ADACE77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 (rateio)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948B8-A293-4350-91D0-C642D577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42652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24555-9220-46D8-82AA-349B474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815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AEDF3-5261-41FE-8ECE-822FFE30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4CE27-28FB-4A72-9EEE-618B4DE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A8882-69CF-4820-9C01-E8EDE869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1225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60AE9-E6F9-44E2-9A34-14B53D4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44BE57-0A54-44BB-A3F2-B11FEEF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8D0E6-2732-4B9F-B2A5-B949A2C3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R$ 117.083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338DE-EB04-44D7-83FC-0EFF43F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1225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EDD32-6E2D-4A2D-AB78-52440C9B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387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6E3A80-50F7-41F5-9B70-72EDFD3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5FB5E-FC5A-4D92-A446-971C1959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A38A7-045C-473B-8A9D-604B073D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9797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6B606-10E5-4DF4-A8CE-B02B2F48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47A69-E868-4502-AFE4-884700B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345D3F-F72F-403D-AA6E-988D5CC7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R$ 113.983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569C31-831E-4190-A82A-B32FAD0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9797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5E6AA-157C-43F7-B0C5-6CA9E1E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96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3075BF-B3FF-453F-A7D7-546F07A4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80FB64-E05B-41B9-841C-112400A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Adm-Fin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EA9596-BF38-4C89-9A58-F26A0B53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68370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CDFF6D-6CF1-466A-A9F8-25F62635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R$ 52.500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EA7AB4-0ABE-4648-A558-AB16FA43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45E597-686F-4673-9101-BBD93B12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R$ 17.934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4FF129-1B42-47F3-9DA7-9E0DB5F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68370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2F8D93-8212-47E4-9941-75E9CDE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532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50DF75-EA1A-4728-9919-942F96B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29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Premissa de rateio: o custo fixo mensal de R$ 249 mil foi distribuído proporcionalmente aos valores planejados por frente de estrutura.</a:t>
            </a:r>
          </a:p>
        </p:txBody>
      </p:sp>
    </p:spTree>
    <p:extLst>
      <p:ext uri="{BB962C8B-B14F-4D97-AF65-F5344CB8AC3E}">
        <p14:creationId xmlns:p14="http://schemas.microsoft.com/office/powerpoint/2010/main" val="189479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7F1E-4456-4F85-8645-23A99654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Resultado líquido: 20%, 50% e 100% das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02AED-6437-49BB-9E9E-70EC79A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6617E-8F60-4E97-84CE-F192AB6C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123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anualizados, mantendo a mesma base de custo fixo e a mesma estrutura de margem/tributação do planejamento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085C4-CE0E-4624-BF70-CDABAFA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0685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31461-D6AE-4B17-A3E0-4821EF1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C2779-6D64-4153-A7BA-7C610BE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0685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6E6C8-2738-4CF2-963B-D42081E6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0835B-1AD6-40AF-9A30-E881B6BF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167068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A1184-64AF-408B-8E4B-1BD99F8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D9198-952D-4653-8DB0-EBF34065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1670685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57E57-06EC-4412-A6AC-6DCDE964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907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572FF-22AB-450F-94CF-1A79920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167068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14E15-45EC-4F54-BAC4-A4B35AA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790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estimado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99E68-5413-41D7-92F2-A7362332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1748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00237-3B3C-4F3C-A092-3D5F359B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E4A88-2DBF-4C1E-AA68-3887F7D6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1748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B5244-B037-4460-A132-671986DD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R$ 72.960.000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5750C-7365-440D-B993-37DAB8BC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255174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48583-825A-4559-A380-454EE7F1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R$ 30.001.920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47D7E-B227-49CA-BDEF-629B22D4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2551748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93B22-A244-4A0B-B6E8-1A2ACED3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083C8-8999-428F-80E3-E53578BE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255174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7C039-311E-48B5-ACA5-F0878253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6670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R$ 17.018.770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AFC278-BFB6-4168-BCF9-CA0B08B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2810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07EE9-B077-44D9-A1FB-5FD3896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D2D2E9-4910-48E5-9CE7-DEC72CBC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32810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42F7A-C751-482A-8D7C-47ACE1A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R$ 182.400.000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FEDFF-DD34-4FCE-8770-B2EA199D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343281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8BD20-A110-48FA-8847-7BB8D2BE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R$ 75.004.800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5C3DE-24E9-483B-8F98-AF81D24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3432810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32FBA-FEA8-4A48-95AB-16856CE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433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88D6EC-4F02-4654-A31A-2D51ECD4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343281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E5EDBC-9B6A-4841-AE3A-6F881918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43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R$ 45.370.584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D6C09-9BE5-43AE-8D7F-03359D7B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3873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81D41B-83FF-4150-AF8B-84701037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62366A-3499-4949-8719-D27DA65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13873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143D2E-2770-4228-A211-7792825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R$ 364.800.000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FB3F42-DFDE-4B99-99CF-8309A4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431387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803780-FD80-42E6-B186-4B558C0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9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R$ 150.009.600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BD105-DAA1-4B7B-AE7E-89AE942A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4313873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2FAA3-509D-4BCC-871F-6A4B0229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196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EA30BB-EC4A-4F6C-B8B6-A9E9C91A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431387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8DFAC2-469C-4562-9785-A54EC2DD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419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R$ 92.623.608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832047-CBD3-49E1-B540-56BE2605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29F845-7D17-4411-B757-1F1E5956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C75DBC-C452-4509-8533-D08AB90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88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 revisado.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B7EE10-3BCF-43ED-BF26-9BCEA985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anualizado já supera R$ 45,37 milhões.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AB900D-EE3D-45D9-A579-309E88B0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34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anualizado alcança R$ 92,62 milhões.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F7B297-AD39-4712-ACD6-AE3CA8F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2F3EA7-4447-464F-B3DB-5878A60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FF17F8-7312-45D8-BF28-17355EDB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436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 anualizada de R$ 364,8 milhões a partir da base mensal pós-ramp-up.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70474E-047A-4146-AE51-CF52C230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055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anual de R$ 2,988 milhões.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F6FFCD-1C60-4129-B7CC-A40A2CC1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667500"/>
            <a:ext cx="788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e mesma carga tributária efetiva observada no planejamento revisado.</a:t>
            </a:r>
          </a:p>
        </p:txBody>
      </p:sp>
    </p:spTree>
    <p:extLst>
      <p:ext uri="{BB962C8B-B14F-4D97-AF65-F5344CB8AC3E}">
        <p14:creationId xmlns:p14="http://schemas.microsoft.com/office/powerpoint/2010/main" val="5941570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7BE25D-273F-4C60-846F-05A7F94C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Investimento necessário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CC97-D4EA-45CC-B756-C347D579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97C56-C1E4-4349-874F-DF6F047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4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relatório e leitura prática para o investidor.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44BF5-4A12-42DA-8F7F-B4B731C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A5843-D949-43D4-9C61-1F2B216C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 de giro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9B27D-4A67-4113-A3FC-DEAB9E97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R$ 1.500.000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4AB1-AAE3-4124-AD20-0332F53B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459EC-8034-42D3-A286-E75EAAE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 / containers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799D4-2F3E-4DB3-9DA4-7FE729B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1F539-BD68-4EA6-B641-0D7C2D5E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6BBF8-1B37-4758-ADE1-8D23E249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 total do plano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1C3D6-4B30-470F-84CD-5CC9B4D2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R$ 11.000.000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EF356-7C52-4546-9142-055EEFD5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5EC55-32BD-45E6-9694-03D4865C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79D94-C60C-40BD-B8F8-B67670F9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R$ 1,5 milhão.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81619-4B7E-4C14-84D3-F8ED48A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0BCEC-994D-402E-B3D9-7A30CB11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F62DB-C24E-426E-80E5-AD7973F1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150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F5D2A-3CFC-40F4-B23C-EDF2D5BB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Saldo implícito de estrutura/contingência até o aporte total: aproximadamente R$ 680 mil.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CABF6-1053-4302-9CA7-5A44046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D1A99-B9BC-462D-99A2-117247DE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1FB38-56AA-4971-9775-7C6650C9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1F944-A527-4FD9-B39C-879C82EB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522FF-2D5D-4C45-8B1F-5AF20E79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6014387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9832F-5FAC-42DB-8C5A-48BD5743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Premissas financeiras do investidor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4AA15-4B65-4617-B158-220E37B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64C6C-A7D3-4A8A-9B86-6C7214D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do relatório combinadas com o fluxo mensal revisado do investidor, a partir de nov/2026.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9D27A-951B-446A-BFA2-660723F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71DC0-9424-4749-B7E1-2D454E53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1CF65-9008-4786-9931-821BEC4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E7706-A2ED-47ED-B1EF-1E12552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88EC4-D6E1-4B8D-98AD-FB5D662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762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 (assumido)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1CC36-8CE5-4D0B-81B1-54B1891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15% a.a.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6032F-41CB-4953-9295-2F70BBE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B3110-B01B-40E6-999E-3544233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3048F-0AE9-465B-BE33-D4B06888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150,8% a.a.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0795C-E599-4A1A-BB18-622165D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117FF-60E1-461B-8836-E3E674C7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10F9B-6795-492F-9A46-A6316E0E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R$ 10.386.111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C9B87-6414-4C51-BB37-B76E2552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A1442-0ECC-448B-A8CD-3DB48192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4B808-3901-4D2C-8B61-0F90A56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11 meses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EDC63-DE8B-49B4-953E-D124D76A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61985-452B-4858-B199-17D269D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C67A0-D567-4D7F-943F-D119EF94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relatório explicita distribuição de 25% a partir de nov/2026; nesta versão, a métrica foi recalculada com o fluxo mensal revisado do próprio plano.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112C2-33F5-4C6C-9B27-69DB47C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que os 3 produtos a ativar tenham sido considerados no fluxo-base.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24C1B-35F3-4D60-8D65-58DB7B9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15EEF-A1A0-4718-BA9C-E5E2C42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C20E4-EA30-42C9-85EC-43051290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591EF-C383-4236-88E8-51B04795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 anualizada a partir da TIR mensal do fluxo jul/2026 a dez/2027; VPL calculado com custo de oportunidade de 15% a.a. convertido para taxa mensal.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6374C-5085-4E63-BA3C-D2910972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assumido de 15% a.a.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62043-9563-42C0-88B2-E724E32E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626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2224504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F97AE-1949-4B63-934C-AE1ED999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negócio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AAD38-D4DE-4260-A83C-B765461B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4D289-A463-4C85-8247-B691DB90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131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Set/2027 foi tratado como o primeiro mês cheio após o ramp-up; 2028 representa sua equivalência anualizada em 12 meses estáveis.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7EFC2-5B54-4E0E-8E65-0F240FE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DFAAF-B2E6-4E10-BA0A-9A2DFC8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D13BF-7F64-4F6B-8A46-60DE0E8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R$ 30.400.000,0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1B5DB-6637-435A-B02E-C1A2069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R$ 12.500.800,0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88F1E-9133-45D1-B2BB-0B7B1ED2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R$ 249.000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426E5-031A-4C37-A979-82DAA878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R$ 7.718.634,0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FE2B0-DB9F-41DA-BB5E-8166BBB0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46F01-6BD6-4A71-8567-EDED7154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058CE-00CC-4FD3-9D8D-E7822DAD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R$ 364.800.000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E1A52-B500-445C-9924-835BC68A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anual: R$ 150.009.600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69EEA-8330-41E8-AAE7-333F052C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R$ 2.988.000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B5272-11D1-4C15-8B82-23F60D5F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anual: R$ 92.623.608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CC176-FDF0-47B7-8313-16250F70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2045"/>
            <a:ext cx="16611600" cy="4707255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F7E51-A503-4CBD-AC16-1F0508D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41887-92AA-4DFD-846B-665BA687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No planejamento revisado, o mês pós-ramp-up entrega cerca de R$ 7,72 milhões de resultado líquido.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27E92-C246-4ED1-9163-EF5131BA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equivalência anualizada desse mesmo patamar leva o resultado para R$ 92,62 milhões.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FE9E-A5BE-4921-840E-B2CD87AE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Isso reforça a leitura de forte alavancagem após a fase de implantação e ativação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1650924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D7121-538F-48DD-92F8-1C336EC0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10. Fluxo de caixa do investidor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AC9C5-0712-459A-937E-90B05EE2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586FD-ABF1-4FA1-BED4-1FD20554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280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Distribuição do investidor em um mês após o ramp-up e na equivalência anualizada, mantendo 25% de participação sobre o resultado líquido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82491-5980-489E-A192-5A20454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A2444-AD51-4777-9754-CB740E1D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31ED1-2EBB-417F-8040-B33FBC27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93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FABEA-86F0-4875-A28E-67B637A5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37146-3035-416E-9A34-B12A50D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23CA3-04F5-4C50-8CA7-AFAAD9A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EEF73-FF73-4F3D-873A-AEDE524A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93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R$ 1.929.658,5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F2288-2CE8-424A-8CD9-338332F7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9D9A7-FBC6-4994-87BA-55F66F1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A38DF-2F88-4B7A-B3C4-53CA9CB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0519E-E6CC-4D21-82F3-A95FDC01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193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 estimada: R$ 23.155.902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67B25-5029-4F6E-BCB2-20620B2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R$ 1.929.658,5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67F9F-3F25-42DD-9A4E-0225DF4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085"/>
            <a:ext cx="16611600" cy="5149215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2FFA5-E2DB-457B-9A31-BF9E975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21FCE-3BCC-4441-84BB-2545F664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no cenário de 3 produtos modelados.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E89FE-72C6-4E4C-9A97-5C3FCF4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adicional associado aos produtos a ativar funciona como upside opcional, não como condição para a tese-base fechar.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C68E3-7C98-4D7C-B075-FFE069F1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5973686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8B238E-D723-4A74-9D3C-8E60E073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4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2114C-42B3-472B-AB35-F6F05FA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11.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DD160-856C-4440-914A-9CA95E50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36017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fecha com os 3 produtos modelados e ganha potência adicional quando o portfólio de 6 produtos estiver completo.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6F936-D527-4449-87A1-FCCD435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8540"/>
            <a:ext cx="14245685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365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2D961-99B7-4C35-A821-E4F43313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3716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já validada no fluxo revisado, com monetização forte no ramp-up, payback rápido e upside relevante ainda não refletido nos 3 produtos fora da conta.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BDD32-8251-452A-B982-888E28B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0140"/>
            <a:ext cx="371475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60276-B749-43A0-A3FC-0B280D5B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340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AF61B-57F4-44F3-A1B9-63011D44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014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4CFC-1131-4F01-A2E9-2B7C222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A7A07-E4CF-4E0B-B7B0-875D7424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0140"/>
            <a:ext cx="4762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03940-1C56-4BAD-90D6-C294BEC7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B3F1B-8528-4A34-AA1B-350AA69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Base conservadora, não teto de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AC73A-005D-4BF7-BD03-F207F89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E6CEB-B99D-4E3F-B407-598F14AF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Case atrativo para investidor que busca retorno com assimetria positiva.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0F38F-F935-4311-A498-53B8DB9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Versão v6 | planejamento revisado | leitura mensal e anual explicitada no material</a:t>
            </a:r>
          </a:p>
        </p:txBody>
      </p:sp>
    </p:spTree>
    <p:extLst>
      <p:ext uri="{BB962C8B-B14F-4D97-AF65-F5344CB8AC3E}">
        <p14:creationId xmlns:p14="http://schemas.microsoft.com/office/powerpoint/2010/main" val="556600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2026-05-08T15:11:06.5660000Z</dcterms:created>
  <dcterms:modified xsi:type="dcterms:W3CDTF">2026-05-08T15:11:06.5670000Z</dcterms:modified>
</coreProperties>
</file>