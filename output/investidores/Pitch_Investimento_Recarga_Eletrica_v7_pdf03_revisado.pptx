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7c9ae47a8340c1" /><Relationship Type="http://schemas.openxmlformats.org/officeDocument/2006/relationships/extended-properties" Target="/docProps/app.xml" Id="R4cc8752afedc4cc3" /><Relationship Type="http://schemas.openxmlformats.org/officeDocument/2006/relationships/officeDocument" Target="/ppt/presentation.xml" Id="Rd3a7e8372d60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799469c0184022"/>
  </p:sldMasterIdLst>
  <p:notesMasterIdLst>
    <p:notesMasterId xmlns:r="http://schemas.openxmlformats.org/officeDocument/2006/relationships" r:id="R8ab1312edb19402d"/>
  </p:notesMasterIdLst>
  <p:sldIdLst>
    <p:sldId xmlns:r="http://schemas.openxmlformats.org/officeDocument/2006/relationships" id="256" r:id="R0803d7ca342a4f55"/>
    <p:sldId xmlns:r="http://schemas.openxmlformats.org/officeDocument/2006/relationships" id="257" r:id="R20960d0fa3eb45cc"/>
    <p:sldId xmlns:r="http://schemas.openxmlformats.org/officeDocument/2006/relationships" id="258" r:id="Rc529e95a148548df"/>
    <p:sldId xmlns:r="http://schemas.openxmlformats.org/officeDocument/2006/relationships" id="259" r:id="Red571be7a71f4df7"/>
    <p:sldId xmlns:r="http://schemas.openxmlformats.org/officeDocument/2006/relationships" id="260" r:id="R70331441dbae4a13"/>
    <p:sldId xmlns:r="http://schemas.openxmlformats.org/officeDocument/2006/relationships" id="261" r:id="Rc6ff4efb70554ea9"/>
    <p:sldId xmlns:r="http://schemas.openxmlformats.org/officeDocument/2006/relationships" id="262" r:id="Rb2f0ffcda7f4425a"/>
    <p:sldId xmlns:r="http://schemas.openxmlformats.org/officeDocument/2006/relationships" id="263" r:id="R78be9c0b1255487c"/>
    <p:sldId xmlns:r="http://schemas.openxmlformats.org/officeDocument/2006/relationships" id="264" r:id="R30f92f6eb19a41d1"/>
    <p:sldId xmlns:r="http://schemas.openxmlformats.org/officeDocument/2006/relationships" id="265" r:id="Ra2b7ef75e1c747df"/>
    <p:sldId xmlns:r="http://schemas.openxmlformats.org/officeDocument/2006/relationships" id="266" r:id="R95baece806c14b49"/>
    <p:sldId xmlns:r="http://schemas.openxmlformats.org/officeDocument/2006/relationships" id="267" r:id="R6b10423f18cf440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99469c0184022" /><Relationship Type="http://schemas.openxmlformats.org/officeDocument/2006/relationships/theme" Target="/ppt/theme/theme1.xml" Id="R5d89f9fc6a4941b8" /><Relationship Type="http://schemas.openxmlformats.org/officeDocument/2006/relationships/notesMaster" Target="/ppt/notesMasters/notesMaster1.xml" Id="R8ab1312edb19402d" /><Relationship Type="http://schemas.openxmlformats.org/officeDocument/2006/relationships/presProps" Target="/ppt/presProps.xml" Id="R6f0576b85c734990" /><Relationship Type="http://schemas.openxmlformats.org/officeDocument/2006/relationships/viewProps" Target="/ppt/viewProps.xml" Id="Red40ddc772994232" /><Relationship Type="http://schemas.openxmlformats.org/officeDocument/2006/relationships/tableStyles" Target="/ppt/tableStyles.xml" Id="R3c489708bd1a4cef" /><Relationship Type="http://schemas.openxmlformats.org/officeDocument/2006/relationships/slide" Target="/ppt/slides/slide1.xml" Id="R0803d7ca342a4f55" /><Relationship Type="http://schemas.openxmlformats.org/officeDocument/2006/relationships/slide" Target="/ppt/slides/slide2.xml" Id="R20960d0fa3eb45cc" /><Relationship Type="http://schemas.openxmlformats.org/officeDocument/2006/relationships/slide" Target="/ppt/slides/slide3.xml" Id="Rc529e95a148548df" /><Relationship Type="http://schemas.openxmlformats.org/officeDocument/2006/relationships/slide" Target="/ppt/slides/slide4.xml" Id="Red571be7a71f4df7" /><Relationship Type="http://schemas.openxmlformats.org/officeDocument/2006/relationships/slide" Target="/ppt/slides/slide5.xml" Id="R70331441dbae4a13" /><Relationship Type="http://schemas.openxmlformats.org/officeDocument/2006/relationships/slide" Target="/ppt/slides/slide6.xml" Id="Rc6ff4efb70554ea9" /><Relationship Type="http://schemas.openxmlformats.org/officeDocument/2006/relationships/slide" Target="/ppt/slides/slide7.xml" Id="Rb2f0ffcda7f4425a" /><Relationship Type="http://schemas.openxmlformats.org/officeDocument/2006/relationships/slide" Target="/ppt/slides/slide8.xml" Id="R78be9c0b1255487c" /><Relationship Type="http://schemas.openxmlformats.org/officeDocument/2006/relationships/slide" Target="/ppt/slides/slide9.xml" Id="R30f92f6eb19a41d1" /><Relationship Type="http://schemas.openxmlformats.org/officeDocument/2006/relationships/slide" Target="/ppt/slides/slide10.xml" Id="Ra2b7ef75e1c747df" /><Relationship Type="http://schemas.openxmlformats.org/officeDocument/2006/relationships/slide" Target="/ppt/slides/slide11.xml" Id="R95baece806c14b49" /><Relationship Type="http://schemas.openxmlformats.org/officeDocument/2006/relationships/slide" Target="/ppt/slides/slide12.xml" Id="R6b10423f18cf44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601b55f8dad41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613bb5d0e04fbd" /><Relationship Type="http://schemas.openxmlformats.org/officeDocument/2006/relationships/notesMaster" Target="/ppt/notesMasters/notesMaster1.xml" Id="Re8f81fe4fd8146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e9d6e69f7c484a" /><Relationship Type="http://schemas.openxmlformats.org/officeDocument/2006/relationships/notesMaster" Target="/ppt/notesMasters/notesMaster1.xml" Id="R159bf7ef89cd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97cfbab6514caf" /><Relationship Type="http://schemas.openxmlformats.org/officeDocument/2006/relationships/notesMaster" Target="/ppt/notesMasters/notesMaster1.xml" Id="Ra3c4ca48d8cb47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a9749277d64da8" /><Relationship Type="http://schemas.openxmlformats.org/officeDocument/2006/relationships/notesMaster" Target="/ppt/notesMasters/notesMaster1.xml" Id="Rfe42ecbe0a724a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148a10e96244e6" /><Relationship Type="http://schemas.openxmlformats.org/officeDocument/2006/relationships/notesMaster" Target="/ppt/notesMasters/notesMaster1.xml" Id="Rf0e5e66ecea6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0358080ae642c2" /><Relationship Type="http://schemas.openxmlformats.org/officeDocument/2006/relationships/notesMaster" Target="/ppt/notesMasters/notesMaster1.xml" Id="R444a8fecc0b942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dada2a5a154b98" /><Relationship Type="http://schemas.openxmlformats.org/officeDocument/2006/relationships/notesMaster" Target="/ppt/notesMasters/notesMaster1.xml" Id="R1e81a3d458ac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235be174244028" /><Relationship Type="http://schemas.openxmlformats.org/officeDocument/2006/relationships/notesMaster" Target="/ppt/notesMasters/notesMaster1.xml" Id="R58a2b590c24a4f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83f3158ca0486f" /><Relationship Type="http://schemas.openxmlformats.org/officeDocument/2006/relationships/notesMaster" Target="/ppt/notesMasters/notesMaster1.xml" Id="Rdf499a788c8b4c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1f6f0a9f064972" /><Relationship Type="http://schemas.openxmlformats.org/officeDocument/2006/relationships/notesMaster" Target="/ppt/notesMasters/notesMaster1.xml" Id="R580254c6a72648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246fee71b8418f" /><Relationship Type="http://schemas.openxmlformats.org/officeDocument/2006/relationships/notesMaster" Target="/ppt/notesMasters/notesMaster1.xml" Id="R3cc88c74925c43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9f2c3b9f604ea4" /><Relationship Type="http://schemas.openxmlformats.org/officeDocument/2006/relationships/notesMaster" Target="/ppt/notesMasters/notesMaster1.xml" Id="Re706ed4a3a0f41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815458447465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a0733c859cd4eb0" /><Relationship Type="http://schemas.openxmlformats.org/officeDocument/2006/relationships/slideLayout" Target="/ppt/slideLayouts/slideLayout2.xml" Id="Rbd1d541bdf484a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1d541bdf484a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3b42f69e0d4778" /><Relationship Type="http://schemas.openxmlformats.org/officeDocument/2006/relationships/notesSlide" Target="/ppt/notesSlides/notesSlide1.xml" Id="R545139a2724c4d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bfe2139be046bf" /><Relationship Type="http://schemas.openxmlformats.org/officeDocument/2006/relationships/notesSlide" Target="/ppt/notesSlides/notesSlide2.xml" Id="Ra917d5e5593648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1a457960d3445f" /><Relationship Type="http://schemas.openxmlformats.org/officeDocument/2006/relationships/notesSlide" Target="/ppt/notesSlides/notesSlide3.xml" Id="R1d2dd13fe96040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5451d061b43fc" /><Relationship Type="http://schemas.openxmlformats.org/officeDocument/2006/relationships/notesSlide" Target="/ppt/notesSlides/notesSlide4.xml" Id="Ra1a2424799764a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eb0c02e524918" /><Relationship Type="http://schemas.openxmlformats.org/officeDocument/2006/relationships/notesSlide" Target="/ppt/notesSlides/notesSlide5.xml" Id="Ra17400ba629b44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ca47a95d194ac2" /><Relationship Type="http://schemas.openxmlformats.org/officeDocument/2006/relationships/notesSlide" Target="/ppt/notesSlides/notesSlide6.xml" Id="Rf76fca3e198240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0c05284fd54a44" /><Relationship Type="http://schemas.openxmlformats.org/officeDocument/2006/relationships/notesSlide" Target="/ppt/notesSlides/notesSlide7.xml" Id="Re02475e33ab748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385c6a1dff4208" /><Relationship Type="http://schemas.openxmlformats.org/officeDocument/2006/relationships/notesSlide" Target="/ppt/notesSlides/notesSlide8.xml" Id="R6b8ec59c98cf46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c74417964f47fa" /><Relationship Type="http://schemas.openxmlformats.org/officeDocument/2006/relationships/notesSlide" Target="/ppt/notesSlides/notesSlide9.xml" Id="Rf5f9d0ad702f4b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39bd9c409d4faa" /><Relationship Type="http://schemas.openxmlformats.org/officeDocument/2006/relationships/notesSlide" Target="/ppt/notesSlides/notesSlide10.xml" Id="R3cd84c69218141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ac74fe2844f97" /><Relationship Type="http://schemas.openxmlformats.org/officeDocument/2006/relationships/notesSlide" Target="/ppt/notesSlides/notesSlide11.xml" Id="Rd3647566d8c849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3525ca9bee41bb" /><Relationship Type="http://schemas.openxmlformats.org/officeDocument/2006/relationships/notesSlide" Target="/ppt/notesSlides/notesSlide12.xml" Id="R954af206c9f640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EC2C3-DAF5-44DA-8B5F-04F8BF50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422C5-1B97-4BB3-BBE3-C23555C0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533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55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D857E-5FD8-42B7-B6BF-D40768A9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B8A6"/>
                </a:solidFill>
              </a:defRPr>
            </a:pPr>
            <a:r>
              <a:rPr sz="1650" b="1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5AA9F-31FB-4B8E-9AEB-EDFDBFB0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9296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Infraestrutura de recarga elétrica para investidores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D8D74-4ADE-4D42-B183-902409A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0744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Atualização com base no PDF 03, preservando a estrutura e corrigindo a leitura da rampa financeira efetiva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87DD1-3579-4E04-A35B-D3A9EDC8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8560"/>
            <a:ext cx="10756106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16274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E4AA9-C12C-4853-9459-8336CE4C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03060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Mensagem-chave: a operação foi desenhada com 06 produtos, mas a modelagem atual considera apenas 03. Isso torna a tese financeira conservadora e preserva upside relevante.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7905D-F413-48A1-AE69-91AD0DDB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781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27F11-6333-4E2C-AEC0-F0A015F1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Ramp-up até ago/2027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358C8-8A4B-4884-A0AF-B1005F47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37810"/>
            <a:ext cx="3619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B4C3B-C9DC-4695-BC21-F4E6127F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86400"/>
            <a:ext cx="331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Aporte: R$ 11,0 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7E674-BC7E-44CE-8446-91A4620E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37810"/>
            <a:ext cx="4000500" cy="85344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BA26C-EF42-4FE8-A382-F2596BF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86400"/>
            <a:ext cx="3695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Payback: 36m conservador | ~12m otimista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77B85-5A25-4092-8DC7-272748DA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008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Versão v7 | PDF 03 revisado | números mensais e anualizados pós-ramp-up | maio/2026</a:t>
            </a:r>
          </a:p>
        </p:txBody>
      </p:sp>
    </p:spTree>
    <p:extLst>
      <p:ext uri="{BB962C8B-B14F-4D97-AF65-F5344CB8AC3E}">
        <p14:creationId xmlns:p14="http://schemas.microsoft.com/office/powerpoint/2010/main" val="1824562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3220B3-FA2B-4A60-A1DE-83B8CE26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1. 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F1674-0877-4B8C-A750-68CEDF84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CE57D-3CAA-4078-A539-CF504C0D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701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Síntese do núcleo societário, valores e objetivos financeiros presentes no relatório.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544CB-6942-4474-98B7-B4FF30AB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7F42C-A3C6-496A-8810-1401EACC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Sócios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6414E-8020-4364-9B5E-D1CB5731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03 sócios mapeados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A963B-AFFB-434B-85CF-6531A4A4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DEA6F-C9E0-4C32-91BC-70A94AB9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Liderança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BF382-1771-427A-9177-6E06982C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4972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CEO César Lisboa na condução estratégica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B9370-DC91-4920-AC98-7A1D0015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56D4E-6EC0-40A9-B328-38343AA3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DC552-95BD-4D6B-A1A5-A4D2470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098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100% próprio na largada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BAAF3-47D0-49BB-8645-F14626D5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3895"/>
            <a:ext cx="8191500" cy="5145405"/>
          </a:xfrm>
          <a:prstGeom xmlns:a="http://schemas.openxmlformats.org/drawingml/2006/main" prst="roundRect">
            <a:avLst>
              <a:gd name="adj" fmla="val 407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A095D-CE7A-45BB-877A-D7FAEB5A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Valores e diretrizes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205BE-7003-4AE7-AA51-6D19051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Respeito aos valores do negócio e dos sócios.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43F9A-2137-4117-82A9-2D4D10F6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Segurança do investimento e da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834B5-F214-4864-AA4E-5AC7E016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Prioridade ao longo prazo e à execução por etapas.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D9FFD-69DD-44C0-BE4C-E216AB1D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93895"/>
            <a:ext cx="8191500" cy="5145405"/>
          </a:xfrm>
          <a:prstGeom xmlns:a="http://schemas.openxmlformats.org/drawingml/2006/main" prst="roundRect">
            <a:avLst>
              <a:gd name="adj" fmla="val 407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E4B0A-6E4E-4838-9A2A-E597389F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2440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Objetivos financeiros-base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BB18E-4BD1-47A9-B252-CF8B6FD1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8160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Payback conservador de 36 meses, com leitura otimista próxima de 12 meses no fluxo projetado.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F9418-063C-47E1-A214-405701FB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84835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Investimentos acionados conforme evolução de vendas, embora o plano consolide tudo em jul/2026.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4621E-9289-454E-AFFB-F7BA4A4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151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Formação de base recorrente e monetização da infraestrutura instalada.</a:t>
            </a:r>
          </a:p>
        </p:txBody>
      </p:sp>
    </p:spTree>
    <p:extLst>
      <p:ext uri="{BB962C8B-B14F-4D97-AF65-F5344CB8AC3E}">
        <p14:creationId xmlns:p14="http://schemas.microsoft.com/office/powerpoint/2010/main" val="13210998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72219-BCC3-4B52-91CD-13CB843C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2. Produtos ativados: visão detalhada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8A405-5827-4B5C-9436-357D4E38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9853F-FA60-46DE-B39A-6E06028E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725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Detalhamento dos produtos hoje modelados, com quantidade vendida pós-ramp-up, valor unitário e margem de contribuição.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94360-89A1-4039-978A-A8048D0A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5945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9715F-01A5-42BE-BA66-00D2BB60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01A27-02E8-49B2-925C-CB1ABF07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845945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E64DC-3740-4393-848A-7941A76F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C8BDF-F069-4B24-8998-B2E5FDF2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845945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DB9B4-AC17-480F-8DD3-95FAEB9F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6E808-88B1-4192-A841-8B78602B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845945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CDEFA-CF4C-48D1-A988-71246BED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422D1-3F5D-413C-8F71-C22AE8D6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845945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AB06D-2546-4479-B9AB-294D4B25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62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56ECA-9558-477B-8BB2-670C8CC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845945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0E9FD-9743-41E1-8D68-7DFF90A2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6215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20E3C-7EF9-4783-966C-D736CBD5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845945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CAB70-A592-49D2-B27C-1D8653C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62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68F80-EE43-4999-9557-13738D8A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9883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A047C-0A4B-4ADF-9430-50FEAA96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Kit / equipamento principal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7FCE1-BAD7-4687-9C4C-AED2C9F6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869883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D9C17-0BAA-4C2A-B9B8-FAEE02D0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908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78B46-D27B-4A71-9316-B1B31DB4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869883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866B8-B8F5-4A8B-A64A-4A19DB31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D3333-B883-4E3E-82DB-B69C184E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869883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BA064-F155-4AB6-8AB3-CF0FF6C1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R$ 80.000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C58C44-CF8E-4ACB-B722-0B22F84C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869883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B66885-43C6-45F0-A3A4-A57F1FCE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908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33,4%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565519-2486-4AD1-9D09-B5C28A4B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869883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189D2B-B964-4E23-ADDA-0288D7EB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908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R$ 26.736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5ECAC5-9B68-4F99-9C79-B6000AB5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869883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2BC1E7-C1B9-4A14-B9BF-FC5E14DC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9908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R$ 8.020.800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76373-B268-4D4F-A70E-A38AF553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3820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F6A7BA-BD0C-4CB4-8468-43A58D21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Implantação / instalação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F31624-B603-4E69-9B50-FEF0FFA1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893820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EFFBD-D691-4343-AE53-88D38925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Modelado sem rampa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B81C78-BDC4-4DC1-9965-F56B3304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893820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5A8263-244D-4943-9D94-3D32513C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62DA31-C65F-433D-AC84-F13ED17C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893820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931D29-F854-4E21-8D89-508A0CA3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R$ 40.000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CF3271-D43D-4626-8FC5-1533895C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893820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162763-8B38-4D3D-A05B-8483C4EA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005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35,3%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13DB39-1F9A-4DB9-982B-CCEB577E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893820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63BF0E-E2CF-408A-9CA9-D0D6B8BC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R$ 14.120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A893DC-1159-42FA-BA5B-05589793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893820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26EED8-6D21-4696-A615-7AC02B5A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000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F8F9EE-9AD1-498C-B50E-42FBCB76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7758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1A57A7-FF04-43B9-AC8D-F9A4C74E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Software de gestão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E1A5F5-2211-4AF3-98C3-659F5CF0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917758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F0637E-9570-491A-8C8E-A8ED9177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292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4AC87B-9B89-45FF-A884-0DCC12E9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917758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9ECF34-F74B-4F09-AAA7-137010D4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4000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4BAB6F-9748-495B-A086-4A001B28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917758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1595C2-FB82-4659-9C95-051744B4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292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R$ 1.600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43AF36-F60C-484D-A956-2D9514BE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917758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1B8D2B-52DF-4D0E-B13B-DF2691C6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292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75,8%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034250-61B2-4771-B7D8-D846C240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917758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5A948C-C5A3-44C2-A289-9D0097E0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292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R$ 1.212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49FDDE-39C8-47FD-8C55-63265D9F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917758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8D5C14-1255-4B49-BC1C-B1975872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50292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R$ 4.848.000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834DDC-4750-4CE9-9B40-F1CC32F3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7895"/>
            <a:ext cx="5588000" cy="2775585"/>
          </a:xfrm>
          <a:prstGeom xmlns:a="http://schemas.openxmlformats.org/drawingml/2006/main" prst="roundRect">
            <a:avLst>
              <a:gd name="adj" fmla="val 755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DB65D0-4B98-4BB6-8909-804C6FA4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Faturamento mensal pós-ramp-up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1A2CA9-52FD-4CB7-9ED7-AA05F18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R$ 30.400.000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8BBA97-611B-4AA4-BEF4-4B855DD3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6017895"/>
            <a:ext cx="5588000" cy="2775585"/>
          </a:xfrm>
          <a:prstGeom xmlns:a="http://schemas.openxmlformats.org/drawingml/2006/main" prst="roundRect">
            <a:avLst>
              <a:gd name="adj" fmla="val 755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159E3B-DB37-4982-AA62-E2139608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MC mensal do plano revisado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8E187E-FCCF-41AE-A429-21F4D8FA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R$ 12.868.800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CC5359-2E11-48FA-911F-7C0D5C38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6017895"/>
            <a:ext cx="5588000" cy="2775585"/>
          </a:xfrm>
          <a:prstGeom xmlns:a="http://schemas.openxmlformats.org/drawingml/2006/main" prst="roundRect">
            <a:avLst>
              <a:gd name="adj" fmla="val 755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A40CC5-2D23-49C0-B4CF-E859B73F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Produtos com rampa efetiva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47B8D1-AA66-405B-9606-E21FA34C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10EE8D-8B30-4D9A-8ABE-4414D0E8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64930"/>
            <a:ext cx="17106900" cy="807720"/>
          </a:xfrm>
          <a:prstGeom xmlns:a="http://schemas.openxmlformats.org/drawingml/2006/main" prst="roundRect">
            <a:avLst>
              <a:gd name="adj" fmla="val 21226"/>
            </a:avLst>
          </a:prstGeom>
          <a:solidFill xmlns:a="http://schemas.openxmlformats.org/drawingml/2006/main">
            <a:srgbClr val="ECFDF5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5FA01E-E365-401D-A5FD-45EC22B8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249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5F46"/>
                </a:solidFill>
              </a:defRPr>
            </a:pPr>
            <a:r>
              <a:rPr sz="1650" b="1">
                <a:solidFill>
                  <a:srgbClr val="065F46"/>
                </a:solidFill>
              </a:rPr>
              <a:t>Leitura de investidores: no PDF 03, a rampa financeira efetiva está concentrada em 02 produtos — kit e software. A instalação permanece economicamente modelada, porém sem volume e sem receita na rampa.</a:t>
            </a:r>
          </a:p>
        </p:txBody>
      </p:sp>
    </p:spTree>
    <p:extLst>
      <p:ext uri="{BB962C8B-B14F-4D97-AF65-F5344CB8AC3E}">
        <p14:creationId xmlns:p14="http://schemas.microsoft.com/office/powerpoint/2010/main" val="13787003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8E7A2-0141-4710-8344-4D55FCF6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Produtos a ativar: espaço de upside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3B064-C3EB-4FA5-9673-E8BDDBF6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1B4C6-4F86-4735-8A42-3293CA11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8058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Itens previstos no portfólio, mas ainda fora da modelagem de receita e margem do plano atual.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A3505-6DA3-4DFA-A092-33EC923D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5945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DF627-CEBE-40F7-BE76-BB6CF941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F9F54-5531-4923-B034-2C8E8D2B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845945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CE883-6D3B-48D7-91E3-CD4D8A0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6FA95-15E3-44FE-9C14-085D84CE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845945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0D857-D9F3-4C04-ACF9-D00E97E0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13A3E-45D3-42AD-94DA-3CA1B85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845945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9E30A-D402-4C0F-8393-324E95E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79EAC-B18A-4A62-A5B5-39661F06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845945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90DF4-07DF-4A7A-B82F-83964419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62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FDC10-098C-4472-BD83-2D9DB6ED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845945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1370F-B3DD-4EA5-80E1-69F601A8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6215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AC1F5-4AFB-4558-9987-DCF650F2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845945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3C39A-7920-48AF-A261-134F5375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62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7E03E-4658-4F58-AE29-42C5F46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9883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5733F-DBD7-4281-90AF-19BBE15F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Estudo de viabilidade / assessoria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451A6-697D-46C5-AF4A-BC2BCD72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869883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D1298-3DDD-4EFD-8872-F2A1073D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908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8F4E5-7E8F-490D-B961-07C35547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869883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2AAA7-89CB-47C0-A326-B26EAE25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DCCC1-3DBD-4494-B28C-E363DC18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869883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69B82-BA96-418C-A0FF-E69F5931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4576B-4492-48A8-89E0-5B78D2EB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869883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21CF90-0E3C-4D5C-9392-7B3E5E8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908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31791-9B11-4C5C-899C-0D4673F5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869883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DF886-DEA2-44E3-8570-021CE5FF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908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47D3CA-36E6-4CC2-837B-A86B3F44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869883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8F65F1-75F4-4463-8F2D-3DE2B5A1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9908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DC828B-3112-46C3-A580-870F2984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3820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850C73-0EFB-4848-A199-3BA4AF89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Peças e upgrades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0E3F29-C982-4857-A225-29DF947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893820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2207A8-5AE2-4102-A13A-8FD21DBF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D53D32-476C-4DCE-A48A-7BF32642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893820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D66142-8339-4390-A0DD-258D5B03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4AC56F-A83A-4DF6-8CC1-20683668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893820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CC71D2-C73E-41C5-A0F1-CE149DCC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716781-7637-4FD5-9977-490CB513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893820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39BE9A-237B-4E00-A588-44F7D04A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005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7BC5F7-0630-4E9A-9A2F-036A6DAC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893820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C423A9-A9D6-4DEB-B4A6-6DAC66D8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D2465A-2C1C-4A46-8147-039A419F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893820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5386B6-8E23-40D5-B50A-D00361F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000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EF0A59-FBB0-40FA-89C9-A4F7F394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7758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A7AECD-EDD5-4210-8DBC-05AD3938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Manutenção especializada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7826AF-7306-49C1-A346-66CFA3C6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917758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4BEDAC-2503-4013-829F-5E6D6813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292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5D2B08-5673-487A-AD69-74B718B2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917758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A3DFF4-CEF6-4F71-A913-2BB9172D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DA7279-CE8F-464B-8296-1DAF12E2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917758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8EDEA2-5472-4350-B3C2-EEDDAE83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292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994B2B-D7C2-4296-B973-96227467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917758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AA70DB-E367-4C4D-8EC4-AE58CD3F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292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D0C664-D805-41D8-BA2F-F3263D73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917758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F9804F-9D27-49E7-B64E-4DC0CF2B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292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7DBB6C-75C1-47E9-B305-9AA4D4EF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917758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B45D44-70A1-4B65-B5F7-D4B2E483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50292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1F02AE-4C4E-48F1-AAFE-DD7CDC9D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7895"/>
            <a:ext cx="8467725" cy="3754755"/>
          </a:xfrm>
          <a:prstGeom xmlns:a="http://schemas.openxmlformats.org/drawingml/2006/main" prst="roundRect">
            <a:avLst>
              <a:gd name="adj" fmla="val 507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C5534E-D4F7-4067-98F0-F4F9119A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O que esses produtos podem adicionar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C212EC-1F17-44A6-874F-3E806D13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Mais recorrência e maior captura de valor por cliente.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0E9698-C228-4DFC-8044-607B191E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342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Elevação de ticket médio e extensão do ciclo de monetização.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9449EB-2C61-476A-A5C6-61FFA296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771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Redução de dependência exclusiva do hardware e implantação.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F65DBC-6039-4BC0-81C8-F65BF093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017895"/>
            <a:ext cx="8467725" cy="3754755"/>
          </a:xfrm>
          <a:prstGeom xmlns:a="http://schemas.openxmlformats.org/drawingml/2006/main" prst="roundRect">
            <a:avLst>
              <a:gd name="adj" fmla="val 507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ADDD4E-CB3E-4B73-800E-F3C780B8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103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Mensagem para investidores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D1F71A-1E60-4A94-9BDA-034213E9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913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Esses produtos ainda não entraram na conta.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CC5664-45A9-4286-B4DC-398C0B22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9342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Portanto, o resultado atual é conservador.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5CC60E-E617-4A55-9E9F-4AE07161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2771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O upside está na ativação organizada desse segundo bloco do portfólio.</a:t>
            </a:r>
          </a:p>
        </p:txBody>
      </p:sp>
    </p:spTree>
    <p:extLst>
      <p:ext uri="{BB962C8B-B14F-4D97-AF65-F5344CB8AC3E}">
        <p14:creationId xmlns:p14="http://schemas.microsoft.com/office/powerpoint/2010/main" val="17446678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F20236-DFD3-4000-A7F4-749D545D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Demanda do mercado / market share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B7261-3BED-47B5-A6AE-A79053A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67D6C-08DD-41AF-9490-94B296ED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3735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 adotada: mercado Brasil com 5.000 kits e 5.000 instalações por mês. Nesta versão, o share foi alinhado à leitura pós-ramp-up do planejamento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90121-5A7B-4782-9A7A-829590CC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D8574-7FFE-44AC-AC1F-0C44E338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mensal Brasil (proxy)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A70E0-B3E5-40FE-B03C-87EF192F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R$ 600.000.000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176A3-E454-4ACA-881F-CCBCD9FC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CAF8A-18AD-41C0-AEDC-6885498E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total do estudo (60 meses)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D2C2D-2A07-4C62-91C1-1EDF4948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R$ 36.000.000.000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0FDE5-B970-4175-A417-1D6EEE06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308EF-ECBD-4B87-AE60-59A4AE28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Share do plano por receita mensal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9FE45-A63D-4DA0-A436-FB1189D2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5,1%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534A2-46C0-45A3-B18C-F1AED273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9085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9E380-C812-4355-BEC6-A541F6C7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Linha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C7139-0C78-4C66-9CB3-782B39CE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109085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B0FD1-5939-49F7-8A0F-197E0408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Unidades do plano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B2E45-A37D-4D95-B956-D61ED606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4109085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F85F5-2B57-450E-97A8-7BE7AF2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2910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Mercado Brasil no estudo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BA7BD-F477-453B-A5F7-27142E1C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4109085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5363C-08B3-4EA9-B23B-7FAAF8B7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22910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Share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712BF-728F-4D93-A075-E938D1E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023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F9322-B907-4FB0-8B40-2C9C75E6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Kits / equipamentos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72133-4538-4942-8F9A-4CD082E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5133023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2383A-0691-4C5D-BC62-92E4A6F7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300/mês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12C62C-FE0C-4095-8377-2CC33E16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5133023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DA32F-7A00-47E1-AA5A-2EF0B662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387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5.000/mês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991AB-D7EE-447E-A0E0-6C4E5932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5133023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94709-E845-40B8-8135-57EB46EE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2387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6,0%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8A8F90-B93A-418F-BA4E-2CFC7C11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6960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52150D-26F3-404A-BE09-5E0E7D75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674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Implantações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C5DE5-4388-4939-9BFD-93BDFD9C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6156960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F5ECCC-CC76-44BB-A86D-74EC1CF9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674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0/mês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ACE17C-9DCE-4352-A2DB-B24D413B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6156960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8C4767-E5C2-4FE7-BBA5-4F313661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2674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5.000/mês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C73BB7-12BA-4ADF-A76C-DFD21767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6156960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B57E65-8265-4251-8537-C8AEAEAF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2674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0,0%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20B8E3-7694-4E4F-B495-FA623005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80898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FE4408-F299-47EA-AC4C-7EE63A33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96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Software / base ativa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C5CF89-7312-41D0-814F-A5489EE6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7180898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751A92-6E73-4C1A-93B8-EB6EE61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2961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4.000 ativos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258D27-13C8-46E6-A6DC-DEA1902D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7180898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D42AF5-AA92-4940-8CB6-1CB5F517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296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Base ativa não comparável nesta premissa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0F7974-956D-4DB7-9D9B-BD7EBB2E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7180898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36BF74-7ED4-4648-8441-64F629D5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72961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8BB2D8-96C0-4C28-9D96-78FACF7F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439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Nota: o planejamento revisado foi lido em base mensal pós-ramp-up para kits e instalações; software foi mantido como base ativa separada.</a:t>
            </a:r>
          </a:p>
        </p:txBody>
      </p:sp>
    </p:spTree>
    <p:extLst>
      <p:ext uri="{BB962C8B-B14F-4D97-AF65-F5344CB8AC3E}">
        <p14:creationId xmlns:p14="http://schemas.microsoft.com/office/powerpoint/2010/main" val="4859697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64BEB-52C6-47E1-B4E4-F92545EC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5. Estrutura: Comercial, Operacional e Adm-Fin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95C09-E25F-4093-9DF5-121DB6A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3921F-A0DE-4D16-933E-C3ED7087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829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Custos de estrutura resumidos a partir das frentes planejadas e do total mensal de custos/despesas fixas do PDF 03.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F23EB-EE92-4A04-890F-C1F83FC3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357A2-FCD6-429C-8633-D7FD7C0F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Setup total das frentes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33AC6-18EF-4A24-8165-03EE273A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R$ 773.500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6D988-58A5-4A75-9A24-CD849BB4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09E2A-D0BA-44DA-B379-1D62E117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mensal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64C20-270A-4B77-9017-3C4A10D1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R$ 311.500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01F99-C489-4319-8D8E-730C6799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6399F-D4AA-4BA6-A5C9-6068B94A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320AD-7C5B-4BC8-AF08-23C58B2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R$ 3.738.000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A0B01-833F-4B5D-9CE3-BA00E0CA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06AA8-AED8-4EBC-B2B7-DF6218F8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A3C81-2604-462B-8064-CA8C7DDD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42652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FA837-DECE-4352-970B-518453A0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74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de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F9231-B64E-4B12-9E00-3F294726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7692D-8139-41AF-AF2E-0210D004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 (rateio)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E2D5B-1CDF-4658-964E-2C118E53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42652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31021-DAAC-40E2-BB15-34C0AE8C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3815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Leitura resumida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EB09B-1ABE-498D-9A32-53570BEA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6294E-2181-415C-9E24-20C59873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Comercial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4CE94-35AD-4685-B365-8BA7868D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1225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819BF5-C179-45E7-A527-094A66D2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R$ 340.000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119819-056E-49AD-A284-00E46FA4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76F7F-D167-4F6F-96F0-49A107F1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R$ 136.923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52B4D7-702A-471D-A638-74C0320C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1225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7C3378-B3EA-428A-8BAA-4FEAD19B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387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Prospecção, vendas e ativação de receita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BAE22-CF6E-4D60-9FA1-D7E2A0B0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8902F8-0A63-423B-A4F8-017251BA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Operacional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EC2C05-269E-470F-B12F-CC6836C2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9797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945215-C325-44DD-8449-F5A14E98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R$ 331.000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AB7829-D032-4E61-9573-55813023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70939A-473A-4E6D-ABEE-A242485D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R$ 133.299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4C66B6-9B08-423A-8A49-645AE021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9797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20DCD0-C3D9-47BB-8031-EFECC0F1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0960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Implantação, suporte técnico e entrega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E6D9EB-9F2C-4456-B81D-3CB658B9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DC10B3-6152-47BC-8C84-6932090D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Adm-Fin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90997A-C968-4E85-A32A-65C21081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68370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0B65A6-A3FD-49CA-9B7A-CC29E821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9532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R$ 102.500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FB35D4-5AAB-47B2-BDE2-DDA64DF7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FDD088-B9D3-4771-B48D-51EDA28C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R$ 41.278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78BBE0-1DFB-43D7-AD07-63459D3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68370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0841EF-91E1-4185-86B6-C4177BDE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9532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Backoffice, gestão financeira e administração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2D47AC-25A2-43B6-9922-88F6246D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29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Premissa de rateio: o custo fixo mensal de R$ 311,5 mil foi distribuído proporcionalmente aos valores planejados por frente de estrutura.</a:t>
            </a:r>
          </a:p>
        </p:txBody>
      </p:sp>
    </p:spTree>
    <p:extLst>
      <p:ext uri="{BB962C8B-B14F-4D97-AF65-F5344CB8AC3E}">
        <p14:creationId xmlns:p14="http://schemas.microsoft.com/office/powerpoint/2010/main" val="6293380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28425-880E-49E7-A7E7-BF683546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Resultado líquido: 20%, 50% e 100% das vendas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29C39-72C1-4F18-977B-BF3E6BFF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858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0DE7B-A70C-49D6-9105-BC2DD26D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123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Cenários anualizados, mantendo a mesma base de custo fixo e a mesma estrutura de margem/tributação do planejamento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0A90F-D367-4EE9-937E-08E12F6D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0685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2A527-0CDC-4167-9C87-94C958CB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300F1-5179-48BE-A24E-7A104992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70685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6D720-6557-4D93-8C3B-D48CEDA4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Receita 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3AD9B-B2BD-4AD5-8736-BB3177B2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167068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9B649-B31D-47B5-8314-8B4106D4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Margem de contribuição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5BE93-6552-4AE9-82A3-A7C28A08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1670685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E7CE6-C402-42E7-9124-777C21F7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907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CD544-97A6-4253-A6A0-BD9EE63B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167068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35B94-9BFE-4610-8913-B33599F0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17907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Resultado líquido estimado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7B74C-83F1-4CA7-A22B-83622A7F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1748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BF814-EAF6-4059-B4C2-46203F8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20% das vendas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DAE50-BFE8-4BAA-A94F-5EC2C5F5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1748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DAC26-7329-4179-9F06-5A2AD2E2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R$ 72.960.000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007A8-E206-4D20-9467-A7E6706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255174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58445-077F-4A7F-BF7F-C3DCC48C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R$ 30.885.120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5F43C-52BF-4661-AC71-34A45A1F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2551748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CE284-854C-4BAE-BD07-CA689787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R$ 3.738.000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2BEE5-5129-46ED-AABE-1DB75E49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255174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9575F-B6C1-44CC-BCA8-8D240285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6670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R$ 17.102.686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B3913-A380-4DFC-9B76-A7C39775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2810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53344-C549-4425-8C1D-FEE6C6CA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50% das vendas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3A9DD-F480-43B6-B49D-B13EE55C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32810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80E1B-B587-4C77-A4E8-2A1DD60E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R$ 182.400.000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07AA8-4369-4177-82E2-DEAFEA60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343281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5DB641-A622-439F-966F-197AC63B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R$ 77.212.800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3C9D21-4EE0-4EBD-BEE2-77A0B3E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3432810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236CB-B5B2-413B-A80D-932016CD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5433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R$ 3.738.000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269877-273E-4E05-9652-94BC3176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343281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1E64AD-756E-4500-B58D-067A7DC4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43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R$ 46.289.124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08DD5B-A18A-4D1F-AEA8-C232DDEF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3873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1D1CA2-FCA5-40C4-8FB1-1145258A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100% das vendas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DA0491-8E9E-4084-A716-A5C56E57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13873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2F7C26-C62B-4903-B4A7-6642FD67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R$ 364.800.000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51E8D7-6A3B-42D5-B59E-089EB912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431387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F6C605-F165-4C69-B7EA-A9AC3017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196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R$ 154.425.600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F9FAB1-1A73-4EEC-A0FB-F23BDA97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4313873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2633CB-24FC-4229-BEA2-FB462717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196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R$ 3.738.000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3BAC0A-912D-4A91-8DE9-C3B4655E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431387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72CE04-4600-42B3-9FCF-B02312C6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4196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R$ 94.933.188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45A161-C882-4E72-A763-63288E24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9235"/>
            <a:ext cx="8296275" cy="4425315"/>
          </a:xfrm>
          <a:prstGeom xmlns:a="http://schemas.openxmlformats.org/drawingml/2006/main" prst="roundRect">
            <a:avLst>
              <a:gd name="adj" fmla="val 473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4300B7-1EE7-4929-BA8F-02DEF127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E110A4-FFC4-4507-AFA8-C58DA912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88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negócio permanece positivo mesmo em 20% do volume de vendas do plano revisado.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9BF934-236E-4396-AB2A-306AEB37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50% das vendas, o resultado líquido anualizado já supera R$ 45,37 milhões.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2771D5-0C07-43AF-8C91-E45D5AAB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342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100%, o resultado líquido anualizado alcança R$ 92,62 milhões.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521D8A-7398-49EB-B6A9-B6286AD4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309235"/>
            <a:ext cx="8296275" cy="4425315"/>
          </a:xfrm>
          <a:prstGeom xmlns:a="http://schemas.openxmlformats.org/drawingml/2006/main" prst="roundRect">
            <a:avLst>
              <a:gd name="adj" fmla="val 473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65D592-1DD1-45FF-9952-7DCD93FE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245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Premissas do cálculo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E0108F-BA75-4FBC-998F-D2B2F1CE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9436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Receita anualizada de R$ 364,8 milhões a partir da base mensal pós-ramp-up.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42B4B3-334C-4F07-91DB-CF17911A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055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Custo fixo anual de R$ 3,738 milhões.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9EFD06-FDDA-488D-8ACB-95904DFB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6675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Mesma relação de margem e mesma carga tributária efetiva observada no PDF 03.</a:t>
            </a:r>
          </a:p>
        </p:txBody>
      </p:sp>
    </p:spTree>
    <p:extLst>
      <p:ext uri="{BB962C8B-B14F-4D97-AF65-F5344CB8AC3E}">
        <p14:creationId xmlns:p14="http://schemas.microsoft.com/office/powerpoint/2010/main" val="328136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9F2A7B-FD68-4F56-9450-590B2738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7. Investimento necessário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54B6A-0A70-4860-A3AD-274A2EA9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A2290-8AB0-4F32-9869-25F5D66C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6915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Composição do investimento segundo o PDF 03 e leitura prática para o investidor.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604F-35F8-4B0D-BB10-1008FDAB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DA239-7581-47C8-921D-EC62814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 de giro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346CA-0958-4858-99FD-21C8B217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R$ 1.900.000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C1942-9DC2-42CF-9D43-9082C1A6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6E74-92EF-49E9-A09D-28D92520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Estoques / containers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4CE0C-470C-4251-85CA-B1179854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R$ 8.820.000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4F486-F52F-4830-93EE-7FF0D010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AE490-3E1E-4666-92F5-0B4DE709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Investimento total do plano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24D05-54DB-4CE3-AF58-C634CBBB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R$ 11.500.000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25F0A-1BFE-41C0-901E-D57773EA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05A9C-26A0-48D0-8686-1CE04A7C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Detalhamento do investimento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A5698-6CA9-4851-BCF2-6644317B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6 meses de custos e despesas fixas: R$ 1,9 milhão.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FE3F7-E1D6-4A60-A096-89C54A96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de 36 unidades: R$ 1,764 milhão.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12914-B5AB-4AEC-BCC1-4238B5A4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3 containers de 36 unidades: R$ 5,292 milhões.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A3AF0-C0D8-4078-B6B2-F091069E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150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adicional de 36 unidades: R$ 1,764 milhão.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67813-8048-4C9D-B744-35465318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Saldo implícito de estrutura/infra/complementos até o aporte total: aproximadamente R$ 780 mil.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DA004-2B54-47F4-B29E-41D82CC7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49530-1A00-4CF9-B8B9-8511B4A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executiva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FE79D-4712-463A-8902-9AE55F1A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investimento é majoritariamente direcionado a estoque e capacidade de entrega.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E8A56-033D-47FB-998D-49C519A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capital de giro reduz risco de execução no ramp-up.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A6B45-9137-46D5-8D29-8481CE9E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plano nasce sem dependência de alavancagem financeira externa na largada.</a:t>
            </a:r>
          </a:p>
        </p:txBody>
      </p:sp>
    </p:spTree>
    <p:extLst>
      <p:ext uri="{BB962C8B-B14F-4D97-AF65-F5344CB8AC3E}">
        <p14:creationId xmlns:p14="http://schemas.microsoft.com/office/powerpoint/2010/main" val="12550522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AB5676-43E9-44C4-B5DB-9816697A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8. Premissas financeiras do investidor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10517-CF83-408F-A753-D7348359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F5CCE-AD3C-47C3-A1DE-656FCA9E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Premissas do PDF 03 combinadas com o fluxo mensal revisado do investidor, a partir de nov/2026.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E0BF7-4923-4332-B1F4-EB3F2E3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BCB82-C791-43B4-9D5E-0A1BF3C5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Distribuição ao investidor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449EE-E59C-4529-B652-F14DB139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5D218-3C6F-400B-8910-7378668E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A1FBD-955C-4C12-9189-BF458999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2762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de oportunidade (assumido)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02485-D326-4D0D-AF20-44E0AB4D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15% a.a.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A5EB5-E7A3-491C-BAF1-3BDB0CB9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3EE5A-A6BD-42AF-AE91-8C4BF4C7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TIR estimada*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0709E-8FD4-415F-9011-9C316C56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142,2% a.a.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83D6A-07DF-4558-8E19-BC65CAA2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39805-BCA4-4BF3-B573-32E3FD9C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VPL estimado*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192BB-7B83-49D8-B7A4-E3DC64AE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R$ 10.273.739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F6F9E-6471-40F0-B210-9F765CC1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DAC73-7305-4847-BED5-B74A5981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Payback do investidor*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4F911-C62C-4AD9-A141-5017057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~10,2 meses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1A3F0-FA00-4870-9FE3-C2BA243B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9585"/>
            <a:ext cx="8201025" cy="5339715"/>
          </a:xfrm>
          <a:prstGeom xmlns:a="http://schemas.openxmlformats.org/drawingml/2006/main" prst="roundRect">
            <a:avLst>
              <a:gd name="adj" fmla="val 392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3C08E-1A6E-44F2-87DE-F73137FF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das premissas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60CFB-C923-44D3-8F02-052F22CE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PDF 03 explicita distribuição de 25% a partir de nov/2026; nesta versão, a métrica foi recalculada com o fluxo mensal do próprio plano.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571C1-8374-4A2A-BE59-3749FB05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investidor participa do upside sem que os 3 produtos a ativar tenham sido considerados no fluxo-base.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86D1A-3FA4-4C91-92E6-2A3B0369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293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calculado não depende de aumento de preço ou redução de custo fixo.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B2E16-8B09-42B7-81E6-03916260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99585"/>
            <a:ext cx="8201025" cy="5339715"/>
          </a:xfrm>
          <a:prstGeom xmlns:a="http://schemas.openxmlformats.org/drawingml/2006/main" prst="roundRect">
            <a:avLst>
              <a:gd name="adj" fmla="val 392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4D8A0-1C5D-4B2D-992D-DE505509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339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Notas metodológicas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41CEE-AD68-4B01-9F3D-99EFE323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911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TIR anualizada a partir da TIR mensal do fluxo jul/2026 a dez/2027; VPL calculado com custo de oportunidade de 15% a.a. convertido para taxa mensal.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4DBC4-8C3C-4EA2-906C-FB2D8A66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VPL calculado com custo de oportunidade assumido de 15% a.a.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D3CBE-43D6-4BD5-9710-F8B91ACC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626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Os indicadores não incorporam upside dos produtos ainda não ativados.</a:t>
            </a:r>
          </a:p>
        </p:txBody>
      </p:sp>
    </p:spTree>
    <p:extLst>
      <p:ext uri="{BB962C8B-B14F-4D97-AF65-F5344CB8AC3E}">
        <p14:creationId xmlns:p14="http://schemas.microsoft.com/office/powerpoint/2010/main" val="4804640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EB5F2-DAC4-4CEF-99CE-7380AC49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9. Fluxo de caixa do negócio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E7189-F292-4561-8745-22DDB383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6CA29-756B-478B-8D6E-33911170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1315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Set/2027 foi tratado como o primeiro mês cheio após o ramp-up; 2028 representa sua equivalência anualizada em 12 meses estáveis.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1FB73-887D-48EB-997D-36B5092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54AAB-E90D-4DB9-BCA7-D7DA0B77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 (1 mês após o ramp-up)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717AD-1CC5-4426-A878-92694692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Receita: R$ 30.400.000,0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1BD5B-DAE2-4E7F-8E36-9D7AA5D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contribuição: R$ 12.868.800,0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5F440-8F20-4F9E-8045-398710D9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fixo: R$ 311.500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937C2-2CB9-4611-BC06-FC0DEA0A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estimado: R$ 7.911.099,0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72A71-9B31-4E5C-A745-355B9E04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644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B63E5-2439-4724-9F70-C5732CB5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 (jan-dez)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5647C-8127-460D-BE87-9DBB32B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86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 anual: R$ 364.800.000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13121-85AF-419C-93A7-A47C4898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 anualizada: R$ 154.425.600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19E15-F968-4375-B9F8-87DB49D4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48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 anual: R$ 3.738.000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9B6A4-FC40-408B-86C7-3380F8A6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anualizado: R$ 94.933.188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3B033-158B-4533-9F8D-DDD0948E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2045"/>
            <a:ext cx="16611600" cy="4707255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B8B70-7AAE-47D7-9D7D-C95E4C52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complementar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78B93-7BD4-45CC-B070-F827AA3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No planejamento revisado, o mês pós-ramp-up entrega cerca de R$ 7,72 milhões de resultado líquido.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0C17F-5C98-44D9-8D8C-46DDBAF0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817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equivalência anualizada desse mesmo patamar leva o resultado para R$ 92,62 milhões.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7059E-A417-4B98-9079-87A53ED4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246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Isso reforça a leitura de forte alavancagem após a fase de implantação e ativação comercial.</a:t>
            </a:r>
          </a:p>
        </p:txBody>
      </p:sp>
    </p:spTree>
    <p:extLst>
      <p:ext uri="{BB962C8B-B14F-4D97-AF65-F5344CB8AC3E}">
        <p14:creationId xmlns:p14="http://schemas.microsoft.com/office/powerpoint/2010/main" val="4703993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730D32-AFB2-4A1F-AE05-FE5F7076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10. Fluxo de caixa do investidor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17751-1CBB-43F9-A7EA-6C3C3B9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C7899-8950-4823-ABD7-4634F990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280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Distribuição do investidor em um mês após o ramp-up e na equivalência anualizada, mantendo 25% de participação sobre o resultado líquido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793A3-72EB-4C2B-A3FA-EB0D5466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26D1A-57FE-46DA-9301-4C2765D6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Aporte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0A430-E4DC-4F8A-BB1E-79C5EB8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93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R$ 11.000.000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CFB04-8D25-448D-A500-22C50F13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Momento-base: jul/2026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32E94-C594-4E30-9B91-D1561846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04655-3719-4DC7-AA38-62354D95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78571-52F8-45F8-B55B-4B80CB6C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933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mensal estimada: R$ 1.977.774,8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CA41B-A92F-4A3C-A894-7E59723C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1 mês após o fim do ramp-up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9E635-A616-4F13-BDAF-E9797A59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BD88B-A2B1-4640-BC2B-ED3930C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2B9A5-B808-46DD-AFB6-C8161315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193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anualizada: R$ 23.733.297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9F146-ABC6-47FB-BDC2-F71B96AF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575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Média mensal: R$ 1.977.774,8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56718-83F3-400D-9DEF-EEE3EE09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0085"/>
            <a:ext cx="16611600" cy="5149215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F4206-B77A-41F6-9428-0481A6FB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B43B1-42D0-4ED6-976D-5148C365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remuneração do investidor acontece com base em um fluxo já viável no cenário de 3 produtos modelados.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1FD16-9130-4020-B225-D1A245DF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adicional associado aos produtos a ativar funciona como upside opcional, não como condição para a tese-base fechar.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6E2EB-E22C-4B44-91DE-3AD1D6E3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Esse desenho melhora a assimetria risco-retorno da oportunidade.</a:t>
            </a:r>
          </a:p>
        </p:txBody>
      </p:sp>
    </p:spTree>
    <p:extLst>
      <p:ext uri="{BB962C8B-B14F-4D97-AF65-F5344CB8AC3E}">
        <p14:creationId xmlns:p14="http://schemas.microsoft.com/office/powerpoint/2010/main" val="8164468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559A1-C435-47B5-AEE0-4597D1E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4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6385B-1E54-4FE3-AC79-02505E3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11. 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34547-7672-4ED6-BF2E-47A8637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36017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tese fecha com os 3 produtos modelados e ganha potência adicional quando o portfólio de 6 produtos estiver completo.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71DEF-FF2D-45A2-86B9-DC4B94F3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8540"/>
            <a:ext cx="13850588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365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0D2CA-136F-4F5A-B2F5-E5A4185E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13315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2E8F0"/>
                </a:solidFill>
              </a:defRPr>
            </a:pPr>
            <a:r>
              <a:rPr sz="2250" b="0">
                <a:solidFill>
                  <a:srgbClr val="E2E8F0"/>
                </a:solidFill>
              </a:rPr>
              <a:t>O investidor entra em uma operação com 06 produtos no desenho, 03 linhas econômicas modeladas e 02 produtos capturando a rampa efetiva. Isso mantém a tese conservadora e deixa upside fora da conta.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02E3C-D74D-434C-831D-C1C5F4C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0140"/>
            <a:ext cx="371475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C79DE-CF74-4222-BA61-4B84BF99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340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Mercado com tendência estrutural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F456D-3578-4117-B899-8F6A279A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3014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0C9AF-D5E7-4E7F-B4C5-A802EFEF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Modelo com recorrência e margem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02630-A373-4BFB-8143-18F5F076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0140"/>
            <a:ext cx="4762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99ECE-641D-4A56-9CCC-9F411AE3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8635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Upside fora da conta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39DF6-3D73-48B6-8C78-4B64A51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Base conservadora, não teto de resultado.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2B673-BC36-4177-984D-9EF47C1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Execução bem-sucedida pode ativar novas avenidas de faturamento.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E4013-DF49-4885-8604-F5738B7B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Case atrativo para investidor que busca retorno com assimetria positiva.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2FA53-6369-446F-BBC9-69BC6686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Versão v7 | PDF 03 revisado | leitura mensal e anual explicitada no material</a:t>
            </a:r>
          </a:p>
        </p:txBody>
      </p:sp>
    </p:spTree>
    <p:extLst>
      <p:ext uri="{BB962C8B-B14F-4D97-AF65-F5344CB8AC3E}">
        <p14:creationId xmlns:p14="http://schemas.microsoft.com/office/powerpoint/2010/main" val="1478238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2026-05-08T15:24:20.0890000Z</dcterms:created>
  <dcterms:modified xsi:type="dcterms:W3CDTF">2026-05-08T15:24:20.0890000Z</dcterms:modified>
</coreProperties>
</file>