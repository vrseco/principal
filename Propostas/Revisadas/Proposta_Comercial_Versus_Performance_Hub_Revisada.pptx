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69d19dbef348c0" /><Relationship Type="http://schemas.openxmlformats.org/officeDocument/2006/relationships/extended-properties" Target="/docProps/app.xml" Id="R0e3527af95aa4616" /><Relationship Type="http://schemas.openxmlformats.org/officeDocument/2006/relationships/officeDocument" Target="/ppt/presentation.xml" Id="R92888c6e68be46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01c2232ccd4c75"/>
  </p:sldMasterIdLst>
  <p:notesMasterIdLst>
    <p:notesMasterId xmlns:r="http://schemas.openxmlformats.org/officeDocument/2006/relationships" r:id="R11cda24948124104"/>
  </p:notesMasterIdLst>
  <p:sldIdLst>
    <p:sldId xmlns:r="http://schemas.openxmlformats.org/officeDocument/2006/relationships" id="256" r:id="Rf4a765ee2b5b447d"/>
    <p:sldId xmlns:r="http://schemas.openxmlformats.org/officeDocument/2006/relationships" id="257" r:id="Re4d0efd0163b42fa"/>
    <p:sldId xmlns:r="http://schemas.openxmlformats.org/officeDocument/2006/relationships" id="258" r:id="R27dad3ab426843ed"/>
    <p:sldId xmlns:r="http://schemas.openxmlformats.org/officeDocument/2006/relationships" id="259" r:id="R8fe0f751f938431e"/>
    <p:sldId xmlns:r="http://schemas.openxmlformats.org/officeDocument/2006/relationships" id="260" r:id="Rfbbd7dc162404c6c"/>
    <p:sldId xmlns:r="http://schemas.openxmlformats.org/officeDocument/2006/relationships" id="261" r:id="R350f4a795b354778"/>
    <p:sldId xmlns:r="http://schemas.openxmlformats.org/officeDocument/2006/relationships" id="262" r:id="R29d623edf80945c4"/>
    <p:sldId xmlns:r="http://schemas.openxmlformats.org/officeDocument/2006/relationships" id="263" r:id="Red8e074506a34fd7"/>
    <p:sldId xmlns:r="http://schemas.openxmlformats.org/officeDocument/2006/relationships" id="264" r:id="R92c30bdf32ac407c"/>
    <p:sldId xmlns:r="http://schemas.openxmlformats.org/officeDocument/2006/relationships" id="265" r:id="Rfe665350d11c490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1c2232ccd4c75" /><Relationship Type="http://schemas.openxmlformats.org/officeDocument/2006/relationships/theme" Target="/ppt/theme/theme1.xml" Id="Rbd9ad9e32f964395" /><Relationship Type="http://schemas.openxmlformats.org/officeDocument/2006/relationships/notesMaster" Target="/ppt/notesMasters/notesMaster1.xml" Id="R11cda24948124104" /><Relationship Type="http://schemas.openxmlformats.org/officeDocument/2006/relationships/presProps" Target="/ppt/presProps.xml" Id="R007734d0d3914115" /><Relationship Type="http://schemas.openxmlformats.org/officeDocument/2006/relationships/viewProps" Target="/ppt/viewProps.xml" Id="Ra8cf3af8b6f44c34" /><Relationship Type="http://schemas.openxmlformats.org/officeDocument/2006/relationships/tableStyles" Target="/ppt/tableStyles.xml" Id="R2203b5ee02404a65" /><Relationship Type="http://schemas.openxmlformats.org/officeDocument/2006/relationships/slide" Target="/ppt/slides/slide1.xml" Id="Rf4a765ee2b5b447d" /><Relationship Type="http://schemas.openxmlformats.org/officeDocument/2006/relationships/slide" Target="/ppt/slides/slide2.xml" Id="Re4d0efd0163b42fa" /><Relationship Type="http://schemas.openxmlformats.org/officeDocument/2006/relationships/slide" Target="/ppt/slides/slide3.xml" Id="R27dad3ab426843ed" /><Relationship Type="http://schemas.openxmlformats.org/officeDocument/2006/relationships/slide" Target="/ppt/slides/slide4.xml" Id="R8fe0f751f938431e" /><Relationship Type="http://schemas.openxmlformats.org/officeDocument/2006/relationships/slide" Target="/ppt/slides/slide5.xml" Id="Rfbbd7dc162404c6c" /><Relationship Type="http://schemas.openxmlformats.org/officeDocument/2006/relationships/slide" Target="/ppt/slides/slide6.xml" Id="R350f4a795b354778" /><Relationship Type="http://schemas.openxmlformats.org/officeDocument/2006/relationships/slide" Target="/ppt/slides/slide7.xml" Id="R29d623edf80945c4" /><Relationship Type="http://schemas.openxmlformats.org/officeDocument/2006/relationships/slide" Target="/ppt/slides/slide8.xml" Id="Red8e074506a34fd7" /><Relationship Type="http://schemas.openxmlformats.org/officeDocument/2006/relationships/slide" Target="/ppt/slides/slide9.xml" Id="R92c30bdf32ac407c" /><Relationship Type="http://schemas.openxmlformats.org/officeDocument/2006/relationships/slide" Target="/ppt/slides/slide10.xml" Id="Rfe665350d11c49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4bc3a5078d4c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d12181cbc4dc0" /><Relationship Type="http://schemas.openxmlformats.org/officeDocument/2006/relationships/notesMaster" Target="/ppt/notesMasters/notesMaster1.xml" Id="R4e8d6e0b2caf46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7c9b3948474dbb" /><Relationship Type="http://schemas.openxmlformats.org/officeDocument/2006/relationships/notesMaster" Target="/ppt/notesMasters/notesMaster1.xml" Id="R5abc899700a043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219ce432ec4e0c" /><Relationship Type="http://schemas.openxmlformats.org/officeDocument/2006/relationships/notesMaster" Target="/ppt/notesMasters/notesMaster1.xml" Id="Rcc0fde02f7f843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27af655001445d" /><Relationship Type="http://schemas.openxmlformats.org/officeDocument/2006/relationships/notesMaster" Target="/ppt/notesMasters/notesMaster1.xml" Id="Rd85da2dc8d6d4b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8aec2d0b2642bf" /><Relationship Type="http://schemas.openxmlformats.org/officeDocument/2006/relationships/notesMaster" Target="/ppt/notesMasters/notesMaster1.xml" Id="R0f98ae7769dd4a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f6ed35efa44910" /><Relationship Type="http://schemas.openxmlformats.org/officeDocument/2006/relationships/notesMaster" Target="/ppt/notesMasters/notesMaster1.xml" Id="Rb4d3c46432bf4e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477b8fcdbb4950" /><Relationship Type="http://schemas.openxmlformats.org/officeDocument/2006/relationships/notesMaster" Target="/ppt/notesMasters/notesMaster1.xml" Id="R66fbba44db7e4a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f98ccad5184c0a" /><Relationship Type="http://schemas.openxmlformats.org/officeDocument/2006/relationships/notesMaster" Target="/ppt/notesMasters/notesMaster1.xml" Id="R0fbc5768c2ff4b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216ffdf6434d01" /><Relationship Type="http://schemas.openxmlformats.org/officeDocument/2006/relationships/notesMaster" Target="/ppt/notesMasters/notesMaster1.xml" Id="R3841eba3dcb64f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f2e055b1c0496f" /><Relationship Type="http://schemas.openxmlformats.org/officeDocument/2006/relationships/notesMaster" Target="/ppt/notesMasters/notesMaster1.xml" Id="R6b203ed279f84a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3e415c05042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47290952c43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616e9631e44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6dbae6af549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310f27c8341f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549f7da6f4b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4c8d3c915466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2685ee55c455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9eec59697460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ca325ffa84b6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252cc0b8a2483c" /></Relationships>
</file>

<file path=ppt/slideLayouts/slideLayout2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B13C7E-83E2-4B71-AFF8-0BBD428FA09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A6A121-AE32-4A83-A986-FFD3313FA954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9DD6E65-89D5-4620-9F3B-44D4CB060451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0A1A331-5EBA-459B-95E0-D0F68BA1670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51FB243-3C2A-41B0-9AF7-388CCCD3C32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A0DB394-EFD8-4FC5-8E7D-9D57D6467B9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3D7231-0E24-4C01-8441-8D9509BBA85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83406E-B1BD-479A-8215-85658528FC15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581B84-53D8-4D12-B981-4A00C625412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D3E439-701E-4380-A6C5-933D467A4AD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CED650-1A26-4C4E-BD30-601076F3655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559CD99-3106-4B50-8F6A-38E85359D50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CE48BA2-4D04-4E5F-9F42-66D8D18E177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6C34A2A-88CD-409D-B7F9-793C694BE5C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2122D0-1AD7-488C-9E52-FC031E25A34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80DFB3-CD1B-45B8-80CC-72D3EAD067F2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B03971-A795-40BB-88CC-67C7A118142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F67D44-E09E-4EB2-A4CF-CE1C782A0A5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6B1668-6440-4EC5-BBE1-4D130EF6281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D7D159-1745-49DA-A3FD-B398C1AA87CE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95F0B79-9251-4929-95CA-7B8231AB7E3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7A4EFF-9160-46A5-B842-8797F863B86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270C0C-DE04-487E-8EF9-F210B097129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17921E-D47A-4AFF-8FDC-83A551B36F9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B842E9-BB54-44B5-9CCA-9ECA29998A7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020A2E0-1832-4A4B-8DBE-84E098FED39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3D321E2-11A1-4B06-8513-7CA760BC4AB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6F13A92-A440-4B7A-A0D8-2A5098AF16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08B162B-B73B-46DA-B324-059F78891C3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BA1047-69CC-4EDE-838B-0723155C329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E16B26-89C1-49FF-A114-4DB0D6AC850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B2DF6F-85B0-4EA5-A9B8-C644A11E00D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007F8E-E30B-4ED3-834E-39390EA2B86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A41E6C-0319-455C-88B0-A8FB6A29923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F24F7B-F93B-4AD0-A710-F447F689A79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4AC32E2-B6CC-4E5C-B0CD-70198003714D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6EDBD3A-A1AF-4E9D-95BA-027B266E6CE2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839FD4F-CF58-48D6-B519-E2FE2024A9BD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E74A9CE-E4B3-4B92-BE91-5630E919A50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EE89831-09D8-43FD-81D6-4A488002CE4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0AAD56F-4EC4-4F02-85FE-E8E839681DE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349B09-207C-415C-9F1E-B1D9B7CE900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C667479-EAEF-4341-8BF1-F8E0365C3A4A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FF280A-EFC1-4ECA-8F58-2E0101F34BC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4AD15A-F2D1-4701-A914-78F457A155A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CE371A-B18A-4102-85BF-05E25B885F8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8AD932-2E38-44EE-B48D-615672BFAFA2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45D389-CE30-4422-90C1-19877CBAA71C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BE0C793-144E-4154-A3E4-CF4A3C46A86D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D230FC-2BDA-46D8-B7A9-C5D0776D693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2F2641-8A2C-483A-9E52-2143E9CEF34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F1E2686-2689-41A9-81C3-3D36D820A25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5B24D2-33DE-44DC-8A61-846CE65DDF3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C887837-3A42-4FE5-B948-5E625718E4C1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9DF6B9-3E77-47B1-AA93-EA12A9286051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147E0CF-7BB4-4B51-AE8E-9D8884B8EEE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C9AE5D7-B9E9-4013-8E61-E2D006A69CB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16EED22-F393-4E3A-9E07-1880E84B642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9d814418bbe4245" /><Relationship Type="http://schemas.openxmlformats.org/officeDocument/2006/relationships/slideLayout" Target="/ppt/slideLayouts/slideLayout2.xml" Id="R05b86ccbf55b41bd" /><Relationship Type="http://schemas.openxmlformats.org/officeDocument/2006/relationships/slideLayout" Target="/ppt/slideLayouts/slideLayout3.xml" Id="R9d4420dc3d8141d2" /><Relationship Type="http://schemas.openxmlformats.org/officeDocument/2006/relationships/slideLayout" Target="/ppt/slideLayouts/slideLayout4.xml" Id="R6cdfec6512144520" /><Relationship Type="http://schemas.openxmlformats.org/officeDocument/2006/relationships/slideLayout" Target="/ppt/slideLayouts/slideLayout5.xml" Id="Re938793e6da746e6" /><Relationship Type="http://schemas.openxmlformats.org/officeDocument/2006/relationships/slideLayout" Target="/ppt/slideLayouts/slideLayout6.xml" Id="Rfb2733b162844825" /><Relationship Type="http://schemas.openxmlformats.org/officeDocument/2006/relationships/slideLayout" Target="/ppt/slideLayouts/slideLayout7.xml" Id="R9de96c55a3d5434b" /><Relationship Type="http://schemas.openxmlformats.org/officeDocument/2006/relationships/slideLayout" Target="/ppt/slideLayouts/slideLayout8.xml" Id="R4a22a98f02a84d93" /><Relationship Type="http://schemas.openxmlformats.org/officeDocument/2006/relationships/slideLayout" Target="/ppt/slideLayouts/slideLayout9.xml" Id="R96955886f2a54b85" /><Relationship Type="http://schemas.openxmlformats.org/officeDocument/2006/relationships/slideLayout" Target="/ppt/slideLayouts/slideLayout10.xml" Id="R2f2723f7dc224421" /><Relationship Type="http://schemas.openxmlformats.org/officeDocument/2006/relationships/slideLayout" Target="/ppt/slideLayouts/slideLayout11.xml" Id="R21883e59bf66429c" /><Relationship Type="http://schemas.openxmlformats.org/officeDocument/2006/relationships/slideLayout" Target="/ppt/slideLayouts/slideLayout12.xml" Id="Re76cdeed2750482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4F70DCC-C9CD-4022-9211-E8609BF9D41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F92DBC-B028-4214-802D-DACC4E58C2F4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1167B0-BFF7-4C6B-90EC-F8759E68D3B7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35926-672E-4B67-B45A-9C7A9B116521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3D858A-2A2B-4A6B-B49D-01A1C5AC113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b86ccbf55b41bd"/>
    <p:sldLayoutId xmlns:r="http://schemas.openxmlformats.org/officeDocument/2006/relationships" id="2147483650" r:id="R9d4420dc3d8141d2"/>
    <p:sldLayoutId xmlns:r="http://schemas.openxmlformats.org/officeDocument/2006/relationships" id="2147483651" r:id="R6cdfec6512144520"/>
    <p:sldLayoutId xmlns:r="http://schemas.openxmlformats.org/officeDocument/2006/relationships" id="2147483652" r:id="Re938793e6da746e6"/>
    <p:sldLayoutId xmlns:r="http://schemas.openxmlformats.org/officeDocument/2006/relationships" id="2147483653" r:id="Rfb2733b162844825"/>
    <p:sldLayoutId xmlns:r="http://schemas.openxmlformats.org/officeDocument/2006/relationships" id="2147483654" r:id="R9de96c55a3d5434b"/>
    <p:sldLayoutId xmlns:r="http://schemas.openxmlformats.org/officeDocument/2006/relationships" id="2147483655" r:id="R4a22a98f02a84d93"/>
    <p:sldLayoutId xmlns:r="http://schemas.openxmlformats.org/officeDocument/2006/relationships" id="2147483656" r:id="R96955886f2a54b85"/>
    <p:sldLayoutId xmlns:r="http://schemas.openxmlformats.org/officeDocument/2006/relationships" id="2147483657" r:id="R2f2723f7dc224421"/>
    <p:sldLayoutId xmlns:r="http://schemas.openxmlformats.org/officeDocument/2006/relationships" id="2147483658" r:id="R21883e59bf66429c"/>
    <p:sldLayoutId xmlns:r="http://schemas.openxmlformats.org/officeDocument/2006/relationships" id="2147483659" r:id="Re76cdeed27504829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0b8264a59ae4773" /><Relationship Type="http://schemas.openxmlformats.org/officeDocument/2006/relationships/image" Target="/ppt/media/image.png" Id="R12f2c7f66fa14d48" /><Relationship Type="http://schemas.openxmlformats.org/officeDocument/2006/relationships/image" Target="/ppt/media/image2.png" Id="R30f32e5d4fbd440b" /><Relationship Type="http://schemas.openxmlformats.org/officeDocument/2006/relationships/notesSlide" Target="/ppt/notesSlides/notesSlide1.xml" Id="R7b1812f19c4949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326758694d741e1" /><Relationship Type="http://schemas.openxmlformats.org/officeDocument/2006/relationships/image" Target="/ppt/media/image3.png" Id="Rf3fed6c44f404cd0" /><Relationship Type="http://schemas.openxmlformats.org/officeDocument/2006/relationships/image" Target="/ppt/media/image4.png" Id="R6e21996356964a49" /><Relationship Type="http://schemas.openxmlformats.org/officeDocument/2006/relationships/notesSlide" Target="/ppt/notesSlides/notesSlide2.xml" Id="R9fb3f3cb80534d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001c32ea3da4908" /><Relationship Type="http://schemas.openxmlformats.org/officeDocument/2006/relationships/image" Target="/ppt/media/image5.png" Id="Raff9de8b4fd748a4" /><Relationship Type="http://schemas.openxmlformats.org/officeDocument/2006/relationships/image" Target="/ppt/media/image4.png" Id="Rb9838d2ce8284d8b" /><Relationship Type="http://schemas.openxmlformats.org/officeDocument/2006/relationships/notesSlide" Target="/ppt/notesSlides/notesSlide3.xml" Id="R64a0aed389b149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425040c4a4748a8" /><Relationship Type="http://schemas.openxmlformats.org/officeDocument/2006/relationships/image" Target="/ppt/media/image4.png" Id="R95a25a0ef7e64762" /><Relationship Type="http://schemas.openxmlformats.org/officeDocument/2006/relationships/notesSlide" Target="/ppt/notesSlides/notesSlide4.xml" Id="Rfda43b93b5b846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e313ee4343a428f" /><Relationship Type="http://schemas.openxmlformats.org/officeDocument/2006/relationships/image" Target="/ppt/media/image6.png" Id="R9be953e9bdb847bb" /><Relationship Type="http://schemas.openxmlformats.org/officeDocument/2006/relationships/image" Target="/ppt/media/image4.png" Id="R9ddcf906c0c040d5" /><Relationship Type="http://schemas.openxmlformats.org/officeDocument/2006/relationships/notesSlide" Target="/ppt/notesSlides/notesSlide5.xml" Id="Rb69b5084873840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888cdc685054f3b" /><Relationship Type="http://schemas.openxmlformats.org/officeDocument/2006/relationships/image" Target="/ppt/media/image7.png" Id="R8afe33bbc4e84497" /><Relationship Type="http://schemas.openxmlformats.org/officeDocument/2006/relationships/image" Target="/ppt/media/image4.png" Id="R33f0b0ed80f44f89" /><Relationship Type="http://schemas.openxmlformats.org/officeDocument/2006/relationships/notesSlide" Target="/ppt/notesSlides/notesSlide6.xml" Id="Rbf21893f87f740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8886b604fb24263" /><Relationship Type="http://schemas.openxmlformats.org/officeDocument/2006/relationships/image" Target="/ppt/media/image8.png" Id="Rea788ee8b89441de" /><Relationship Type="http://schemas.openxmlformats.org/officeDocument/2006/relationships/image" Target="/ppt/media/image.jpeg" Id="R1627ee00c9764a09" /><Relationship Type="http://schemas.openxmlformats.org/officeDocument/2006/relationships/image" Target="/ppt/media/image4.png" Id="R6d0d16c3831b480a" /><Relationship Type="http://schemas.openxmlformats.org/officeDocument/2006/relationships/notesSlide" Target="/ppt/notesSlides/notesSlide7.xml" Id="R2593d3bb4ee64e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163f009fb974fbc" /><Relationship Type="http://schemas.openxmlformats.org/officeDocument/2006/relationships/image" Target="/ppt/media/image8.png" Id="R4a3e63b37ccb40e0" /><Relationship Type="http://schemas.openxmlformats.org/officeDocument/2006/relationships/image" Target="/ppt/media/image.jpeg" Id="Re798daaf14ea401b" /><Relationship Type="http://schemas.openxmlformats.org/officeDocument/2006/relationships/image" Target="/ppt/media/image4.png" Id="R8ce623bc080a4982" /><Relationship Type="http://schemas.openxmlformats.org/officeDocument/2006/relationships/notesSlide" Target="/ppt/notesSlides/notesSlide8.xml" Id="R309bb85932b144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79c3b002cb74d5f" /><Relationship Type="http://schemas.openxmlformats.org/officeDocument/2006/relationships/image" Target="/ppt/media/image9.png" Id="R66d49a38f96e4b30" /><Relationship Type="http://schemas.openxmlformats.org/officeDocument/2006/relationships/image" Target="/ppt/media/image10.png" Id="Rabc6f69274c34bcf" /><Relationship Type="http://schemas.openxmlformats.org/officeDocument/2006/relationships/image" Target="/ppt/media/image11.png" Id="Ra6af7c58bc024a12" /><Relationship Type="http://schemas.openxmlformats.org/officeDocument/2006/relationships/image" Target="/ppt/media/image12.png" Id="Raebb98648d324a6a" /><Relationship Type="http://schemas.openxmlformats.org/officeDocument/2006/relationships/image" Target="/ppt/media/image13.png" Id="Ra4c5b3e1170c44a9" /><Relationship Type="http://schemas.openxmlformats.org/officeDocument/2006/relationships/image" Target="/ppt/media/image14.png" Id="R7775e385c04f4033" /><Relationship Type="http://schemas.openxmlformats.org/officeDocument/2006/relationships/image" Target="/ppt/media/image15.png" Id="Raf9c975ea1ae4679" /><Relationship Type="http://schemas.openxmlformats.org/officeDocument/2006/relationships/image" Target="/ppt/media/image16.png" Id="R2fbe9aa045514e84" /><Relationship Type="http://schemas.openxmlformats.org/officeDocument/2006/relationships/image" Target="/ppt/media/image4.png" Id="R3e9e70bd8cad477c" /><Relationship Type="http://schemas.openxmlformats.org/officeDocument/2006/relationships/notesSlide" Target="/ppt/notesSlides/notesSlide9.xml" Id="R1c8925ccac4342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7e541b0de7d4c56" /><Relationship Type="http://schemas.openxmlformats.org/officeDocument/2006/relationships/image" Target="/ppt/media/image2.png" Id="Rb1a4814fd2454859" /><Relationship Type="http://schemas.openxmlformats.org/officeDocument/2006/relationships/image" Target="/ppt/media/image17.png" Id="Re1d5110c1ee34238" /><Relationship Type="http://schemas.openxmlformats.org/officeDocument/2006/relationships/notesSlide" Target="/ppt/notesSlides/notesSlide10.xml" Id="R0f5ea1f0bfee44e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B11032E-9F71-49FE-A4BF-9802A916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f2c7f66fa14d48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40ED1A65-8664-4BF7-9F72-2AA4D62F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-1233813"/>
            <a:ext cx="12754625" cy="1275462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3AD294A-AC4C-409E-B9FF-A8F4A482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9746" y="-1233813"/>
            <a:ext cx="10363132" cy="115588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B96DA7F-F8D3-4497-9951-3BD5424A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7368" y="860146"/>
            <a:ext cx="7841932" cy="2146078"/>
          </a:xfrm>
          <a:custGeom xmlns:a="http://schemas.openxmlformats.org/drawingml/2006/main">
            <a:rect l="l" t="t" r="r" b="b"/>
            <a:pathLst>
              <a:path w="10455910" h="2861438">
                <a:moveTo>
                  <a:pt x="0" y="0"/>
                </a:moveTo>
                <a:lnTo>
                  <a:pt x="10455910" y="0"/>
                </a:lnTo>
                <a:lnTo>
                  <a:pt x="10455910" y="2861438"/>
                </a:lnTo>
                <a:lnTo>
                  <a:pt x="0" y="28614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0f32e5d4fbd440b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17E36C5-E30F-4C0B-A964-21107230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0505" y="2949074"/>
            <a:ext cx="7475656" cy="6190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19"/>
              </a:lnSpc>
              <a:buNone/>
            </a:pPr>
            <a:r>
              <a:rPr sz="1594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ESTRUTURAÇÃO EMPRESARIAL ASSISTIDA POR MÉTODO, TECNOLOGIA E GOVERNANÇA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DC5F3EF-35A1-4BB0-B3F5-170DD1A6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51"/>
            <a:ext cx="9737197" cy="17528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01"/>
              </a:lnSpc>
              <a:buNone/>
            </a:pPr>
            <a:r>
              <a:rPr sz="5000" b="1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</a:rPr>
              <a:t>Performance Hub</a:t>
            </a:r>
          </a:p>
          <a:p xmlns:a="http://schemas.openxmlformats.org/drawingml/2006/main">
            <a:pPr algn="ctr">
              <a:lnSpc>
                <a:spcPts val="6901"/>
              </a:lnSpc>
              <a:buNone/>
            </a:pPr>
            <a:r>
              <a:rPr sz="4000" b="1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</a:rPr>
              <a:t>Proposta Comercial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BA2D2420-35F9-43B0-BF8B-3EE20035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308" y="6679254"/>
            <a:ext cx="10065763" cy="11028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4280"/>
              </a:lnSpc>
              <a:spcBef>
                <a:spcPts val="0"/>
              </a:spcBef>
              <a:buNone/>
            </a:pPr>
            <a:r>
              <a:rPr sz="3700" b="1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Para: [cliente]</a:t>
            </a:r>
          </a:p>
          <a:p xmlns:a="http://schemas.openxmlformats.org/drawingml/2006/main">
            <a:pPr algn="r">
              <a:lnSpc>
                <a:spcPts val="4280"/>
              </a:lnSpc>
              <a:spcBef>
                <a:spcPts val="0"/>
              </a:spcBef>
              <a:buNone/>
            </a:pPr>
            <a:r>
              <a:rPr sz="37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Att.: [decisor]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81034FC-9A0B-49C4-9665-53311D7C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208" y="8852936"/>
            <a:ext cx="6220844" cy="3973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129"/>
              </a:lnSpc>
              <a:buNone/>
            </a:pPr>
            <a:r>
              <a:rPr sz="2267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Maio de 2026</a:t>
            </a:r>
          </a:p>
        </p:txBody>
      </p:sp>
    </p:spTree>
    <p:extLst>
      <p:ext uri="{BB962C8B-B14F-4D97-AF65-F5344CB8AC3E}">
        <p14:creationId xmlns:p14="http://schemas.microsoft.com/office/powerpoint/2010/main" val="1408959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reeform 2">
            <a:extLst xmlns:a="http://schemas.openxmlformats.org/drawingml/2006/main">
              <a:ext uri="{FF2B5EF4-FFF2-40B4-BE49-F238E27FC236}">
                <a16:creationId xmlns:a16="http://schemas.microsoft.com/office/drawing/2014/main" id="{82E04E6D-0B37-5298-20D8-654A2D5F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fed6c44f404cd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77DA9F6-981E-87DF-02BA-A1ED8016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57215"/>
            <a:ext cx="11658599" cy="1463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3200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Sua empresa trabalha cada vez mais, mas nem sempre transforma esforço em resultado proporcional.</a:t>
            </a:r>
          </a:p>
        </p:txBody>
      </p:sp>
      <p:sp>
        <p:nvSpPr>
          <p:cNvPr id="12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06F431-68B0-6724-7D34-FE3AE1B3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e21996356964a49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D4C93E-2D32-092E-54A9-63EE7346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522"/>
            <a:ext cx="16976271" cy="921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7259"/>
              </a:lnSpc>
              <a:buNone/>
            </a:pPr>
            <a:r>
              <a:rPr sz="4800" b="1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1 — O DESAFIO</a:t>
            </a:r>
          </a:p>
        </p:txBody>
      </p:sp>
      <p:sp>
        <p:nvSpPr>
          <p:cNvPr id="14" name="TextBox 4">
            <a:extLst xmlns:a="http://schemas.openxmlformats.org/drawingml/2006/main">
              <a:ext uri="{FF2B5EF4-FFF2-40B4-BE49-F238E27FC236}">
                <a16:creationId xmlns:a16="http://schemas.microsoft.com/office/drawing/2014/main" id="{017A11BA-3E36-C17A-3DBE-F9F92487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76700"/>
            <a:ext cx="11811000" cy="2146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32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Gestores sobrecarregados, processos desorganizados, projetos sem ritmo e decisões baseadas em suposições.</a:t>
            </a:r>
          </a:p>
        </p:txBody>
      </p:sp>
      <p:sp>
        <p:nvSpPr>
          <p:cNvPr id="15" name="TextBox 4">
            <a:extLst xmlns:a="http://schemas.openxmlformats.org/drawingml/2006/main">
              <a:ext uri="{FF2B5EF4-FFF2-40B4-BE49-F238E27FC236}">
                <a16:creationId xmlns:a16="http://schemas.microsoft.com/office/drawing/2014/main" id="{5575EEA9-A0B6-F68E-9DF8-DD34EB93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602008"/>
            <a:ext cx="11811000" cy="288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3200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O custo aparece em retrabalho, baixa produtividade, margem imprevisível, caixa pressionado e dependência de pessoas-chave.</a:t>
            </a:r>
          </a:p>
        </p:txBody>
      </p:sp>
    </p:spTree>
    <p:extLst>
      <p:ext uri="{BB962C8B-B14F-4D97-AF65-F5344CB8AC3E}">
        <p14:creationId xmlns:p14="http://schemas.microsoft.com/office/powerpoint/2010/main" val="13900594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5FDB528-38A7-42E6-8BD0-7B963E5D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33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ff9de8b4fd748a4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368FD41-5C6E-4D88-BA9D-24DDE312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9838d2ce8284d8b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Box 4">
            <a:extLst xmlns:a="http://schemas.openxmlformats.org/drawingml/2006/main">
              <a:ext uri="{FF2B5EF4-FFF2-40B4-BE49-F238E27FC236}">
                <a16:creationId xmlns:a16="http://schemas.microsoft.com/office/drawing/2014/main" id="{EE5A0364-C61A-0F5B-D462-FBC5400B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7026"/>
            <a:ext cx="15163801" cy="18076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200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Um sistema operacional de gestão para PME: método consultivo, APP32, Sapiens, squads e cadência de governança.</a:t>
            </a:r>
          </a:p>
        </p:txBody>
      </p:sp>
      <p:sp>
        <p:nvSpPr>
          <p:cNvPr id="20" name="TextBox 13">
            <a:extLst xmlns:a="http://schemas.openxmlformats.org/drawingml/2006/main">
              <a:ext uri="{FF2B5EF4-FFF2-40B4-BE49-F238E27FC236}">
                <a16:creationId xmlns:a16="http://schemas.microsoft.com/office/drawing/2014/main" id="{DB915F7B-D36D-7829-4380-F5FB6C7C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522"/>
            <a:ext cx="16976271" cy="921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7259"/>
              </a:lnSpc>
              <a:buNone/>
            </a:pPr>
            <a:r>
              <a:rPr sz="4800" b="1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2 — A SOLUÇÃO: PERFORMANCE HUB</a:t>
            </a:r>
          </a:p>
        </p:txBody>
      </p:sp>
      <p:sp>
        <p:nvSpPr>
          <p:cNvPr id="21" name="TextBox 4">
            <a:extLst xmlns:a="http://schemas.openxmlformats.org/drawingml/2006/main">
              <a:ext uri="{FF2B5EF4-FFF2-40B4-BE49-F238E27FC236}">
                <a16:creationId xmlns:a16="http://schemas.microsoft.com/office/drawing/2014/main" id="{3EF928A8-ACB4-B034-3E79-4A70A871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31734"/>
            <a:ext cx="16383000" cy="57318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200" b="1" u="sng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Reunimos: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200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→ Forma de Trabalho — método, ritos e responsabilidades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200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→ Ferramenta — APP32 como núcleo de projetos, processos, indicadores e evidências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3200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→ Agentes — Sapiens, Squad Versus e Squad Cliente como apoio assistido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t>→ Orquestração — follow-ups, aprovações, handoffs e decisões rastreáveis</a:t>
            </a:r>
          </a:p>
        </p:txBody>
      </p:sp>
    </p:spTree>
    <p:extLst>
      <p:ext uri="{BB962C8B-B14F-4D97-AF65-F5344CB8AC3E}">
        <p14:creationId xmlns:p14="http://schemas.microsoft.com/office/powerpoint/2010/main" val="1544321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reeform 3">
            <a:extLst xmlns:a="http://schemas.openxmlformats.org/drawingml/2006/main">
              <a:ext uri="{FF2B5EF4-FFF2-40B4-BE49-F238E27FC236}">
                <a16:creationId xmlns:a16="http://schemas.microsoft.com/office/drawing/2014/main" id="{BC85DC92-2972-3F1A-F00B-9555F38A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a25a0ef7e64762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" name="Freeform 5">
            <a:extLst xmlns:a="http://schemas.openxmlformats.org/drawingml/2006/main">
              <a:ext uri="{FF2B5EF4-FFF2-40B4-BE49-F238E27FC236}">
                <a16:creationId xmlns:a16="http://schemas.microsoft.com/office/drawing/2014/main" id="{D309E2E8-FDCD-750A-A166-EEEE7A02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1766717"/>
            <a:ext cx="15083141" cy="7335336"/>
          </a:xfrm>
          <a:custGeom xmlns:a="http://schemas.openxmlformats.org/drawingml/2006/main">
            <a:rect l="l" t="t" r="r" b="b"/>
            <a:pathLst>
              <a:path w="2485840" h="534033">
                <a:moveTo>
                  <a:pt x="41833" y="0"/>
                </a:moveTo>
                <a:lnTo>
                  <a:pt x="2444007" y="0"/>
                </a:lnTo>
                <a:cubicBezTo>
                  <a:pt x="2455102" y="0"/>
                  <a:pt x="2465742" y="4407"/>
                  <a:pt x="2473587" y="12253"/>
                </a:cubicBezTo>
                <a:cubicBezTo>
                  <a:pt x="2481432" y="20098"/>
                  <a:pt x="2485840" y="30738"/>
                  <a:pt x="2485840" y="41833"/>
                </a:cubicBezTo>
                <a:lnTo>
                  <a:pt x="2485840" y="492200"/>
                </a:lnTo>
                <a:cubicBezTo>
                  <a:pt x="2485840" y="515303"/>
                  <a:pt x="2467111" y="534033"/>
                  <a:pt x="2444007" y="534033"/>
                </a:cubicBezTo>
                <a:lnTo>
                  <a:pt x="41833" y="534033"/>
                </a:lnTo>
                <a:cubicBezTo>
                  <a:pt x="18729" y="534033"/>
                  <a:pt x="0" y="515303"/>
                  <a:pt x="0" y="492200"/>
                </a:cubicBezTo>
                <a:lnTo>
                  <a:pt x="0" y="41833"/>
                </a:lnTo>
                <a:cubicBezTo>
                  <a:pt x="0" y="18729"/>
                  <a:pt x="18729" y="0"/>
                  <a:pt x="4183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Box 6">
            <a:extLst xmlns:a="http://schemas.openxmlformats.org/drawingml/2006/main">
              <a:ext uri="{FF2B5EF4-FFF2-40B4-BE49-F238E27FC236}">
                <a16:creationId xmlns:a16="http://schemas.microsoft.com/office/drawing/2014/main" id="{546FDBE3-3AFF-0AE0-2F42-ECF4CDD2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723900"/>
            <a:ext cx="15083141" cy="838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81" name="TextBox 13">
            <a:extLst xmlns:a="http://schemas.openxmlformats.org/drawingml/2006/main">
              <a:ext uri="{FF2B5EF4-FFF2-40B4-BE49-F238E27FC236}">
                <a16:creationId xmlns:a16="http://schemas.microsoft.com/office/drawing/2014/main" id="{3EBD5BAB-CF18-921E-DB87-D5FDC3C8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7058" y="1774402"/>
            <a:ext cx="15083141" cy="986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7259"/>
              </a:lnSpc>
              <a:buNone/>
            </a:pPr>
            <a:r>
              <a:rPr sz="5000" b="1" u="none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Performance Hub</a:t>
            </a:r>
          </a:p>
        </p:txBody>
      </p:sp>
      <p:sp>
        <p:nvSpPr>
          <p:cNvPr id="43" name="Freeform 5">
            <a:extLst xmlns:a="http://schemas.openxmlformats.org/drawingml/2006/main">
              <a:ext uri="{FF2B5EF4-FFF2-40B4-BE49-F238E27FC236}">
                <a16:creationId xmlns:a16="http://schemas.microsoft.com/office/drawing/2014/main" id="{83A8FA3B-2304-9CAE-6250-0B14B121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4630" y="2911169"/>
            <a:ext cx="11647099" cy="3527474"/>
          </a:xfrm>
          <a:custGeom xmlns:a="http://schemas.openxmlformats.org/drawingml/2006/main">
            <a:rect l="l" t="t" r="r" b="b"/>
            <a:pathLst>
              <a:path w="2485840" h="534033">
                <a:moveTo>
                  <a:pt x="41833" y="0"/>
                </a:moveTo>
                <a:lnTo>
                  <a:pt x="2444007" y="0"/>
                </a:lnTo>
                <a:cubicBezTo>
                  <a:pt x="2455102" y="0"/>
                  <a:pt x="2465742" y="4407"/>
                  <a:pt x="2473587" y="12253"/>
                </a:cubicBezTo>
                <a:cubicBezTo>
                  <a:pt x="2481432" y="20098"/>
                  <a:pt x="2485840" y="30738"/>
                  <a:pt x="2485840" y="41833"/>
                </a:cubicBezTo>
                <a:lnTo>
                  <a:pt x="2485840" y="492200"/>
                </a:lnTo>
                <a:cubicBezTo>
                  <a:pt x="2485840" y="515303"/>
                  <a:pt x="2467111" y="534033"/>
                  <a:pt x="2444007" y="534033"/>
                </a:cubicBezTo>
                <a:lnTo>
                  <a:pt x="41833" y="534033"/>
                </a:lnTo>
                <a:cubicBezTo>
                  <a:pt x="18729" y="534033"/>
                  <a:pt x="0" y="515303"/>
                  <a:pt x="0" y="492200"/>
                </a:cubicBezTo>
                <a:lnTo>
                  <a:pt x="0" y="41833"/>
                </a:lnTo>
                <a:cubicBezTo>
                  <a:pt x="0" y="18729"/>
                  <a:pt x="18729" y="0"/>
                  <a:pt x="4183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Box 6">
            <a:extLst xmlns:a="http://schemas.openxmlformats.org/drawingml/2006/main">
              <a:ext uri="{FF2B5EF4-FFF2-40B4-BE49-F238E27FC236}">
                <a16:creationId xmlns:a16="http://schemas.microsoft.com/office/drawing/2014/main" id="{8407F2D2-E2FC-FF20-ABC1-369A7013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4630" y="2578339"/>
            <a:ext cx="11647099" cy="4030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48" name="TextBox 14">
            <a:extLst xmlns:a="http://schemas.openxmlformats.org/drawingml/2006/main">
              <a:ext uri="{FF2B5EF4-FFF2-40B4-BE49-F238E27FC236}">
                <a16:creationId xmlns:a16="http://schemas.microsoft.com/office/drawing/2014/main" id="{B22ED4A4-3191-9F0C-0DD4-F3D8D9B4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4630" y="3186418"/>
            <a:ext cx="11647100" cy="4251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66"/>
              </a:lnSpc>
              <a:buNone/>
            </a:pPr>
            <a:r>
              <a:rPr sz="3000" b="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Sistema integrado de gestão</a:t>
            </a:r>
          </a:p>
        </p:txBody>
      </p:sp>
      <p:sp>
        <p:nvSpPr>
          <p:cNvPr id="6" name="Freeform 5">
            <a:extLst xmlns:a="http://schemas.openxmlformats.org/drawingml/2006/main">
              <a:ext uri="{FF2B5EF4-FFF2-40B4-BE49-F238E27FC236}">
                <a16:creationId xmlns:a16="http://schemas.microsoft.com/office/drawing/2014/main" id="{1B224513-59CE-4D32-AB09-AC7CE051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881" y="3968241"/>
            <a:ext cx="3090499" cy="2068658"/>
          </a:xfrm>
          <a:custGeom xmlns:a="http://schemas.openxmlformats.org/drawingml/2006/main">
            <a:rect l="l" t="t" r="r" b="b"/>
            <a:pathLst>
              <a:path w="768966" h="486993">
                <a:moveTo>
                  <a:pt x="135234" y="0"/>
                </a:moveTo>
                <a:lnTo>
                  <a:pt x="633732" y="0"/>
                </a:lnTo>
                <a:cubicBezTo>
                  <a:pt x="669598" y="0"/>
                  <a:pt x="703996" y="14248"/>
                  <a:pt x="729357" y="39609"/>
                </a:cubicBezTo>
                <a:cubicBezTo>
                  <a:pt x="754718" y="64970"/>
                  <a:pt x="768966" y="99368"/>
                  <a:pt x="768966" y="135234"/>
                </a:cubicBezTo>
                <a:lnTo>
                  <a:pt x="768966" y="351759"/>
                </a:lnTo>
                <a:cubicBezTo>
                  <a:pt x="768966" y="387625"/>
                  <a:pt x="754718" y="422022"/>
                  <a:pt x="729357" y="447383"/>
                </a:cubicBezTo>
                <a:cubicBezTo>
                  <a:pt x="703996" y="472745"/>
                  <a:pt x="669598" y="486993"/>
                  <a:pt x="633732" y="486993"/>
                </a:cubicBezTo>
                <a:lnTo>
                  <a:pt x="135234" y="486993"/>
                </a:lnTo>
                <a:cubicBezTo>
                  <a:pt x="60546" y="486993"/>
                  <a:pt x="0" y="426446"/>
                  <a:pt x="0" y="351759"/>
                </a:cubicBezTo>
                <a:lnTo>
                  <a:pt x="0" y="135234"/>
                </a:lnTo>
                <a:cubicBezTo>
                  <a:pt x="0" y="99368"/>
                  <a:pt x="14248" y="64970"/>
                  <a:pt x="39609" y="39609"/>
                </a:cubicBezTo>
                <a:cubicBezTo>
                  <a:pt x="64970" y="14248"/>
                  <a:pt x="99368" y="0"/>
                  <a:pt x="135234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Box 6">
            <a:extLst xmlns:a="http://schemas.openxmlformats.org/drawingml/2006/main">
              <a:ext uri="{FF2B5EF4-FFF2-40B4-BE49-F238E27FC236}">
                <a16:creationId xmlns:a16="http://schemas.microsoft.com/office/drawing/2014/main" id="{1D7C823C-828A-4DCC-84D5-853787C6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881" y="3790555"/>
            <a:ext cx="3090499" cy="2392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7B80BC8-B14D-444F-BDF7-36416E44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2930" y="3951966"/>
            <a:ext cx="3090499" cy="2068658"/>
          </a:xfrm>
          <a:custGeom xmlns:a="http://schemas.openxmlformats.org/drawingml/2006/main">
            <a:rect l="l" t="t" r="r" b="b"/>
            <a:pathLst>
              <a:path w="768966" h="486993">
                <a:moveTo>
                  <a:pt x="135234" y="0"/>
                </a:moveTo>
                <a:lnTo>
                  <a:pt x="633732" y="0"/>
                </a:lnTo>
                <a:cubicBezTo>
                  <a:pt x="669598" y="0"/>
                  <a:pt x="703996" y="14248"/>
                  <a:pt x="729357" y="39609"/>
                </a:cubicBezTo>
                <a:cubicBezTo>
                  <a:pt x="754718" y="64970"/>
                  <a:pt x="768966" y="99368"/>
                  <a:pt x="768966" y="135234"/>
                </a:cubicBezTo>
                <a:lnTo>
                  <a:pt x="768966" y="351759"/>
                </a:lnTo>
                <a:cubicBezTo>
                  <a:pt x="768966" y="387625"/>
                  <a:pt x="754718" y="422022"/>
                  <a:pt x="729357" y="447383"/>
                </a:cubicBezTo>
                <a:cubicBezTo>
                  <a:pt x="703996" y="472745"/>
                  <a:pt x="669598" y="486993"/>
                  <a:pt x="633732" y="486993"/>
                </a:cubicBezTo>
                <a:lnTo>
                  <a:pt x="135234" y="486993"/>
                </a:lnTo>
                <a:cubicBezTo>
                  <a:pt x="60546" y="486993"/>
                  <a:pt x="0" y="426446"/>
                  <a:pt x="0" y="351759"/>
                </a:cubicBezTo>
                <a:lnTo>
                  <a:pt x="0" y="135234"/>
                </a:lnTo>
                <a:cubicBezTo>
                  <a:pt x="0" y="99368"/>
                  <a:pt x="14248" y="64970"/>
                  <a:pt x="39609" y="39609"/>
                </a:cubicBezTo>
                <a:cubicBezTo>
                  <a:pt x="64970" y="14248"/>
                  <a:pt x="99368" y="0"/>
                  <a:pt x="135234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0084A84-D08B-40DE-9E82-6A1F2A4B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2930" y="3774280"/>
            <a:ext cx="3090499" cy="2392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EE04225-48C2-46FE-A3E4-43B00436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5503" y="3968241"/>
            <a:ext cx="3090499" cy="2068658"/>
          </a:xfrm>
          <a:custGeom xmlns:a="http://schemas.openxmlformats.org/drawingml/2006/main">
            <a:rect l="l" t="t" r="r" b="b"/>
            <a:pathLst>
              <a:path w="768966" h="486993">
                <a:moveTo>
                  <a:pt x="135234" y="0"/>
                </a:moveTo>
                <a:lnTo>
                  <a:pt x="633732" y="0"/>
                </a:lnTo>
                <a:cubicBezTo>
                  <a:pt x="669598" y="0"/>
                  <a:pt x="703996" y="14248"/>
                  <a:pt x="729357" y="39609"/>
                </a:cubicBezTo>
                <a:cubicBezTo>
                  <a:pt x="754718" y="64970"/>
                  <a:pt x="768966" y="99368"/>
                  <a:pt x="768966" y="135234"/>
                </a:cubicBezTo>
                <a:lnTo>
                  <a:pt x="768966" y="351759"/>
                </a:lnTo>
                <a:cubicBezTo>
                  <a:pt x="768966" y="387625"/>
                  <a:pt x="754718" y="422022"/>
                  <a:pt x="729357" y="447383"/>
                </a:cubicBezTo>
                <a:cubicBezTo>
                  <a:pt x="703996" y="472745"/>
                  <a:pt x="669598" y="486993"/>
                  <a:pt x="633732" y="486993"/>
                </a:cubicBezTo>
                <a:lnTo>
                  <a:pt x="135234" y="486993"/>
                </a:lnTo>
                <a:cubicBezTo>
                  <a:pt x="60546" y="486993"/>
                  <a:pt x="0" y="426446"/>
                  <a:pt x="0" y="351759"/>
                </a:cubicBezTo>
                <a:lnTo>
                  <a:pt x="0" y="135234"/>
                </a:lnTo>
                <a:cubicBezTo>
                  <a:pt x="0" y="99368"/>
                  <a:pt x="14248" y="64970"/>
                  <a:pt x="39609" y="39609"/>
                </a:cubicBezTo>
                <a:cubicBezTo>
                  <a:pt x="64970" y="14248"/>
                  <a:pt x="99368" y="0"/>
                  <a:pt x="135234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12">
            <a:extLst xmlns:a="http://schemas.openxmlformats.org/drawingml/2006/main">
              <a:ext uri="{FF2B5EF4-FFF2-40B4-BE49-F238E27FC236}">
                <a16:creationId xmlns:a16="http://schemas.microsoft.com/office/drawing/2014/main" id="{07CB832F-A13B-4CF6-AC8D-767114AA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5503" y="3790555"/>
            <a:ext cx="3090499" cy="2392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3" name="TextBox 15">
            <a:extLst xmlns:a="http://schemas.openxmlformats.org/drawingml/2006/main">
              <a:ext uri="{FF2B5EF4-FFF2-40B4-BE49-F238E27FC236}">
                <a16:creationId xmlns:a16="http://schemas.microsoft.com/office/drawing/2014/main" id="{DD4B2FE3-98A5-4120-AF9F-9E8207DF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3177" y="4576353"/>
            <a:ext cx="2686763" cy="8154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6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Forma de</a:t>
            </a:r>
          </a:p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6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Trabalho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4731E11-B378-42A2-A7D9-1048965A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1439" y="4560077"/>
            <a:ext cx="2686763" cy="8154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6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Ferramenta</a:t>
            </a:r>
          </a:p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6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APP32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5C61FEB-9500-4498-99B7-4540E0D5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3446" y="4576353"/>
            <a:ext cx="2686763" cy="807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6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Agentes e</a:t>
            </a:r>
          </a:p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6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Squads</a:t>
            </a:r>
          </a:p>
        </p:txBody>
      </p:sp>
      <p:sp>
        <p:nvSpPr>
          <p:cNvPr id="46" name="Freeform 5">
            <a:extLst xmlns:a="http://schemas.openxmlformats.org/drawingml/2006/main">
              <a:ext uri="{FF2B5EF4-FFF2-40B4-BE49-F238E27FC236}">
                <a16:creationId xmlns:a16="http://schemas.microsoft.com/office/drawing/2014/main" id="{BCC1C547-91F5-E8AF-7AD6-FCA2F13C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1348" y="6561487"/>
            <a:ext cx="14166943" cy="2295296"/>
          </a:xfrm>
          <a:custGeom xmlns:a="http://schemas.openxmlformats.org/drawingml/2006/main">
            <a:rect l="l" t="t" r="r" b="b"/>
            <a:pathLst>
              <a:path w="2485840" h="534033">
                <a:moveTo>
                  <a:pt x="41833" y="0"/>
                </a:moveTo>
                <a:lnTo>
                  <a:pt x="2444007" y="0"/>
                </a:lnTo>
                <a:cubicBezTo>
                  <a:pt x="2455102" y="0"/>
                  <a:pt x="2465742" y="4407"/>
                  <a:pt x="2473587" y="12253"/>
                </a:cubicBezTo>
                <a:cubicBezTo>
                  <a:pt x="2481432" y="20098"/>
                  <a:pt x="2485840" y="30738"/>
                  <a:pt x="2485840" y="41833"/>
                </a:cubicBezTo>
                <a:lnTo>
                  <a:pt x="2485840" y="492200"/>
                </a:lnTo>
                <a:cubicBezTo>
                  <a:pt x="2485840" y="515303"/>
                  <a:pt x="2467111" y="534033"/>
                  <a:pt x="2444007" y="534033"/>
                </a:cubicBezTo>
                <a:lnTo>
                  <a:pt x="41833" y="534033"/>
                </a:lnTo>
                <a:cubicBezTo>
                  <a:pt x="18729" y="534033"/>
                  <a:pt x="0" y="515303"/>
                  <a:pt x="0" y="492200"/>
                </a:cubicBezTo>
                <a:lnTo>
                  <a:pt x="0" y="41833"/>
                </a:lnTo>
                <a:cubicBezTo>
                  <a:pt x="0" y="18729"/>
                  <a:pt x="18729" y="0"/>
                  <a:pt x="4183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Box 6">
            <a:extLst xmlns:a="http://schemas.openxmlformats.org/drawingml/2006/main">
              <a:ext uri="{FF2B5EF4-FFF2-40B4-BE49-F238E27FC236}">
                <a16:creationId xmlns:a16="http://schemas.microsoft.com/office/drawing/2014/main" id="{EE26C1D8-9FDA-0B97-BCCD-6C24DB4B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1348" y="6312592"/>
            <a:ext cx="14166943" cy="26228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51" name="TextBox 14">
            <a:extLst xmlns:a="http://schemas.openxmlformats.org/drawingml/2006/main">
              <a:ext uri="{FF2B5EF4-FFF2-40B4-BE49-F238E27FC236}">
                <a16:creationId xmlns:a16="http://schemas.microsoft.com/office/drawing/2014/main" id="{2D91445E-D6F9-B6BC-5CBD-B232435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6495" y="6852166"/>
            <a:ext cx="11647100" cy="4251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66"/>
              </a:lnSpc>
              <a:buNone/>
            </a:pPr>
            <a:r>
              <a:rPr sz="3000" b="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Orquestração e Governança</a:t>
            </a:r>
          </a:p>
        </p:txBody>
      </p:sp>
      <p:sp>
        <p:nvSpPr>
          <p:cNvPr id="21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08E32C6-4413-408C-CCF6-B3F102B8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6486" y="8056633"/>
            <a:ext cx="1320054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0F300AB-221C-B311-26E4-76BED445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0046" y="8056633"/>
            <a:ext cx="1320054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087FEBF-12AC-A3F7-E3B1-0094BFF0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V="1">
            <a:off x="12584513" y="8056630"/>
            <a:ext cx="22912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F5DCAD10-E114-16AF-E51E-95ED85E0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2725" y="7604892"/>
            <a:ext cx="3110572" cy="904258"/>
          </a:xfrm>
          <a:custGeom xmlns:a="http://schemas.openxmlformats.org/drawingml/2006/main">
            <a:rect l="l" t="t" r="r" b="b"/>
            <a:pathLst>
              <a:path w="1480432" h="616646">
                <a:moveTo>
                  <a:pt x="80586" y="0"/>
                </a:moveTo>
                <a:lnTo>
                  <a:pt x="1399846" y="0"/>
                </a:lnTo>
                <a:cubicBezTo>
                  <a:pt x="1444352" y="0"/>
                  <a:pt x="1480432" y="36079"/>
                  <a:pt x="1480432" y="80586"/>
                </a:cubicBezTo>
                <a:lnTo>
                  <a:pt x="1480432" y="536060"/>
                </a:lnTo>
                <a:cubicBezTo>
                  <a:pt x="1480432" y="580566"/>
                  <a:pt x="1444352" y="616646"/>
                  <a:pt x="1399846" y="616646"/>
                </a:cubicBezTo>
                <a:lnTo>
                  <a:pt x="80586" y="616646"/>
                </a:lnTo>
                <a:cubicBezTo>
                  <a:pt x="36079" y="616646"/>
                  <a:pt x="0" y="580566"/>
                  <a:pt x="0" y="536060"/>
                </a:cubicBezTo>
                <a:lnTo>
                  <a:pt x="0" y="80586"/>
                </a:lnTo>
                <a:cubicBezTo>
                  <a:pt x="0" y="36079"/>
                  <a:pt x="36079" y="0"/>
                  <a:pt x="8058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Ritos e</a:t>
            </a:r>
          </a:p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</a:rPr>
              <a:t>responsabilidades</a:t>
            </a:r>
          </a:p>
        </p:txBody>
      </p:sp>
      <p:sp>
        <p:nvSpPr>
          <p:cNvPr id="25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521F28-BCC1-49D2-B8B6-6BC96002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2725" y="7493152"/>
            <a:ext cx="3110572" cy="1015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2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5BA16B53-F207-1217-7FF8-02EC0C4D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247" y="7584841"/>
            <a:ext cx="3110572" cy="904258"/>
          </a:xfrm>
          <a:custGeom xmlns:a="http://schemas.openxmlformats.org/drawingml/2006/main">
            <a:rect l="l" t="t" r="r" b="b"/>
            <a:pathLst>
              <a:path w="1480432" h="616646">
                <a:moveTo>
                  <a:pt x="80586" y="0"/>
                </a:moveTo>
                <a:lnTo>
                  <a:pt x="1399846" y="0"/>
                </a:lnTo>
                <a:cubicBezTo>
                  <a:pt x="1444352" y="0"/>
                  <a:pt x="1480432" y="36079"/>
                  <a:pt x="1480432" y="80586"/>
                </a:cubicBezTo>
                <a:lnTo>
                  <a:pt x="1480432" y="536060"/>
                </a:lnTo>
                <a:cubicBezTo>
                  <a:pt x="1480432" y="580566"/>
                  <a:pt x="1444352" y="616646"/>
                  <a:pt x="1399846" y="616646"/>
                </a:cubicBezTo>
                <a:lnTo>
                  <a:pt x="80586" y="616646"/>
                </a:lnTo>
                <a:cubicBezTo>
                  <a:pt x="36079" y="616646"/>
                  <a:pt x="0" y="580566"/>
                  <a:pt x="0" y="536060"/>
                </a:cubicBezTo>
                <a:lnTo>
                  <a:pt x="0" y="80586"/>
                </a:lnTo>
                <a:cubicBezTo>
                  <a:pt x="0" y="36079"/>
                  <a:pt x="36079" y="0"/>
                  <a:pt x="8058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Projetos, processos</a:t>
            </a:r>
          </a:p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</a:rPr>
              <a:t>e indicadores</a:t>
            </a:r>
          </a:p>
        </p:txBody>
      </p:sp>
      <p:sp>
        <p:nvSpPr>
          <p:cNvPr id="28" name="TextBox 13">
            <a:extLst xmlns:a="http://schemas.openxmlformats.org/drawingml/2006/main">
              <a:ext uri="{FF2B5EF4-FFF2-40B4-BE49-F238E27FC236}">
                <a16:creationId xmlns:a16="http://schemas.microsoft.com/office/drawing/2014/main" id="{C89FFC60-48D5-B5F6-01F3-DD52E2E4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247" y="7473101"/>
            <a:ext cx="3110572" cy="1015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30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AAA7DFC-AB65-F205-287C-79C3B54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940" y="7584841"/>
            <a:ext cx="3110572" cy="904258"/>
          </a:xfrm>
          <a:custGeom xmlns:a="http://schemas.openxmlformats.org/drawingml/2006/main">
            <a:rect l="l" t="t" r="r" b="b"/>
            <a:pathLst>
              <a:path w="1480432" h="616646">
                <a:moveTo>
                  <a:pt x="80586" y="0"/>
                </a:moveTo>
                <a:lnTo>
                  <a:pt x="1399846" y="0"/>
                </a:lnTo>
                <a:cubicBezTo>
                  <a:pt x="1444352" y="0"/>
                  <a:pt x="1480432" y="36079"/>
                  <a:pt x="1480432" y="80586"/>
                </a:cubicBezTo>
                <a:lnTo>
                  <a:pt x="1480432" y="536060"/>
                </a:lnTo>
                <a:cubicBezTo>
                  <a:pt x="1480432" y="580566"/>
                  <a:pt x="1444352" y="616646"/>
                  <a:pt x="1399846" y="616646"/>
                </a:cubicBezTo>
                <a:lnTo>
                  <a:pt x="80586" y="616646"/>
                </a:lnTo>
                <a:cubicBezTo>
                  <a:pt x="36079" y="616646"/>
                  <a:pt x="0" y="580566"/>
                  <a:pt x="0" y="536060"/>
                </a:cubicBezTo>
                <a:lnTo>
                  <a:pt x="0" y="80586"/>
                </a:lnTo>
                <a:cubicBezTo>
                  <a:pt x="0" y="36079"/>
                  <a:pt x="36079" y="0"/>
                  <a:pt x="8058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Sapiens, evidências</a:t>
            </a:r>
          </a:p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</a:rPr>
              <a:t>e trilhas</a:t>
            </a:r>
          </a:p>
        </p:txBody>
      </p:sp>
      <p:sp>
        <p:nvSpPr>
          <p:cNvPr id="31" name="TextBox 16">
            <a:extLst xmlns:a="http://schemas.openxmlformats.org/drawingml/2006/main">
              <a:ext uri="{FF2B5EF4-FFF2-40B4-BE49-F238E27FC236}">
                <a16:creationId xmlns:a16="http://schemas.microsoft.com/office/drawing/2014/main" id="{E14147E9-5C22-2977-5F40-2DA306FF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940" y="7473101"/>
            <a:ext cx="3110572" cy="1015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37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0067B19-4BDA-65A8-9148-FCB730C7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7291" y="7572214"/>
            <a:ext cx="3110572" cy="904258"/>
          </a:xfrm>
          <a:custGeom xmlns:a="http://schemas.openxmlformats.org/drawingml/2006/main">
            <a:rect l="l" t="t" r="r" b="b"/>
            <a:pathLst>
              <a:path w="1480432" h="616646">
                <a:moveTo>
                  <a:pt x="80586" y="0"/>
                </a:moveTo>
                <a:lnTo>
                  <a:pt x="1399846" y="0"/>
                </a:lnTo>
                <a:cubicBezTo>
                  <a:pt x="1444352" y="0"/>
                  <a:pt x="1480432" y="36079"/>
                  <a:pt x="1480432" y="80586"/>
                </a:cubicBezTo>
                <a:lnTo>
                  <a:pt x="1480432" y="536060"/>
                </a:lnTo>
                <a:cubicBezTo>
                  <a:pt x="1480432" y="580566"/>
                  <a:pt x="1444352" y="616646"/>
                  <a:pt x="1399846" y="616646"/>
                </a:cubicBezTo>
                <a:lnTo>
                  <a:pt x="80586" y="616646"/>
                </a:lnTo>
                <a:cubicBezTo>
                  <a:pt x="36079" y="616646"/>
                  <a:pt x="0" y="580566"/>
                  <a:pt x="0" y="536060"/>
                </a:cubicBezTo>
                <a:lnTo>
                  <a:pt x="0" y="80586"/>
                </a:lnTo>
                <a:cubicBezTo>
                  <a:pt x="0" y="36079"/>
                  <a:pt x="36079" y="0"/>
                  <a:pt x="8058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Follow-up, handoffs</a:t>
            </a:r>
          </a:p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</a:rPr>
              <a:t>e auditoria</a:t>
            </a:r>
          </a:p>
        </p:txBody>
      </p:sp>
      <p:sp>
        <p:nvSpPr>
          <p:cNvPr id="38" name="TextBox 16">
            <a:extLst xmlns:a="http://schemas.openxmlformats.org/drawingml/2006/main">
              <a:ext uri="{FF2B5EF4-FFF2-40B4-BE49-F238E27FC236}">
                <a16:creationId xmlns:a16="http://schemas.microsoft.com/office/drawing/2014/main" id="{A99E6CC0-C8DA-BD61-14BF-96EED0C2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7291" y="7460474"/>
            <a:ext cx="3110572" cy="1015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383631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736FF64F-321C-2F9B-EF01-7FBFBB1E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e953e9bdb847bb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E4677FB-F7B5-F2F3-9650-B4080A89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ddcf906c0c040d5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Freeform 18">
            <a:extLst xmlns:a="http://schemas.openxmlformats.org/drawingml/2006/main">
              <a:ext uri="{FF2B5EF4-FFF2-40B4-BE49-F238E27FC236}">
                <a16:creationId xmlns:a16="http://schemas.microsoft.com/office/drawing/2014/main" id="{D4EE1194-DD68-05CE-AAA4-C02D5F0E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0343" y="1602991"/>
            <a:ext cx="4899610" cy="2040839"/>
          </a:xfrm>
          <a:custGeom xmlns:a="http://schemas.openxmlformats.org/drawingml/2006/main">
            <a:rect l="l" t="t" r="r" b="b"/>
            <a:pathLst>
              <a:path w="1480432" h="616646">
                <a:moveTo>
                  <a:pt x="80586" y="0"/>
                </a:moveTo>
                <a:lnTo>
                  <a:pt x="1399846" y="0"/>
                </a:lnTo>
                <a:cubicBezTo>
                  <a:pt x="1444352" y="0"/>
                  <a:pt x="1480432" y="36079"/>
                  <a:pt x="1480432" y="80586"/>
                </a:cubicBezTo>
                <a:lnTo>
                  <a:pt x="1480432" y="536060"/>
                </a:lnTo>
                <a:cubicBezTo>
                  <a:pt x="1480432" y="580566"/>
                  <a:pt x="1444352" y="616646"/>
                  <a:pt x="1399846" y="616646"/>
                </a:cubicBezTo>
                <a:lnTo>
                  <a:pt x="80586" y="616646"/>
                </a:lnTo>
                <a:cubicBezTo>
                  <a:pt x="36079" y="616646"/>
                  <a:pt x="0" y="580566"/>
                  <a:pt x="0" y="536060"/>
                </a:cubicBezTo>
                <a:lnTo>
                  <a:pt x="0" y="80586"/>
                </a:lnTo>
                <a:cubicBezTo>
                  <a:pt x="0" y="36079"/>
                  <a:pt x="36079" y="0"/>
                  <a:pt x="8058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9">
            <a:extLst xmlns:a="http://schemas.openxmlformats.org/drawingml/2006/main">
              <a:ext uri="{FF2B5EF4-FFF2-40B4-BE49-F238E27FC236}">
                <a16:creationId xmlns:a16="http://schemas.microsoft.com/office/drawing/2014/main" id="{28D674DE-72EC-D750-CCF8-B591B9A1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0343" y="1350802"/>
            <a:ext cx="4899610" cy="22930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9" name="TextBox 36">
            <a:extLst xmlns:a="http://schemas.openxmlformats.org/drawingml/2006/main">
              <a:ext uri="{FF2B5EF4-FFF2-40B4-BE49-F238E27FC236}">
                <a16:creationId xmlns:a16="http://schemas.microsoft.com/office/drawing/2014/main" id="{DCEC143C-0DC7-3CAA-B64F-753564B4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8462" y="2157581"/>
            <a:ext cx="4899609" cy="958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773"/>
              </a:lnSpc>
              <a:buNone/>
            </a:pPr>
            <a:r>
              <a:rPr sz="2400" b="1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Indicadores confiáveis, acessíveis e acompanhados</a:t>
            </a:r>
          </a:p>
        </p:txBody>
      </p:sp>
      <p:sp>
        <p:nvSpPr>
          <p:cNvPr id="15" name="Freeform 21">
            <a:extLst xmlns:a="http://schemas.openxmlformats.org/drawingml/2006/main">
              <a:ext uri="{FF2B5EF4-FFF2-40B4-BE49-F238E27FC236}">
                <a16:creationId xmlns:a16="http://schemas.microsoft.com/office/drawing/2014/main" id="{C3865092-33E0-8AE5-80AD-06C2F9B0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2060" y="4026872"/>
            <a:ext cx="4899610" cy="2040839"/>
          </a:xfrm>
          <a:custGeom xmlns:a="http://schemas.openxmlformats.org/drawingml/2006/main">
            <a:rect l="l" t="t" r="r" b="b"/>
            <a:pathLst>
              <a:path w="1480432" h="616646">
                <a:moveTo>
                  <a:pt x="80586" y="0"/>
                </a:moveTo>
                <a:lnTo>
                  <a:pt x="1399846" y="0"/>
                </a:lnTo>
                <a:cubicBezTo>
                  <a:pt x="1444352" y="0"/>
                  <a:pt x="1480432" y="36079"/>
                  <a:pt x="1480432" y="80586"/>
                </a:cubicBezTo>
                <a:lnTo>
                  <a:pt x="1480432" y="536060"/>
                </a:lnTo>
                <a:cubicBezTo>
                  <a:pt x="1480432" y="580566"/>
                  <a:pt x="1444352" y="616646"/>
                  <a:pt x="1399846" y="616646"/>
                </a:cubicBezTo>
                <a:lnTo>
                  <a:pt x="80586" y="616646"/>
                </a:lnTo>
                <a:cubicBezTo>
                  <a:pt x="36079" y="616646"/>
                  <a:pt x="0" y="580566"/>
                  <a:pt x="0" y="536060"/>
                </a:cubicBezTo>
                <a:lnTo>
                  <a:pt x="0" y="80586"/>
                </a:lnTo>
                <a:cubicBezTo>
                  <a:pt x="0" y="36079"/>
                  <a:pt x="36079" y="0"/>
                  <a:pt x="8058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Box 22">
            <a:extLst xmlns:a="http://schemas.openxmlformats.org/drawingml/2006/main">
              <a:ext uri="{FF2B5EF4-FFF2-40B4-BE49-F238E27FC236}">
                <a16:creationId xmlns:a16="http://schemas.microsoft.com/office/drawing/2014/main" id="{1C549835-8E36-15F4-C424-E1D8EF93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2060" y="3774683"/>
            <a:ext cx="4899610" cy="22930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4" name="TextBox 37">
            <a:extLst xmlns:a="http://schemas.openxmlformats.org/drawingml/2006/main">
              <a:ext uri="{FF2B5EF4-FFF2-40B4-BE49-F238E27FC236}">
                <a16:creationId xmlns:a16="http://schemas.microsoft.com/office/drawing/2014/main" id="{8F9BEF12-0816-2A5D-8336-18D35FED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2060" y="4561887"/>
            <a:ext cx="4856011" cy="958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773"/>
              </a:lnSpc>
              <a:buNone/>
            </a:pPr>
            <a:r>
              <a:rPr sz="2400" b="1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Decisões baseadas em fatos, não em suposições</a:t>
            </a:r>
          </a:p>
        </p:txBody>
      </p:sp>
      <p:sp>
        <p:nvSpPr>
          <p:cNvPr id="21" name="Freeform 9">
            <a:extLst xmlns:a="http://schemas.openxmlformats.org/drawingml/2006/main">
              <a:ext uri="{FF2B5EF4-FFF2-40B4-BE49-F238E27FC236}">
                <a16:creationId xmlns:a16="http://schemas.microsoft.com/office/drawing/2014/main" id="{2B2C7D5F-5A52-61E1-BE2E-7809D35A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1602991"/>
            <a:ext cx="4899610" cy="2040839"/>
          </a:xfrm>
          <a:custGeom xmlns:a="http://schemas.openxmlformats.org/drawingml/2006/main">
            <a:rect l="l" t="t" r="r" b="b"/>
            <a:pathLst>
              <a:path w="1480432" h="616646">
                <a:moveTo>
                  <a:pt x="80586" y="0"/>
                </a:moveTo>
                <a:lnTo>
                  <a:pt x="1399846" y="0"/>
                </a:lnTo>
                <a:cubicBezTo>
                  <a:pt x="1444352" y="0"/>
                  <a:pt x="1480432" y="36079"/>
                  <a:pt x="1480432" y="80586"/>
                </a:cubicBezTo>
                <a:lnTo>
                  <a:pt x="1480432" y="536060"/>
                </a:lnTo>
                <a:cubicBezTo>
                  <a:pt x="1480432" y="580566"/>
                  <a:pt x="1444352" y="616646"/>
                  <a:pt x="1399846" y="616646"/>
                </a:cubicBezTo>
                <a:lnTo>
                  <a:pt x="80586" y="616646"/>
                </a:lnTo>
                <a:cubicBezTo>
                  <a:pt x="36079" y="616646"/>
                  <a:pt x="0" y="580566"/>
                  <a:pt x="0" y="536060"/>
                </a:cubicBezTo>
                <a:lnTo>
                  <a:pt x="0" y="80586"/>
                </a:lnTo>
                <a:cubicBezTo>
                  <a:pt x="0" y="36079"/>
                  <a:pt x="36079" y="0"/>
                  <a:pt x="8058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B703C4-54F8-178C-8E5F-31D1D111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1350802"/>
            <a:ext cx="4899610" cy="22930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20" name="TextBox 31">
            <a:extLst xmlns:a="http://schemas.openxmlformats.org/drawingml/2006/main">
              <a:ext uri="{FF2B5EF4-FFF2-40B4-BE49-F238E27FC236}">
                <a16:creationId xmlns:a16="http://schemas.microsoft.com/office/drawing/2014/main" id="{31DCD721-7C99-DDA9-EF5D-A00E2D84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4260" y="1908585"/>
            <a:ext cx="4888670" cy="1426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773"/>
              </a:lnSpc>
              <a:buNone/>
            </a:pPr>
            <a:r>
              <a:rPr sz="2400" b="1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Planejamento estratégico claro, aplicável e desdobrado em ação</a:t>
            </a:r>
          </a:p>
        </p:txBody>
      </p:sp>
      <p:sp>
        <p:nvSpPr>
          <p:cNvPr id="26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6B77E86-8FC1-7418-986F-3320FDC8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4260" y="4010956"/>
            <a:ext cx="4899610" cy="2040839"/>
          </a:xfrm>
          <a:custGeom xmlns:a="http://schemas.openxmlformats.org/drawingml/2006/main">
            <a:rect l="l" t="t" r="r" b="b"/>
            <a:pathLst>
              <a:path w="1480432" h="616646">
                <a:moveTo>
                  <a:pt x="80586" y="0"/>
                </a:moveTo>
                <a:lnTo>
                  <a:pt x="1399846" y="0"/>
                </a:lnTo>
                <a:cubicBezTo>
                  <a:pt x="1444352" y="0"/>
                  <a:pt x="1480432" y="36079"/>
                  <a:pt x="1480432" y="80586"/>
                </a:cubicBezTo>
                <a:lnTo>
                  <a:pt x="1480432" y="536060"/>
                </a:lnTo>
                <a:cubicBezTo>
                  <a:pt x="1480432" y="580566"/>
                  <a:pt x="1444352" y="616646"/>
                  <a:pt x="1399846" y="616646"/>
                </a:cubicBezTo>
                <a:lnTo>
                  <a:pt x="80586" y="616646"/>
                </a:lnTo>
                <a:cubicBezTo>
                  <a:pt x="36079" y="616646"/>
                  <a:pt x="0" y="580566"/>
                  <a:pt x="0" y="536060"/>
                </a:cubicBezTo>
                <a:lnTo>
                  <a:pt x="0" y="80586"/>
                </a:lnTo>
                <a:cubicBezTo>
                  <a:pt x="0" y="36079"/>
                  <a:pt x="36079" y="0"/>
                  <a:pt x="8058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Box 13">
            <a:extLst xmlns:a="http://schemas.openxmlformats.org/drawingml/2006/main">
              <a:ext uri="{FF2B5EF4-FFF2-40B4-BE49-F238E27FC236}">
                <a16:creationId xmlns:a16="http://schemas.microsoft.com/office/drawing/2014/main" id="{C2AE98C3-2B84-4495-F18C-9868ED04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4260" y="3758767"/>
            <a:ext cx="4899610" cy="22930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25" name="TextBox 31">
            <a:extLst xmlns:a="http://schemas.openxmlformats.org/drawingml/2006/main">
              <a:ext uri="{FF2B5EF4-FFF2-40B4-BE49-F238E27FC236}">
                <a16:creationId xmlns:a16="http://schemas.microsoft.com/office/drawing/2014/main" id="{E5544FE6-08D1-F83E-D6CA-6D8DDC69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4337268"/>
            <a:ext cx="4899610" cy="1426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773"/>
              </a:lnSpc>
              <a:buNone/>
            </a:pPr>
            <a:r>
              <a:rPr sz="2400" b="1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Processos com donos, padrões, metas e evidências</a:t>
            </a:r>
          </a:p>
        </p:txBody>
      </p:sp>
      <p:sp>
        <p:nvSpPr>
          <p:cNvPr id="31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4A6300E-EF2E-B689-9B33-A3D5BE09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6531661"/>
            <a:ext cx="4899610" cy="2040839"/>
          </a:xfrm>
          <a:custGeom xmlns:a="http://schemas.openxmlformats.org/drawingml/2006/main">
            <a:rect l="l" t="t" r="r" b="b"/>
            <a:pathLst>
              <a:path w="1480432" h="616646">
                <a:moveTo>
                  <a:pt x="80586" y="0"/>
                </a:moveTo>
                <a:lnTo>
                  <a:pt x="1399846" y="0"/>
                </a:lnTo>
                <a:cubicBezTo>
                  <a:pt x="1444352" y="0"/>
                  <a:pt x="1480432" y="36079"/>
                  <a:pt x="1480432" y="80586"/>
                </a:cubicBezTo>
                <a:lnTo>
                  <a:pt x="1480432" y="536060"/>
                </a:lnTo>
                <a:cubicBezTo>
                  <a:pt x="1480432" y="580566"/>
                  <a:pt x="1444352" y="616646"/>
                  <a:pt x="1399846" y="616646"/>
                </a:cubicBezTo>
                <a:lnTo>
                  <a:pt x="80586" y="616646"/>
                </a:lnTo>
                <a:cubicBezTo>
                  <a:pt x="36079" y="616646"/>
                  <a:pt x="0" y="580566"/>
                  <a:pt x="0" y="536060"/>
                </a:cubicBezTo>
                <a:lnTo>
                  <a:pt x="0" y="80586"/>
                </a:lnTo>
                <a:cubicBezTo>
                  <a:pt x="0" y="36079"/>
                  <a:pt x="36079" y="0"/>
                  <a:pt x="8058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Box 16">
            <a:extLst xmlns:a="http://schemas.openxmlformats.org/drawingml/2006/main">
              <a:ext uri="{FF2B5EF4-FFF2-40B4-BE49-F238E27FC236}">
                <a16:creationId xmlns:a16="http://schemas.microsoft.com/office/drawing/2014/main" id="{CB7C9629-046D-851A-4105-D79E20B2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6279472"/>
            <a:ext cx="4899610" cy="22930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30" name="TextBox 31">
            <a:extLst xmlns:a="http://schemas.openxmlformats.org/drawingml/2006/main">
              <a:ext uri="{FF2B5EF4-FFF2-40B4-BE49-F238E27FC236}">
                <a16:creationId xmlns:a16="http://schemas.microsoft.com/office/drawing/2014/main" id="{C0249D0B-5EA7-DC5C-0403-EA8FE0E1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6840904"/>
            <a:ext cx="4877730" cy="1426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773"/>
              </a:lnSpc>
              <a:buNone/>
            </a:pPr>
            <a:r>
              <a:rPr sz="2400" b="1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Projetos priorizados, acompanhados e conectados à rotina</a:t>
            </a:r>
          </a:p>
        </p:txBody>
      </p:sp>
      <p:sp>
        <p:nvSpPr>
          <p:cNvPr id="4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CFE5A29-362D-B19E-CFD4-5971539A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9953" y="6531661"/>
            <a:ext cx="4899610" cy="2040839"/>
          </a:xfrm>
          <a:custGeom xmlns:a="http://schemas.openxmlformats.org/drawingml/2006/main">
            <a:rect l="l" t="t" r="r" b="b"/>
            <a:pathLst>
              <a:path w="1480432" h="616646">
                <a:moveTo>
                  <a:pt x="80586" y="0"/>
                </a:moveTo>
                <a:lnTo>
                  <a:pt x="1399846" y="0"/>
                </a:lnTo>
                <a:cubicBezTo>
                  <a:pt x="1444352" y="0"/>
                  <a:pt x="1480432" y="36079"/>
                  <a:pt x="1480432" y="80586"/>
                </a:cubicBezTo>
                <a:lnTo>
                  <a:pt x="1480432" y="536060"/>
                </a:lnTo>
                <a:cubicBezTo>
                  <a:pt x="1480432" y="580566"/>
                  <a:pt x="1444352" y="616646"/>
                  <a:pt x="1399846" y="616646"/>
                </a:cubicBezTo>
                <a:lnTo>
                  <a:pt x="80586" y="616646"/>
                </a:lnTo>
                <a:cubicBezTo>
                  <a:pt x="36079" y="616646"/>
                  <a:pt x="0" y="580566"/>
                  <a:pt x="0" y="536060"/>
                </a:cubicBezTo>
                <a:lnTo>
                  <a:pt x="0" y="80586"/>
                </a:lnTo>
                <a:cubicBezTo>
                  <a:pt x="0" y="36079"/>
                  <a:pt x="36079" y="0"/>
                  <a:pt x="8058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Box 22">
            <a:extLst xmlns:a="http://schemas.openxmlformats.org/drawingml/2006/main">
              <a:ext uri="{FF2B5EF4-FFF2-40B4-BE49-F238E27FC236}">
                <a16:creationId xmlns:a16="http://schemas.microsoft.com/office/drawing/2014/main" id="{82DABD69-1915-14B8-DF7F-9E7C4472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9953" y="6279472"/>
            <a:ext cx="4899610" cy="22930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43" name="TextBox 37">
            <a:extLst xmlns:a="http://schemas.openxmlformats.org/drawingml/2006/main">
              <a:ext uri="{FF2B5EF4-FFF2-40B4-BE49-F238E27FC236}">
                <a16:creationId xmlns:a16="http://schemas.microsoft.com/office/drawing/2014/main" id="{1FC8C62B-1B7E-3C1A-6B5F-5BFBCA47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744" y="6828204"/>
            <a:ext cx="4343814" cy="4516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773"/>
              </a:lnSpc>
              <a:buNone/>
            </a:pPr>
          </a:p>
        </p:txBody>
      </p:sp>
      <p:sp>
        <p:nvSpPr>
          <p:cNvPr id="46" name="TextBox 37">
            <a:extLst xmlns:a="http://schemas.openxmlformats.org/drawingml/2006/main">
              <a:ext uri="{FF2B5EF4-FFF2-40B4-BE49-F238E27FC236}">
                <a16:creationId xmlns:a16="http://schemas.microsoft.com/office/drawing/2014/main" id="{BDA0F3C5-3045-8CC0-D0ED-94E8DC23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9953" y="6840904"/>
            <a:ext cx="4899610" cy="1426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773"/>
              </a:lnSpc>
              <a:buNone/>
            </a:pPr>
            <a:r>
              <a:rPr sz="2400" b="1">
                <a:solidFill>
                  <a:schemeClr val="bg1"/>
                </a:solidFill>
                <a:latin typeface="Poppins 1 Bold"/>
                <a:ea typeface="Poppins 1 Bold"/>
                <a:cs typeface="Poppins 1 Bold"/>
              </a:rPr>
              <a:t>Desempenho e carga de trabalho com mais visibilidade</a:t>
            </a:r>
          </a:p>
        </p:txBody>
      </p:sp>
      <p:sp>
        <p:nvSpPr>
          <p:cNvPr id="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66FFEDD-6AE5-D995-A499-49FAA83C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522"/>
            <a:ext cx="16976271" cy="76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6050"/>
              </a:lnSpc>
              <a:buNone/>
            </a:pPr>
            <a:r>
              <a:rPr sz="4800" b="1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3 — O QUE SUA EMPRESA GANHA</a:t>
            </a:r>
          </a:p>
        </p:txBody>
      </p:sp>
      <p:sp>
        <p:nvSpPr>
          <p:cNvPr id="35" name="CaixaDeTexto 34">
            <a:extLst xmlns:a="http://schemas.openxmlformats.org/drawingml/2006/main">
              <a:ext uri="{FF2B5EF4-FFF2-40B4-BE49-F238E27FC236}">
                <a16:creationId xmlns:a16="http://schemas.microsoft.com/office/drawing/2014/main" id="{7A9D9278-F232-3876-347A-D55DFD67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71505"/>
            <a:ext cx="18288000" cy="543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773"/>
              </a:lnSpc>
              <a:buNone/>
            </a:pPr>
            <a:r>
              <a:rPr sz="2400" b="1">
                <a:solidFill>
                  <a:srgbClr val="39F2AE"/>
                </a:solidFill>
                <a:latin typeface="Poppins 1 Bold"/>
                <a:ea typeface="Poppins 1 Bold"/>
                <a:cs typeface="Poppins 1 Bold"/>
              </a:rPr>
              <a:t>Sua organização caminha para se tornar a melhor versão de si mesma.</a:t>
            </a:r>
          </a:p>
        </p:txBody>
      </p:sp>
    </p:spTree>
    <p:extLst>
      <p:ext uri="{BB962C8B-B14F-4D97-AF65-F5344CB8AC3E}">
        <p14:creationId xmlns:p14="http://schemas.microsoft.com/office/powerpoint/2010/main" val="13635912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reeform 2">
            <a:extLst xmlns:a="http://schemas.openxmlformats.org/drawingml/2006/main">
              <a:ext uri="{FF2B5EF4-FFF2-40B4-BE49-F238E27FC236}">
                <a16:creationId xmlns:a16="http://schemas.microsoft.com/office/drawing/2014/main" id="{E4E0F2B6-B236-BA27-8328-B0508E92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afe33bbc4e84497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6AF04DD-F6C5-4FB9-9C19-A00D4DD0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3f0b0ed80f44f89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2342602-010A-4849-8D6E-F6CFE0A3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10" y="717950"/>
            <a:ext cx="14642989" cy="76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6050"/>
              </a:lnSpc>
              <a:buNone/>
            </a:pPr>
            <a:r>
              <a:rPr sz="5000" b="1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4 — COMO IREMOS TRABALHAR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6A33289-7EDA-45E6-88C6-EADC2FF0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6704" y="6957428"/>
            <a:ext cx="8847153" cy="2027655"/>
          </a:xfrm>
          <a:custGeom xmlns:a="http://schemas.openxmlformats.org/drawingml/2006/main">
            <a:rect l="l" t="t" r="r" b="b"/>
            <a:pathLst>
              <a:path w="2330114" h="534033">
                <a:moveTo>
                  <a:pt x="44629" y="0"/>
                </a:moveTo>
                <a:lnTo>
                  <a:pt x="2285485" y="0"/>
                </a:lnTo>
                <a:cubicBezTo>
                  <a:pt x="2297322" y="0"/>
                  <a:pt x="2308673" y="4702"/>
                  <a:pt x="2317043" y="13071"/>
                </a:cubicBezTo>
                <a:cubicBezTo>
                  <a:pt x="2325412" y="21441"/>
                  <a:pt x="2330114" y="32793"/>
                  <a:pt x="2330114" y="44629"/>
                </a:cubicBezTo>
                <a:lnTo>
                  <a:pt x="2330114" y="489404"/>
                </a:lnTo>
                <a:cubicBezTo>
                  <a:pt x="2330114" y="514052"/>
                  <a:pt x="2310133" y="534033"/>
                  <a:pt x="2285485" y="534033"/>
                </a:cubicBezTo>
                <a:lnTo>
                  <a:pt x="44629" y="534033"/>
                </a:lnTo>
                <a:cubicBezTo>
                  <a:pt x="32793" y="534033"/>
                  <a:pt x="21441" y="529331"/>
                  <a:pt x="13071" y="520961"/>
                </a:cubicBezTo>
                <a:cubicBezTo>
                  <a:pt x="4702" y="512592"/>
                  <a:pt x="0" y="501240"/>
                  <a:pt x="0" y="489404"/>
                </a:cubicBezTo>
                <a:lnTo>
                  <a:pt x="0" y="44629"/>
                </a:lnTo>
                <a:cubicBezTo>
                  <a:pt x="0" y="32793"/>
                  <a:pt x="4702" y="21441"/>
                  <a:pt x="13071" y="13071"/>
                </a:cubicBezTo>
                <a:cubicBezTo>
                  <a:pt x="21441" y="4702"/>
                  <a:pt x="32793" y="0"/>
                  <a:pt x="44629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EC57343-CB10-42C7-A3FA-78EEB8CD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6704" y="6668107"/>
            <a:ext cx="8847153" cy="23169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148D97D8-C899-46D6-8E4E-5EABBCE0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8045" y="7977962"/>
            <a:ext cx="2316147" cy="1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CB5612F-2EE6-441B-B909-BB2F2177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5914" y="7240285"/>
            <a:ext cx="7843561" cy="14619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75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Assessoria assistida</a:t>
            </a:r>
          </a:p>
          <a:p xmlns:a="http://schemas.openxmlformats.org/drawingml/2006/main">
            <a:pPr marL="0" indent="0" algn="l">
              <a:lnSpc>
                <a:spcPts val="3775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Apoio à execução, follow-up, evidências e organização da rotina.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044BAE3-A8F3-49FF-B059-96ABF67F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5818" y="4646916"/>
            <a:ext cx="8847153" cy="2027655"/>
          </a:xfrm>
          <a:custGeom xmlns:a="http://schemas.openxmlformats.org/drawingml/2006/main">
            <a:rect l="l" t="t" r="r" b="b"/>
            <a:pathLst>
              <a:path w="2330114" h="534033">
                <a:moveTo>
                  <a:pt x="44629" y="0"/>
                </a:moveTo>
                <a:lnTo>
                  <a:pt x="2285485" y="0"/>
                </a:lnTo>
                <a:cubicBezTo>
                  <a:pt x="2297322" y="0"/>
                  <a:pt x="2308673" y="4702"/>
                  <a:pt x="2317043" y="13071"/>
                </a:cubicBezTo>
                <a:cubicBezTo>
                  <a:pt x="2325412" y="21441"/>
                  <a:pt x="2330114" y="32793"/>
                  <a:pt x="2330114" y="44629"/>
                </a:cubicBezTo>
                <a:lnTo>
                  <a:pt x="2330114" y="489404"/>
                </a:lnTo>
                <a:cubicBezTo>
                  <a:pt x="2330114" y="514052"/>
                  <a:pt x="2310133" y="534033"/>
                  <a:pt x="2285485" y="534033"/>
                </a:cubicBezTo>
                <a:lnTo>
                  <a:pt x="44629" y="534033"/>
                </a:lnTo>
                <a:cubicBezTo>
                  <a:pt x="32793" y="534033"/>
                  <a:pt x="21441" y="529331"/>
                  <a:pt x="13071" y="520961"/>
                </a:cubicBezTo>
                <a:cubicBezTo>
                  <a:pt x="4702" y="512592"/>
                  <a:pt x="0" y="501240"/>
                  <a:pt x="0" y="489404"/>
                </a:cubicBezTo>
                <a:lnTo>
                  <a:pt x="0" y="44629"/>
                </a:lnTo>
                <a:cubicBezTo>
                  <a:pt x="0" y="32793"/>
                  <a:pt x="4702" y="21441"/>
                  <a:pt x="13071" y="13071"/>
                </a:cubicBezTo>
                <a:cubicBezTo>
                  <a:pt x="21441" y="4702"/>
                  <a:pt x="32793" y="0"/>
                  <a:pt x="44629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5DE3CE3-3761-4F11-9350-AB671C9A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5818" y="4357595"/>
            <a:ext cx="8847153" cy="23169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0316B254-B139-4335-A7AC-249D1D4E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8045" y="5571947"/>
            <a:ext cx="2316147" cy="1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B6E735D-D698-47FF-9E5C-D2D9E99B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4929773"/>
            <a:ext cx="7843561" cy="14619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75"/>
              </a:lnSpc>
              <a:buNone/>
            </a:pPr>
            <a:r>
              <a:rPr sz="3199" u="none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Reuniões semanais táticas</a:t>
            </a:r>
          </a:p>
          <a:p xmlns:a="http://schemas.openxmlformats.org/drawingml/2006/main">
            <a:pPr marL="0" indent="0" algn="l">
              <a:lnSpc>
                <a:spcPts val="3775"/>
              </a:lnSpc>
              <a:buNone/>
            </a:pPr>
            <a:r>
              <a:rPr sz="3199" u="none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Gerências: entregas, gargalos, planos de ação e cobranças.</a:t>
            </a:r>
          </a:p>
        </p:txBody>
      </p:sp>
      <p:sp>
        <p:nvSpPr>
          <p:cNvPr id="19" name="Freeform 4">
            <a:extLst xmlns:a="http://schemas.openxmlformats.org/drawingml/2006/main">
              <a:ext uri="{FF2B5EF4-FFF2-40B4-BE49-F238E27FC236}">
                <a16:creationId xmlns:a16="http://schemas.microsoft.com/office/drawing/2014/main" id="{74C13383-AE36-4C62-B927-6F181B70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5818" y="2324100"/>
            <a:ext cx="8825710" cy="2027655"/>
          </a:xfrm>
          <a:custGeom xmlns:a="http://schemas.openxmlformats.org/drawingml/2006/main">
            <a:rect l="l" t="t" r="r" b="b"/>
            <a:pathLst>
              <a:path w="2330114" h="534033">
                <a:moveTo>
                  <a:pt x="44629" y="0"/>
                </a:moveTo>
                <a:lnTo>
                  <a:pt x="2285485" y="0"/>
                </a:lnTo>
                <a:cubicBezTo>
                  <a:pt x="2297322" y="0"/>
                  <a:pt x="2308673" y="4702"/>
                  <a:pt x="2317043" y="13071"/>
                </a:cubicBezTo>
                <a:cubicBezTo>
                  <a:pt x="2325412" y="21441"/>
                  <a:pt x="2330114" y="32793"/>
                  <a:pt x="2330114" y="44629"/>
                </a:cubicBezTo>
                <a:lnTo>
                  <a:pt x="2330114" y="489404"/>
                </a:lnTo>
                <a:cubicBezTo>
                  <a:pt x="2330114" y="514052"/>
                  <a:pt x="2310133" y="534033"/>
                  <a:pt x="2285485" y="534033"/>
                </a:cubicBezTo>
                <a:lnTo>
                  <a:pt x="44629" y="534033"/>
                </a:lnTo>
                <a:cubicBezTo>
                  <a:pt x="32793" y="534033"/>
                  <a:pt x="21441" y="529331"/>
                  <a:pt x="13071" y="520961"/>
                </a:cubicBezTo>
                <a:cubicBezTo>
                  <a:pt x="4702" y="512592"/>
                  <a:pt x="0" y="501240"/>
                  <a:pt x="0" y="489404"/>
                </a:cubicBezTo>
                <a:lnTo>
                  <a:pt x="0" y="44629"/>
                </a:lnTo>
                <a:cubicBezTo>
                  <a:pt x="0" y="32793"/>
                  <a:pt x="4702" y="21441"/>
                  <a:pt x="13071" y="13071"/>
                </a:cubicBezTo>
                <a:cubicBezTo>
                  <a:pt x="21441" y="4702"/>
                  <a:pt x="32793" y="0"/>
                  <a:pt x="44629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Box 5">
            <a:extLst xmlns:a="http://schemas.openxmlformats.org/drawingml/2006/main">
              <a:ext uri="{FF2B5EF4-FFF2-40B4-BE49-F238E27FC236}">
                <a16:creationId xmlns:a16="http://schemas.microsoft.com/office/drawing/2014/main" id="{9F465D59-004A-6205-CA84-A152F94B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5818" y="2034779"/>
            <a:ext cx="8825710" cy="23169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21" name="AutoShape 9">
            <a:extLst xmlns:a="http://schemas.openxmlformats.org/drawingml/2006/main">
              <a:ext uri="{FF2B5EF4-FFF2-40B4-BE49-F238E27FC236}">
                <a16:creationId xmlns:a16="http://schemas.microsoft.com/office/drawing/2014/main" id="{E443F840-2E77-2C8A-F16E-6C2E40B2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529" y="3356976"/>
            <a:ext cx="2288815" cy="1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Box 15">
            <a:extLst xmlns:a="http://schemas.openxmlformats.org/drawingml/2006/main">
              <a:ext uri="{FF2B5EF4-FFF2-40B4-BE49-F238E27FC236}">
                <a16:creationId xmlns:a16="http://schemas.microsoft.com/office/drawing/2014/main" id="{7E7A62AD-6C76-4642-12B9-480BD649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4376" y="2626007"/>
            <a:ext cx="7824551" cy="14619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75"/>
              </a:lnSpc>
              <a:buNone/>
            </a:pPr>
            <a:r>
              <a:rPr sz="3199" u="none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Reunião mensal estratégica</a:t>
            </a:r>
          </a:p>
          <a:p xmlns:a="http://schemas.openxmlformats.org/drawingml/2006/main">
            <a:pPr marL="0" indent="0" algn="l">
              <a:lnSpc>
                <a:spcPts val="3775"/>
              </a:lnSpc>
              <a:buNone/>
            </a:pPr>
            <a:r>
              <a:rPr sz="3199" u="none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Diretoria: resultados, decisões, prioridades e rumos.</a:t>
            </a:r>
          </a:p>
        </p:txBody>
      </p:sp>
      <p:sp>
        <p:nvSpPr>
          <p:cNvPr id="23" name="TextBox 5">
            <a:extLst xmlns:a="http://schemas.openxmlformats.org/drawingml/2006/main">
              <a:ext uri="{FF2B5EF4-FFF2-40B4-BE49-F238E27FC236}">
                <a16:creationId xmlns:a16="http://schemas.microsoft.com/office/drawing/2014/main" id="{7CCCD412-1944-530F-DE8F-FBF66387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11" y="1874123"/>
            <a:ext cx="6590757" cy="76949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2800">
                <a:solidFill>
                  <a:srgbClr val="39F2AE"/>
                </a:solidFill>
                <a:latin typeface="Poppins 2"/>
                <a:ea typeface="Poppins 2"/>
                <a:cs typeface="Poppins 2"/>
              </a:rPr>
              <a:t>Serão 20 horas mensais de consultoria remota ou presencial. Nesse período, aplicamos metodologia desenvolvida em mais de 15 anos de experiência, apoiada por tecnologia própria para dar ritmo, disciplina e consistência à gestão.</a:t>
            </a:r>
          </a:p>
        </p:txBody>
      </p:sp>
    </p:spTree>
    <p:extLst>
      <p:ext uri="{BB962C8B-B14F-4D97-AF65-F5344CB8AC3E}">
        <p14:creationId xmlns:p14="http://schemas.microsoft.com/office/powerpoint/2010/main" val="1263698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042368F-DF18-4ADC-9E4A-6DCC7A83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607" y="-1559850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8ee8b89441de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D1C9EF8-DEF1-4323-9B29-9E181E2A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43" y="-30955"/>
            <a:ext cx="18288000" cy="10287000"/>
          </a:xfrm>
          <a:custGeom xmlns:a="http://schemas.openxmlformats.org/drawingml/2006/main">
            <a:rect l="l" t="t" r="r" b="b"/>
            <a:pathLst>
              <a:path w="18288000" h="12801600">
                <a:moveTo>
                  <a:pt x="0" y="0"/>
                </a:moveTo>
                <a:lnTo>
                  <a:pt x="18288000" y="0"/>
                </a:lnTo>
                <a:lnTo>
                  <a:pt x="18288000" y="12801600"/>
                </a:lnTo>
                <a:lnTo>
                  <a:pt x="0" y="12801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627ee00c9764a09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065D3A-25AC-4B58-AFF0-6CFDB5C1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d0d16c3831b480a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DDCB2D6-F09D-4C8D-936A-A3A2070B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85875"/>
            <a:ext cx="12573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650"/>
              <a:t>Nossa proposta permite que empresas menores acessem uma estrutura de gestão antes restrita a grandes organizações.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800" b="1">
                <a:solidFill>
                  <a:schemeClr val="bg1"/>
                </a:solidFill>
                <a:latin typeface="Poppins 1 Bold"/>
                <a:ea typeface="Poppins 1 Bold"/>
                <a:cs typeface="Poppins 1 Bold"/>
              </a:rP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650"/>
              <a:t>Investimento: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650"/>
              <a:t>• Parcela fixa mensal: R$ [valor]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650">
                <a:solidFill>
                  <a:srgbClr val="39F2AE"/>
                </a:solidFill>
                <a:latin typeface="Poppins 1 Bold"/>
                <a:ea typeface="Poppins 1 Bold"/>
                <a:cs typeface="Poppins 1 Bold"/>
              </a:rPr>
              <a:t>• Parcela variável por metas/resultados: R$ [critério]</a:t>
            </a:r>
          </a:p>
          <a:p xmlns:a="http://schemas.openxmlformats.org/drawingml/2006/main">
            <a:pPr marL="2343150" indent="-514350">
              <a:lnSpc>
                <a:spcPct val="125000"/>
              </a:lnSpc>
              <a:buAutoNum type="alphaLcParenR"/>
            </a:pPr>
            <a:r>
              <a:rPr sz="3200" b="1">
                <a:solidFill>
                  <a:srgbClr val="39F2AE"/>
                </a:solidFill>
                <a:latin typeface="Poppins 1 Bold"/>
                <a:ea typeface="Poppins 1 Bold"/>
                <a:cs typeface="Poppins 1 Bold"/>
              </a:rPr>
              <a:t/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650">
                <a:solidFill>
                  <a:srgbClr val="39F2AE"/>
                </a:solidFill>
                <a:latin typeface="Poppins 1 Bold"/>
                <a:ea typeface="Poppins 1 Bold"/>
                <a:cs typeface="Poppins 1 Bold"/>
              </a:rPr>
              <a:t>Sem fidelidade obrigatória e sem multa rescisória, quando aplicável.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0CB3428-4744-4983-AADB-DA56251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82378" y="4745955"/>
            <a:ext cx="9736456" cy="817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0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5 — INVESTIMENTO</a:t>
            </a:r>
          </a:p>
        </p:txBody>
      </p:sp>
    </p:spTree>
    <p:extLst>
      <p:ext uri="{BB962C8B-B14F-4D97-AF65-F5344CB8AC3E}">
        <p14:creationId xmlns:p14="http://schemas.microsoft.com/office/powerpoint/2010/main" val="11735251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4A4B867-50E7-A104-D0D1-5F03D4C5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607" y="-1559850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a3e63b37ccb40e0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7C2D202-8183-B17D-B00C-724335AE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43" y="-30955"/>
            <a:ext cx="18288000" cy="10287000"/>
          </a:xfrm>
          <a:custGeom xmlns:a="http://schemas.openxmlformats.org/drawingml/2006/main">
            <a:rect l="l" t="t" r="r" b="b"/>
            <a:pathLst>
              <a:path w="18288000" h="12801600">
                <a:moveTo>
                  <a:pt x="0" y="0"/>
                </a:moveTo>
                <a:lnTo>
                  <a:pt x="18288000" y="0"/>
                </a:lnTo>
                <a:lnTo>
                  <a:pt x="18288000" y="12801600"/>
                </a:lnTo>
                <a:lnTo>
                  <a:pt x="0" y="12801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98daaf14ea401b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E640E41-2DD3-4D22-FF9D-585220D7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ce623bc080a4982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A6B1855-9E87-0989-9A58-657D3D61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82378" y="4745955"/>
            <a:ext cx="9736456" cy="817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0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5 — INVESTIMENTO</a:t>
            </a:r>
          </a:p>
        </p:txBody>
      </p:sp>
      <p:sp>
        <p:nvSpPr>
          <p:cNvPr id="8" name="TextBox 6">
            <a:extLst xmlns:a="http://schemas.openxmlformats.org/drawingml/2006/main">
              <a:ext uri="{FF2B5EF4-FFF2-40B4-BE49-F238E27FC236}">
                <a16:creationId xmlns:a16="http://schemas.microsoft.com/office/drawing/2014/main" id="{3EC8478D-C6C2-41DB-D92A-0E6AC5F7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62125"/>
            <a:ext cx="123825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5401"/>
              </a:lnSpc>
              <a:buNone/>
            </a:pPr>
            <a:r>
              <a:rPr sz="1950" b="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Condição de entrada com risco reduzido</a:t>
            </a:r>
          </a:p>
          <a:p xmlns:a="http://schemas.openxmlformats.org/drawingml/2006/main">
            <a:pPr>
              <a:lnSpc>
                <a:spcPts val="5401"/>
              </a:lnSpc>
              <a:buNone/>
            </a:pPr>
            <a:r>
              <a:t/>
            </a:r>
          </a:p>
          <a:p xmlns:a="http://schemas.openxmlformats.org/drawingml/2006/main">
            <a:pPr marL="457200" indent="-457200">
              <a:lnSpc>
                <a:spcPts val="5401"/>
              </a:lnSpc>
              <a:buChar char="è"/>
            </a:pPr>
            <a:r>
              <a:rPr sz="1950"/>
              <a:t>Proposta válida até [data].</a:t>
            </a:r>
          </a:p>
          <a:p xmlns:a="http://schemas.openxmlformats.org/drawingml/2006/main">
            <a:pPr marL="800100" indent="-342900">
              <a:lnSpc>
                <a:spcPts val="5401"/>
              </a:lnSpc>
              <a:buChar char="•"/>
            </a:pPr>
            <a:r>
              <a:rPr sz="2400" b="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/>
            </a:r>
          </a:p>
          <a:p xmlns:a="http://schemas.openxmlformats.org/drawingml/2006/main">
            <a:pPr marL="800100" indent="-342900">
              <a:lnSpc>
                <a:spcPts val="5401"/>
              </a:lnSpc>
              <a:buChar char="•"/>
            </a:pPr>
            <a:r>
              <a:rPr sz="1950" b="1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A continuidade será revisada com base em utilidade percebida, aderência da cadência e evolução real da gestão.</a:t>
            </a:r>
          </a:p>
        </p:txBody>
      </p:sp>
    </p:spTree>
    <p:extLst>
      <p:ext uri="{BB962C8B-B14F-4D97-AF65-F5344CB8AC3E}">
        <p14:creationId xmlns:p14="http://schemas.microsoft.com/office/powerpoint/2010/main" val="35287892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D4AC2EE-334B-4F35-B38D-ABE976F2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49a38f96e4b3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4B82EBDB-648E-40AC-93CC-E907268F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610187"/>
            <a:ext cx="2269379" cy="1534100"/>
          </a:xfrm>
          <a:custGeom xmlns:a="http://schemas.openxmlformats.org/drawingml/2006/main">
            <a:rect l="l" t="t" r="r" b="b"/>
            <a:pathLst>
              <a:path w="3025839" h="2045467">
                <a:moveTo>
                  <a:pt x="0" y="0"/>
                </a:moveTo>
                <a:lnTo>
                  <a:pt x="3025839" y="0"/>
                </a:lnTo>
                <a:lnTo>
                  <a:pt x="3025839" y="2045467"/>
                </a:lnTo>
                <a:lnTo>
                  <a:pt x="0" y="20454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c6f69274c34bcf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FF6C8B7-422C-415D-B57A-F2892D4A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9440" y="8091295"/>
            <a:ext cx="2559859" cy="562806"/>
          </a:xfrm>
          <a:custGeom xmlns:a="http://schemas.openxmlformats.org/drawingml/2006/main">
            <a:rect l="l" t="t" r="r" b="b"/>
            <a:pathLst>
              <a:path w="3413146" h="750408">
                <a:moveTo>
                  <a:pt x="0" y="0"/>
                </a:moveTo>
                <a:lnTo>
                  <a:pt x="3413146" y="0"/>
                </a:lnTo>
                <a:lnTo>
                  <a:pt x="3413146" y="750408"/>
                </a:lnTo>
                <a:lnTo>
                  <a:pt x="0" y="7504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6af7c58bc024a12"/>
            <a:stretch>
              <a:fillRect l="-12998" t="-241791" r="-12887" b="-230788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C3F5516-572C-4B4A-AFA3-AC04782C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1348" y="7950594"/>
            <a:ext cx="2006131" cy="853286"/>
          </a:xfrm>
          <a:custGeom xmlns:a="http://schemas.openxmlformats.org/drawingml/2006/main">
            <a:rect l="l" t="t" r="r" b="b"/>
            <a:pathLst>
              <a:path w="2674842" h="1137715">
                <a:moveTo>
                  <a:pt x="0" y="0"/>
                </a:moveTo>
                <a:lnTo>
                  <a:pt x="2674842" y="0"/>
                </a:lnTo>
                <a:lnTo>
                  <a:pt x="2674842" y="1137715"/>
                </a:lnTo>
                <a:lnTo>
                  <a:pt x="0" y="113771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bb98648d324a6a"/>
            <a:stretch>
              <a:fillRect l="0" t="-67702" r="0" b="-67404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99F0320-D526-4D2D-AC46-5F7B03B4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070" y="7755427"/>
            <a:ext cx="1633953" cy="1243620"/>
          </a:xfrm>
          <a:custGeom xmlns:a="http://schemas.openxmlformats.org/drawingml/2006/main">
            <a:rect l="l" t="t" r="r" b="b"/>
            <a:pathLst>
              <a:path w="2178604" h="1658160">
                <a:moveTo>
                  <a:pt x="0" y="0"/>
                </a:moveTo>
                <a:lnTo>
                  <a:pt x="2178604" y="0"/>
                </a:lnTo>
                <a:lnTo>
                  <a:pt x="2178604" y="1658159"/>
                </a:lnTo>
                <a:lnTo>
                  <a:pt x="0" y="16581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4c5b3e1170c44a9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24910D3-5502-4996-9443-16D39377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1797" y="7537567"/>
            <a:ext cx="1443325" cy="1679341"/>
          </a:xfrm>
          <a:custGeom xmlns:a="http://schemas.openxmlformats.org/drawingml/2006/main">
            <a:rect l="l" t="t" r="r" b="b"/>
            <a:pathLst>
              <a:path w="1924434" h="2239121">
                <a:moveTo>
                  <a:pt x="0" y="0"/>
                </a:moveTo>
                <a:lnTo>
                  <a:pt x="1924434" y="0"/>
                </a:lnTo>
                <a:lnTo>
                  <a:pt x="1924434" y="2239121"/>
                </a:lnTo>
                <a:lnTo>
                  <a:pt x="0" y="22391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75e385c04f4033"/>
            <a:stretch>
              <a:fillRect l="-25023" t="-21507" r="-46674" b="-2606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5C01A79-15C4-49A9-9671-FD37D56E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341" y="7746349"/>
            <a:ext cx="2305689" cy="1252697"/>
          </a:xfrm>
          <a:custGeom xmlns:a="http://schemas.openxmlformats.org/drawingml/2006/main">
            <a:rect l="l" t="t" r="r" b="b"/>
            <a:pathLst>
              <a:path w="3074252" h="1670263">
                <a:moveTo>
                  <a:pt x="0" y="0"/>
                </a:moveTo>
                <a:lnTo>
                  <a:pt x="3074252" y="0"/>
                </a:lnTo>
                <a:lnTo>
                  <a:pt x="3074252" y="1670263"/>
                </a:lnTo>
                <a:lnTo>
                  <a:pt x="0" y="167026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f9c975ea1ae4679"/>
            <a:stretch>
              <a:fillRect l="0" t="-41894" r="0" b="-4216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BD00E01-A317-4DB7-AEE3-08C63772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2397" y="8109450"/>
            <a:ext cx="3086355" cy="535573"/>
          </a:xfrm>
          <a:custGeom xmlns:a="http://schemas.openxmlformats.org/drawingml/2006/main">
            <a:rect l="l" t="t" r="r" b="b"/>
            <a:pathLst>
              <a:path w="4115141" h="714098">
                <a:moveTo>
                  <a:pt x="0" y="0"/>
                </a:moveTo>
                <a:lnTo>
                  <a:pt x="4115141" y="0"/>
                </a:lnTo>
                <a:lnTo>
                  <a:pt x="4115141" y="714098"/>
                </a:lnTo>
                <a:lnTo>
                  <a:pt x="0" y="71409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be9aa045514e84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2EBAC26-B731-4D6F-8901-2D3D3026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9e70bd8cad477c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22FE9DA-61F5-4DAF-ADD0-415D5B1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3299489"/>
            <a:ext cx="2938144" cy="910590"/>
          </a:xfrm>
          <a:custGeom xmlns:a="http://schemas.openxmlformats.org/drawingml/2006/main">
            <a:rect l="l" t="t" r="r" b="b"/>
            <a:pathLst>
              <a:path w="773832" h="239826">
                <a:moveTo>
                  <a:pt x="119913" y="0"/>
                </a:moveTo>
                <a:lnTo>
                  <a:pt x="653919" y="0"/>
                </a:lnTo>
                <a:cubicBezTo>
                  <a:pt x="685722" y="0"/>
                  <a:pt x="716222" y="12634"/>
                  <a:pt x="738710" y="35122"/>
                </a:cubicBezTo>
                <a:cubicBezTo>
                  <a:pt x="761198" y="57610"/>
                  <a:pt x="773832" y="88110"/>
                  <a:pt x="773832" y="119913"/>
                </a:cubicBezTo>
                <a:lnTo>
                  <a:pt x="773832" y="119913"/>
                </a:lnTo>
                <a:cubicBezTo>
                  <a:pt x="773832" y="151716"/>
                  <a:pt x="761198" y="182216"/>
                  <a:pt x="738710" y="204704"/>
                </a:cubicBezTo>
                <a:cubicBezTo>
                  <a:pt x="716222" y="227193"/>
                  <a:pt x="685722" y="239826"/>
                  <a:pt x="653919" y="239826"/>
                </a:cubicBezTo>
                <a:lnTo>
                  <a:pt x="119913" y="239826"/>
                </a:lnTo>
                <a:cubicBezTo>
                  <a:pt x="88110" y="239826"/>
                  <a:pt x="57610" y="227193"/>
                  <a:pt x="35122" y="204704"/>
                </a:cubicBezTo>
                <a:cubicBezTo>
                  <a:pt x="12634" y="182216"/>
                  <a:pt x="0" y="151716"/>
                  <a:pt x="0" y="119913"/>
                </a:cubicBezTo>
                <a:lnTo>
                  <a:pt x="0" y="119913"/>
                </a:lnTo>
                <a:cubicBezTo>
                  <a:pt x="0" y="88110"/>
                  <a:pt x="12634" y="57610"/>
                  <a:pt x="35122" y="35122"/>
                </a:cubicBezTo>
                <a:cubicBezTo>
                  <a:pt x="57610" y="12634"/>
                  <a:pt x="88110" y="0"/>
                  <a:pt x="11991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8E91DF9-B3B5-4323-A1D9-564987D3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3010167"/>
            <a:ext cx="2938144" cy="1199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2D0554A-D1FC-4089-B43A-B3E9D9EE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5038754"/>
            <a:ext cx="2938144" cy="910590"/>
          </a:xfrm>
          <a:custGeom xmlns:a="http://schemas.openxmlformats.org/drawingml/2006/main">
            <a:rect l="l" t="t" r="r" b="b"/>
            <a:pathLst>
              <a:path w="773832" h="239826">
                <a:moveTo>
                  <a:pt x="119913" y="0"/>
                </a:moveTo>
                <a:lnTo>
                  <a:pt x="653919" y="0"/>
                </a:lnTo>
                <a:cubicBezTo>
                  <a:pt x="685722" y="0"/>
                  <a:pt x="716222" y="12634"/>
                  <a:pt x="738710" y="35122"/>
                </a:cubicBezTo>
                <a:cubicBezTo>
                  <a:pt x="761198" y="57610"/>
                  <a:pt x="773832" y="88110"/>
                  <a:pt x="773832" y="119913"/>
                </a:cubicBezTo>
                <a:lnTo>
                  <a:pt x="773832" y="119913"/>
                </a:lnTo>
                <a:cubicBezTo>
                  <a:pt x="773832" y="151716"/>
                  <a:pt x="761198" y="182216"/>
                  <a:pt x="738710" y="204704"/>
                </a:cubicBezTo>
                <a:cubicBezTo>
                  <a:pt x="716222" y="227193"/>
                  <a:pt x="685722" y="239826"/>
                  <a:pt x="653919" y="239826"/>
                </a:cubicBezTo>
                <a:lnTo>
                  <a:pt x="119913" y="239826"/>
                </a:lnTo>
                <a:cubicBezTo>
                  <a:pt x="88110" y="239826"/>
                  <a:pt x="57610" y="227193"/>
                  <a:pt x="35122" y="204704"/>
                </a:cubicBezTo>
                <a:cubicBezTo>
                  <a:pt x="12634" y="182216"/>
                  <a:pt x="0" y="151716"/>
                  <a:pt x="0" y="119913"/>
                </a:cubicBezTo>
                <a:lnTo>
                  <a:pt x="0" y="119913"/>
                </a:lnTo>
                <a:cubicBezTo>
                  <a:pt x="0" y="88110"/>
                  <a:pt x="12634" y="57610"/>
                  <a:pt x="35122" y="35122"/>
                </a:cubicBezTo>
                <a:cubicBezTo>
                  <a:pt x="57610" y="12634"/>
                  <a:pt x="88110" y="0"/>
                  <a:pt x="11991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E31FAE-D7C7-4651-BA40-46E7D790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4749432"/>
            <a:ext cx="2938144" cy="1199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E4B817-D98B-46EF-96FC-6A1B6E6C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981075"/>
            <a:ext cx="4504536" cy="803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6050"/>
              </a:lnSpc>
              <a:buNone/>
            </a:pPr>
            <a:r>
              <a:rPr sz="5000" b="1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Histórias de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EB2CDAFD-FA54-4FCE-A904-F192A2DD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1461930"/>
            <a:ext cx="6072011" cy="1469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1080"/>
              </a:lnSpc>
              <a:buNone/>
            </a:pPr>
            <a:r>
              <a:rPr sz="9157" b="1">
                <a:solidFill>
                  <a:srgbClr val="3AF1AE"/>
                </a:solidFill>
                <a:latin typeface="Poppins 1 Bold"/>
                <a:ea typeface="Poppins 1 Bold"/>
                <a:cs typeface="Poppins 1 Bold"/>
              </a:rPr>
              <a:t>SUCESSO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D7B303-3764-4B91-BAAF-CB5E07E2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3270914"/>
            <a:ext cx="7179133" cy="939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29"/>
              </a:lnSpc>
              <a:buNone/>
            </a:pPr>
            <a:r>
              <a:rPr sz="3000" b="1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Mais de 15 anos de experiência aplicados à gestão empresarial.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4B8934A9-6AC1-4135-8EE2-986AD762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4552979"/>
            <a:ext cx="7179133" cy="23044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29"/>
              </a:lnSpc>
              <a:buNone/>
            </a:pPr>
            <a:r>
              <a:rPr sz="30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Nossas parcerias de longo prazo refletem compromisso com excelência, geração de valor e evolução real dos clientes. Cases e evidências específicos devem ser usados quando houver autorização.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6D9D4787-9B57-4DF3-BBA2-4F3CD226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639" y="6928480"/>
            <a:ext cx="4026721" cy="8298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67"/>
              </a:lnSpc>
              <a:buNone/>
            </a:pPr>
            <a:r>
              <a:rPr sz="27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Clientes e evidências autorizadas:</a:t>
            </a:r>
          </a:p>
        </p:txBody>
      </p:sp>
    </p:spTree>
    <p:extLst>
      <p:ext uri="{BB962C8B-B14F-4D97-AF65-F5344CB8AC3E}">
        <p14:creationId xmlns:p14="http://schemas.microsoft.com/office/powerpoint/2010/main" val="7693768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0B76F6F-2E81-49E4-BBD2-2BF2BDAE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429" y="7481036"/>
            <a:ext cx="6019800" cy="1647421"/>
          </a:xfrm>
          <a:custGeom xmlns:a="http://schemas.openxmlformats.org/drawingml/2006/main">
            <a:rect l="l" t="t" r="r" b="b"/>
            <a:pathLst>
              <a:path w="9696575" h="2653633">
                <a:moveTo>
                  <a:pt x="0" y="0"/>
                </a:moveTo>
                <a:lnTo>
                  <a:pt x="9696575" y="0"/>
                </a:lnTo>
                <a:lnTo>
                  <a:pt x="9696575" y="2653633"/>
                </a:lnTo>
                <a:lnTo>
                  <a:pt x="0" y="265363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1a4814fd2454859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85A636C-C2E5-4A98-9C84-4073F42E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71" y="547325"/>
            <a:ext cx="10096500" cy="9727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7490"/>
              </a:lnSpc>
              <a:buNone/>
            </a:pPr>
            <a:r>
              <a:rPr sz="7000" b="1">
                <a:solidFill>
                  <a:srgbClr val="3AF1AE"/>
                </a:solidFill>
                <a:latin typeface="Poppins 1 Bold"/>
                <a:ea typeface="Poppins 1 Bold"/>
                <a:cs typeface="Poppins 1 Bold"/>
              </a:rPr>
              <a:t>PRÓXIMO PASSO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058ACDD-5A6E-471B-8C2E-D5944FE3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72533"/>
            <a:ext cx="15201900" cy="5078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629"/>
              </a:lnSpc>
              <a:buNone/>
            </a:pPr>
            <a:r>
              <a:rPr sz="3600" b="1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Vamos iniciar este ciclo de gestão, controle e crescimento?</a:t>
            </a:r>
          </a:p>
          <a:p xmlns:a="http://schemas.openxmlformats.org/drawingml/2006/main">
            <a:pPr algn="l">
              <a:lnSpc>
                <a:spcPts val="3629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3629"/>
              </a:lnSpc>
              <a:buNone/>
            </a:pPr>
            <a:r>
              <a:t>Para avançar, envie CNPJ e e-mail da empresa para prepararmos o contrato e agendarmos o kickoff.</a:t>
            </a:r>
          </a:p>
          <a:p xmlns:a="http://schemas.openxmlformats.org/drawingml/2006/main">
            <a:pPr algn="l">
              <a:lnSpc>
                <a:spcPts val="3629"/>
              </a:lnSpc>
              <a:buNone/>
            </a:pPr>
            <a:r>
              <a:rPr sz="3200" b="1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/>
            </a:r>
          </a:p>
          <a:p xmlns:a="http://schemas.openxmlformats.org/drawingml/2006/main">
            <a:pPr algn="l">
              <a:lnSpc>
                <a:spcPts val="3629"/>
              </a:lnSpc>
              <a:buNone/>
            </a:pPr>
            <a:r>
              <a:t>No início, alinharemos agenda, responsáveis, acessos e prioridades dos primeiros 30 dias.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3FAE061-D9D7-43D3-9E96-BF684393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720361"/>
            <a:ext cx="5484184" cy="1141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71"/>
              </a:lnSpc>
              <a:buNone/>
            </a:pPr>
            <a:r>
              <a:rPr sz="3765" b="1">
                <a:solidFill>
                  <a:srgbClr val="E6C63F"/>
                </a:solidFill>
                <a:latin typeface="Poppins 1 Medium"/>
                <a:ea typeface="Poppins 1 Medium"/>
                <a:cs typeface="Poppins 1 Medium"/>
              </a:rPr>
              <a:t>Fabiano Ferreira</a:t>
            </a:r>
          </a:p>
          <a:p xmlns:a="http://schemas.openxmlformats.org/drawingml/2006/main">
            <a:pPr algn="l">
              <a:lnSpc>
                <a:spcPts val="3568"/>
              </a:lnSpc>
              <a:buNone/>
            </a:pPr>
            <a:r>
              <a:rPr sz="2548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fabiano@gestaoversus.com.br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97005F4-34FE-4754-AD7D-8FCA8075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8754" y="6988564"/>
            <a:ext cx="452263" cy="2632364"/>
          </a:xfrm>
          <a:custGeom xmlns:a="http://schemas.openxmlformats.org/drawingml/2006/main">
            <a:rect l="l" t="t" r="r" b="b"/>
            <a:pathLst>
              <a:path w="452263" h="2632364">
                <a:moveTo>
                  <a:pt x="0" y="0"/>
                </a:moveTo>
                <a:lnTo>
                  <a:pt x="452263" y="0"/>
                </a:lnTo>
                <a:lnTo>
                  <a:pt x="452263" y="2632364"/>
                </a:lnTo>
                <a:lnTo>
                  <a:pt x="0" y="263236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1d5110c1ee34238"/>
            <a:stretch>
              <a:fillRect l="-20394" t="0" r="-207004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E652587-C5C4-4BF3-8054-D7D29D7B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504" y="7041308"/>
            <a:ext cx="4447550" cy="5109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023"/>
              </a:lnSpc>
              <a:buNone/>
            </a:pPr>
            <a:r>
              <a:rPr sz="2011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(71) 9 9642-6565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B4587729-4DE6-4869-BFB7-4F8743E9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504" y="7631791"/>
            <a:ext cx="2364696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@gestaoversus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FC63198B-F622-462F-99E4-991141FC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504" y="8111604"/>
            <a:ext cx="3463161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gestaoversusoficial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9C1E49D-BBE8-4114-97D7-4185746A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504" y="9082403"/>
            <a:ext cx="4936896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facebook.com/VersusConsultoria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0EBA3DE-222A-43C6-9E49-34A85577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504" y="8597003"/>
            <a:ext cx="3650796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www.gestaoversus.com.br</a:t>
            </a:r>
          </a:p>
        </p:txBody>
      </p:sp>
    </p:spTree>
    <p:extLst>
      <p:ext uri="{BB962C8B-B14F-4D97-AF65-F5344CB8AC3E}">
        <p14:creationId xmlns:p14="http://schemas.microsoft.com/office/powerpoint/2010/main" val="1040708779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2026-05-25T14:37:01.4250000Z</dcterms:created>
  <dcterms:modified xsi:type="dcterms:W3CDTF">2026-05-25T14:37:01.4250000Z</dcterms:modified>
</coreProperties>
</file>