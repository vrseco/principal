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9547daa48b48f6" /><Relationship Type="http://schemas.openxmlformats.org/officeDocument/2006/relationships/extended-properties" Target="/docProps/app.xml" Id="R6c5603fa18f4432d" /><Relationship Type="http://schemas.openxmlformats.org/officeDocument/2006/relationships/officeDocument" Target="/ppt/presentation.xml" Id="R64d7c26181e04a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c81e0e1bf340b6"/>
  </p:sldMasterIdLst>
  <p:notesMasterIdLst>
    <p:notesMasterId xmlns:r="http://schemas.openxmlformats.org/officeDocument/2006/relationships" r:id="Rbc1d8d7b4933489c"/>
  </p:notesMasterIdLst>
  <p:sldIdLst>
    <p:sldId xmlns:r="http://schemas.openxmlformats.org/officeDocument/2006/relationships" id="256" r:id="R2debcda1e80540a8"/>
    <p:sldId xmlns:r="http://schemas.openxmlformats.org/officeDocument/2006/relationships" id="257" r:id="R72f665b5e43c488b"/>
    <p:sldId xmlns:r="http://schemas.openxmlformats.org/officeDocument/2006/relationships" id="258" r:id="Raa365274f6c145ad"/>
    <p:sldId xmlns:r="http://schemas.openxmlformats.org/officeDocument/2006/relationships" id="259" r:id="R2a6c3b4174e44896"/>
    <p:sldId xmlns:r="http://schemas.openxmlformats.org/officeDocument/2006/relationships" id="260" r:id="R7c06f38523a14a76"/>
    <p:sldId xmlns:r="http://schemas.openxmlformats.org/officeDocument/2006/relationships" id="261" r:id="R7002436567874286"/>
    <p:sldId xmlns:r="http://schemas.openxmlformats.org/officeDocument/2006/relationships" id="262" r:id="R8b3467f005314ecc"/>
    <p:sldId xmlns:r="http://schemas.openxmlformats.org/officeDocument/2006/relationships" id="263" r:id="R8c41a0f3485b4645"/>
    <p:sldId xmlns:r="http://schemas.openxmlformats.org/officeDocument/2006/relationships" id="264" r:id="R19e760e2e0654453"/>
    <p:sldId xmlns:r="http://schemas.openxmlformats.org/officeDocument/2006/relationships" id="265" r:id="R535dc03b116443ef"/>
    <p:sldId xmlns:r="http://schemas.openxmlformats.org/officeDocument/2006/relationships" id="266" r:id="Rd8fe9878e27d465b"/>
    <p:sldId xmlns:r="http://schemas.openxmlformats.org/officeDocument/2006/relationships" id="267" r:id="Rf63b38413926443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81e0e1bf340b6" /><Relationship Type="http://schemas.openxmlformats.org/officeDocument/2006/relationships/theme" Target="/ppt/theme/theme1.xml" Id="R5fe0dd4746ed4edb" /><Relationship Type="http://schemas.openxmlformats.org/officeDocument/2006/relationships/notesMaster" Target="/ppt/notesMasters/notesMaster1.xml" Id="Rbc1d8d7b4933489c" /><Relationship Type="http://schemas.openxmlformats.org/officeDocument/2006/relationships/presProps" Target="/ppt/presProps.xml" Id="R00208ac1dcf94425" /><Relationship Type="http://schemas.openxmlformats.org/officeDocument/2006/relationships/viewProps" Target="/ppt/viewProps.xml" Id="Rfda0807a32b94f86" /><Relationship Type="http://schemas.openxmlformats.org/officeDocument/2006/relationships/tableStyles" Target="/ppt/tableStyles.xml" Id="R7af94bab027c4d84" /><Relationship Type="http://schemas.openxmlformats.org/officeDocument/2006/relationships/slide" Target="/ppt/slides/slide1.xml" Id="R2debcda1e80540a8" /><Relationship Type="http://schemas.openxmlformats.org/officeDocument/2006/relationships/slide" Target="/ppt/slides/slide2.xml" Id="R72f665b5e43c488b" /><Relationship Type="http://schemas.openxmlformats.org/officeDocument/2006/relationships/slide" Target="/ppt/slides/slide3.xml" Id="Raa365274f6c145ad" /><Relationship Type="http://schemas.openxmlformats.org/officeDocument/2006/relationships/slide" Target="/ppt/slides/slide4.xml" Id="R2a6c3b4174e44896" /><Relationship Type="http://schemas.openxmlformats.org/officeDocument/2006/relationships/slide" Target="/ppt/slides/slide5.xml" Id="R7c06f38523a14a76" /><Relationship Type="http://schemas.openxmlformats.org/officeDocument/2006/relationships/slide" Target="/ppt/slides/slide6.xml" Id="R7002436567874286" /><Relationship Type="http://schemas.openxmlformats.org/officeDocument/2006/relationships/slide" Target="/ppt/slides/slide7.xml" Id="R8b3467f005314ecc" /><Relationship Type="http://schemas.openxmlformats.org/officeDocument/2006/relationships/slide" Target="/ppt/slides/slide8.xml" Id="R8c41a0f3485b4645" /><Relationship Type="http://schemas.openxmlformats.org/officeDocument/2006/relationships/slide" Target="/ppt/slides/slide9.xml" Id="R19e760e2e0654453" /><Relationship Type="http://schemas.openxmlformats.org/officeDocument/2006/relationships/slide" Target="/ppt/slides/slide10.xml" Id="R535dc03b116443ef" /><Relationship Type="http://schemas.openxmlformats.org/officeDocument/2006/relationships/slide" Target="/ppt/slides/slide11.xml" Id="Rd8fe9878e27d465b" /><Relationship Type="http://schemas.openxmlformats.org/officeDocument/2006/relationships/slide" Target="/ppt/slides/slide12.xml" Id="Rf63b3841392644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31fce158dbd4c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808d9453cb43dd" /><Relationship Type="http://schemas.openxmlformats.org/officeDocument/2006/relationships/notesMaster" Target="/ppt/notesMasters/notesMaster1.xml" Id="Rdb3fdc22fe9347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8c482f92044ca1" /><Relationship Type="http://schemas.openxmlformats.org/officeDocument/2006/relationships/notesMaster" Target="/ppt/notesMasters/notesMaster1.xml" Id="R37e5bd21ab2b48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a353610a054e47" /><Relationship Type="http://schemas.openxmlformats.org/officeDocument/2006/relationships/notesMaster" Target="/ppt/notesMasters/notesMaster1.xml" Id="R99ffa60cc19444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862df78cc04596" /><Relationship Type="http://schemas.openxmlformats.org/officeDocument/2006/relationships/notesMaster" Target="/ppt/notesMasters/notesMaster1.xml" Id="R1e83219f61f947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e21bb34e6346a9" /><Relationship Type="http://schemas.openxmlformats.org/officeDocument/2006/relationships/notesMaster" Target="/ppt/notesMasters/notesMaster1.xml" Id="R67d53566d80a45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df3afa7c6d46b1" /><Relationship Type="http://schemas.openxmlformats.org/officeDocument/2006/relationships/notesMaster" Target="/ppt/notesMasters/notesMaster1.xml" Id="R48e85098ef024f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800d2747e8453d" /><Relationship Type="http://schemas.openxmlformats.org/officeDocument/2006/relationships/notesMaster" Target="/ppt/notesMasters/notesMaster1.xml" Id="R7f56b49a642140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fc4d6a56104031" /><Relationship Type="http://schemas.openxmlformats.org/officeDocument/2006/relationships/notesMaster" Target="/ppt/notesMasters/notesMaster1.xml" Id="R4e7612e46e4540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dcf6c3e9c04e7c" /><Relationship Type="http://schemas.openxmlformats.org/officeDocument/2006/relationships/notesMaster" Target="/ppt/notesMasters/notesMaster1.xml" Id="Rb6f6579228324d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8769c14e254699" /><Relationship Type="http://schemas.openxmlformats.org/officeDocument/2006/relationships/notesMaster" Target="/ppt/notesMasters/notesMaster1.xml" Id="R156782f8e16347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7aaecb27474127" /><Relationship Type="http://schemas.openxmlformats.org/officeDocument/2006/relationships/notesMaster" Target="/ppt/notesMasters/notesMaster1.xml" Id="R95ca2fb12ebf4f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1118062fab421b" /><Relationship Type="http://schemas.openxmlformats.org/officeDocument/2006/relationships/notesMaster" Target="/ppt/notesMasters/notesMaster1.xml" Id="R6787204aeecd4a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743dd0f8a45c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b1f045726304f0e" /><Relationship Type="http://schemas.openxmlformats.org/officeDocument/2006/relationships/slideLayout" Target="/ppt/slideLayouts/slideLayout2.xml" Id="R7b2ad493b13c4a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2ad493b13c4a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8d807153b64f0b" /><Relationship Type="http://schemas.openxmlformats.org/officeDocument/2006/relationships/notesSlide" Target="/ppt/notesSlides/notesSlide1.xml" Id="Rde90e216201645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559e537d6c4479" /><Relationship Type="http://schemas.openxmlformats.org/officeDocument/2006/relationships/notesSlide" Target="/ppt/notesSlides/notesSlide2.xml" Id="R24b9e365c1894b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2b70094feb4c25" /><Relationship Type="http://schemas.openxmlformats.org/officeDocument/2006/relationships/notesSlide" Target="/ppt/notesSlides/notesSlide3.xml" Id="Rf61b3bb1c33445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8e41b59d584611" /><Relationship Type="http://schemas.openxmlformats.org/officeDocument/2006/relationships/notesSlide" Target="/ppt/notesSlides/notesSlide4.xml" Id="Rd96082543e6945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4fe728b0e841bf" /><Relationship Type="http://schemas.openxmlformats.org/officeDocument/2006/relationships/notesSlide" Target="/ppt/notesSlides/notesSlide5.xml" Id="R8f5b2acdf9184b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2751c3a4f14b5b" /><Relationship Type="http://schemas.openxmlformats.org/officeDocument/2006/relationships/notesSlide" Target="/ppt/notesSlides/notesSlide6.xml" Id="R122aca73e6d643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744005ba034819" /><Relationship Type="http://schemas.openxmlformats.org/officeDocument/2006/relationships/notesSlide" Target="/ppt/notesSlides/notesSlide7.xml" Id="R954a2ffe959845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7e62ee444d4585" /><Relationship Type="http://schemas.openxmlformats.org/officeDocument/2006/relationships/notesSlide" Target="/ppt/notesSlides/notesSlide8.xml" Id="R01f718b7f4a840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25ef92d82d484b" /><Relationship Type="http://schemas.openxmlformats.org/officeDocument/2006/relationships/notesSlide" Target="/ppt/notesSlides/notesSlide9.xml" Id="Rec25a61e4be84b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f2e8d355844b5f" /><Relationship Type="http://schemas.openxmlformats.org/officeDocument/2006/relationships/notesSlide" Target="/ppt/notesSlides/notesSlide10.xml" Id="Re693966faca044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36f23484d4438a" /><Relationship Type="http://schemas.openxmlformats.org/officeDocument/2006/relationships/notesSlide" Target="/ppt/notesSlides/notesSlide11.xml" Id="Rc21b4cbf7b3a43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7275e2dbe2494a" /><Relationship Type="http://schemas.openxmlformats.org/officeDocument/2006/relationships/notesSlide" Target="/ppt/notesSlides/notesSlide12.xml" Id="R9805e61c459641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190AFB-A44D-41F7-B538-B980981A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4E291-B5A6-4E00-8E49-3B3E6E55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533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55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CF751-F111-43C2-83C7-C599DAB5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1050"/>
            <a:ext cx="1653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B8A6"/>
                </a:solidFill>
              </a:defRPr>
            </a:pPr>
            <a:r>
              <a:rPr sz="1650" b="1">
                <a:solidFill>
                  <a:srgbClr val="14B8A6"/>
                </a:solidFill>
              </a:rPr>
              <a:t>PIT DE INVESTIMENTO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F4B10-F4F6-460D-A356-8A6B3768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92964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Infraestrutura de recarga elétrica para investidores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9F130-2DC6-4466-A7C9-413200AC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8930"/>
            <a:ext cx="11109579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16274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39451-88F1-4C1C-987A-671A36DB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10648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 operação foi desenhada com 06 produtos, mas a modelagem atual considera apenas 02. Isso torna a tese financeira conservadora e preserva upside relevante.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2CA40-645F-493B-B401-CD073417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5280"/>
            <a:ext cx="4000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48DF6-A164-41B7-AB86-3A88F36E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Ramp-up até ago/2027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9B133-0806-4DBA-8DD2-68598D60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45280"/>
            <a:ext cx="3619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FD0CD-7ACA-4975-AA19-CE1FEB0B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05300"/>
            <a:ext cx="3314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Aporte: R$ 11,5 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54093-93DC-40A5-9697-D29B8C40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45280"/>
            <a:ext cx="4000500" cy="85344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665EF-0FF7-4680-AEBE-05AB8703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05300"/>
            <a:ext cx="3695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Payback: 36m conservador | ~12m otimista</a:t>
            </a:r>
          </a:p>
        </p:txBody>
      </p:sp>
    </p:spTree>
    <p:extLst>
      <p:ext uri="{BB962C8B-B14F-4D97-AF65-F5344CB8AC3E}">
        <p14:creationId xmlns:p14="http://schemas.microsoft.com/office/powerpoint/2010/main" val="13186902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0A77EA-0754-4600-9A22-CB56D143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1. A empresa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594AC-C5BE-4DD6-877E-A7FE6EE2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2936A-9A2E-4730-942D-C110EC0E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6553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Síntese da governança, valores e objetivos financeiros presentes no relatório.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594B0-1953-46A0-A57F-F7680560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403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CA1ED-EBFD-40DB-A915-E44867A5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Gestão e Governança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36493-3DF1-41D1-9D6B-D5175C3A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4972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Previsão de conselho de administração, diretoria e gerências (coml, operacional, adm-fin)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F9AD1-BDA3-4E35-8EE9-69CE6C51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80403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8DAF3-BDBA-45A6-8CF1-55C2DEC8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193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Liderança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4911D-863C-4692-8446-5CE408E4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43150"/>
            <a:ext cx="4972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César Lisboa na condução estratégica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670AF-4AC4-4B22-AA24-074C8F8D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1804035"/>
            <a:ext cx="5397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5927D-793B-4CE0-B8DF-DC073549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0193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7F66B-C78C-4CB3-A2C0-CC550139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343150"/>
            <a:ext cx="497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100% próprio na largada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E6776-C4B3-483B-AC97-601D5F80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2435"/>
            <a:ext cx="8191500" cy="5396865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8B87C-8745-42FA-BF8E-39E0544D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773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Valores e diretrizes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6CD46-09B0-440A-8328-8AA995BD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Respeito aos valores do negócio e dos sócios.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C1C2A-B064-457E-9521-6D7B7B65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Segurança do investimento e da operação.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3CCB4-3213-4128-B0AF-C47EF13C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Prioridade ao longo prazo e à execução por etapas.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BAA05-E94F-48A0-8764-83A120B4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76950"/>
            <a:ext cx="7734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Valorização e respeito da cadeia produtiva: colaboradores, fornecedores e clientes.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7ADF2-9EDD-472E-83C8-E635EAA2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42435"/>
            <a:ext cx="8191500" cy="5396865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90298-904F-4CE9-BFA6-0E25E66B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76750"/>
            <a:ext cx="773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Objetivos financeiros-base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63230F-4DC1-434A-A74E-1C5C741F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33950"/>
            <a:ext cx="7734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Payback conservador de 36 meses, com leitura otimista próxima de 12 meses no fluxo projetado.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B16AD7-ED2A-4094-85D1-765E17C9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00700"/>
            <a:ext cx="7734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Investimentos acionados conforme evolução de vendas, embora o plano consolide tudo em jul/2026.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1B500-06E1-4E07-A5B3-87A4881B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26745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Formação de base recorrente e monetização da infraestrutura instalada.</a:t>
            </a:r>
          </a:p>
        </p:txBody>
      </p:sp>
    </p:spTree>
    <p:extLst>
      <p:ext uri="{BB962C8B-B14F-4D97-AF65-F5344CB8AC3E}">
        <p14:creationId xmlns:p14="http://schemas.microsoft.com/office/powerpoint/2010/main" val="272579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C2F4B8-5846-4E27-B0CC-6BB917A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710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2. Produtos ativados: visão detalhada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939A1-0B7C-40FE-BF46-501E783B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D8E95-7BB8-4406-9426-EBC08221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725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Detalhamento dos produtos hoje modelados, com quantidade vendida pós-ramp-up, valor unitário e margem de contribuição.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65ADE-B8A8-40E8-9896-7F8E3E13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5945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3F3A2-F517-4A63-B702-0E8D9CAD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626FE-2EDE-4FBC-B614-AC1B286E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1845945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E40DA-553C-4342-8EE6-F8A9E9A5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FE9EB-4901-4F81-9E0B-8253560B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1845945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C8BFE-54A5-4882-B667-17972760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Qtd. vendida pós-ramp-up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80661-1247-40CD-BC4D-8BA134AF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1845945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7A54C-23F9-49AE-852F-DB0DAC22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6215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Valor unitário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86D60-6E13-43B2-BA82-423A440B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1845945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348AE-5D7B-475A-B8BF-1FC4EE7A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9621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9C491-36DA-462C-85AE-B8AE9A22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1845945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9FB84-0B60-428A-BEDA-19EA6ECA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962150"/>
            <a:ext cx="186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unitária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B5575-8468-4951-A8E9-32742DAC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1845945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04439-40F5-4470-9B06-C1FEC50C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19621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total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448D0-F423-4313-8D25-E12EF6D5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9883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6A11B-059D-4A72-8240-97D6EEFE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Kit / equipamento principal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17928-A0B3-4624-B0A7-E9E53F27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2869883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D7DFD4-A73A-4B6F-A00B-7507DAA1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9085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30A96-60D0-40F1-83C3-0AD0EE30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2869883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09362B-BF07-48F8-8F42-496C9B83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723019-DB35-477C-98F1-8840531E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2869883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506ED7-0C27-493E-BE85-9EEFD620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R$ 80.000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216B92-0752-4BF7-92E7-0C84FDD0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2869883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CACD32-D739-4546-A17A-81631ACF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908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33,4%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47C33D-4128-43B5-B0EC-4779E88F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2869883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11776F-2B72-4F43-A01E-006C1982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99085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R$ 26.736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47FD18-F8F7-4E2C-8491-14F96D8E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2869883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E000E9-32FC-4BE0-A2D2-7D4B16AA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29908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R$ 8.020.800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EE2ED8-4716-4FFB-B24E-3046262A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3820"/>
            <a:ext cx="4289147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65009A-27FC-457A-927B-1E5518B8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Software de gestão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8334CF-69EC-4EB9-8D31-87D66E26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3893820"/>
            <a:ext cx="1833980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6E3457-CB27-47AA-99E1-2FBC4553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85382C-507B-4F89-AB29-D6F903CB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3893820"/>
            <a:ext cx="242558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8B7E93-CF52-4C28-B717-ABB248F0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4000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E33BA5-312A-4B70-A773-40158058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3893820"/>
            <a:ext cx="224810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131EE3-C897-4E7A-8666-5A56A89F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005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R$ 1.600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CDB128-4575-4C4F-AFE7-E8AC1BD6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3893820"/>
            <a:ext cx="1242374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E9504D-1E28-411B-992C-66700EFD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0005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75,8%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FBFBCC-F16A-4F54-A256-D4AEBF81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3893820"/>
            <a:ext cx="2129783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70C6E1-714B-4EA5-8E8C-5D43FEB4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0005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R$ 1.212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FBE6F7-7B36-4599-95F8-FA799269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3893820"/>
            <a:ext cx="2366426" cy="928688"/>
          </a:xfrm>
          <a:prstGeom xmlns:a="http://schemas.openxmlformats.org/drawingml/2006/main" prst="roundRect">
            <a:avLst>
              <a:gd name="adj" fmla="val 14359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8C840E-941E-405D-86A4-83C0D427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40005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R$ 4.848.000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D626EA-0D8C-4902-B862-513E7FC1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7895"/>
            <a:ext cx="5588000" cy="3027045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8AF5CA-7E81-4ACD-BE25-33EB07E5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516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Faturamento mensal pós-ramp-up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7F84BE-3A5F-47E0-97A1-1AB18513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225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R$ 30.400.000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5C9163-5489-4346-B9D0-1325EA6E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6017895"/>
            <a:ext cx="5588000" cy="3027045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18F5E4-F9CB-4B19-BCE2-1F5A18F0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229350"/>
            <a:ext cx="516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MC mensal do plano revisado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4853C8-2E10-487E-849D-B0152748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57225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R$ 12.868.800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DEC0D6-AF20-4E34-8519-9AAAA49B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6017895"/>
            <a:ext cx="5588000" cy="3027045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E79D49-48D4-4139-9D92-3D68D0A4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229350"/>
            <a:ext cx="5162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Produtos com rampa efetiva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7DCF15-EF1E-493C-95E1-DA8932CF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57225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02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3E707F-4C52-48A0-9C86-C0BB5332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16390"/>
            <a:ext cx="17106900" cy="556260"/>
          </a:xfrm>
          <a:prstGeom xmlns:a="http://schemas.openxmlformats.org/drawingml/2006/main" prst="roundRect">
            <a:avLst>
              <a:gd name="adj" fmla="val 30822"/>
            </a:avLst>
          </a:prstGeom>
          <a:solidFill xmlns:a="http://schemas.openxmlformats.org/drawingml/2006/main">
            <a:srgbClr val="ECFDF5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04AB5D-AB08-43F7-9A53-329A67F4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72600"/>
            <a:ext cx="16802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5F46"/>
                </a:solidFill>
              </a:defRPr>
            </a:pPr>
            <a:r>
              <a:rPr sz="1650" b="1">
                <a:solidFill>
                  <a:srgbClr val="065F46"/>
                </a:solidFill>
              </a:rPr>
              <a:t>Os 2 produtos acima sustentam a receita, a margem e o resultado pós-ramp-up do plano atual.</a:t>
            </a:r>
          </a:p>
        </p:txBody>
      </p:sp>
    </p:spTree>
    <p:extLst>
      <p:ext uri="{BB962C8B-B14F-4D97-AF65-F5344CB8AC3E}">
        <p14:creationId xmlns:p14="http://schemas.microsoft.com/office/powerpoint/2010/main" val="10796807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03746B-63B9-487C-9AA0-EAC3E23E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710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3. Produtos a ativar: espaço de upside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980B4-B8A7-4FA9-9732-0F52AA73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93477-388D-4900-8D3F-9CBC582E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948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Há 4 frentes adicionais passíveis de ativação ao longo da execução, sem depender delas para a tese-base fechar.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BB76B-202D-4A6A-AC5D-5B499897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94485"/>
            <a:ext cx="4289147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71253-313A-4C91-8546-6B4857A0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01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1613D-7E88-4E21-B9F6-1570EABA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1594485"/>
            <a:ext cx="183398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526FF-2EC3-4881-B08D-866790EB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1450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83079-E5DD-4A80-9360-B58B50D0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1594485"/>
            <a:ext cx="242558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8A117-D101-4936-83CA-C47C569A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0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Qtd. vendida pós-ramp-up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E6C21-3897-4713-92A2-6377368B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1594485"/>
            <a:ext cx="224810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ED566-CA9B-4982-A8A8-77034EC0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1450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Valor unitário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C7889-C369-4B63-B7B1-8B0F4552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1594485"/>
            <a:ext cx="124237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C7169-6672-4C91-993F-964C95F6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1450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31B10-760F-4BC5-9F8F-4A02F5D6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1594485"/>
            <a:ext cx="2129783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239E0-81B9-4C33-B108-F5345F93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714500"/>
            <a:ext cx="186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unitária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62A2C-6489-4EA8-A310-5E5FA718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1594485"/>
            <a:ext cx="236642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E9AC5-5CE4-4E52-BBB1-D7921FDD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17145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total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DB329-3D8D-4AD8-A5CA-78C4AE20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3635"/>
            <a:ext cx="4289147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81A1C-42A0-4418-9223-211FC3CD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Implantação / instalação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6DF20-BC75-4B05-BCFD-85515FA4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2413635"/>
            <a:ext cx="183398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E2365-C87A-44DF-9852-C63AE0AC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3365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9EA18-7E52-42D4-B472-0BFCF798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2413635"/>
            <a:ext cx="242558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F3229F-15A1-48D7-9212-530C8FF8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3365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EFE18-F5D0-4A64-B88E-7E87A712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2413635"/>
            <a:ext cx="224810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F7CAA0-3FAE-4138-A100-E476A281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336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61F2CE-8405-4AD2-B652-0E72BDB5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2413635"/>
            <a:ext cx="124237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543F05-C2AF-4C7F-A6C6-A824D3CA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336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99E58D-C696-432F-BF31-E4A54DCD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2413635"/>
            <a:ext cx="2129783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6B897B-E9DE-4A02-9A34-C493D98E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53365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5B24EF-2300-4DFA-9316-FE6CC404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2413635"/>
            <a:ext cx="236642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1FC3B2-9DAB-4681-8406-DCA2BA8C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25336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71BDD7-8077-4DB1-8F72-72926CDE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2785"/>
            <a:ext cx="4289147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6B0ED7-07E4-4760-B962-4A2D9886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Estudo de viabilidade / assessoria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6678DF-84EE-48D4-A2EA-242B3A0F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3232785"/>
            <a:ext cx="183398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3F0396-28A7-4441-95F8-0A9078DF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528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7206C1-BEA0-4563-986C-1C8DCDF3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3232785"/>
            <a:ext cx="242558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547A22-787C-4AB3-B77F-D09E1C20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528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DA95D4-E154-4DB7-B4D3-339C608A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3232785"/>
            <a:ext cx="224810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D860F2-620C-4FF3-84E4-CD5E4D6A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528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E33391-52C2-41F1-AF2A-B5F20584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3232785"/>
            <a:ext cx="124237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0B4F13-E0C4-4FDA-9477-E15C2A04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528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2D44A5-9797-422B-BC09-405EBE4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3232785"/>
            <a:ext cx="2129783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7ED517-E59A-41E1-A73C-F81EE21E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3528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0BD536-FD01-471F-BDD3-F070D5C5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3232785"/>
            <a:ext cx="236642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659841-837F-4178-9F04-274E1192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33528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47F498-CBA0-4B9D-B3BD-592E16A0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1935"/>
            <a:ext cx="4289147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47AE42-E8A2-480C-8763-C39A8C5B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Peças e upgrades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528283-D685-4694-A52B-992E1592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4051935"/>
            <a:ext cx="183398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3E3C7D-7894-49FD-885B-24B0BF61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7195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FA669F-5872-4CB6-8903-A323289E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4051935"/>
            <a:ext cx="242558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063600-FD4D-4FEE-B67C-22DE44FC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E8F7CE-D132-40E4-9013-C1D1F7AE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4051935"/>
            <a:ext cx="224810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015B2F-C3E6-48EA-AADE-47297BB4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719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836C30-F9FA-434B-AC37-0E46F99C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4051935"/>
            <a:ext cx="124237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22A1FC-D95E-4EEC-BF99-BA4263E2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7195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389559-B111-4DA0-A27D-3994DE35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4051935"/>
            <a:ext cx="2129783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106160B-3C8D-45AE-8EF5-04DCA41A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17195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1E7002-8D86-4AB9-B5D5-A3CF4A99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4051935"/>
            <a:ext cx="236642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AE0C79-76AC-4528-BFB9-ACA1B2AC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41719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8AE058-27D0-49D9-BEC4-23447B55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1085"/>
            <a:ext cx="4289147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0325FC-0F1B-4E2E-8333-04E87B2C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401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Manutenção especializada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9FB4E4-4F39-4C09-BA2A-5EA9AB2C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47" y="4871085"/>
            <a:ext cx="183398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6AE8C1-F620-4765-8591-B6AEF85A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911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803CA06-0C47-4884-A218-59348CFD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7" y="4871085"/>
            <a:ext cx="242558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E5F420E-A0A5-4CF9-819A-9EB95771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911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123424-805B-42AF-B2DF-8965DEB4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013" y="4871085"/>
            <a:ext cx="224810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F92CBCD-AC08-4E0B-BEEE-AB26FE25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911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49F9D31-AFD2-4B42-BAF7-B3E9AA6B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368" y="4871085"/>
            <a:ext cx="1242374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F5FD77B-A48E-47D1-B288-23EA7EBC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91100"/>
            <a:ext cx="97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BCE96AF-CCAE-4D40-9E46-9BE3D218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991" y="4871085"/>
            <a:ext cx="2129783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6C5D6EB-4719-4D6C-BA98-89130713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9911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6CB6AFF-06ED-40F0-AE97-23CF4162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024" y="4871085"/>
            <a:ext cx="2366426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48DD876-435B-41FA-9145-9D0BF8FD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49911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D26588C-727B-4D05-BD92-49F81A06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6435"/>
            <a:ext cx="8467725" cy="4006215"/>
          </a:xfrm>
          <a:prstGeom xmlns:a="http://schemas.openxmlformats.org/drawingml/2006/main" prst="roundRect">
            <a:avLst>
              <a:gd name="adj" fmla="val 4755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84EB8A8-28A8-4FCE-B163-B45AD76E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</a:defRPr>
            </a:pPr>
            <a:r>
              <a:rPr sz="1800" b="1">
                <a:solidFill>
                  <a:srgbClr val="0B1324"/>
                </a:solidFill>
              </a:rPr>
              <a:t>O que esses produtos podem adicionar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1705410-E16C-4ED1-B56F-4BC3C980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Mais recorrência e maior captura de valor por cliente.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D5FAC96-70C2-4750-A3C2-A662411E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865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Elevação de ticket médio e extensão do ciclo de monetização.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67349AF-187B-4141-8F1F-D407D4FA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104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Redução de dependência exclusiva do hardware e implantação.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25BF11E-4762-4556-9B62-9AC15DAA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766435"/>
            <a:ext cx="8467725" cy="4006215"/>
          </a:xfrm>
          <a:prstGeom xmlns:a="http://schemas.openxmlformats.org/drawingml/2006/main" prst="roundRect">
            <a:avLst>
              <a:gd name="adj" fmla="val 4755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3625B3D-0BD7-4045-98D6-4B84313E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96265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</a:defRPr>
            </a:pPr>
            <a:r>
              <a:rPr sz="1800" b="1">
                <a:solidFill>
                  <a:srgbClr val="0B1324"/>
                </a:solidFill>
              </a:rPr>
              <a:t>Mensagem para investidores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21B368D-9BAB-495E-912E-695D2979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3436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A operação já fecha com 2 produtos contribuindo para o resultado.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3755235-CBBC-4353-B041-F2A9FF14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6865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Ainda há 4 frentes adicionais passíveis de ativação.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182D2F9-0BB3-4D60-B4E9-0BBC6877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0104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Portanto, o resultado atual é conservador.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DCA2C82-CC16-4CAE-A3B1-5C10B12C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35330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O upside está na ativação organizada desse segundo bloco do portfólio.</a:t>
            </a:r>
          </a:p>
        </p:txBody>
      </p:sp>
    </p:spTree>
    <p:extLst>
      <p:ext uri="{BB962C8B-B14F-4D97-AF65-F5344CB8AC3E}">
        <p14:creationId xmlns:p14="http://schemas.microsoft.com/office/powerpoint/2010/main" val="9051711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828056-4CDB-41AE-84A2-5E42F46A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4. Demanda do mercado / déficit de infraestrutura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C7035-8FEC-42A9-B98F-87609A0E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648A9-9252-437F-8CBB-E09E9DEA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1715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Base observada: 411,9 mil veículos plug-in e 21,1 mil pontos públicos/semi-públicos. Cenário-base de demanda calibrado para 2026-2030.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DB8D4-C508-4DC0-BC06-69EC99CB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3995738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12E30-6D1B-4A4C-BB26-9E71590D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Frota plug-in atual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1E7E7-4FEF-4D48-8FB8-E0E86B64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3581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411.869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17733-B6B5-4538-A8BB-CDA8F257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2036445"/>
            <a:ext cx="3995738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EB33F-CAEB-4E5A-AF54-9BE600DB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790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Pontos atuais de recarga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8C2E2-5FAF-410C-8118-B68DE272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90800"/>
            <a:ext cx="3581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21.061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1137C-9815-45DF-800B-A3A92FC5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36445"/>
            <a:ext cx="3995738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CDBE1-0F1E-461C-B3B5-A43C89E0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4790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Relação atual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9C86A-1523-4568-A17B-D9D5A957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90800"/>
            <a:ext cx="3581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19,6:1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89D23-FF9C-414D-8B8D-442E2AE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3" y="2036445"/>
            <a:ext cx="3995738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F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8A09B-98F9-43CE-B3DF-5C32E7FB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224790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Déficit atual p/ 10:1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3AD2E-F222-4F19-9934-C601F414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2590800"/>
            <a:ext cx="3581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20.126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018D8-7B5E-4025-8D5E-3F687964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0545"/>
            <a:ext cx="1990590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7C924-5AA5-432E-9FA8-9A920F2F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2E5A1-806F-4686-93DC-0D9A77CD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90" y="4360545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4D2E7-0580-4C2C-A356-A4564FD0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7675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Frota projetada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23B9E-B793-4F20-BDB8-092C3BDA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641" y="4360545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4C98F-F439-48A3-94E1-6C561B87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Pontos necessários (10:1)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43EA0-316C-4E68-BC25-92743F69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192" y="4360545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A1496-3B8C-4BC2-AD86-12AD2B54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767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Déficit acumulado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4F195F-0BDD-4D11-A891-D8D79660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146" y="4360545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08F109-1E6E-42B3-AB40-C53554EC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44767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Demanda incremental no ano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2B848B-6DCD-4E31-BBD8-222E87F7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3170"/>
            <a:ext cx="1990590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71352A-A8F4-4C08-A8F7-7DB1A9F9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83A096-EF2A-4250-A837-7A1F7CDD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90" y="5043170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5D9055-C317-42F1-89ED-7552B465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6255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639.869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7ECD85-C8DB-4108-B9C2-FFE2925F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641" y="5043170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C6532B-6E7F-48BA-9BB2-12379F2B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6255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63.987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091616-CD7A-4D1C-ABCF-F4D7FB4F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192" y="5043170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EB6A73-C490-4713-B8B6-F7D74B3D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625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42.926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A2B914-9EFD-4EAB-BB59-D2F829B8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146" y="5043170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72B289-B732-47C9-BBCD-1D8204A3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1625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22.800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059006-3E07-482E-982E-540E89DB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5795"/>
            <a:ext cx="1990590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5DBBFF-1E8B-41A1-9D83-BED6928A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483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2027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6BCC54-8E3B-4FCD-8983-37D65789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90" y="5725795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B256E3-0A7F-4ECF-A287-1AC426D3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84835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1.004.869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1CD57F-FE0B-4AFF-8003-C3FE60B1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641" y="5725795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8E73F0-F370-44FE-A73E-24ACA98E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84835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100.487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79B870-0D3E-4FCB-8F95-AAB65BD7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192" y="5725795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00C5E4-1FB0-4640-B26C-5D14457B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483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79.426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8C932C-23F7-4555-B873-B7DF1992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146" y="5725795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DE5A1A-F50A-49BE-A6C9-689F5E38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8483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36.500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708085-0B75-4624-8C16-20BDD9C6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8420"/>
            <a:ext cx="1990590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3E873C-9CFF-49F7-93BF-86402AE9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5151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2028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C8E6D7-694A-4283-9EA3-EB4D886E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90" y="6408420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0B7056-14DC-472B-B181-AFE63F5D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51510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1.588.869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E03218-96CB-4E30-94F3-567BB732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641" y="6408420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7E3C54-F26D-48A7-9A12-CC275A63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51510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158.887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F867D1-FDB1-40F8-A90A-C168D4D2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192" y="6408420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616417-9A62-44BD-9F85-45EDA066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137.826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8F20F3-AAF3-42E1-893B-CD234D94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146" y="6408420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1D6581-9291-4FC9-BACB-8B8259A1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65151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58.400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F332B6-FEFE-491C-B84A-E55C7AE1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91045"/>
            <a:ext cx="1990590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8E3DEE-8ABC-4CC3-AEEB-B62FC337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009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2029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2069FF-6670-4F04-9E11-76F79B38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90" y="7091045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69E341-6043-4E44-9678-784918F0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720090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2.523.869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C70242-776A-4FFC-ACA0-7329BD9D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641" y="7091045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C7C534-718B-4E45-911D-A18C0055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20090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252.387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66C383-48D1-40D5-B166-EB7CD667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192" y="7091045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3DDCA7-FAF8-48A3-A31E-6F1C4A39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2009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231.326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C4F7DDB-CFCF-426D-B8AE-E924E457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146" y="7091045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6977CDB-1078-4BB1-9C47-D93136C7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72009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93.500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2B1A55-6D9F-4091-BE53-3150817A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73670"/>
            <a:ext cx="1990590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7CC12C-9FA6-42DC-B41F-F915A72B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867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2030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F84037C-11D5-4201-8463-394922A7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90" y="7773670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5C60D85-9FFE-4777-A119-61F8E658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788670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4.023.869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ADB9CCC-DC90-4A86-AD49-C5B58BFA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641" y="7773670"/>
            <a:ext cx="3445251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1C4CAA-FA24-4581-857D-51E67400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886700"/>
            <a:ext cx="318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402.387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9F0FEC-C147-4506-ABC1-726E4A7C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192" y="7773670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51FD2B4-2260-4DFB-BFA1-10EA8451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8867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381.326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74B1C1D-6359-47E7-A9E1-687FA88F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146" y="7773670"/>
            <a:ext cx="3636654" cy="587375"/>
          </a:xfrm>
          <a:prstGeom xmlns:a="http://schemas.openxmlformats.org/drawingml/2006/main" prst="roundRect">
            <a:avLst>
              <a:gd name="adj" fmla="val 2270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0EBDA76-B0C0-455C-B7A6-13D9585C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78867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150.000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B569EAF-9A2A-4B5D-A9F5-7BDACF87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91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Nota: relação ideal de 10 veículos por ponto; 2027-2030 projetados em cenário-base de planejamento, alinhado à tendência setorial de expansão da frota.</a:t>
            </a:r>
          </a:p>
        </p:txBody>
      </p:sp>
    </p:spTree>
    <p:extLst>
      <p:ext uri="{BB962C8B-B14F-4D97-AF65-F5344CB8AC3E}">
        <p14:creationId xmlns:p14="http://schemas.microsoft.com/office/powerpoint/2010/main" val="10028765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448634-28B9-48EB-8EAE-AD3352F0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5. Estrutura: Comercial, Operacional e Adm-Fin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AE50D-84E2-4D19-A207-080FF0D8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4237F-8F48-4E7C-8D77-57686D23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9829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Custos de estrutura resumidos a partir das frentes planejadas e do total mensal de custos/despesas fixas do PDF 03.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762A0-A0FF-4A95-A697-2952C5C2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61983-CE19-43C1-BAB2-6950D324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Setup total das frentes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BE60B-9A88-4A0F-B007-405A173D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R$ 773.500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6D7F7-5734-4376-83C4-5B786D1B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28BAA-1A89-4F83-9B92-35211EAE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mensal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2A0E3-0779-4026-A4A9-603E6D80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R$ 311.500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54506-C240-40F6-B807-01033D3C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036445"/>
            <a:ext cx="54102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B36FD-1808-462A-9FBC-8354E43C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2479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anual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E5E2D-1165-4086-9129-6D74170F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590800"/>
            <a:ext cx="499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R$ 3.738.000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B3551-031F-4E04-B92B-5B13304A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52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D38F4-2D4D-4E59-AE19-A72847F5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Estrutura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ABC8A-E8F2-4466-B2E8-687F90A5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426529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96285-1D80-4B5F-97EC-58B296B0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274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de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D8BEB8-6090-48E4-9E47-3355277C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2652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B241DF-CF9B-48E3-8805-1B3B88AE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 mensal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264A2-10BD-463C-B0C6-D8B873CE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426529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10D29-638F-4FC6-A2C7-501AF172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38150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Leitura resumida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D317E-FE9E-4927-BB67-6CC8D13A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25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BD543E-BEB5-44F5-A475-0F13BFCD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Comercial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966C02-95FF-44E1-8ECD-2979318C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512254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8E4A6-90DF-4855-8D16-CE43169C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3875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R$ 340.000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EC7440-1B1F-4E1A-9653-FFE32364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1225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FC2D3E-1E78-44AE-981E-89D4FB6D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387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R$ 110.000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0C06B-ED59-4A11-A7B1-C451B9B5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512254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5B2851-E02B-4C2B-9DBA-D8F7CDB1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23875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Prospecção, vendas e ativação de receita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F69E1E-32BC-4156-A724-C35593E6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97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78159A-7BB6-4EB8-890A-2EF36719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9600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Operacional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4BAA12-E9A0-491A-A544-51FDB476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597979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4DB4CB-05BE-4DF2-B713-125C222B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R$ 331.000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E1DBC3-0AD5-4412-8F16-36955F9E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97979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32100D-B80B-44C1-94EF-B97387F0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09600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R$ 109.000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E997EB-95DD-4EDA-A594-C30E7696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597979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65610F-19BE-46A6-BAEC-A71C93F1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09600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Implantação, suporte técnico e entrega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74E8CD-9BA4-4388-A9DB-3F344E27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370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330A08-8CA1-49F9-BBFC-BABAAEE2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9532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Adm/Fin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BC3DDF-2B57-4A5D-A8AF-F55EB2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54" y="6837045"/>
            <a:ext cx="301071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4DE4F6-F2C4-4E0B-91EB-E3763463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953250"/>
            <a:ext cx="2743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R$ 102.500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5C6BC9-92AD-48F5-A7C4-9087405E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6837045"/>
            <a:ext cx="3473904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BFF40C-BE4D-48FC-A98C-76079808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953250"/>
            <a:ext cx="320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R$ 92.500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76979C-D5EB-4E3F-9520-8DA6A63E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774" y="6837045"/>
            <a:ext cx="6253026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3C1DC2-86BD-4591-8805-3AF474E1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953250"/>
            <a:ext cx="598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Backoffice, gestão financeira e administração</a:t>
            </a:r>
          </a:p>
        </p:txBody>
      </p:sp>
    </p:spTree>
    <p:extLst>
      <p:ext uri="{BB962C8B-B14F-4D97-AF65-F5344CB8AC3E}">
        <p14:creationId xmlns:p14="http://schemas.microsoft.com/office/powerpoint/2010/main" val="2601646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FC1DD7-0BCC-4DF7-840B-D06F43E2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6802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6. Resultado líquido: 20%, 50% e 100% das vendas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54CEE-F8A0-43E3-B6AC-67EF71FD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858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D1048-E909-489B-9631-41966F64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207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Cenários mensais pós-ramp-up, mantendo a mesma base de custo fixo e a mesma estrutura de margem/tributação do planejamento revisado.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825F2-0B3D-4D26-8D83-FF6F2D79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0685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B2BEE-B4B5-4A94-AFFB-FF44E240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Cenário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70B1C-0A0D-4B98-8CE7-795D923C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70685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0EFCD-B4D5-422F-8BFA-670FA956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907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Receita mensal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6B8D7-6F88-4BE6-8A48-AE3A04D7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1670685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BA38A-69F5-46DC-BD6B-570F2A55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907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Margem de contribuição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D3558-B546-46B3-8B8E-4C952C56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1670685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396F1-6423-4D56-BB8E-C0089637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9070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 mensal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B8351-69C7-4F5C-BA10-BEDFCA31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1670685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0B13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EB765-ACE2-4AAB-BABA-B5577F75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17907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Resultado líquido mensal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A4C0D-A14F-4788-8A1F-94D7999D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1748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C0DC4-7744-400E-907D-5D64FA80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20% das vendas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4628F-2075-44F0-9ED8-4BB01317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51748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34DC6-789E-40EA-BDBF-072145D9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R$ 6.080.000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092BC-A9E9-4E5B-A791-AA9AFE7B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2551748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F27D3-5F0F-42F8-B0AA-2B0A3C97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R$ 2.573.760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84A6F-69BA-41B5-95FD-E2DA9C64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2551748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EEB5CC-1937-489A-8861-AE52A166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R$ 3.738.000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45F284-53BF-4ACA-BE67-53E6D7F7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2551748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10930-8D1C-48F3-AD4A-00D7F4CF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26670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R$ 1.425.224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FCD7CB-8C1F-43B9-9731-001864D9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2810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2112C8-49CF-4DA8-8050-0F35865D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50% das vendas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EB74EC-84AB-4D5A-9F57-7487E4F6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32810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2EC690-E5DC-4A30-BCE4-F5AB47DF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433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R$ 15.200.000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DCD5F-1676-4E7E-97C3-4F1CA6D6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3432810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26FEFB-99C1-4666-8061-B2811B42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433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R$ 6.434.400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CE3F01-26E5-4EBA-AD6E-367F9876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3432810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A699D3-0FB5-4AB9-B7CE-CD8650BD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54330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R$ 3.738.000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8CB6E6-394A-4E6E-8AC6-8A7B065F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3432810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EEF2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D1B431-7892-43CF-9136-A8264A28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433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R$ 3.857.427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E83947-33EF-4647-A792-1DE9A17A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3873"/>
            <a:ext cx="2724150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4F324C-4E96-44F0-B615-992E1AA3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100% das vendas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C0CB5A-3B19-4D20-8E29-F11C3E6A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13873"/>
            <a:ext cx="3307896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16ADE0-A08D-4B2F-BC73-F4E942C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96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R$ 30.400.000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503F93-2CEB-48C8-BAE2-D451FE51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96" y="4313873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2B8848-D501-4789-B161-88F9D1BF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196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R$ 12.868.800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2DB144-66C0-4977-87CA-328FB2AC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957" y="4313873"/>
            <a:ext cx="2918732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4436E1-F063-4BAF-BDDC-4EAF9C7D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19600"/>
            <a:ext cx="2647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R$ 3.738.000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7A951D-8738-442E-BC4C-AADB83CD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89" y="4313873"/>
            <a:ext cx="3697061" cy="785813"/>
          </a:xfrm>
          <a:prstGeom xmlns:a="http://schemas.openxmlformats.org/drawingml/2006/main" prst="roundRect">
            <a:avLst>
              <a:gd name="adj" fmla="val 16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F6129F-134E-41FC-9E8A-BA4B9987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4196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R$ 7.911.099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0B35EF-768D-4F46-8D31-8DCE9AFF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9235"/>
            <a:ext cx="8296275" cy="4425315"/>
          </a:xfrm>
          <a:prstGeom xmlns:a="http://schemas.openxmlformats.org/drawingml/2006/main" prst="roundRect">
            <a:avLst>
              <a:gd name="adj" fmla="val 4735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418666-757B-486F-9F35-BA7248BF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B1B5ED-F429-4651-81E1-7852CED8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886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negócio permanece positivo mesmo em 20% do volume de vendas do plano revisado.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524311-A589-4F5E-BF0D-36810AFC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50% das vendas, o resultado líquido mensal já supera R$ 3,86 milhões.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122B4B-EF11-46E4-B833-5D8A672E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342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100%, o resultado líquido mensal alcança R$ 7,91 milhões.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FA426E-BF63-46BB-88A5-CB6396F4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309235"/>
            <a:ext cx="8296275" cy="4425315"/>
          </a:xfrm>
          <a:prstGeom xmlns:a="http://schemas.openxmlformats.org/drawingml/2006/main" prst="roundRect">
            <a:avLst>
              <a:gd name="adj" fmla="val 4735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B686B8-14F0-499E-8004-0BE6CF9A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245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Premissas do cálculo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7A608D-DDCE-499A-8105-6323A378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9436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Receita mensal pós-ramp-up de R$ 30,4 milhões no cenário de 100%.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978155-DE83-4265-8CCD-033D293E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30555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Custo fixo mensal de R$ 311,5 mil.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53ABC8-61AF-4D03-9BC6-34C4F08B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6675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Mesma relação de margem e mesma carga tributária efetiva observada no PDF 03.</a:t>
            </a:r>
          </a:p>
        </p:txBody>
      </p:sp>
    </p:spTree>
    <p:extLst>
      <p:ext uri="{BB962C8B-B14F-4D97-AF65-F5344CB8AC3E}">
        <p14:creationId xmlns:p14="http://schemas.microsoft.com/office/powerpoint/2010/main" val="10563993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F85C2B-10B0-4B21-BEC0-6306057A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7. Investimento necessário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47271-D25E-4B9B-9791-0E6C69C2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BF771-D900-4ADA-8FBD-2C8A67E0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6915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Composição do investimento segundo o PDF 03 e leitura prática para o investidor.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0F31A-2255-4210-888D-3F6D46E6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4010025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213C6-A32D-4CF7-9F7C-832CBBD3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360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Caixa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88ADF-637C-4565-B753-FDC14661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3600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R$ 1.900.000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8E049-666B-4C5F-9E20-07F3B3C8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036445"/>
            <a:ext cx="4010025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A8718-BBC6-4E68-BA61-4DCF78CA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7900"/>
            <a:ext cx="360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Estoques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A65CC-854F-4CC7-B316-1569577B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90800"/>
            <a:ext cx="3600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R$ 8.820.000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67B80-8F88-4019-8558-CE0161FE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36445"/>
            <a:ext cx="4010025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09F19-1F57-4803-96B3-CDAAEDEF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47900"/>
            <a:ext cx="360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Investimentos fixos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5BDA9-5A34-4209-A205-1BECBB9B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90800"/>
            <a:ext cx="3600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R$ 462.000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DDD62-2413-4012-ABBE-435570ED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2036445"/>
            <a:ext cx="4010025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F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4E015-2B83-4370-9DBD-DAF09993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2247900"/>
            <a:ext cx="360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Total investimento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4A066-D63D-439C-A51F-71C92DC7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2590800"/>
            <a:ext cx="3600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R$ 11.500.000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B0D90-0E09-4D37-A612-B4834A37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0545"/>
            <a:ext cx="8201025" cy="5278755"/>
          </a:xfrm>
          <a:prstGeom xmlns:a="http://schemas.openxmlformats.org/drawingml/2006/main" prst="roundRect">
            <a:avLst>
              <a:gd name="adj" fmla="val 3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DC3E31-8B64-4A10-AD3A-F4ECE312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Detalhamento do investimento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49E7A-1A78-4B33-B232-0CF02455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6 meses de custos e despesas fixas: R$ 1,9 milhão.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321E2-E79A-478B-B0B3-39065E9F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de 36 unidades: R$ 1,764 milhão.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D04EB-EC21-46D4-8603-39BE576C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3 containers de 36 unidades: R$ 5,292 milhões.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ACB34-85F7-4FE9-9AA1-0D3381C1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150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adicional de 36 unidades: R$ 1,764 milhão.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B01148-058B-49F0-82D2-3E800DAC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770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Investimentos fixos mapeados no plano: aproximadamente R$ 462 mil.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A46AD4-F33B-4DB8-AA97-8E9959E7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389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Taxa de dólar considerada no modelo: R$ 5,00.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F13D43-2032-4BC7-9745-7B5F71BA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60545"/>
            <a:ext cx="8201025" cy="5278755"/>
          </a:xfrm>
          <a:prstGeom xmlns:a="http://schemas.openxmlformats.org/drawingml/2006/main" prst="roundRect">
            <a:avLst>
              <a:gd name="adj" fmla="val 39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7B0B6E-4E8C-4AD1-B6EA-288D0702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910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executiva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99766A-35C5-457C-B9B4-1253E1B1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investimento é majoritariamente direcionado a estoque e capacidade de entrega.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6D3247-99C3-43F0-B8D0-25288E68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102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capital de giro reduz risco de execução no ramp-up.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60446F-3B2B-4383-B72A-1BC15DAC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7531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plano nasce sem dependência de alavancagem financeira externa na largada.</a:t>
            </a:r>
          </a:p>
        </p:txBody>
      </p:sp>
    </p:spTree>
    <p:extLst>
      <p:ext uri="{BB962C8B-B14F-4D97-AF65-F5344CB8AC3E}">
        <p14:creationId xmlns:p14="http://schemas.microsoft.com/office/powerpoint/2010/main" val="14766320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E3341F-3D1F-4463-9B73-75A1E92F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8. Premissas financeiras do investidor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C3154-414A-4BB0-8D0F-8DD5D41E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79A5E-7F69-4478-8C0E-3D5DB2CB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Premissas do PDF 03 combinadas com o fluxo mensal revisado do investidor, a partir de nov/2026.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BAFFE-4B55-4EE9-B479-3BB4AC11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E328C-7E72-441C-85B6-8B479BA1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Distribuição ao investidor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CAFF3-48EC-4DF1-A07F-D3F5D93C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DF222-B07D-4B83-85C4-AB2820EA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94E90-2CB3-4B12-A4C2-84DDD2CB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de oportunidade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1ABAE-8EAD-45B2-9743-E84CAD81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12% a.a.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7F378-88F7-4D81-9982-AA191878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9147A-9ED6-40CA-9CE9-7EBA868D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TIR estimada*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369C8-3A7D-40AF-8610-DE6C6D24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142,2% a.a.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3CA5D-5BD4-45D3-9BDA-B071C33C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03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CE7F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E64CB-E111-4613-A76E-4E5EBFAE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VPL estimado*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B8463-7C49-4FAC-B84C-785C5670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R$ 10.797.483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2E6ED-6604-4037-BA58-76B1F511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0" y="1784985"/>
            <a:ext cx="3185160" cy="228600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EDE9FE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ED3D5A-7D05-4217-93DC-E5E6C13F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0002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Payback do investidor*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A0BE0-F1B7-4408-BE9C-2F7DD875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3241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~10,2 meses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82661-2F17-4FC5-A376-364FC5DE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9585"/>
            <a:ext cx="8201025" cy="5339715"/>
          </a:xfrm>
          <a:prstGeom xmlns:a="http://schemas.openxmlformats.org/drawingml/2006/main" prst="roundRect">
            <a:avLst>
              <a:gd name="adj" fmla="val 392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505730-60FF-4BDD-913C-B0F13F09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das premissas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770EFA-B4CC-49E0-BF0B-A3950C56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PDF 03 explicita distribuição de 25% a partir de nov/2026; nesta versão, a métrica foi recalculada com o fluxo mensal do próprio plano.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1B40F-0F2A-4B15-9029-88AE4861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7753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investidor participa do upside sem depender da ativação das outras 4 frentes de produto.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915D18-3B32-4C82-9A40-F374A9CC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293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retorno calculado não depende de aumento de preço ou redução de custo fixo.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A35F6-771F-4620-A680-5C2BCC28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99585"/>
            <a:ext cx="8201025" cy="5339715"/>
          </a:xfrm>
          <a:prstGeom xmlns:a="http://schemas.openxmlformats.org/drawingml/2006/main" prst="roundRect">
            <a:avLst>
              <a:gd name="adj" fmla="val 392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44FC4B-C387-436E-AF06-4BBACCC6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339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Notas metodológicas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E51CFC-D799-4253-A3A4-3404F8A7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911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TIR anualizada a partir da TIR mensal do fluxo jul/2026 a dez/2027.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FF862C-4AA0-4B82-BCD4-908CF8BA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340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VPL calculado com custo de oportunidade de 12% a.a., convertido para taxa mensal.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52F72C-D560-4CDF-BD8A-924BC57C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959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Taxa de dólar considerada no modelo: R$ 5,00.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2EEE7F-BF62-4E7E-9D26-F873080B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579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Os indicadores não incorporam upside dos produtos ainda não ativados.</a:t>
            </a:r>
          </a:p>
        </p:txBody>
      </p:sp>
    </p:spTree>
    <p:extLst>
      <p:ext uri="{BB962C8B-B14F-4D97-AF65-F5344CB8AC3E}">
        <p14:creationId xmlns:p14="http://schemas.microsoft.com/office/powerpoint/2010/main" val="21276605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50EA98-F7AD-47F1-B79D-1F4B6BCA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9. Fluxo de caixa do negócio (resumido)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35651-16BE-424E-A58B-5767418C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53E5E-640E-4135-B38D-5EA69ADD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1315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Set/2027 foi tratado como o primeiro mês cheio após o ramp-up; 2028 representa sua equivalência anualizada em 12 meses estáveis.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C7211-F59C-4E59-A16F-6A192909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6445"/>
            <a:ext cx="8201025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1E31A-8D68-4C41-B2A4-5258A5B7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 (1 mês após o ramp-up)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D57D1-3C55-4C91-BB49-AB364DC7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Receita: R$ 30.400.000,0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6D500-64E5-4993-9328-408A2D55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contribuição: R$ 12.868.800,0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027AF-A7CE-4306-8DD5-A05512ED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fixo: R$ 311.500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A9CB7-2B18-41A8-AE48-6871ABC9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estimado: R$ 7.911.099,0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241B7-C929-4BA9-8FEF-E8B26198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36445"/>
            <a:ext cx="8201025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57123-37A3-4F46-A4FD-E06953A7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6695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 (jan-dez)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CC7AD-6153-4B21-9FBC-231657EC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86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 anual: R$ 364.800.000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8A4FA-3C7F-4820-A06B-38A8E71C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67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 anualizada: R$ 154.425.600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0613F-1D70-4A50-8930-93D56DE7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4805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 anual: R$ 3.738.000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3BA20-6679-41A0-8711-333043E2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481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anualizado: R$ 94.933.188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21ABC-C41A-42D5-B965-DE9BA658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2045"/>
            <a:ext cx="16611600" cy="4707255"/>
          </a:xfrm>
          <a:prstGeom xmlns:a="http://schemas.openxmlformats.org/drawingml/2006/main" prst="roundRect">
            <a:avLst>
              <a:gd name="adj" fmla="val 4452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9A88B-3475-401D-94FF-9B3C8B20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1615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complementar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990E2-8795-446A-92A1-9C4EA0FE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No planejamento revisado, o mês pós-ramp-up entrega cerca de R$ 7,91 milhões de resultado líquido.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76775-128D-4731-B1BC-85171ED2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817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equivalência anualizada desse mesmo patamar leva o resultado para R$ 94,93 milhões.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444F7-F761-4E89-840A-71DA6E48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246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Isso reforça a leitura de forte alavancagem após a fase de implantação e ativação comercial.</a:t>
            </a:r>
          </a:p>
        </p:txBody>
      </p:sp>
    </p:spTree>
    <p:extLst>
      <p:ext uri="{BB962C8B-B14F-4D97-AF65-F5344CB8AC3E}">
        <p14:creationId xmlns:p14="http://schemas.microsoft.com/office/powerpoint/2010/main" val="20144611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90C263-FAFC-4BCC-B01F-44FE918D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"/>
            <a:ext cx="1661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10. Fluxo de caixa do investidor (resumido)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AAA75-32B8-4BC2-BEB5-5BBCC4A8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3E04F-F717-4FA7-8454-4DA42031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280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Distribuição do investidor em um mês após o ramp-up e na equivalência anualizada, mantendo 25% de participação sobre o resultado líquido revisado.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39D7B-698A-4177-9C7D-AB6C47CF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498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EF81A-FD1E-4543-92D2-8019B8E2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Aporte inicial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22223-DC65-41B5-902B-60B9D1CA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493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C2626"/>
                </a:solidFill>
              </a:defRPr>
            </a:pPr>
            <a:r>
              <a:rPr sz="3150" b="1">
                <a:solidFill>
                  <a:srgbClr val="DC2626"/>
                </a:solidFill>
              </a:rPr>
              <a:t>R$ 11.500.000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B5BB6-0299-45ED-90FA-634D4EEE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Momento-base: jul/2026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86637-CFB6-4B50-9EA6-B8ED4078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78498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3B2CD-DAD0-4DAA-BE5A-6FABF03A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7CBF0-085E-4B73-A706-94C95461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4933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mensal estimada: R$ 1.977.774,8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B541B-F27A-496B-8787-9BC5F5ED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1 mês após o fim do ramp-up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474A3-AD75-4785-B16A-D775C7AB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1784985"/>
            <a:ext cx="539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CCFBF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24662-09A6-436C-8D30-4F1186EC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0193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A2242-A001-4A00-AAF8-D61D1E2B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4193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anualizada: R$ 23.733.297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12438-9A32-422E-B38B-06C010AA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8575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Média mensal: R$ 1.977.774,8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81866-C283-4A78-B7DF-3FE3C300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0085"/>
            <a:ext cx="16611600" cy="5149215"/>
          </a:xfrm>
          <a:prstGeom xmlns:a="http://schemas.openxmlformats.org/drawingml/2006/main" prst="roundRect">
            <a:avLst>
              <a:gd name="adj" fmla="val 407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59EC7-6B55-4916-93F2-04C10596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1615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F04D7-DFC4-4352-A259-8D6847E0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remuneração do investidor acontece com base em um fluxo já viável com 2 produtos contribuindo para o resultado.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4DF61-0C16-4FE0-891B-873E0CB9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ativação das outras 4 frentes funciona como upside opcional, não como condição para a tese-base fechar.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005D7-FFA8-4E84-AA02-D6822532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Esse desenho melhora a assimetria risco-retorno da oportunidade.</a:t>
            </a:r>
          </a:p>
        </p:txBody>
      </p:sp>
    </p:spTree>
    <p:extLst>
      <p:ext uri="{BB962C8B-B14F-4D97-AF65-F5344CB8AC3E}">
        <p14:creationId xmlns:p14="http://schemas.microsoft.com/office/powerpoint/2010/main" val="7943614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B0C596-1767-43DF-90D8-D844992A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4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C1FE0-4D37-4683-99F7-CBAED81C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B8A6"/>
                </a:solidFill>
              </a:defRPr>
            </a:pPr>
            <a:r>
              <a:rPr sz="1800" b="1">
                <a:solidFill>
                  <a:srgbClr val="14B8A6"/>
                </a:solidFill>
              </a:rPr>
              <a:t>11. Fechamento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68150-2001-4935-B23D-4D7BD53C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134493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 tese fecha com 2 produtos contribuindo para o resultado atual e pode ganhar potência adicional com a ativação de mais 4 frentes do portfólio.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441ED-CCAC-4F4D-B027-74E1E05E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8540"/>
            <a:ext cx="14015180" cy="14859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365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8429D-4EB7-42C5-89A7-3495CCFE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134874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2E8F0"/>
                </a:solidFill>
              </a:defRPr>
            </a:pPr>
            <a:r>
              <a:rPr sz="2250" b="0">
                <a:solidFill>
                  <a:srgbClr val="E2E8F0"/>
                </a:solidFill>
              </a:rPr>
              <a:t>O investidor entra em uma operação desenhada para 6 produtos, mas com apenas 2 sustentando a rampa financeira hoje. Isso preserva uma leitura conservadora e mantém upside concreto de receita, margem e recorrência.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58C8B-472E-4449-A038-7F0B2FDE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3040"/>
            <a:ext cx="371475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2E853-F636-4E8C-8A3A-7E806273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340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Mercado com tendência estrutural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49C30-E628-4442-97F6-B32528E0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273040"/>
            <a:ext cx="4000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64756-08FE-4B29-80B8-D2A7F323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369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Modelo com recorrência e margem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B52CE-7ADF-4946-BA81-CFA9F0A6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73040"/>
            <a:ext cx="4762500" cy="57912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8E314-F00F-498D-8634-ACD2CC4F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29250"/>
            <a:ext cx="445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Upside fora da conta atual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0EE83-5D2D-4C7E-9D2D-D513729B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• Base conservadora, não teto de resultado.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37CF1-EDD6-4763-8FE6-525E9A90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5795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• Execução bem-sucedida pode ativar novas avenidas de faturamento.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CA325-3E76-47EB-A7E4-25F7E5A3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19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• Case atrativo para investidor que busca retorno com assimetria positiva.</a:t>
            </a:r>
          </a:p>
        </p:txBody>
      </p:sp>
    </p:spTree>
    <p:extLst>
      <p:ext uri="{BB962C8B-B14F-4D97-AF65-F5344CB8AC3E}">
        <p14:creationId xmlns:p14="http://schemas.microsoft.com/office/powerpoint/2010/main" val="1420227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2026-05-08T16:36:41.0190000Z</dcterms:created>
  <dcterms:modified xsi:type="dcterms:W3CDTF">2026-05-08T16:36:41.0200000Z</dcterms:modified>
</coreProperties>
</file>